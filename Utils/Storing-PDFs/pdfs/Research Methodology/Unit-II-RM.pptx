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5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B703420-9358-41B5-9875-88DCC322EEC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1172608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B703420-9358-41B5-9875-88DCC322EEC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777471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B703420-9358-41B5-9875-88DCC322EEC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1830777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B703420-9358-41B5-9875-88DCC322EEC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2382690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B703420-9358-41B5-9875-88DCC322EEC6}" type="datetimeFigureOut">
              <a:rPr lang="en-IN" smtClean="0"/>
              <a:t>03-12-2024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379813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B703420-9358-41B5-9875-88DCC322EEC6}" type="datetimeFigureOut">
              <a:rPr lang="en-IN" smtClean="0"/>
              <a:t>03-12-2024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392154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703420-9358-41B5-9875-88DCC322EEC6}" type="datetimeFigureOut">
              <a:rPr lang="en-IN" smtClean="0"/>
              <a:t>03-12-2024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2072074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703420-9358-41B5-9875-88DCC322EEC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3065083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703420-9358-41B5-9875-88DCC322EEC6}"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120687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B703420-9358-41B5-9875-88DCC322EEC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4014987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B703420-9358-41B5-9875-88DCC322EEC6}"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4820EA-F6D3-4538-AA9C-9C8C686CCA5D}" type="slidenum">
              <a:rPr lang="en-IN" smtClean="0"/>
              <a:t>‹#›</a:t>
            </a:fld>
            <a:endParaRPr lang="en-IN"/>
          </a:p>
        </p:txBody>
      </p:sp>
    </p:spTree>
    <p:extLst>
      <p:ext uri="{BB962C8B-B14F-4D97-AF65-F5344CB8AC3E}">
        <p14:creationId xmlns:p14="http://schemas.microsoft.com/office/powerpoint/2010/main" val="1161141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duotone>
              <a:prstClr val="black"/>
              <a:schemeClr val="accent2">
                <a:tint val="45000"/>
                <a:satMod val="400000"/>
              </a:schemeClr>
            </a:duotone>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3420-9358-41B5-9875-88DCC322EEC6}" type="datetimeFigureOut">
              <a:rPr lang="en-IN" smtClean="0"/>
              <a:t>03-12-2024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4820EA-F6D3-4538-AA9C-9C8C686CCA5D}" type="slidenum">
              <a:rPr lang="en-IN" smtClean="0"/>
              <a:t>‹#›</a:t>
            </a:fld>
            <a:endParaRPr lang="en-IN"/>
          </a:p>
        </p:txBody>
      </p:sp>
    </p:spTree>
    <p:extLst>
      <p:ext uri="{BB962C8B-B14F-4D97-AF65-F5344CB8AC3E}">
        <p14:creationId xmlns:p14="http://schemas.microsoft.com/office/powerpoint/2010/main" val="3237483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Unit-II</a:t>
            </a:r>
            <a:br>
              <a:rPr lang="en-US" dirty="0" smtClean="0"/>
            </a:br>
            <a:r>
              <a:rPr lang="en-US" dirty="0" smtClean="0"/>
              <a:t>SAMPLE DESIGN</a:t>
            </a:r>
            <a:endParaRPr lang="en-IN" dirty="0"/>
          </a:p>
        </p:txBody>
      </p:sp>
    </p:spTree>
    <p:extLst>
      <p:ext uri="{BB962C8B-B14F-4D97-AF65-F5344CB8AC3E}">
        <p14:creationId xmlns:p14="http://schemas.microsoft.com/office/powerpoint/2010/main" val="26736043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a:t>
            </a:r>
            <a:endParaRPr lang="en-IN" dirty="0"/>
          </a:p>
        </p:txBody>
      </p:sp>
      <p:sp>
        <p:nvSpPr>
          <p:cNvPr id="3" name="Content Placeholder 2"/>
          <p:cNvSpPr>
            <a:spLocks noGrp="1"/>
          </p:cNvSpPr>
          <p:nvPr>
            <p:ph idx="1"/>
          </p:nvPr>
        </p:nvSpPr>
        <p:spPr/>
        <p:txBody>
          <a:bodyPr>
            <a:normAutofit lnSpcReduction="10000"/>
          </a:bodyPr>
          <a:lstStyle/>
          <a:p>
            <a:r>
              <a:rPr lang="en-IN" dirty="0" smtClean="0"/>
              <a:t>A </a:t>
            </a:r>
            <a:r>
              <a:rPr lang="en-IN" b="1" dirty="0" smtClean="0"/>
              <a:t>sample</a:t>
            </a:r>
            <a:r>
              <a:rPr lang="en-IN" dirty="0" smtClean="0"/>
              <a:t> refers to a subset of individuals, items, or data points selected from a larger population for the purpose of conducting a study.</a:t>
            </a:r>
          </a:p>
          <a:p>
            <a:r>
              <a:rPr lang="en-IN" dirty="0" smtClean="0"/>
              <a:t>The goal of using a sample is to draw conclusions about the entire population without needing to study everyone or everything in that population, which may be impractical or impossible.</a:t>
            </a:r>
            <a:endParaRPr lang="en-IN" dirty="0"/>
          </a:p>
        </p:txBody>
      </p:sp>
    </p:spTree>
    <p:extLst>
      <p:ext uri="{BB962C8B-B14F-4D97-AF65-F5344CB8AC3E}">
        <p14:creationId xmlns:p14="http://schemas.microsoft.com/office/powerpoint/2010/main" val="23465609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POPULATION</a:t>
            </a:r>
            <a:endParaRPr lang="en-IN" dirty="0"/>
          </a:p>
        </p:txBody>
      </p:sp>
      <p:sp>
        <p:nvSpPr>
          <p:cNvPr id="3" name="Content Placeholder 2"/>
          <p:cNvSpPr>
            <a:spLocks noGrp="1"/>
          </p:cNvSpPr>
          <p:nvPr>
            <p:ph idx="1"/>
          </p:nvPr>
        </p:nvSpPr>
        <p:spPr/>
        <p:txBody>
          <a:bodyPr>
            <a:normAutofit lnSpcReduction="10000"/>
          </a:bodyPr>
          <a:lstStyle/>
          <a:p>
            <a:r>
              <a:rPr lang="en-IN" dirty="0" smtClean="0"/>
              <a:t>the </a:t>
            </a:r>
            <a:r>
              <a:rPr lang="en-IN" b="1" dirty="0" smtClean="0"/>
              <a:t>population</a:t>
            </a:r>
            <a:r>
              <a:rPr lang="en-IN" dirty="0" smtClean="0"/>
              <a:t> refers to the entire group of individuals, items, or data points that meet certain criteria and are the subject of study. </a:t>
            </a:r>
          </a:p>
          <a:p>
            <a:r>
              <a:rPr lang="en-IN" dirty="0" smtClean="0"/>
              <a:t>It is the larger group from which a sample is drawn. </a:t>
            </a:r>
          </a:p>
          <a:p>
            <a:r>
              <a:rPr lang="en-IN" dirty="0" smtClean="0"/>
              <a:t>The population represents the whole set of entities that researchers are interested in drawing conclusions about, and it can be finite or infinite depending on the context.</a:t>
            </a:r>
            <a:endParaRPr lang="en-IN" dirty="0"/>
          </a:p>
        </p:txBody>
      </p:sp>
    </p:spTree>
    <p:extLst>
      <p:ext uri="{BB962C8B-B14F-4D97-AF65-F5344CB8AC3E}">
        <p14:creationId xmlns:p14="http://schemas.microsoft.com/office/powerpoint/2010/main" val="11753544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 of Population in Research</a:t>
            </a:r>
            <a:endParaRPr lang="en-IN" dirty="0"/>
          </a:p>
        </p:txBody>
      </p:sp>
      <p:sp>
        <p:nvSpPr>
          <p:cNvPr id="3" name="Content Placeholder 2"/>
          <p:cNvSpPr>
            <a:spLocks noGrp="1"/>
          </p:cNvSpPr>
          <p:nvPr>
            <p:ph idx="1"/>
          </p:nvPr>
        </p:nvSpPr>
        <p:spPr/>
        <p:txBody>
          <a:bodyPr/>
          <a:lstStyle/>
          <a:p>
            <a:r>
              <a:rPr lang="en-US" dirty="0" smtClean="0"/>
              <a:t>1.</a:t>
            </a:r>
            <a:r>
              <a:rPr lang="en-IN" b="1" dirty="0" smtClean="0"/>
              <a:t> Study on Employee Job Satisfaction</a:t>
            </a:r>
            <a:r>
              <a:rPr lang="en-IN" dirty="0" smtClean="0"/>
              <a:t>: If you are studying job satisfaction in a large company, the population could be defined as "all employees in the company.“</a:t>
            </a:r>
          </a:p>
          <a:p>
            <a:r>
              <a:rPr lang="en-IN" dirty="0" smtClean="0"/>
              <a:t>200 employees randomly selected from different departments of large company to participate in the employee satisfaction survey.</a:t>
            </a:r>
            <a:endParaRPr lang="en-IN" dirty="0"/>
          </a:p>
        </p:txBody>
      </p:sp>
    </p:spTree>
    <p:extLst>
      <p:ext uri="{BB962C8B-B14F-4D97-AF65-F5344CB8AC3E}">
        <p14:creationId xmlns:p14="http://schemas.microsoft.com/office/powerpoint/2010/main" val="41183747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Sampling</a:t>
            </a:r>
            <a:endParaRPr lang="en-IN" dirty="0"/>
          </a:p>
        </p:txBody>
      </p:sp>
      <p:sp>
        <p:nvSpPr>
          <p:cNvPr id="3" name="Content Placeholder 2"/>
          <p:cNvSpPr>
            <a:spLocks noGrp="1"/>
          </p:cNvSpPr>
          <p:nvPr>
            <p:ph idx="1"/>
          </p:nvPr>
        </p:nvSpPr>
        <p:spPr/>
        <p:txBody>
          <a:bodyPr/>
          <a:lstStyle/>
          <a:p>
            <a:r>
              <a:rPr lang="en-IN" b="1" dirty="0" smtClean="0"/>
              <a:t>Sampling</a:t>
            </a:r>
            <a:r>
              <a:rPr lang="en-IN" dirty="0" smtClean="0"/>
              <a:t> is the process of selecting a subset (sample) from a larger group (population) to conduct research or gather data.</a:t>
            </a:r>
          </a:p>
          <a:p>
            <a:r>
              <a:rPr lang="en-IN" dirty="0" smtClean="0"/>
              <a:t>Since studying the entire population can be costly, time-consuming, or impractical, sampling allows researchers to gather data from a manageable group that is representative of the broader population.</a:t>
            </a:r>
            <a:endParaRPr lang="en-IN" dirty="0"/>
          </a:p>
        </p:txBody>
      </p:sp>
    </p:spTree>
    <p:extLst>
      <p:ext uri="{BB962C8B-B14F-4D97-AF65-F5344CB8AC3E}">
        <p14:creationId xmlns:p14="http://schemas.microsoft.com/office/powerpoint/2010/main" val="30121787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STEPS IN SAMPLE DESIGN</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While developing a sampling design, the researcher must pay attention to the following points: </a:t>
            </a:r>
          </a:p>
          <a:p>
            <a:pPr marL="0" indent="0">
              <a:buNone/>
            </a:pPr>
            <a:r>
              <a:rPr lang="en-IN" dirty="0" smtClean="0"/>
              <a:t>(i) </a:t>
            </a:r>
            <a:r>
              <a:rPr lang="en-IN" b="1" dirty="0" smtClean="0"/>
              <a:t>Type of universe</a:t>
            </a:r>
            <a:r>
              <a:rPr lang="en-IN" dirty="0" smtClean="0"/>
              <a:t>: The first step in developing any sample design is to clearly define the set of objects, technically called the Universe, to be studied. </a:t>
            </a:r>
          </a:p>
          <a:p>
            <a:r>
              <a:rPr lang="en-IN" dirty="0" smtClean="0"/>
              <a:t>The universe can be finite or infinite.</a:t>
            </a:r>
          </a:p>
          <a:p>
            <a:r>
              <a:rPr lang="en-IN" dirty="0" smtClean="0"/>
              <a:t> In finite universe the number of items is certain, but in case of an infinite universe the number of items is infinite, i.e., we cannot have any idea about the total number of items. </a:t>
            </a:r>
            <a:endParaRPr lang="en-IN" dirty="0"/>
          </a:p>
        </p:txBody>
      </p:sp>
    </p:spTree>
    <p:extLst>
      <p:ext uri="{BB962C8B-B14F-4D97-AF65-F5344CB8AC3E}">
        <p14:creationId xmlns:p14="http://schemas.microsoft.com/office/powerpoint/2010/main" val="24608955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The population of a city, the number of workers in a factory and the like are examples of finite universes, whereas the number of stars in the sky, listeners of a specific radio programme, throwing of a dice etc. are examples of infinite universes</a:t>
            </a:r>
          </a:p>
          <a:p>
            <a:pPr marL="0" indent="0">
              <a:buNone/>
            </a:pPr>
            <a:endParaRPr lang="en-IN" dirty="0"/>
          </a:p>
        </p:txBody>
      </p:sp>
    </p:spTree>
    <p:extLst>
      <p:ext uri="{BB962C8B-B14F-4D97-AF65-F5344CB8AC3E}">
        <p14:creationId xmlns:p14="http://schemas.microsoft.com/office/powerpoint/2010/main" val="21220653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(ii) Sampling unit:</a:t>
            </a:r>
            <a:endParaRPr lang="en-IN" dirty="0"/>
          </a:p>
        </p:txBody>
      </p:sp>
      <p:sp>
        <p:nvSpPr>
          <p:cNvPr id="3" name="Content Placeholder 2"/>
          <p:cNvSpPr>
            <a:spLocks noGrp="1"/>
          </p:cNvSpPr>
          <p:nvPr>
            <p:ph idx="1"/>
          </p:nvPr>
        </p:nvSpPr>
        <p:spPr/>
        <p:txBody>
          <a:bodyPr>
            <a:normAutofit fontScale="92500"/>
          </a:bodyPr>
          <a:lstStyle/>
          <a:p>
            <a:pPr marL="0" indent="0">
              <a:buNone/>
            </a:pPr>
            <a:r>
              <a:rPr lang="en-IN" dirty="0" smtClean="0"/>
              <a:t>A decision has to be taken concerning a sampling unit before selecting sample.</a:t>
            </a:r>
          </a:p>
          <a:p>
            <a:r>
              <a:rPr lang="en-IN" dirty="0" smtClean="0"/>
              <a:t> Sampling unit may be a geographical one such as state, district, village, etc., or a construction unit such as house, flat, etc., or it may be a social unit such as family, club, school, etc., or it may be an individual. </a:t>
            </a:r>
          </a:p>
          <a:p>
            <a:r>
              <a:rPr lang="en-IN" dirty="0" smtClean="0"/>
              <a:t>The researcher will have to decide one or more of such units that he has to select for his study</a:t>
            </a:r>
            <a:endParaRPr lang="en-IN" dirty="0"/>
          </a:p>
        </p:txBody>
      </p:sp>
    </p:spTree>
    <p:extLst>
      <p:ext uri="{BB962C8B-B14F-4D97-AF65-F5344CB8AC3E}">
        <p14:creationId xmlns:p14="http://schemas.microsoft.com/office/powerpoint/2010/main" val="2941112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(iii) Source list:</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t>It is also known as ‘sampling frame’ from which sample is to be drawn. </a:t>
            </a:r>
          </a:p>
          <a:p>
            <a:pPr marL="0" indent="0">
              <a:buNone/>
            </a:pPr>
            <a:r>
              <a:rPr lang="en-IN" dirty="0" smtClean="0"/>
              <a:t>It contains the names of all items of a universe (in case of finite universe only). </a:t>
            </a:r>
          </a:p>
          <a:p>
            <a:pPr marL="0" indent="0">
              <a:buNone/>
            </a:pPr>
            <a:r>
              <a:rPr lang="en-IN" dirty="0" smtClean="0"/>
              <a:t>If source list is not available, researcher has to prepare it.</a:t>
            </a:r>
          </a:p>
          <a:p>
            <a:pPr marL="0" indent="0">
              <a:buNone/>
            </a:pPr>
            <a:r>
              <a:rPr lang="en-IN" dirty="0" smtClean="0"/>
              <a:t> Such a list should be comprehensive, correct, reliable and appropriate. </a:t>
            </a:r>
          </a:p>
          <a:p>
            <a:pPr marL="0" indent="0">
              <a:buNone/>
            </a:pPr>
            <a:r>
              <a:rPr lang="en-IN" dirty="0" smtClean="0"/>
              <a:t>It is extremely important for the source list to be as representative of the population as possible.</a:t>
            </a:r>
            <a:endParaRPr lang="en-IN" dirty="0"/>
          </a:p>
        </p:txBody>
      </p:sp>
    </p:spTree>
    <p:extLst>
      <p:ext uri="{BB962C8B-B14F-4D97-AF65-F5344CB8AC3E}">
        <p14:creationId xmlns:p14="http://schemas.microsoft.com/office/powerpoint/2010/main" val="28787458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(iv) Size of sample:</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This refers to the number of items to be selected from the universe to constitute a sample.</a:t>
            </a:r>
          </a:p>
          <a:p>
            <a:r>
              <a:rPr lang="en-IN" dirty="0" smtClean="0"/>
              <a:t> This a major problem before a researcher. The size of sample should neither be excessively large, nor too small. It should be optimum. </a:t>
            </a:r>
          </a:p>
          <a:p>
            <a:r>
              <a:rPr lang="en-IN" dirty="0" smtClean="0"/>
              <a:t>An optimum sample is one which </a:t>
            </a:r>
            <a:r>
              <a:rPr lang="en-IN" dirty="0" err="1" smtClean="0"/>
              <a:t>fulfills</a:t>
            </a:r>
            <a:r>
              <a:rPr lang="en-IN" dirty="0" smtClean="0"/>
              <a:t> the requirements of efficiency, representativeness, reliability and flexibility.</a:t>
            </a:r>
          </a:p>
          <a:p>
            <a:r>
              <a:rPr lang="en-IN" dirty="0" smtClean="0"/>
              <a:t> While deciding the size of sample, researcher must determine the desired precision as also an acceptable confidence level for the estimate. </a:t>
            </a:r>
            <a:endParaRPr lang="en-IN" dirty="0"/>
          </a:p>
        </p:txBody>
      </p:sp>
    </p:spTree>
    <p:extLst>
      <p:ext uri="{BB962C8B-B14F-4D97-AF65-F5344CB8AC3E}">
        <p14:creationId xmlns:p14="http://schemas.microsoft.com/office/powerpoint/2010/main" val="14831761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 Parameters of interest:</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In determining the sample design, one must consider the question of the specific population parameters which are of interest.</a:t>
            </a:r>
          </a:p>
          <a:p>
            <a:r>
              <a:rPr lang="en-IN" dirty="0" smtClean="0"/>
              <a:t>For instance, we may be interested in estimating the proportion of persons with some characteristic in the population, or we may be interested in knowing some average or the other measure concerning the population. </a:t>
            </a:r>
          </a:p>
          <a:p>
            <a:r>
              <a:rPr lang="en-IN" dirty="0" smtClean="0"/>
              <a:t>There may also be important sub-groups in the population about whom we would like to make estimates. All this has a strong impact upon the sample design we would accept.</a:t>
            </a:r>
            <a:endParaRPr lang="en-IN" dirty="0"/>
          </a:p>
        </p:txBody>
      </p:sp>
    </p:spTree>
    <p:extLst>
      <p:ext uri="{BB962C8B-B14F-4D97-AF65-F5344CB8AC3E}">
        <p14:creationId xmlns:p14="http://schemas.microsoft.com/office/powerpoint/2010/main" val="33686611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 Budgetary constraint:</a:t>
            </a:r>
            <a:endParaRPr lang="en-IN" dirty="0"/>
          </a:p>
        </p:txBody>
      </p:sp>
      <p:sp>
        <p:nvSpPr>
          <p:cNvPr id="3" name="Content Placeholder 2"/>
          <p:cNvSpPr>
            <a:spLocks noGrp="1"/>
          </p:cNvSpPr>
          <p:nvPr>
            <p:ph idx="1"/>
          </p:nvPr>
        </p:nvSpPr>
        <p:spPr/>
        <p:txBody>
          <a:bodyPr/>
          <a:lstStyle/>
          <a:p>
            <a:r>
              <a:rPr lang="en-IN" dirty="0" smtClean="0"/>
              <a:t>Cost considerations, from practical point of view, have a major impact upon decisions relating to not only the size of the sample but also to the type of sample. </a:t>
            </a:r>
          </a:p>
          <a:p>
            <a:r>
              <a:rPr lang="en-IN" dirty="0" smtClean="0"/>
              <a:t>This fact can even lead to the use of a non-probability sample.</a:t>
            </a:r>
            <a:endParaRPr lang="en-IN" dirty="0"/>
          </a:p>
        </p:txBody>
      </p:sp>
    </p:spTree>
    <p:extLst>
      <p:ext uri="{BB962C8B-B14F-4D97-AF65-F5344CB8AC3E}">
        <p14:creationId xmlns:p14="http://schemas.microsoft.com/office/powerpoint/2010/main" val="34037524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(vii) Sampling procedure:</a:t>
            </a:r>
            <a:endParaRPr lang="en-IN" dirty="0"/>
          </a:p>
        </p:txBody>
      </p:sp>
      <p:sp>
        <p:nvSpPr>
          <p:cNvPr id="3" name="Content Placeholder 2"/>
          <p:cNvSpPr>
            <a:spLocks noGrp="1"/>
          </p:cNvSpPr>
          <p:nvPr>
            <p:ph idx="1"/>
          </p:nvPr>
        </p:nvSpPr>
        <p:spPr/>
        <p:txBody>
          <a:bodyPr/>
          <a:lstStyle/>
          <a:p>
            <a:r>
              <a:rPr lang="en-IN" dirty="0" smtClean="0"/>
              <a:t>Finally, the researcher must decide the type of sample he will use i.e., he must decide about the technique to be used in selecting the items for the sample. </a:t>
            </a:r>
          </a:p>
          <a:p>
            <a:r>
              <a:rPr lang="en-IN" dirty="0" smtClean="0"/>
              <a:t>In fact, this technique or procedure stands for the sample design itself. </a:t>
            </a:r>
          </a:p>
          <a:p>
            <a:r>
              <a:rPr lang="en-IN" dirty="0" smtClean="0"/>
              <a:t>There are several sample designs out of which the researcher must choose one for his study.</a:t>
            </a:r>
            <a:endParaRPr lang="en-IN" dirty="0"/>
          </a:p>
        </p:txBody>
      </p:sp>
    </p:spTree>
    <p:extLst>
      <p:ext uri="{BB962C8B-B14F-4D97-AF65-F5344CB8AC3E}">
        <p14:creationId xmlns:p14="http://schemas.microsoft.com/office/powerpoint/2010/main" val="2918771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CHARACTERISTICS OF A GOOD SAMPLE DESIGN</a:t>
            </a:r>
            <a:endParaRPr lang="en-IN" dirty="0"/>
          </a:p>
        </p:txBody>
      </p:sp>
      <p:sp>
        <p:nvSpPr>
          <p:cNvPr id="3" name="Content Placeholder 2"/>
          <p:cNvSpPr>
            <a:spLocks noGrp="1"/>
          </p:cNvSpPr>
          <p:nvPr>
            <p:ph idx="1"/>
          </p:nvPr>
        </p:nvSpPr>
        <p:spPr/>
        <p:txBody>
          <a:bodyPr>
            <a:normAutofit/>
          </a:bodyPr>
          <a:lstStyle/>
          <a:p>
            <a:r>
              <a:rPr lang="en-IN" dirty="0" smtClean="0"/>
              <a:t>we can list down the characteristics of a good sample design as under: </a:t>
            </a:r>
          </a:p>
          <a:p>
            <a:r>
              <a:rPr lang="en-IN" dirty="0" smtClean="0"/>
              <a:t>(a) Sample design must result in a truly representative sample. </a:t>
            </a:r>
          </a:p>
          <a:p>
            <a:r>
              <a:rPr lang="en-IN" dirty="0" smtClean="0"/>
              <a:t>(b) Sample design must be such which results in a small sampling error. </a:t>
            </a:r>
          </a:p>
          <a:p>
            <a:r>
              <a:rPr lang="en-IN" dirty="0" smtClean="0"/>
              <a:t>.</a:t>
            </a:r>
            <a:endParaRPr lang="en-IN" dirty="0"/>
          </a:p>
        </p:txBody>
      </p:sp>
    </p:spTree>
    <p:extLst>
      <p:ext uri="{BB962C8B-B14F-4D97-AF65-F5344CB8AC3E}">
        <p14:creationId xmlns:p14="http://schemas.microsoft.com/office/powerpoint/2010/main" val="6797126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IN" dirty="0" smtClean="0"/>
              <a:t>(c) Sample design must be viable in the context of funds available for the research study. </a:t>
            </a:r>
          </a:p>
          <a:p>
            <a:r>
              <a:rPr lang="en-IN" dirty="0" smtClean="0"/>
              <a:t>(d) Sample design must be such so that systematic bias can be controlled in a better way.</a:t>
            </a:r>
          </a:p>
          <a:p>
            <a:r>
              <a:rPr lang="en-IN" dirty="0" smtClean="0"/>
              <a:t> (e) Sample should be such that the results of the sample study can be applied, in general, for the universe with a reasonable level of confidence</a:t>
            </a:r>
            <a:endParaRPr lang="en-IN" dirty="0"/>
          </a:p>
        </p:txBody>
      </p:sp>
    </p:spTree>
    <p:extLst>
      <p:ext uri="{BB962C8B-B14F-4D97-AF65-F5344CB8AC3E}">
        <p14:creationId xmlns:p14="http://schemas.microsoft.com/office/powerpoint/2010/main" val="7557370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DIFFERENT TYPES OF SAMPLE DESIGNS</a:t>
            </a:r>
            <a:endParaRPr lang="en-IN" dirty="0"/>
          </a:p>
        </p:txBody>
      </p:sp>
      <p:sp>
        <p:nvSpPr>
          <p:cNvPr id="3" name="Content Placeholder 2"/>
          <p:cNvSpPr>
            <a:spLocks noGrp="1"/>
          </p:cNvSpPr>
          <p:nvPr>
            <p:ph idx="1"/>
          </p:nvPr>
        </p:nvSpPr>
        <p:spPr/>
        <p:txBody>
          <a:bodyPr/>
          <a:lstStyle/>
          <a:p>
            <a:r>
              <a:rPr lang="en-IN" dirty="0" smtClean="0"/>
              <a:t>There are different types of sample designs based on two factors viz., the </a:t>
            </a:r>
            <a:r>
              <a:rPr lang="en-IN" b="1" dirty="0" smtClean="0"/>
              <a:t>representation basis</a:t>
            </a:r>
            <a:r>
              <a:rPr lang="en-IN" dirty="0" smtClean="0"/>
              <a:t> and the </a:t>
            </a:r>
            <a:r>
              <a:rPr lang="en-IN" b="1" dirty="0" smtClean="0"/>
              <a:t>element selection technique</a:t>
            </a:r>
            <a:r>
              <a:rPr lang="en-IN" dirty="0" smtClean="0"/>
              <a:t>.</a:t>
            </a:r>
          </a:p>
          <a:p>
            <a:pPr>
              <a:buFont typeface="Wingdings" pitchFamily="2" charset="2"/>
              <a:buChar char="Ø"/>
            </a:pPr>
            <a:r>
              <a:rPr lang="en-IN" dirty="0" smtClean="0"/>
              <a:t>On the </a:t>
            </a:r>
            <a:r>
              <a:rPr lang="en-IN" b="1" dirty="0" smtClean="0"/>
              <a:t>representation basis</a:t>
            </a:r>
            <a:r>
              <a:rPr lang="en-IN" dirty="0" smtClean="0"/>
              <a:t>, the sample may be </a:t>
            </a:r>
            <a:r>
              <a:rPr lang="en-IN" b="1" dirty="0" smtClean="0"/>
              <a:t>probability sampling </a:t>
            </a:r>
            <a:r>
              <a:rPr lang="en-IN" dirty="0" smtClean="0"/>
              <a:t>or it may be </a:t>
            </a:r>
            <a:r>
              <a:rPr lang="en-IN" b="1" dirty="0" smtClean="0"/>
              <a:t>non-probability sampling.</a:t>
            </a:r>
          </a:p>
          <a:p>
            <a:pPr>
              <a:buFont typeface="Wingdings" pitchFamily="2" charset="2"/>
              <a:buChar char="Ø"/>
            </a:pPr>
            <a:r>
              <a:rPr lang="en-IN" dirty="0" smtClean="0"/>
              <a:t>On </a:t>
            </a:r>
            <a:r>
              <a:rPr lang="en-IN" b="1" dirty="0" smtClean="0"/>
              <a:t>element selection basis</a:t>
            </a:r>
            <a:r>
              <a:rPr lang="en-IN" dirty="0" smtClean="0"/>
              <a:t>, the sample may be either unrestricted or restricted</a:t>
            </a:r>
            <a:endParaRPr lang="en-IN" b="1" dirty="0"/>
          </a:p>
        </p:txBody>
      </p:sp>
    </p:spTree>
    <p:extLst>
      <p:ext uri="{BB962C8B-B14F-4D97-AF65-F5344CB8AC3E}">
        <p14:creationId xmlns:p14="http://schemas.microsoft.com/office/powerpoint/2010/main" val="41368915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smtClean="0"/>
              <a:t>Probability sampling is based on the concept of random selection, whereas non-probability sampling is ‘non-random’ sampling.</a:t>
            </a:r>
          </a:p>
          <a:p>
            <a:r>
              <a:rPr lang="en-IN" dirty="0" smtClean="0"/>
              <a:t>When each sample element is drawn individually from the population at large, then the sample so drawn is known as ‘unrestricted sample’, whereas all other forms of sampling are covered under the term ‘restricted sampling’.</a:t>
            </a:r>
            <a:endParaRPr lang="en-IN" dirty="0"/>
          </a:p>
        </p:txBody>
      </p:sp>
    </p:spTree>
    <p:extLst>
      <p:ext uri="{BB962C8B-B14F-4D97-AF65-F5344CB8AC3E}">
        <p14:creationId xmlns:p14="http://schemas.microsoft.com/office/powerpoint/2010/main" val="35339370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Non-probability sampling:</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Non-probability sampling is that sampling procedure which does not afford any basis for estimating the probability that each item in the population has of being included in the sample.</a:t>
            </a:r>
          </a:p>
          <a:p>
            <a:r>
              <a:rPr lang="en-IN" dirty="0" smtClean="0"/>
              <a:t>Non-probability sampling is also known by different names such as </a:t>
            </a:r>
            <a:r>
              <a:rPr lang="en-IN" b="1" dirty="0" smtClean="0"/>
              <a:t>deliberate sampling</a:t>
            </a:r>
            <a:r>
              <a:rPr lang="en-IN" dirty="0" smtClean="0"/>
              <a:t>, </a:t>
            </a:r>
            <a:r>
              <a:rPr lang="en-IN" b="1" dirty="0" smtClean="0"/>
              <a:t>purposive sampling </a:t>
            </a:r>
            <a:r>
              <a:rPr lang="en-IN" dirty="0" smtClean="0"/>
              <a:t>and </a:t>
            </a:r>
            <a:r>
              <a:rPr lang="en-IN" b="1" dirty="0" smtClean="0"/>
              <a:t>judgement sampling</a:t>
            </a:r>
            <a:r>
              <a:rPr lang="en-IN" dirty="0" smtClean="0"/>
              <a:t>.</a:t>
            </a:r>
          </a:p>
          <a:p>
            <a:r>
              <a:rPr lang="en-IN" dirty="0" smtClean="0"/>
              <a:t> In this type of sampling, items for the sample are selected deliberately by the researcher; his choice concerning the items remains supreme</a:t>
            </a:r>
            <a:endParaRPr lang="en-IN" dirty="0"/>
          </a:p>
        </p:txBody>
      </p:sp>
    </p:spTree>
    <p:extLst>
      <p:ext uri="{BB962C8B-B14F-4D97-AF65-F5344CB8AC3E}">
        <p14:creationId xmlns:p14="http://schemas.microsoft.com/office/powerpoint/2010/main" val="16505522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IN" dirty="0" smtClean="0"/>
              <a:t>under non-probability sampling the organisers of the inquiry purposively choose the particular units of the universe for constituting a sample on the basis that the small mass that they so select out of a huge one will be typical or representative of the whole.</a:t>
            </a:r>
          </a:p>
          <a:p>
            <a:r>
              <a:rPr lang="en-US" dirty="0" smtClean="0"/>
              <a:t>Ex:</a:t>
            </a:r>
            <a:r>
              <a:rPr lang="en-IN" dirty="0" smtClean="0"/>
              <a:t> if economic conditions of people living in a state are to be studied, a few towns and villages may be purposively selected for intensive study on the principle that they can be representative of the entire state. Thus, the judgement of the organisers of the study plays an important part in this sampling design.</a:t>
            </a:r>
            <a:endParaRPr lang="en-IN" dirty="0"/>
          </a:p>
        </p:txBody>
      </p:sp>
    </p:spTree>
    <p:extLst>
      <p:ext uri="{BB962C8B-B14F-4D97-AF65-F5344CB8AC3E}">
        <p14:creationId xmlns:p14="http://schemas.microsoft.com/office/powerpoint/2010/main" val="23518513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b="1" dirty="0" smtClean="0"/>
              <a:t>Quota sampling </a:t>
            </a:r>
            <a:r>
              <a:rPr lang="en-IN" dirty="0" smtClean="0"/>
              <a:t>is also an example of non-probability sampling. </a:t>
            </a:r>
          </a:p>
          <a:p>
            <a:r>
              <a:rPr lang="en-IN" dirty="0" smtClean="0"/>
              <a:t>Under quota sampling the interviewers are simply given quotas to be filled from the different strata, with some restrictions on how they are to be filled.</a:t>
            </a:r>
          </a:p>
          <a:p>
            <a:r>
              <a:rPr lang="en-IN" dirty="0" smtClean="0"/>
              <a:t>In other words, the actual selection of the items for the sample is left to the interviewer’s discretion. </a:t>
            </a:r>
          </a:p>
          <a:p>
            <a:r>
              <a:rPr lang="en-IN" dirty="0" smtClean="0"/>
              <a:t>This type of sampling is very convenient and is relatively inexpensive.</a:t>
            </a:r>
            <a:endParaRPr lang="en-IN" dirty="0"/>
          </a:p>
        </p:txBody>
      </p:sp>
    </p:spTree>
    <p:extLst>
      <p:ext uri="{BB962C8B-B14F-4D97-AF65-F5344CB8AC3E}">
        <p14:creationId xmlns:p14="http://schemas.microsoft.com/office/powerpoint/2010/main" val="28437740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Probability sampling:</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Probability sampling is also known as ‘random sampling’ or ‘chance sampling’. </a:t>
            </a:r>
          </a:p>
          <a:p>
            <a:r>
              <a:rPr lang="en-IN" dirty="0" smtClean="0"/>
              <a:t>Under this sampling design, every item of the universe has an equal chance of inclusion in the sample. </a:t>
            </a:r>
          </a:p>
          <a:p>
            <a:r>
              <a:rPr lang="en-IN" dirty="0" smtClean="0"/>
              <a:t>It is, so to say, a lottery method in which individual units are picked up from the whole group not deliberately but by some mechanical process.</a:t>
            </a:r>
          </a:p>
          <a:p>
            <a:r>
              <a:rPr lang="en-IN" dirty="0" smtClean="0"/>
              <a:t> Here it is blind chance alone that determines whether one item or the other is selected.</a:t>
            </a:r>
            <a:endParaRPr lang="en-IN" dirty="0"/>
          </a:p>
        </p:txBody>
      </p:sp>
    </p:spTree>
    <p:extLst>
      <p:ext uri="{BB962C8B-B14F-4D97-AF65-F5344CB8AC3E}">
        <p14:creationId xmlns:p14="http://schemas.microsoft.com/office/powerpoint/2010/main" val="41630465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smtClean="0"/>
              <a:t>Random sampling from a finite population refers to that method of sample selection which gives each possible sample combination an equal probability of being picked up and each item in the entire population to have an equal chance of being included in the sample.</a:t>
            </a:r>
          </a:p>
          <a:p>
            <a:r>
              <a:rPr lang="en-IN" dirty="0" smtClean="0"/>
              <a:t>This applies to sampling without replacement i.e., once an item is selected for the sample, it cannot appear in the sample again</a:t>
            </a:r>
            <a:endParaRPr lang="en-IN" dirty="0"/>
          </a:p>
        </p:txBody>
      </p:sp>
    </p:spTree>
    <p:extLst>
      <p:ext uri="{BB962C8B-B14F-4D97-AF65-F5344CB8AC3E}">
        <p14:creationId xmlns:p14="http://schemas.microsoft.com/office/powerpoint/2010/main" val="42653077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1527</Words>
  <Application>Microsoft Office PowerPoint</Application>
  <PresentationFormat>On-screen Show (4:3)</PresentationFormat>
  <Paragraphs>77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Unit-II SAMPLE DESIGN</vt:lpstr>
      <vt:lpstr>SAMPLE</vt:lpstr>
      <vt:lpstr>POPULATION</vt:lpstr>
      <vt:lpstr>Example of Population in Research</vt:lpstr>
      <vt:lpstr>Sampling</vt:lpstr>
      <vt:lpstr>STEPS IN SAMPLE DESIGN</vt:lpstr>
      <vt:lpstr>PowerPoint Presentation</vt:lpstr>
      <vt:lpstr>(ii) Sampling unit:</vt:lpstr>
      <vt:lpstr>(iii) Source list:</vt:lpstr>
      <vt:lpstr>(iv) Size of sample:</vt:lpstr>
      <vt:lpstr>(v) Parameters of interest:</vt:lpstr>
      <vt:lpstr>(vi) Budgetary constraint:</vt:lpstr>
      <vt:lpstr>(vii) Sampling procedure:</vt:lpstr>
      <vt:lpstr>CHARACTERISTICS OF A GOOD SAMPLE DESIGN</vt:lpstr>
      <vt:lpstr>PowerPoint Presentation</vt:lpstr>
      <vt:lpstr>DIFFERENT TYPES OF SAMPLE DESIGNS</vt:lpstr>
      <vt:lpstr>PowerPoint Presentation</vt:lpstr>
      <vt:lpstr>Non-probability sampling:</vt:lpstr>
      <vt:lpstr>PowerPoint Presentation</vt:lpstr>
      <vt:lpstr>PowerPoint Presentation</vt:lpstr>
      <vt:lpstr>Probability sampling: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 SAMPLE DESIGN</dc:title>
  <dc:creator>Home</dc:creator>
  <cp:lastModifiedBy>Home</cp:lastModifiedBy>
  <cp:revision>7</cp:revision>
  <dcterms:created xsi:type="dcterms:W3CDTF">2024-12-03T17:27:02Z</dcterms:created>
  <dcterms:modified xsi:type="dcterms:W3CDTF">2024-12-03T17:57:27Z</dcterms:modified>
</cp:coreProperties>
</file>