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FE36DD2-0714-481A-8EF0-CF566449CAB9}" type="datetimeFigureOut">
              <a:rPr lang="en-IN" smtClean="0"/>
              <a:t>19-11-2024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4648EBF2-417E-4350-A5B3-9D6363C2713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648EBF2-417E-4350-A5B3-9D6363C2713C}"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648EBF2-417E-4350-A5B3-9D6363C2713C}"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648EBF2-417E-4350-A5B3-9D6363C2713C}"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4648EBF2-417E-4350-A5B3-9D6363C2713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4648EBF2-417E-4350-A5B3-9D6363C2713C}"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4648EBF2-417E-4350-A5B3-9D6363C2713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FE36DD2-0714-481A-8EF0-CF566449CAB9}" type="datetimeFigureOut">
              <a:rPr lang="en-IN" smtClean="0"/>
              <a:t>19-11-2024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4648EBF2-417E-4350-A5B3-9D6363C2713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FE36DD2-0714-481A-8EF0-CF566449CAB9}" type="datetimeFigureOut">
              <a:rPr lang="en-IN" smtClean="0"/>
              <a:t>19-11-2024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4648EBF2-417E-4350-A5B3-9D6363C2713C}"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648EBF2-417E-4350-A5B3-9D6363C2713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E36DD2-0714-481A-8EF0-CF566449CAB9}" type="datetimeFigureOut">
              <a:rPr lang="en-IN" smtClean="0"/>
              <a:t>19-11-2024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4648EBF2-417E-4350-A5B3-9D6363C2713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FE36DD2-0714-481A-8EF0-CF566449CAB9}" type="datetimeFigureOut">
              <a:rPr lang="en-IN" smtClean="0"/>
              <a:t>19-11-2024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4648EBF2-417E-4350-A5B3-9D6363C2713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ictionary.cambridge.org/dictionary/english/known" TargetMode="External"/><Relationship Id="rId2" Type="http://schemas.openxmlformats.org/officeDocument/2006/relationships/hyperlink" Target="https://dictionary.cambridge.org/dictionary/english/based" TargetMode="External"/><Relationship Id="rId1" Type="http://schemas.openxmlformats.org/officeDocument/2006/relationships/slideLayout" Target="../slideLayouts/slideLayout2.xml"/><Relationship Id="rId6" Type="http://schemas.openxmlformats.org/officeDocument/2006/relationships/hyperlink" Target="https://dictionary.cambridge.org/dictionary/english/prove" TargetMode="External"/><Relationship Id="rId5" Type="http://schemas.openxmlformats.org/officeDocument/2006/relationships/hyperlink" Target="https://dictionary.cambridge.org/dictionary/english/yet" TargetMode="External"/><Relationship Id="rId4" Type="http://schemas.openxmlformats.org/officeDocument/2006/relationships/hyperlink" Target="https://dictionary.cambridge.org/dictionary/english/fa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pc="155" dirty="0">
                <a:solidFill>
                  <a:schemeClr val="accent4">
                    <a:lumMod val="75000"/>
                  </a:schemeClr>
                </a:solidFill>
                <a:latin typeface="Times New Roman"/>
                <a:cs typeface="Times New Roman"/>
              </a:rPr>
              <a:t>UNIT-1</a:t>
            </a:r>
            <a:br>
              <a:rPr lang="en-US" spc="155" dirty="0">
                <a:solidFill>
                  <a:schemeClr val="accent4">
                    <a:lumMod val="75000"/>
                  </a:schemeClr>
                </a:solidFill>
                <a:latin typeface="Times New Roman"/>
                <a:cs typeface="Times New Roman"/>
              </a:rPr>
            </a:br>
            <a:r>
              <a:rPr lang="en-US" spc="155" dirty="0">
                <a:solidFill>
                  <a:schemeClr val="accent4">
                    <a:lumMod val="75000"/>
                  </a:schemeClr>
                </a:solidFill>
                <a:latin typeface="Times New Roman"/>
                <a:cs typeface="Times New Roman"/>
              </a:rPr>
              <a:t>    INTRODUCTION </a:t>
            </a:r>
            <a:r>
              <a:rPr lang="en-US" spc="105" dirty="0">
                <a:solidFill>
                  <a:schemeClr val="accent4">
                    <a:lumMod val="75000"/>
                  </a:schemeClr>
                </a:solidFill>
                <a:latin typeface="Times New Roman"/>
                <a:cs typeface="Times New Roman"/>
              </a:rPr>
              <a:t>TO    </a:t>
            </a:r>
            <a:r>
              <a:rPr lang="en-US" spc="10" dirty="0">
                <a:solidFill>
                  <a:schemeClr val="accent4">
                    <a:lumMod val="75000"/>
                  </a:schemeClr>
                </a:solidFill>
                <a:latin typeface="Times New Roman"/>
                <a:cs typeface="Times New Roman"/>
              </a:rPr>
              <a:t>RESEARCH</a:t>
            </a:r>
            <a:endParaRPr lang="en-IN" dirty="0">
              <a:solidFill>
                <a:schemeClr val="accent4">
                  <a:lumMod val="75000"/>
                </a:schemeClr>
              </a:solidFill>
            </a:endParaRPr>
          </a:p>
        </p:txBody>
      </p:sp>
      <p:grpSp>
        <p:nvGrpSpPr>
          <p:cNvPr id="4" name="object 7"/>
          <p:cNvGrpSpPr/>
          <p:nvPr/>
        </p:nvGrpSpPr>
        <p:grpSpPr>
          <a:xfrm>
            <a:off x="457200" y="4005064"/>
            <a:ext cx="8303712" cy="2376264"/>
            <a:chOff x="76200" y="4383023"/>
            <a:chExt cx="8991600" cy="2286000"/>
          </a:xfrm>
        </p:grpSpPr>
        <p:sp>
          <p:nvSpPr>
            <p:cNvPr id="5" name="object 8"/>
            <p:cNvSpPr/>
            <p:nvPr/>
          </p:nvSpPr>
          <p:spPr>
            <a:xfrm>
              <a:off x="76200" y="4383023"/>
              <a:ext cx="2362200" cy="2286000"/>
            </a:xfrm>
            <a:prstGeom prst="rect">
              <a:avLst/>
            </a:prstGeom>
            <a:blipFill>
              <a:blip r:embed="rId2" cstate="print"/>
              <a:stretch>
                <a:fillRect/>
              </a:stretch>
            </a:blipFill>
          </p:spPr>
          <p:txBody>
            <a:bodyPr wrap="square" lIns="0" tIns="0" rIns="0" bIns="0" rtlCol="0"/>
            <a:lstStyle/>
            <a:p>
              <a:endParaRPr/>
            </a:p>
          </p:txBody>
        </p:sp>
        <p:sp>
          <p:nvSpPr>
            <p:cNvPr id="6" name="object 9"/>
            <p:cNvSpPr/>
            <p:nvPr/>
          </p:nvSpPr>
          <p:spPr>
            <a:xfrm>
              <a:off x="6705600" y="4383023"/>
              <a:ext cx="2362200" cy="2286000"/>
            </a:xfrm>
            <a:prstGeom prst="rect">
              <a:avLst/>
            </a:prstGeom>
            <a:blipFill>
              <a:blip r:embed="rId2" cstate="print"/>
              <a:stretch>
                <a:fillRect/>
              </a:stretch>
            </a:blipFill>
          </p:spPr>
          <p:txBody>
            <a:bodyPr wrap="square" lIns="0" tIns="0" rIns="0" bIns="0" rtlCol="0"/>
            <a:lstStyle/>
            <a:p>
              <a:endParaRPr/>
            </a:p>
          </p:txBody>
        </p:sp>
      </p:grpSp>
    </p:spTree>
    <p:extLst>
      <p:ext uri="{BB962C8B-B14F-4D97-AF65-F5344CB8AC3E}">
        <p14:creationId xmlns:p14="http://schemas.microsoft.com/office/powerpoint/2010/main" val="2160493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204864"/>
            <a:ext cx="7408333" cy="3921299"/>
          </a:xfrm>
        </p:spPr>
        <p:txBody>
          <a:bodyPr>
            <a:normAutofit lnSpcReduction="10000"/>
          </a:bodyPr>
          <a:lstStyle/>
          <a:p>
            <a:r>
              <a:rPr lang="en-IN" dirty="0"/>
              <a:t>Research in general refers to….</a:t>
            </a:r>
          </a:p>
          <a:p>
            <a:pPr>
              <a:buFont typeface="Wingdings" pitchFamily="2" charset="2"/>
              <a:buChar char="q"/>
            </a:pPr>
            <a:r>
              <a:rPr lang="en-IN" dirty="0"/>
              <a:t>A search for </a:t>
            </a:r>
            <a:r>
              <a:rPr lang="en-IN" dirty="0" smtClean="0"/>
              <a:t>knowledge.</a:t>
            </a:r>
          </a:p>
          <a:p>
            <a:pPr>
              <a:buFont typeface="Wingdings" pitchFamily="2" charset="2"/>
              <a:buChar char="q"/>
            </a:pPr>
            <a:r>
              <a:rPr lang="en-IN" dirty="0" smtClean="0"/>
              <a:t>A </a:t>
            </a:r>
            <a:r>
              <a:rPr lang="en-IN" dirty="0"/>
              <a:t>scientific and systematic search for relevant information on a specific </a:t>
            </a:r>
            <a:r>
              <a:rPr lang="en-IN" dirty="0" smtClean="0"/>
              <a:t>topic.</a:t>
            </a:r>
          </a:p>
          <a:p>
            <a:pPr>
              <a:buFont typeface="Wingdings" pitchFamily="2" charset="2"/>
              <a:buChar char="q"/>
            </a:pPr>
            <a:r>
              <a:rPr lang="en-IN" dirty="0" smtClean="0"/>
              <a:t>Research </a:t>
            </a:r>
            <a:r>
              <a:rPr lang="en-IN" dirty="0"/>
              <a:t>is an art of scientific </a:t>
            </a:r>
            <a:r>
              <a:rPr lang="en-IN" dirty="0" smtClean="0"/>
              <a:t>investigation.</a:t>
            </a:r>
          </a:p>
          <a:p>
            <a:pPr>
              <a:buFont typeface="Wingdings" pitchFamily="2" charset="2"/>
              <a:buChar char="q"/>
            </a:pPr>
            <a:r>
              <a:rPr lang="en-IN" dirty="0" smtClean="0"/>
              <a:t>Research </a:t>
            </a:r>
            <a:r>
              <a:rPr lang="en-IN" dirty="0"/>
              <a:t>is a careful investigation or inquiry especially through search for new facts in any branch of </a:t>
            </a:r>
            <a:r>
              <a:rPr lang="en-IN" dirty="0" smtClean="0"/>
              <a:t>knowledge</a:t>
            </a:r>
            <a:endParaRPr lang="en-IN" dirty="0"/>
          </a:p>
        </p:txBody>
      </p:sp>
      <p:sp>
        <p:nvSpPr>
          <p:cNvPr id="3" name="Title 2"/>
          <p:cNvSpPr>
            <a:spLocks noGrp="1"/>
          </p:cNvSpPr>
          <p:nvPr>
            <p:ph type="title"/>
          </p:nvPr>
        </p:nvSpPr>
        <p:spPr/>
        <p:txBody>
          <a:bodyPr/>
          <a:lstStyle/>
          <a:p>
            <a:r>
              <a:rPr lang="en-IN" spc="-10" dirty="0">
                <a:solidFill>
                  <a:srgbClr val="FF0000"/>
                </a:solidFill>
              </a:rPr>
              <a:t>MEANING </a:t>
            </a:r>
            <a:r>
              <a:rPr lang="en-IN" dirty="0">
                <a:solidFill>
                  <a:srgbClr val="FF0000"/>
                </a:solidFill>
              </a:rPr>
              <a:t>OF</a:t>
            </a:r>
            <a:r>
              <a:rPr lang="en-IN" spc="5" dirty="0">
                <a:solidFill>
                  <a:srgbClr val="FF0000"/>
                </a:solidFill>
              </a:rPr>
              <a:t> </a:t>
            </a:r>
            <a:r>
              <a:rPr lang="en-IN" spc="-10" dirty="0">
                <a:solidFill>
                  <a:srgbClr val="FF0000"/>
                </a:solidFill>
              </a:rPr>
              <a:t>RESEARCH</a:t>
            </a:r>
            <a:endParaRPr lang="en-IN" dirty="0"/>
          </a:p>
        </p:txBody>
      </p:sp>
    </p:spTree>
    <p:extLst>
      <p:ext uri="{BB962C8B-B14F-4D97-AF65-F5344CB8AC3E}">
        <p14:creationId xmlns:p14="http://schemas.microsoft.com/office/powerpoint/2010/main" val="28505389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916832"/>
            <a:ext cx="7408333" cy="4209331"/>
          </a:xfrm>
        </p:spPr>
        <p:txBody>
          <a:bodyPr>
            <a:normAutofit fontScale="92500" lnSpcReduction="10000"/>
          </a:bodyPr>
          <a:lstStyle/>
          <a:p>
            <a:pPr marL="624078" indent="-514350">
              <a:buFont typeface="+mj-lt"/>
              <a:buAutoNum type="arabicPeriod"/>
            </a:pPr>
            <a:r>
              <a:rPr lang="en-IN" spc="-5" dirty="0">
                <a:cs typeface="Arial"/>
              </a:rPr>
              <a:t>Research </a:t>
            </a:r>
            <a:r>
              <a:rPr lang="en-IN" dirty="0">
                <a:cs typeface="Arial"/>
              </a:rPr>
              <a:t>as a </a:t>
            </a:r>
            <a:r>
              <a:rPr lang="en-IN" spc="-5" dirty="0">
                <a:cs typeface="Arial"/>
              </a:rPr>
              <a:t>“systematized effort </a:t>
            </a:r>
            <a:r>
              <a:rPr lang="en-IN" dirty="0">
                <a:cs typeface="Arial"/>
              </a:rPr>
              <a:t>to </a:t>
            </a:r>
            <a:r>
              <a:rPr lang="en-IN" spc="-5" dirty="0">
                <a:cs typeface="Arial"/>
              </a:rPr>
              <a:t>gain </a:t>
            </a:r>
            <a:r>
              <a:rPr lang="en-IN" dirty="0">
                <a:cs typeface="Arial"/>
              </a:rPr>
              <a:t>new</a:t>
            </a:r>
            <a:r>
              <a:rPr lang="en-IN" spc="-114" dirty="0">
                <a:cs typeface="Arial"/>
              </a:rPr>
              <a:t> </a:t>
            </a:r>
            <a:r>
              <a:rPr lang="en-IN" dirty="0">
                <a:cs typeface="Arial"/>
              </a:rPr>
              <a:t>knowledge.”</a:t>
            </a:r>
          </a:p>
          <a:p>
            <a:pPr marL="109728" indent="0">
              <a:buNone/>
            </a:pPr>
            <a:r>
              <a:rPr lang="en-US" dirty="0">
                <a:cs typeface="Arial"/>
              </a:rPr>
              <a:t>                                    -</a:t>
            </a:r>
            <a:r>
              <a:rPr lang="en-IN" dirty="0">
                <a:cs typeface="Arial"/>
              </a:rPr>
              <a:t> Redman </a:t>
            </a:r>
            <a:r>
              <a:rPr lang="en-IN" spc="-5" dirty="0">
                <a:cs typeface="Arial"/>
              </a:rPr>
              <a:t>and </a:t>
            </a:r>
            <a:r>
              <a:rPr lang="en-IN" spc="-5" dirty="0" err="1">
                <a:cs typeface="Arial"/>
              </a:rPr>
              <a:t>Mory</a:t>
            </a:r>
            <a:endParaRPr lang="en-IN" spc="-5" dirty="0">
              <a:cs typeface="Arial"/>
            </a:endParaRPr>
          </a:p>
          <a:p>
            <a:pPr marL="109728" indent="0">
              <a:buNone/>
            </a:pPr>
            <a:endParaRPr lang="en-IN" spc="-5" dirty="0">
              <a:cs typeface="Arial"/>
            </a:endParaRPr>
          </a:p>
          <a:p>
            <a:pPr marL="109728" lvl="1" indent="0">
              <a:buClr>
                <a:schemeClr val="accent3"/>
              </a:buClr>
              <a:buNone/>
            </a:pPr>
            <a:r>
              <a:rPr lang="en-US" sz="2400" spc="-5" dirty="0">
                <a:solidFill>
                  <a:schemeClr val="tx1"/>
                </a:solidFill>
                <a:cs typeface="Arial"/>
              </a:rPr>
              <a:t>2. Research </a:t>
            </a:r>
            <a:r>
              <a:rPr lang="en-IN" sz="2400" dirty="0">
                <a:solidFill>
                  <a:schemeClr val="tx1"/>
                </a:solidFill>
                <a:cs typeface="Arial"/>
              </a:rPr>
              <a:t> comprises </a:t>
            </a:r>
            <a:r>
              <a:rPr lang="en-IN" sz="2400" spc="-5" dirty="0">
                <a:solidFill>
                  <a:schemeClr val="tx1"/>
                </a:solidFill>
                <a:cs typeface="Arial"/>
              </a:rPr>
              <a:t>defining </a:t>
            </a:r>
            <a:r>
              <a:rPr lang="en-IN" sz="2400" dirty="0">
                <a:solidFill>
                  <a:schemeClr val="tx1"/>
                </a:solidFill>
                <a:cs typeface="Arial"/>
              </a:rPr>
              <a:t>and </a:t>
            </a:r>
            <a:r>
              <a:rPr lang="en-IN" sz="2400" spc="-5" dirty="0">
                <a:solidFill>
                  <a:schemeClr val="tx1"/>
                </a:solidFill>
                <a:cs typeface="Arial"/>
              </a:rPr>
              <a:t>redefining problems, formulating hypothesis </a:t>
            </a:r>
            <a:r>
              <a:rPr lang="en-IN" sz="2400" dirty="0">
                <a:solidFill>
                  <a:schemeClr val="tx1"/>
                </a:solidFill>
                <a:cs typeface="Arial"/>
              </a:rPr>
              <a:t>or  </a:t>
            </a:r>
            <a:r>
              <a:rPr lang="en-IN" sz="2400" spc="-5" dirty="0">
                <a:solidFill>
                  <a:schemeClr val="tx1"/>
                </a:solidFill>
                <a:cs typeface="Arial"/>
              </a:rPr>
              <a:t>suggested </a:t>
            </a:r>
            <a:r>
              <a:rPr lang="en-IN" sz="2400" dirty="0">
                <a:solidFill>
                  <a:schemeClr val="tx1"/>
                </a:solidFill>
                <a:cs typeface="Arial"/>
              </a:rPr>
              <a:t>solutions; </a:t>
            </a:r>
            <a:r>
              <a:rPr lang="en-IN" sz="2400" spc="-5" dirty="0">
                <a:solidFill>
                  <a:schemeClr val="tx1"/>
                </a:solidFill>
                <a:cs typeface="Arial"/>
              </a:rPr>
              <a:t>collecting, organizing and evaluating </a:t>
            </a:r>
            <a:r>
              <a:rPr lang="en-IN" sz="2400" dirty="0">
                <a:solidFill>
                  <a:schemeClr val="tx1"/>
                </a:solidFill>
                <a:cs typeface="Arial"/>
              </a:rPr>
              <a:t>data; making </a:t>
            </a:r>
            <a:r>
              <a:rPr lang="en-IN" sz="2400" spc="-5" dirty="0">
                <a:solidFill>
                  <a:schemeClr val="tx1"/>
                </a:solidFill>
                <a:cs typeface="Arial"/>
              </a:rPr>
              <a:t>deductions and reaching conclusions; and </a:t>
            </a:r>
            <a:r>
              <a:rPr lang="en-IN" sz="2400" dirty="0">
                <a:solidFill>
                  <a:schemeClr val="tx1"/>
                </a:solidFill>
                <a:cs typeface="Arial"/>
              </a:rPr>
              <a:t>at  last carefully testing the </a:t>
            </a:r>
            <a:r>
              <a:rPr lang="en-IN" sz="2400" spc="-5" dirty="0">
                <a:solidFill>
                  <a:schemeClr val="tx1"/>
                </a:solidFill>
                <a:cs typeface="Arial"/>
              </a:rPr>
              <a:t>conclusions </a:t>
            </a:r>
            <a:r>
              <a:rPr lang="en-IN" sz="2400" dirty="0">
                <a:solidFill>
                  <a:schemeClr val="tx1"/>
                </a:solidFill>
                <a:cs typeface="Arial"/>
              </a:rPr>
              <a:t>to determine </a:t>
            </a:r>
            <a:r>
              <a:rPr lang="en-IN" sz="2400" spc="-5" dirty="0">
                <a:solidFill>
                  <a:schemeClr val="tx1"/>
                </a:solidFill>
                <a:cs typeface="Arial"/>
              </a:rPr>
              <a:t>whether </a:t>
            </a:r>
            <a:r>
              <a:rPr lang="en-IN" sz="2400" dirty="0">
                <a:solidFill>
                  <a:schemeClr val="tx1"/>
                </a:solidFill>
                <a:cs typeface="Arial"/>
              </a:rPr>
              <a:t>they </a:t>
            </a:r>
            <a:r>
              <a:rPr lang="en-IN" sz="2400" spc="5" dirty="0">
                <a:solidFill>
                  <a:schemeClr val="tx1"/>
                </a:solidFill>
                <a:cs typeface="Arial"/>
              </a:rPr>
              <a:t>fit </a:t>
            </a:r>
            <a:r>
              <a:rPr lang="en-IN" sz="2400" dirty="0">
                <a:solidFill>
                  <a:schemeClr val="tx1"/>
                </a:solidFill>
                <a:cs typeface="Arial"/>
              </a:rPr>
              <a:t>the </a:t>
            </a:r>
            <a:r>
              <a:rPr lang="en-IN" sz="2400" spc="-5" dirty="0">
                <a:solidFill>
                  <a:schemeClr val="tx1"/>
                </a:solidFill>
                <a:cs typeface="Arial"/>
              </a:rPr>
              <a:t>formulating</a:t>
            </a:r>
            <a:r>
              <a:rPr lang="en-IN" sz="2400" spc="-225" dirty="0">
                <a:solidFill>
                  <a:schemeClr val="tx1"/>
                </a:solidFill>
                <a:cs typeface="Arial"/>
              </a:rPr>
              <a:t> </a:t>
            </a:r>
            <a:r>
              <a:rPr lang="en-IN" sz="2400" dirty="0">
                <a:solidFill>
                  <a:schemeClr val="tx1"/>
                </a:solidFill>
                <a:cs typeface="Arial"/>
              </a:rPr>
              <a:t>hypothesis</a:t>
            </a:r>
          </a:p>
          <a:p>
            <a:pPr marL="109728" lvl="1" indent="0">
              <a:buClr>
                <a:schemeClr val="accent3"/>
              </a:buClr>
              <a:buNone/>
            </a:pPr>
            <a:r>
              <a:rPr lang="en-US" sz="2400" dirty="0">
                <a:solidFill>
                  <a:schemeClr val="tx1"/>
                </a:solidFill>
                <a:cs typeface="Arial"/>
              </a:rPr>
              <a:t>				-</a:t>
            </a:r>
            <a:r>
              <a:rPr lang="en-IN" sz="2400" spc="-5" dirty="0">
                <a:solidFill>
                  <a:schemeClr val="tx1"/>
                </a:solidFill>
                <a:latin typeface="Arial"/>
                <a:cs typeface="Arial"/>
              </a:rPr>
              <a:t> “Clifford Woody” </a:t>
            </a:r>
            <a:endParaRPr lang="en-IN" sz="2400" dirty="0">
              <a:solidFill>
                <a:schemeClr val="tx1"/>
              </a:solidFill>
              <a:cs typeface="Arial"/>
            </a:endParaRPr>
          </a:p>
          <a:p>
            <a:endParaRPr lang="en-IN" dirty="0"/>
          </a:p>
        </p:txBody>
      </p:sp>
      <p:sp>
        <p:nvSpPr>
          <p:cNvPr id="3" name="Title 2"/>
          <p:cNvSpPr>
            <a:spLocks noGrp="1"/>
          </p:cNvSpPr>
          <p:nvPr>
            <p:ph type="title"/>
          </p:nvPr>
        </p:nvSpPr>
        <p:spPr/>
        <p:txBody>
          <a:bodyPr/>
          <a:lstStyle/>
          <a:p>
            <a:r>
              <a:rPr lang="en-US" dirty="0"/>
              <a:t>DEFINITIONS</a:t>
            </a:r>
            <a:endParaRPr lang="en-IN" dirty="0"/>
          </a:p>
        </p:txBody>
      </p:sp>
    </p:spTree>
    <p:extLst>
      <p:ext uri="{BB962C8B-B14F-4D97-AF65-F5344CB8AC3E}">
        <p14:creationId xmlns:p14="http://schemas.microsoft.com/office/powerpoint/2010/main" val="31377035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1772817"/>
            <a:ext cx="7408333" cy="3024336"/>
          </a:xfrm>
        </p:spPr>
        <p:txBody>
          <a:bodyPr>
            <a:normAutofit/>
          </a:bodyPr>
          <a:lstStyle/>
          <a:p>
            <a:pPr marL="355600" marR="612775" indent="-342900">
              <a:lnSpc>
                <a:spcPct val="100000"/>
              </a:lnSpc>
              <a:spcBef>
                <a:spcPts val="95"/>
              </a:spcBef>
              <a:buChar char="•"/>
              <a:tabLst>
                <a:tab pos="354965" algn="l"/>
                <a:tab pos="355600" algn="l"/>
              </a:tabLst>
            </a:pPr>
            <a:r>
              <a:rPr lang="en-IN" sz="1600" spc="-5" dirty="0">
                <a:latin typeface="Arial"/>
                <a:cs typeface="Arial"/>
              </a:rPr>
              <a:t>The purpose of research is to discover answers through the application of scientific  procedures.</a:t>
            </a:r>
            <a:endParaRPr lang="en-IN" sz="1600" dirty="0">
              <a:latin typeface="Arial"/>
              <a:cs typeface="Arial"/>
            </a:endParaRPr>
          </a:p>
          <a:p>
            <a:pPr>
              <a:lnSpc>
                <a:spcPct val="100000"/>
              </a:lnSpc>
              <a:spcBef>
                <a:spcPts val="40"/>
              </a:spcBef>
              <a:buFont typeface="Arial"/>
              <a:buChar char="•"/>
            </a:pPr>
            <a:endParaRPr lang="en-IN" sz="2300" dirty="0">
              <a:latin typeface="Arial"/>
              <a:cs typeface="Arial"/>
            </a:endParaRPr>
          </a:p>
          <a:p>
            <a:pPr marL="355600" indent="-342900">
              <a:lnSpc>
                <a:spcPct val="100000"/>
              </a:lnSpc>
              <a:spcBef>
                <a:spcPts val="5"/>
              </a:spcBef>
              <a:buChar char="•"/>
              <a:tabLst>
                <a:tab pos="354965" algn="l"/>
                <a:tab pos="355600" algn="l"/>
              </a:tabLst>
            </a:pPr>
            <a:r>
              <a:rPr lang="en-IN" sz="1600" spc="-5" dirty="0">
                <a:latin typeface="Arial"/>
                <a:cs typeface="Arial"/>
              </a:rPr>
              <a:t>The main aim of research is to find out the truth </a:t>
            </a:r>
            <a:r>
              <a:rPr lang="en-IN" sz="1600" spc="-10" dirty="0">
                <a:latin typeface="Arial"/>
                <a:cs typeface="Arial"/>
              </a:rPr>
              <a:t>which </a:t>
            </a:r>
            <a:r>
              <a:rPr lang="en-IN" sz="1600" spc="-5" dirty="0">
                <a:latin typeface="Arial"/>
                <a:cs typeface="Arial"/>
              </a:rPr>
              <a:t>is hidden and </a:t>
            </a:r>
            <a:r>
              <a:rPr lang="en-IN" sz="1600" spc="-10" dirty="0">
                <a:latin typeface="Arial"/>
                <a:cs typeface="Arial"/>
              </a:rPr>
              <a:t>which </a:t>
            </a:r>
            <a:r>
              <a:rPr lang="en-IN" sz="1600" spc="-5" dirty="0">
                <a:latin typeface="Arial"/>
                <a:cs typeface="Arial"/>
              </a:rPr>
              <a:t>has not</a:t>
            </a:r>
            <a:r>
              <a:rPr lang="en-IN" sz="1600" spc="260" dirty="0">
                <a:latin typeface="Arial"/>
                <a:cs typeface="Arial"/>
              </a:rPr>
              <a:t> </a:t>
            </a:r>
            <a:r>
              <a:rPr lang="en-IN" sz="1600" spc="-5" dirty="0" smtClean="0">
                <a:latin typeface="Arial"/>
                <a:cs typeface="Arial"/>
              </a:rPr>
              <a:t>been</a:t>
            </a:r>
            <a:r>
              <a:rPr lang="en-IN" sz="1600" dirty="0" smtClean="0">
                <a:latin typeface="Arial"/>
                <a:cs typeface="Arial"/>
              </a:rPr>
              <a:t> </a:t>
            </a:r>
            <a:r>
              <a:rPr lang="en-IN" sz="1600" spc="-5" dirty="0" smtClean="0">
                <a:latin typeface="Arial"/>
                <a:cs typeface="Arial"/>
              </a:rPr>
              <a:t>discovered </a:t>
            </a:r>
            <a:r>
              <a:rPr lang="en-IN" sz="1600" spc="-5" dirty="0">
                <a:latin typeface="Arial"/>
                <a:cs typeface="Arial"/>
              </a:rPr>
              <a:t>as</a:t>
            </a:r>
            <a:r>
              <a:rPr lang="en-IN" sz="1600" spc="-20" dirty="0">
                <a:latin typeface="Arial"/>
                <a:cs typeface="Arial"/>
              </a:rPr>
              <a:t> </a:t>
            </a:r>
            <a:r>
              <a:rPr lang="en-IN" sz="1600" spc="-10" dirty="0">
                <a:latin typeface="Arial"/>
                <a:cs typeface="Arial"/>
              </a:rPr>
              <a:t>yet.</a:t>
            </a:r>
            <a:endParaRPr lang="en-IN" sz="1600" dirty="0">
              <a:latin typeface="Arial"/>
              <a:cs typeface="Arial"/>
            </a:endParaRPr>
          </a:p>
          <a:p>
            <a:pPr>
              <a:lnSpc>
                <a:spcPct val="100000"/>
              </a:lnSpc>
              <a:spcBef>
                <a:spcPts val="45"/>
              </a:spcBef>
            </a:pPr>
            <a:endParaRPr lang="en-IN" sz="2300" dirty="0">
              <a:latin typeface="Arial"/>
              <a:cs typeface="Arial"/>
            </a:endParaRPr>
          </a:p>
        </p:txBody>
      </p:sp>
      <p:sp>
        <p:nvSpPr>
          <p:cNvPr id="3" name="Title 2"/>
          <p:cNvSpPr>
            <a:spLocks noGrp="1"/>
          </p:cNvSpPr>
          <p:nvPr>
            <p:ph type="title"/>
          </p:nvPr>
        </p:nvSpPr>
        <p:spPr/>
        <p:txBody>
          <a:bodyPr/>
          <a:lstStyle/>
          <a:p>
            <a:r>
              <a:rPr lang="en-IN" spc="-5" dirty="0">
                <a:solidFill>
                  <a:srgbClr val="FF0000"/>
                </a:solidFill>
              </a:rPr>
              <a:t>OBJECTIVES </a:t>
            </a:r>
            <a:r>
              <a:rPr lang="en-IN" dirty="0">
                <a:solidFill>
                  <a:srgbClr val="FF0000"/>
                </a:solidFill>
              </a:rPr>
              <a:t>OF </a:t>
            </a:r>
            <a:r>
              <a:rPr lang="en-IN" spc="-5" dirty="0">
                <a:solidFill>
                  <a:srgbClr val="FF0000"/>
                </a:solidFill>
              </a:rPr>
              <a:t>RESEARCH</a:t>
            </a:r>
            <a:endParaRPr lang="en-IN" dirty="0"/>
          </a:p>
        </p:txBody>
      </p:sp>
    </p:spTree>
    <p:extLst>
      <p:ext uri="{BB962C8B-B14F-4D97-AF65-F5344CB8AC3E}">
        <p14:creationId xmlns:p14="http://schemas.microsoft.com/office/powerpoint/2010/main" val="31042864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55600" indent="-342900">
              <a:lnSpc>
                <a:spcPct val="100000"/>
              </a:lnSpc>
              <a:buChar char="•"/>
              <a:tabLst>
                <a:tab pos="354965" algn="l"/>
                <a:tab pos="355600" algn="l"/>
              </a:tabLst>
            </a:pPr>
            <a:r>
              <a:rPr lang="en-IN" sz="1600" spc="-5" dirty="0">
                <a:latin typeface="Arial"/>
                <a:cs typeface="Arial"/>
              </a:rPr>
              <a:t>Research objectives falling into a number of following broad</a:t>
            </a:r>
            <a:r>
              <a:rPr lang="en-IN" sz="1600" spc="30" dirty="0">
                <a:latin typeface="Arial"/>
                <a:cs typeface="Arial"/>
              </a:rPr>
              <a:t> </a:t>
            </a:r>
            <a:r>
              <a:rPr lang="en-IN" sz="1600" spc="-5" dirty="0">
                <a:latin typeface="Arial"/>
                <a:cs typeface="Arial"/>
              </a:rPr>
              <a:t>groupings:</a:t>
            </a:r>
            <a:endParaRPr lang="en-IN" sz="1600" dirty="0">
              <a:latin typeface="Arial"/>
              <a:cs typeface="Arial"/>
            </a:endParaRPr>
          </a:p>
          <a:p>
            <a:pPr>
              <a:lnSpc>
                <a:spcPct val="100000"/>
              </a:lnSpc>
              <a:spcBef>
                <a:spcPts val="40"/>
              </a:spcBef>
              <a:buFont typeface="Arial"/>
              <a:buChar char="•"/>
            </a:pPr>
            <a:endParaRPr lang="en-IN" sz="2300" dirty="0">
              <a:latin typeface="Arial"/>
              <a:cs typeface="Arial"/>
            </a:endParaRPr>
          </a:p>
          <a:p>
            <a:pPr marL="756285" marR="1052195" lvl="1" indent="-287020">
              <a:lnSpc>
                <a:spcPct val="100000"/>
              </a:lnSpc>
              <a:buFont typeface="Courier New"/>
              <a:buChar char="o"/>
              <a:tabLst>
                <a:tab pos="756920" algn="l"/>
              </a:tabLst>
            </a:pPr>
            <a:r>
              <a:rPr lang="en-IN" sz="1600" b="1" spc="-5" dirty="0">
                <a:latin typeface="Arial"/>
                <a:cs typeface="Arial"/>
              </a:rPr>
              <a:t>Exploratory or </a:t>
            </a:r>
            <a:r>
              <a:rPr lang="en-IN" sz="1600" b="1" spc="-10" dirty="0" err="1">
                <a:latin typeface="Arial"/>
                <a:cs typeface="Arial"/>
              </a:rPr>
              <a:t>Formulative</a:t>
            </a:r>
            <a:r>
              <a:rPr lang="en-IN" sz="1600" b="1" spc="-10" dirty="0">
                <a:latin typeface="Arial"/>
                <a:cs typeface="Arial"/>
              </a:rPr>
              <a:t> </a:t>
            </a:r>
            <a:r>
              <a:rPr lang="en-IN" sz="1600" b="1" spc="-5" dirty="0">
                <a:latin typeface="Arial"/>
                <a:cs typeface="Arial"/>
              </a:rPr>
              <a:t>Research studies</a:t>
            </a:r>
            <a:r>
              <a:rPr lang="en-IN" sz="1600" spc="-5" dirty="0">
                <a:latin typeface="Arial"/>
                <a:cs typeface="Arial"/>
              </a:rPr>
              <a:t>: </a:t>
            </a:r>
            <a:r>
              <a:rPr lang="en-IN" sz="1600" spc="-95" dirty="0">
                <a:latin typeface="Arial"/>
                <a:cs typeface="Arial"/>
              </a:rPr>
              <a:t>To </a:t>
            </a:r>
            <a:r>
              <a:rPr lang="en-IN" sz="1600" spc="-5" dirty="0">
                <a:latin typeface="Arial"/>
                <a:cs typeface="Arial"/>
              </a:rPr>
              <a:t>gain familiarity </a:t>
            </a:r>
            <a:r>
              <a:rPr lang="en-IN" sz="1600" spc="-10" dirty="0">
                <a:latin typeface="Arial"/>
                <a:cs typeface="Arial"/>
              </a:rPr>
              <a:t>with </a:t>
            </a:r>
            <a:r>
              <a:rPr lang="en-IN" sz="1600" spc="-5" dirty="0">
                <a:latin typeface="Arial"/>
                <a:cs typeface="Arial"/>
              </a:rPr>
              <a:t>a  phenomenon </a:t>
            </a:r>
            <a:r>
              <a:rPr lang="en-IN" sz="1600" spc="-5" dirty="0" smtClean="0">
                <a:latin typeface="Arial"/>
                <a:cs typeface="Arial"/>
              </a:rPr>
              <a:t>(a fact or a situation that is observed)or </a:t>
            </a:r>
            <a:r>
              <a:rPr lang="en-IN" sz="1600" spc="-5" dirty="0">
                <a:latin typeface="Arial"/>
                <a:cs typeface="Arial"/>
              </a:rPr>
              <a:t>to achieve new insights into</a:t>
            </a:r>
            <a:r>
              <a:rPr lang="en-IN" sz="1600" spc="25" dirty="0">
                <a:latin typeface="Arial"/>
                <a:cs typeface="Arial"/>
              </a:rPr>
              <a:t> </a:t>
            </a:r>
            <a:r>
              <a:rPr lang="en-IN" sz="1600" spc="-5" dirty="0">
                <a:latin typeface="Arial"/>
                <a:cs typeface="Arial"/>
              </a:rPr>
              <a:t>it.</a:t>
            </a:r>
            <a:endParaRPr lang="en-IN" sz="1600" dirty="0">
              <a:latin typeface="Arial"/>
              <a:cs typeface="Arial"/>
            </a:endParaRPr>
          </a:p>
          <a:p>
            <a:pPr lvl="1">
              <a:lnSpc>
                <a:spcPct val="100000"/>
              </a:lnSpc>
              <a:spcBef>
                <a:spcPts val="45"/>
              </a:spcBef>
              <a:buFont typeface="Courier New"/>
              <a:buChar char="o"/>
            </a:pPr>
            <a:endParaRPr lang="en-IN" dirty="0">
              <a:latin typeface="Arial"/>
              <a:cs typeface="Arial"/>
            </a:endParaRPr>
          </a:p>
          <a:p>
            <a:pPr marL="756285" marR="768350" lvl="1" indent="-287020">
              <a:lnSpc>
                <a:spcPct val="100000"/>
              </a:lnSpc>
              <a:buFont typeface="Courier New"/>
              <a:buChar char="o"/>
              <a:tabLst>
                <a:tab pos="756920" algn="l"/>
              </a:tabLst>
            </a:pPr>
            <a:r>
              <a:rPr lang="en-IN" sz="1600" b="1" spc="-10" dirty="0">
                <a:latin typeface="Arial"/>
                <a:cs typeface="Arial"/>
              </a:rPr>
              <a:t>Descriptive </a:t>
            </a:r>
            <a:r>
              <a:rPr lang="en-IN" sz="1600" b="1" spc="-5" dirty="0">
                <a:latin typeface="Arial"/>
                <a:cs typeface="Arial"/>
              </a:rPr>
              <a:t>Research studies </a:t>
            </a:r>
            <a:r>
              <a:rPr lang="en-IN" sz="1600" spc="-5" dirty="0">
                <a:latin typeface="Arial"/>
                <a:cs typeface="Arial"/>
              </a:rPr>
              <a:t>: </a:t>
            </a:r>
            <a:r>
              <a:rPr lang="en-IN" sz="1600" spc="-95" dirty="0">
                <a:latin typeface="Arial"/>
                <a:cs typeface="Arial"/>
              </a:rPr>
              <a:t>To </a:t>
            </a:r>
            <a:r>
              <a:rPr lang="en-IN" sz="1600" spc="-5" dirty="0" err="1" smtClean="0">
                <a:latin typeface="Arial"/>
                <a:cs typeface="Arial"/>
              </a:rPr>
              <a:t>potray</a:t>
            </a:r>
            <a:r>
              <a:rPr lang="en-IN" sz="1600" spc="-5" dirty="0" smtClean="0">
                <a:latin typeface="Arial"/>
                <a:cs typeface="Arial"/>
              </a:rPr>
              <a:t> </a:t>
            </a:r>
            <a:r>
              <a:rPr lang="en-IN" sz="1600" spc="-5" dirty="0">
                <a:latin typeface="Arial"/>
                <a:cs typeface="Arial"/>
              </a:rPr>
              <a:t>accurately the characteristics of a  particular individual, situation or a</a:t>
            </a:r>
            <a:r>
              <a:rPr lang="en-IN" sz="1600" spc="-10" dirty="0">
                <a:latin typeface="Arial"/>
                <a:cs typeface="Arial"/>
              </a:rPr>
              <a:t> </a:t>
            </a:r>
            <a:r>
              <a:rPr lang="en-IN" sz="1600" spc="-5" dirty="0">
                <a:latin typeface="Arial"/>
                <a:cs typeface="Arial"/>
              </a:rPr>
              <a:t>group</a:t>
            </a:r>
            <a:endParaRPr lang="en-IN" sz="1600" dirty="0">
              <a:latin typeface="Arial"/>
              <a:cs typeface="Arial"/>
            </a:endParaRPr>
          </a:p>
          <a:p>
            <a:pPr lvl="1">
              <a:lnSpc>
                <a:spcPct val="100000"/>
              </a:lnSpc>
              <a:spcBef>
                <a:spcPts val="45"/>
              </a:spcBef>
              <a:buFont typeface="Courier New"/>
              <a:buChar char="o"/>
            </a:pPr>
            <a:endParaRPr lang="en-IN" dirty="0">
              <a:latin typeface="Arial"/>
              <a:cs typeface="Arial"/>
            </a:endParaRPr>
          </a:p>
          <a:p>
            <a:pPr marL="756285" lvl="1" indent="-287020">
              <a:lnSpc>
                <a:spcPct val="100000"/>
              </a:lnSpc>
              <a:buFont typeface="Courier New"/>
              <a:buChar char="o"/>
              <a:tabLst>
                <a:tab pos="756920" algn="l"/>
              </a:tabLst>
            </a:pPr>
            <a:r>
              <a:rPr lang="en-IN" sz="1600" b="1" spc="-5" dirty="0">
                <a:latin typeface="Arial"/>
                <a:cs typeface="Arial"/>
              </a:rPr>
              <a:t>Diagnostic Research studies</a:t>
            </a:r>
            <a:r>
              <a:rPr lang="en-IN" sz="1600" spc="-5" dirty="0">
                <a:latin typeface="Arial"/>
                <a:cs typeface="Arial"/>
              </a:rPr>
              <a:t>: </a:t>
            </a:r>
            <a:r>
              <a:rPr lang="en-IN" sz="1600" spc="-95" dirty="0">
                <a:latin typeface="Arial"/>
                <a:cs typeface="Arial"/>
              </a:rPr>
              <a:t>To </a:t>
            </a:r>
            <a:r>
              <a:rPr lang="en-IN" sz="1600" spc="-5" dirty="0">
                <a:latin typeface="Arial"/>
                <a:cs typeface="Arial"/>
              </a:rPr>
              <a:t>determine the frequency </a:t>
            </a:r>
            <a:r>
              <a:rPr lang="en-IN" sz="1600" spc="-10" dirty="0">
                <a:latin typeface="Arial"/>
                <a:cs typeface="Arial"/>
              </a:rPr>
              <a:t>with which</a:t>
            </a:r>
            <a:r>
              <a:rPr lang="en-IN" sz="1600" spc="250" dirty="0">
                <a:latin typeface="Arial"/>
                <a:cs typeface="Arial"/>
              </a:rPr>
              <a:t> </a:t>
            </a:r>
            <a:r>
              <a:rPr lang="en-IN" sz="1600" spc="-5" dirty="0">
                <a:latin typeface="Arial"/>
                <a:cs typeface="Arial"/>
              </a:rPr>
              <a:t>something</a:t>
            </a:r>
            <a:endParaRPr lang="en-IN" sz="1600" dirty="0">
              <a:latin typeface="Arial"/>
              <a:cs typeface="Arial"/>
            </a:endParaRPr>
          </a:p>
          <a:p>
            <a:pPr marL="500253" indent="0">
              <a:lnSpc>
                <a:spcPct val="100000"/>
              </a:lnSpc>
              <a:buNone/>
            </a:pPr>
            <a:r>
              <a:rPr lang="en-IN" sz="1600" spc="-5" dirty="0">
                <a:latin typeface="Arial"/>
                <a:cs typeface="Arial"/>
              </a:rPr>
              <a:t>occurs or with which it is </a:t>
            </a:r>
            <a:r>
              <a:rPr lang="en-IN" sz="1600" dirty="0">
                <a:latin typeface="Arial"/>
                <a:cs typeface="Arial"/>
              </a:rPr>
              <a:t>associated </a:t>
            </a:r>
            <a:r>
              <a:rPr lang="en-IN" sz="1600" spc="-5" dirty="0">
                <a:latin typeface="Arial"/>
                <a:cs typeface="Arial"/>
              </a:rPr>
              <a:t>with something</a:t>
            </a:r>
            <a:r>
              <a:rPr lang="en-IN" sz="1600" spc="20" dirty="0">
                <a:latin typeface="Arial"/>
                <a:cs typeface="Arial"/>
              </a:rPr>
              <a:t> </a:t>
            </a:r>
            <a:r>
              <a:rPr lang="en-IN" sz="1600" spc="-5" dirty="0">
                <a:latin typeface="Arial"/>
                <a:cs typeface="Arial"/>
              </a:rPr>
              <a:t>else.</a:t>
            </a:r>
            <a:endParaRPr lang="en-IN" sz="1600" dirty="0">
              <a:latin typeface="Arial"/>
              <a:cs typeface="Arial"/>
            </a:endParaRPr>
          </a:p>
          <a:p>
            <a:pPr>
              <a:lnSpc>
                <a:spcPct val="100000"/>
              </a:lnSpc>
              <a:spcBef>
                <a:spcPts val="45"/>
              </a:spcBef>
            </a:pPr>
            <a:endParaRPr lang="en-IN" sz="2300" dirty="0">
              <a:latin typeface="Arial"/>
              <a:cs typeface="Arial"/>
            </a:endParaRPr>
          </a:p>
          <a:p>
            <a:pPr marL="756285" marR="5080" lvl="1" indent="-287020">
              <a:lnSpc>
                <a:spcPct val="100000"/>
              </a:lnSpc>
              <a:buFont typeface="Courier New"/>
              <a:buChar char="o"/>
              <a:tabLst>
                <a:tab pos="756920" algn="l"/>
              </a:tabLst>
            </a:pPr>
            <a:r>
              <a:rPr lang="en-IN" sz="1600" b="1" spc="-15" dirty="0">
                <a:latin typeface="Arial"/>
                <a:cs typeface="Arial"/>
              </a:rPr>
              <a:t>Hypothesis-Testing </a:t>
            </a:r>
            <a:r>
              <a:rPr lang="en-IN" sz="1600" b="1" spc="-5" dirty="0">
                <a:latin typeface="Arial"/>
                <a:cs typeface="Arial"/>
              </a:rPr>
              <a:t>Research studies</a:t>
            </a:r>
            <a:r>
              <a:rPr lang="en-IN" sz="1600" spc="-5" dirty="0">
                <a:latin typeface="Arial"/>
                <a:cs typeface="Arial"/>
              </a:rPr>
              <a:t>: </a:t>
            </a:r>
            <a:r>
              <a:rPr lang="en-IN" sz="1600" spc="-95" dirty="0">
                <a:latin typeface="Arial"/>
                <a:cs typeface="Arial"/>
              </a:rPr>
              <a:t>To </a:t>
            </a:r>
            <a:r>
              <a:rPr lang="en-IN" sz="1600" spc="-5" dirty="0">
                <a:latin typeface="Arial"/>
                <a:cs typeface="Arial"/>
              </a:rPr>
              <a:t>test a hypothesis of a causal relationship  between</a:t>
            </a:r>
            <a:r>
              <a:rPr lang="en-IN" sz="1600" spc="15" dirty="0">
                <a:latin typeface="Arial"/>
                <a:cs typeface="Arial"/>
              </a:rPr>
              <a:t> </a:t>
            </a:r>
            <a:r>
              <a:rPr lang="en-IN" sz="1600" spc="-5" dirty="0">
                <a:latin typeface="Arial"/>
                <a:cs typeface="Arial"/>
              </a:rPr>
              <a:t>variables</a:t>
            </a:r>
            <a:r>
              <a:rPr lang="en-IN" sz="1600" spc="-5" dirty="0" smtClean="0">
                <a:latin typeface="Arial"/>
                <a:cs typeface="Arial"/>
              </a:rPr>
              <a:t>.</a:t>
            </a:r>
          </a:p>
          <a:p>
            <a:pPr marL="756285" marR="5080" lvl="1" indent="-287020">
              <a:lnSpc>
                <a:spcPct val="100000"/>
              </a:lnSpc>
              <a:buFont typeface="Courier New"/>
              <a:buChar char="o"/>
              <a:tabLst>
                <a:tab pos="756920" algn="l"/>
              </a:tabLst>
            </a:pPr>
            <a:endParaRPr lang="en-IN" sz="1600" spc="-5" dirty="0" smtClean="0">
              <a:latin typeface="Arial"/>
              <a:cs typeface="Arial"/>
            </a:endParaRPr>
          </a:p>
          <a:p>
            <a:pPr marL="469265" marR="5080" lvl="1" indent="0">
              <a:lnSpc>
                <a:spcPct val="100000"/>
              </a:lnSpc>
              <a:buNone/>
              <a:tabLst>
                <a:tab pos="756920" algn="l"/>
              </a:tabLst>
            </a:pPr>
            <a:r>
              <a:rPr lang="en-IN" sz="1600" b="1" dirty="0" smtClean="0"/>
              <a:t>HYPOTHESIS: an</a:t>
            </a:r>
            <a:r>
              <a:rPr lang="en-IN" sz="1600" b="1" dirty="0"/>
              <a:t> idea or explanation for something that is </a:t>
            </a:r>
            <a:r>
              <a:rPr lang="en-IN" sz="1600" b="1" dirty="0">
                <a:hlinkClick r:id="rId2" tooltip="based"/>
              </a:rPr>
              <a:t>based</a:t>
            </a:r>
            <a:r>
              <a:rPr lang="en-IN" sz="1600" b="1" dirty="0"/>
              <a:t> on </a:t>
            </a:r>
            <a:r>
              <a:rPr lang="en-IN" sz="1600" b="1" dirty="0">
                <a:hlinkClick r:id="rId3" tooltip="known"/>
              </a:rPr>
              <a:t>known</a:t>
            </a:r>
            <a:r>
              <a:rPr lang="en-IN" sz="1600" b="1" dirty="0"/>
              <a:t> </a:t>
            </a:r>
            <a:r>
              <a:rPr lang="en-IN" sz="1600" b="1" dirty="0">
                <a:hlinkClick r:id="rId4" tooltip="facts"/>
              </a:rPr>
              <a:t>facts</a:t>
            </a:r>
            <a:r>
              <a:rPr lang="en-IN" sz="1600" b="1" dirty="0"/>
              <a:t> but has not </a:t>
            </a:r>
            <a:r>
              <a:rPr lang="en-IN" sz="1600" b="1" dirty="0">
                <a:hlinkClick r:id="rId5" tooltip="yet"/>
              </a:rPr>
              <a:t>yet</a:t>
            </a:r>
            <a:r>
              <a:rPr lang="en-IN" sz="1600" b="1" dirty="0"/>
              <a:t> been </a:t>
            </a:r>
            <a:r>
              <a:rPr lang="en-IN" sz="1600" b="1" dirty="0">
                <a:hlinkClick r:id="rId6" tooltip="proved"/>
              </a:rPr>
              <a:t>proved</a:t>
            </a:r>
            <a:endParaRPr lang="en-US" sz="1600" spc="-5" dirty="0">
              <a:latin typeface="Arial"/>
              <a:cs typeface="Arial"/>
            </a:endParaRPr>
          </a:p>
          <a:p>
            <a:pPr marL="469265" marR="5080" lvl="1" indent="0">
              <a:lnSpc>
                <a:spcPct val="100000"/>
              </a:lnSpc>
              <a:buNone/>
              <a:tabLst>
                <a:tab pos="756920" algn="l"/>
              </a:tabLst>
            </a:pPr>
            <a:endParaRPr lang="en-IN" dirty="0"/>
          </a:p>
          <a:p>
            <a:endParaRPr lang="en-IN" dirty="0"/>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19329003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24078" indent="-514350">
              <a:buFont typeface="+mj-lt"/>
              <a:buAutoNum type="arabicPeriod"/>
            </a:pPr>
            <a:r>
              <a:rPr lang="en-IN" sz="2800" spc="-5" dirty="0">
                <a:solidFill>
                  <a:srgbClr val="FF0000"/>
                </a:solidFill>
              </a:rPr>
              <a:t>Descriptive </a:t>
            </a:r>
            <a:r>
              <a:rPr lang="en-IN" sz="2800" spc="-5" dirty="0" err="1">
                <a:solidFill>
                  <a:srgbClr val="FF0000"/>
                </a:solidFill>
              </a:rPr>
              <a:t>Vs</a:t>
            </a:r>
            <a:r>
              <a:rPr lang="en-IN" sz="2800" spc="-5" dirty="0">
                <a:solidFill>
                  <a:srgbClr val="FF0000"/>
                </a:solidFill>
              </a:rPr>
              <a:t> Analytical</a:t>
            </a:r>
            <a:r>
              <a:rPr lang="en-IN" sz="2800" spc="-65" dirty="0">
                <a:solidFill>
                  <a:srgbClr val="FF0000"/>
                </a:solidFill>
              </a:rPr>
              <a:t> </a:t>
            </a:r>
            <a:r>
              <a:rPr lang="en-IN" sz="2800" spc="-5" dirty="0">
                <a:solidFill>
                  <a:srgbClr val="FF0000"/>
                </a:solidFill>
              </a:rPr>
              <a:t>research</a:t>
            </a:r>
            <a:r>
              <a:rPr lang="en-IN" sz="2800" spc="-5" dirty="0" smtClean="0">
                <a:solidFill>
                  <a:srgbClr val="FF0000"/>
                </a:solidFill>
              </a:rPr>
              <a:t>.</a:t>
            </a:r>
          </a:p>
          <a:p>
            <a:pPr marL="624078" indent="-514350">
              <a:buFont typeface="+mj-lt"/>
              <a:buAutoNum type="arabicPeriod"/>
            </a:pPr>
            <a:r>
              <a:rPr lang="en-IN" sz="2800" dirty="0">
                <a:solidFill>
                  <a:srgbClr val="FF0000"/>
                </a:solidFill>
              </a:rPr>
              <a:t>Applied </a:t>
            </a:r>
            <a:r>
              <a:rPr lang="en-IN" sz="2800" spc="-5" dirty="0">
                <a:solidFill>
                  <a:srgbClr val="FF0000"/>
                </a:solidFill>
              </a:rPr>
              <a:t>vs.</a:t>
            </a:r>
            <a:r>
              <a:rPr lang="en-IN" sz="2800" spc="-165" dirty="0">
                <a:solidFill>
                  <a:srgbClr val="FF0000"/>
                </a:solidFill>
              </a:rPr>
              <a:t> </a:t>
            </a:r>
            <a:r>
              <a:rPr lang="en-IN" sz="2800" spc="-5" dirty="0">
                <a:solidFill>
                  <a:srgbClr val="FF0000"/>
                </a:solidFill>
              </a:rPr>
              <a:t>Fundamental</a:t>
            </a:r>
            <a:r>
              <a:rPr lang="en-IN" sz="2800" spc="-5" dirty="0" smtClean="0">
                <a:solidFill>
                  <a:srgbClr val="FF0000"/>
                </a:solidFill>
              </a:rPr>
              <a:t>.</a:t>
            </a:r>
          </a:p>
          <a:p>
            <a:pPr marL="624078" indent="-514350">
              <a:buFont typeface="+mj-lt"/>
              <a:buAutoNum type="arabicPeriod"/>
            </a:pPr>
            <a:r>
              <a:rPr lang="en-IN" sz="2800" dirty="0">
                <a:solidFill>
                  <a:srgbClr val="FF0000"/>
                </a:solidFill>
              </a:rPr>
              <a:t>Quantitative </a:t>
            </a:r>
            <a:r>
              <a:rPr lang="en-IN" sz="2800" spc="-5" dirty="0">
                <a:solidFill>
                  <a:srgbClr val="FF0000"/>
                </a:solidFill>
              </a:rPr>
              <a:t>vs.</a:t>
            </a:r>
            <a:r>
              <a:rPr lang="en-IN" sz="2800" spc="-100" dirty="0">
                <a:solidFill>
                  <a:srgbClr val="FF0000"/>
                </a:solidFill>
              </a:rPr>
              <a:t> </a:t>
            </a:r>
            <a:r>
              <a:rPr lang="en-IN" sz="2800" dirty="0" smtClean="0">
                <a:solidFill>
                  <a:srgbClr val="FF0000"/>
                </a:solidFill>
              </a:rPr>
              <a:t>Qualitative</a:t>
            </a:r>
          </a:p>
          <a:p>
            <a:pPr marL="624078" indent="-514350">
              <a:buFont typeface="+mj-lt"/>
              <a:buAutoNum type="arabicPeriod"/>
            </a:pPr>
            <a:r>
              <a:rPr lang="en-IN" sz="2800" spc="-5" dirty="0">
                <a:solidFill>
                  <a:srgbClr val="FF0000"/>
                </a:solidFill>
              </a:rPr>
              <a:t>Conceptual vs.</a:t>
            </a:r>
            <a:r>
              <a:rPr lang="en-IN" sz="2800" spc="-55" dirty="0">
                <a:solidFill>
                  <a:srgbClr val="FF0000"/>
                </a:solidFill>
              </a:rPr>
              <a:t> </a:t>
            </a:r>
            <a:r>
              <a:rPr lang="en-IN" sz="2800" dirty="0" smtClean="0">
                <a:solidFill>
                  <a:srgbClr val="FF0000"/>
                </a:solidFill>
              </a:rPr>
              <a:t>Empirical</a:t>
            </a:r>
          </a:p>
          <a:p>
            <a:pPr marL="624078" indent="-514350">
              <a:buFont typeface="+mj-lt"/>
              <a:buAutoNum type="arabicPeriod"/>
            </a:pPr>
            <a:r>
              <a:rPr lang="en-IN" sz="2800" spc="-5" dirty="0">
                <a:solidFill>
                  <a:srgbClr val="FF0000"/>
                </a:solidFill>
              </a:rPr>
              <a:t>Some </a:t>
            </a:r>
            <a:r>
              <a:rPr lang="en-IN" sz="2800" dirty="0">
                <a:solidFill>
                  <a:srgbClr val="FF0000"/>
                </a:solidFill>
              </a:rPr>
              <a:t>other </a:t>
            </a:r>
            <a:r>
              <a:rPr lang="en-IN" sz="2800" spc="-10" dirty="0">
                <a:solidFill>
                  <a:srgbClr val="FF0000"/>
                </a:solidFill>
              </a:rPr>
              <a:t>types </a:t>
            </a:r>
            <a:r>
              <a:rPr lang="en-IN" sz="2800" dirty="0">
                <a:solidFill>
                  <a:srgbClr val="FF0000"/>
                </a:solidFill>
              </a:rPr>
              <a:t>of</a:t>
            </a:r>
            <a:r>
              <a:rPr lang="en-IN" sz="2800" spc="-5" dirty="0">
                <a:solidFill>
                  <a:srgbClr val="FF0000"/>
                </a:solidFill>
              </a:rPr>
              <a:t> research</a:t>
            </a:r>
            <a:endParaRPr lang="en-IN" dirty="0"/>
          </a:p>
        </p:txBody>
      </p:sp>
      <p:sp>
        <p:nvSpPr>
          <p:cNvPr id="3" name="Title 2"/>
          <p:cNvSpPr>
            <a:spLocks noGrp="1"/>
          </p:cNvSpPr>
          <p:nvPr>
            <p:ph type="title"/>
          </p:nvPr>
        </p:nvSpPr>
        <p:spPr/>
        <p:txBody>
          <a:bodyPr/>
          <a:lstStyle/>
          <a:p>
            <a:r>
              <a:rPr lang="en-IN" sz="4400" dirty="0">
                <a:solidFill>
                  <a:srgbClr val="FF0000"/>
                </a:solidFill>
              </a:rPr>
              <a:t>TYPES OF</a:t>
            </a:r>
            <a:r>
              <a:rPr lang="en-IN" sz="4400" spc="-90" dirty="0">
                <a:solidFill>
                  <a:srgbClr val="FF0000"/>
                </a:solidFill>
              </a:rPr>
              <a:t> </a:t>
            </a:r>
            <a:r>
              <a:rPr lang="en-IN" sz="4400" dirty="0">
                <a:solidFill>
                  <a:srgbClr val="FF0000"/>
                </a:solidFill>
              </a:rPr>
              <a:t>RESEARCH</a:t>
            </a:r>
            <a:endParaRPr lang="en-IN" dirty="0"/>
          </a:p>
        </p:txBody>
      </p:sp>
    </p:spTree>
    <p:extLst>
      <p:ext uri="{BB962C8B-B14F-4D97-AF65-F5344CB8AC3E}">
        <p14:creationId xmlns:p14="http://schemas.microsoft.com/office/powerpoint/2010/main" val="39577155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marL="12700">
              <a:lnSpc>
                <a:spcPct val="100000"/>
              </a:lnSpc>
              <a:spcBef>
                <a:spcPts val="675"/>
              </a:spcBef>
            </a:pPr>
            <a:r>
              <a:rPr lang="en-IN" sz="2800" b="1" spc="-10" dirty="0">
                <a:latin typeface="Arial"/>
                <a:cs typeface="Arial"/>
              </a:rPr>
              <a:t>Descriptive</a:t>
            </a:r>
            <a:r>
              <a:rPr lang="en-IN" sz="2800" b="1" spc="50" dirty="0">
                <a:latin typeface="Arial"/>
                <a:cs typeface="Arial"/>
              </a:rPr>
              <a:t> </a:t>
            </a:r>
            <a:r>
              <a:rPr lang="en-IN" sz="2800" b="1" spc="-5" dirty="0">
                <a:latin typeface="Arial"/>
                <a:cs typeface="Arial"/>
              </a:rPr>
              <a:t>research:</a:t>
            </a:r>
            <a:endParaRPr lang="en-IN" sz="2800" dirty="0">
              <a:latin typeface="Arial"/>
              <a:cs typeface="Arial"/>
            </a:endParaRPr>
          </a:p>
          <a:p>
            <a:pPr marL="355600" indent="-342900">
              <a:lnSpc>
                <a:spcPct val="100000"/>
              </a:lnSpc>
              <a:spcBef>
                <a:spcPts val="575"/>
              </a:spcBef>
              <a:buChar char="•"/>
              <a:tabLst>
                <a:tab pos="354965" algn="l"/>
                <a:tab pos="355600" algn="l"/>
              </a:tabLst>
            </a:pPr>
            <a:r>
              <a:rPr lang="en-IN" sz="2800" spc="-5" dirty="0">
                <a:latin typeface="Arial"/>
                <a:cs typeface="Arial"/>
              </a:rPr>
              <a:t>Includes surveys and fact-finding enquiries of different</a:t>
            </a:r>
            <a:r>
              <a:rPr lang="en-IN" sz="2800" spc="90" dirty="0">
                <a:latin typeface="Arial"/>
                <a:cs typeface="Arial"/>
              </a:rPr>
              <a:t> </a:t>
            </a:r>
            <a:r>
              <a:rPr lang="en-IN" sz="2800" spc="-5" dirty="0">
                <a:latin typeface="Arial"/>
                <a:cs typeface="Arial"/>
              </a:rPr>
              <a:t>kinds.</a:t>
            </a:r>
            <a:endParaRPr lang="en-IN" sz="2800" dirty="0">
              <a:latin typeface="Arial"/>
              <a:cs typeface="Arial"/>
            </a:endParaRPr>
          </a:p>
          <a:p>
            <a:pPr marL="355600" indent="-342900">
              <a:lnSpc>
                <a:spcPct val="100000"/>
              </a:lnSpc>
              <a:spcBef>
                <a:spcPts val="575"/>
              </a:spcBef>
              <a:buChar char="•"/>
              <a:tabLst>
                <a:tab pos="354965" algn="l"/>
                <a:tab pos="355600" algn="l"/>
              </a:tabLst>
            </a:pPr>
            <a:r>
              <a:rPr lang="en-IN" sz="2800" spc="-5" dirty="0">
                <a:latin typeface="Arial"/>
                <a:cs typeface="Arial"/>
              </a:rPr>
              <a:t>The major purpose of descriptive research is description of the state of affairs as </a:t>
            </a:r>
            <a:r>
              <a:rPr lang="en-IN" sz="2800" dirty="0">
                <a:latin typeface="Arial"/>
                <a:cs typeface="Arial"/>
              </a:rPr>
              <a:t>it</a:t>
            </a:r>
            <a:r>
              <a:rPr lang="en-IN" sz="2800" spc="235" dirty="0">
                <a:latin typeface="Arial"/>
                <a:cs typeface="Arial"/>
              </a:rPr>
              <a:t> </a:t>
            </a:r>
            <a:r>
              <a:rPr lang="en-IN" sz="2800" spc="-5" dirty="0">
                <a:latin typeface="Arial"/>
                <a:cs typeface="Arial"/>
              </a:rPr>
              <a:t>exists</a:t>
            </a:r>
            <a:endParaRPr lang="en-IN" sz="2800" dirty="0">
              <a:latin typeface="Arial"/>
              <a:cs typeface="Arial"/>
            </a:endParaRPr>
          </a:p>
          <a:p>
            <a:pPr marL="355600">
              <a:lnSpc>
                <a:spcPct val="100000"/>
              </a:lnSpc>
              <a:spcBef>
                <a:spcPts val="195"/>
              </a:spcBef>
            </a:pPr>
            <a:r>
              <a:rPr lang="en-IN" sz="2800" spc="-5" dirty="0">
                <a:latin typeface="Arial"/>
                <a:cs typeface="Arial"/>
              </a:rPr>
              <a:t>at</a:t>
            </a:r>
            <a:r>
              <a:rPr lang="en-IN" sz="2800" spc="5" dirty="0">
                <a:latin typeface="Arial"/>
                <a:cs typeface="Arial"/>
              </a:rPr>
              <a:t> </a:t>
            </a:r>
            <a:r>
              <a:rPr lang="en-IN" sz="2800" spc="-5" dirty="0">
                <a:latin typeface="Arial"/>
                <a:cs typeface="Arial"/>
              </a:rPr>
              <a:t>present.</a:t>
            </a:r>
            <a:endParaRPr lang="en-IN" sz="2800" dirty="0">
              <a:latin typeface="Arial"/>
              <a:cs typeface="Arial"/>
            </a:endParaRPr>
          </a:p>
          <a:p>
            <a:pPr marL="355600" marR="431165" indent="-342900">
              <a:lnSpc>
                <a:spcPct val="110000"/>
              </a:lnSpc>
              <a:spcBef>
                <a:spcPts val="385"/>
              </a:spcBef>
              <a:buChar char="•"/>
              <a:tabLst>
                <a:tab pos="354965" algn="l"/>
                <a:tab pos="355600" algn="l"/>
              </a:tabLst>
            </a:pPr>
            <a:r>
              <a:rPr lang="en-IN" sz="2800" spc="-5" dirty="0">
                <a:latin typeface="Arial"/>
                <a:cs typeface="Arial"/>
              </a:rPr>
              <a:t>The main characteristic of this method is that the researcher has no control over the  variables; he can only report </a:t>
            </a:r>
            <a:r>
              <a:rPr lang="en-IN" sz="2800" spc="-10" dirty="0">
                <a:latin typeface="Arial"/>
                <a:cs typeface="Arial"/>
              </a:rPr>
              <a:t>what </a:t>
            </a:r>
            <a:r>
              <a:rPr lang="en-IN" sz="2800" spc="-5" dirty="0">
                <a:latin typeface="Arial"/>
                <a:cs typeface="Arial"/>
              </a:rPr>
              <a:t>has happened or </a:t>
            </a:r>
            <a:r>
              <a:rPr lang="en-IN" sz="2800" spc="-10" dirty="0">
                <a:latin typeface="Arial"/>
                <a:cs typeface="Arial"/>
              </a:rPr>
              <a:t>what </a:t>
            </a:r>
            <a:r>
              <a:rPr lang="en-IN" sz="2800" spc="-5" dirty="0">
                <a:latin typeface="Arial"/>
                <a:cs typeface="Arial"/>
              </a:rPr>
              <a:t>is</a:t>
            </a:r>
            <a:r>
              <a:rPr lang="en-IN" sz="2800" spc="140" dirty="0">
                <a:latin typeface="Arial"/>
                <a:cs typeface="Arial"/>
              </a:rPr>
              <a:t> </a:t>
            </a:r>
            <a:r>
              <a:rPr lang="en-IN" sz="2800" spc="-5" dirty="0">
                <a:latin typeface="Arial"/>
                <a:cs typeface="Arial"/>
              </a:rPr>
              <a:t>happening.</a:t>
            </a:r>
            <a:endParaRPr lang="en-IN" sz="2800" dirty="0">
              <a:latin typeface="Arial"/>
              <a:cs typeface="Arial"/>
            </a:endParaRPr>
          </a:p>
          <a:p>
            <a:pPr marL="355600" indent="-342900">
              <a:lnSpc>
                <a:spcPct val="100000"/>
              </a:lnSpc>
              <a:spcBef>
                <a:spcPts val="575"/>
              </a:spcBef>
              <a:buChar char="•"/>
              <a:tabLst>
                <a:tab pos="354965" algn="l"/>
                <a:tab pos="355600" algn="l"/>
              </a:tabLst>
            </a:pPr>
            <a:r>
              <a:rPr lang="en-IN" sz="2800" spc="-5" dirty="0">
                <a:latin typeface="Arial"/>
                <a:cs typeface="Arial"/>
              </a:rPr>
              <a:t>Researchers discover causes even </a:t>
            </a:r>
            <a:r>
              <a:rPr lang="en-IN" sz="2800" spc="-10" dirty="0">
                <a:latin typeface="Arial"/>
                <a:cs typeface="Arial"/>
              </a:rPr>
              <a:t>when </a:t>
            </a:r>
            <a:r>
              <a:rPr lang="en-IN" sz="2800" spc="-5" dirty="0">
                <a:latin typeface="Arial"/>
                <a:cs typeface="Arial"/>
              </a:rPr>
              <a:t>they cannot control the</a:t>
            </a:r>
            <a:r>
              <a:rPr lang="en-IN" sz="2800" spc="85" dirty="0">
                <a:latin typeface="Arial"/>
                <a:cs typeface="Arial"/>
              </a:rPr>
              <a:t> </a:t>
            </a:r>
            <a:r>
              <a:rPr lang="en-IN" sz="2800" spc="-5" dirty="0">
                <a:latin typeface="Arial"/>
                <a:cs typeface="Arial"/>
              </a:rPr>
              <a:t>variables.</a:t>
            </a:r>
            <a:endParaRPr lang="en-IN" sz="2800" dirty="0">
              <a:latin typeface="Arial"/>
              <a:cs typeface="Arial"/>
            </a:endParaRPr>
          </a:p>
          <a:p>
            <a:pPr marL="355600" indent="-342900">
              <a:lnSpc>
                <a:spcPct val="100000"/>
              </a:lnSpc>
              <a:spcBef>
                <a:spcPts val="580"/>
              </a:spcBef>
              <a:buChar char="•"/>
              <a:tabLst>
                <a:tab pos="354965" algn="l"/>
                <a:tab pos="355600" algn="l"/>
              </a:tabLst>
            </a:pPr>
            <a:r>
              <a:rPr lang="en-IN" sz="2800" spc="-5" dirty="0">
                <a:latin typeface="Arial"/>
                <a:cs typeface="Arial"/>
              </a:rPr>
              <a:t>The methods of research utilized in descriptive research are survey methods of all</a:t>
            </a:r>
            <a:r>
              <a:rPr lang="en-IN" sz="2800" spc="220" dirty="0">
                <a:latin typeface="Arial"/>
                <a:cs typeface="Arial"/>
              </a:rPr>
              <a:t> </a:t>
            </a:r>
            <a:r>
              <a:rPr lang="en-IN" sz="2800" spc="-5" dirty="0">
                <a:latin typeface="Arial"/>
                <a:cs typeface="Arial"/>
              </a:rPr>
              <a:t>kinds,</a:t>
            </a:r>
            <a:endParaRPr lang="en-IN" sz="2800" dirty="0">
              <a:latin typeface="Arial"/>
              <a:cs typeface="Arial"/>
            </a:endParaRPr>
          </a:p>
          <a:p>
            <a:pPr marL="355600">
              <a:lnSpc>
                <a:spcPct val="100000"/>
              </a:lnSpc>
              <a:spcBef>
                <a:spcPts val="190"/>
              </a:spcBef>
            </a:pPr>
            <a:r>
              <a:rPr lang="en-IN" sz="2800" spc="-5" dirty="0">
                <a:latin typeface="Arial"/>
                <a:cs typeface="Arial"/>
              </a:rPr>
              <a:t>including comparative and correlational</a:t>
            </a:r>
            <a:r>
              <a:rPr lang="en-IN" sz="2800" spc="-15" dirty="0">
                <a:latin typeface="Arial"/>
                <a:cs typeface="Arial"/>
              </a:rPr>
              <a:t> </a:t>
            </a:r>
            <a:r>
              <a:rPr lang="en-IN" sz="2800" spc="-5" dirty="0">
                <a:latin typeface="Arial"/>
                <a:cs typeface="Arial"/>
              </a:rPr>
              <a:t>methods.</a:t>
            </a:r>
            <a:endParaRPr lang="en-IN" sz="2800" dirty="0">
              <a:latin typeface="Arial"/>
              <a:cs typeface="Arial"/>
            </a:endParaRPr>
          </a:p>
          <a:p>
            <a:pPr>
              <a:lnSpc>
                <a:spcPct val="100000"/>
              </a:lnSpc>
              <a:spcBef>
                <a:spcPts val="25"/>
              </a:spcBef>
            </a:pPr>
            <a:endParaRPr lang="en-IN" sz="4400" dirty="0">
              <a:latin typeface="Arial"/>
              <a:cs typeface="Arial"/>
            </a:endParaRPr>
          </a:p>
          <a:p>
            <a:pPr marL="12700">
              <a:lnSpc>
                <a:spcPct val="100000"/>
              </a:lnSpc>
            </a:pPr>
            <a:r>
              <a:rPr lang="en-IN" sz="2800" b="1" spc="-10" dirty="0">
                <a:latin typeface="Arial"/>
                <a:cs typeface="Arial"/>
              </a:rPr>
              <a:t>Analytical</a:t>
            </a:r>
            <a:r>
              <a:rPr lang="en-IN" sz="2800" b="1" spc="65" dirty="0">
                <a:latin typeface="Arial"/>
                <a:cs typeface="Arial"/>
              </a:rPr>
              <a:t> </a:t>
            </a:r>
            <a:r>
              <a:rPr lang="en-IN" sz="2800" b="1" spc="-5" dirty="0">
                <a:latin typeface="Arial"/>
                <a:cs typeface="Arial"/>
              </a:rPr>
              <a:t>research:</a:t>
            </a:r>
            <a:endParaRPr lang="en-IN" sz="2800" dirty="0">
              <a:latin typeface="Arial"/>
              <a:cs typeface="Arial"/>
            </a:endParaRPr>
          </a:p>
          <a:p>
            <a:pPr marL="355600" marR="232410" indent="-342900">
              <a:lnSpc>
                <a:spcPct val="110000"/>
              </a:lnSpc>
              <a:spcBef>
                <a:spcPts val="385"/>
              </a:spcBef>
              <a:buChar char="•"/>
              <a:tabLst>
                <a:tab pos="354965" algn="l"/>
                <a:tab pos="355600" algn="l"/>
              </a:tabLst>
            </a:pPr>
            <a:r>
              <a:rPr lang="en-IN" sz="2800" spc="-5" dirty="0">
                <a:latin typeface="Arial"/>
                <a:cs typeface="Arial"/>
              </a:rPr>
              <a:t>The researcher has to use facts or information already available, and </a:t>
            </a:r>
            <a:r>
              <a:rPr lang="en-IN" sz="2800" spc="-5" dirty="0" err="1">
                <a:latin typeface="Arial"/>
                <a:cs typeface="Arial"/>
              </a:rPr>
              <a:t>analyze</a:t>
            </a:r>
            <a:r>
              <a:rPr lang="en-IN" sz="2800" spc="-5" dirty="0">
                <a:latin typeface="Arial"/>
                <a:cs typeface="Arial"/>
              </a:rPr>
              <a:t> these to  make a critical evaluation of the</a:t>
            </a:r>
            <a:r>
              <a:rPr lang="en-IN" sz="2800" spc="15" dirty="0">
                <a:latin typeface="Arial"/>
                <a:cs typeface="Arial"/>
              </a:rPr>
              <a:t> </a:t>
            </a:r>
            <a:r>
              <a:rPr lang="en-IN" sz="2800" spc="-5" dirty="0">
                <a:latin typeface="Arial"/>
                <a:cs typeface="Arial"/>
              </a:rPr>
              <a:t>material.</a:t>
            </a:r>
            <a:endParaRPr lang="en-IN" sz="2800" dirty="0">
              <a:latin typeface="Arial"/>
              <a:cs typeface="Arial"/>
            </a:endParaRPr>
          </a:p>
          <a:p>
            <a:endParaRPr lang="en-IN" dirty="0"/>
          </a:p>
        </p:txBody>
      </p:sp>
      <p:sp>
        <p:nvSpPr>
          <p:cNvPr id="3" name="Title 2"/>
          <p:cNvSpPr>
            <a:spLocks noGrp="1"/>
          </p:cNvSpPr>
          <p:nvPr>
            <p:ph type="title"/>
          </p:nvPr>
        </p:nvSpPr>
        <p:spPr/>
        <p:txBody>
          <a:bodyPr>
            <a:normAutofit fontScale="90000"/>
          </a:bodyPr>
          <a:lstStyle/>
          <a:p>
            <a:r>
              <a:rPr lang="en-IN" sz="4400" dirty="0">
                <a:solidFill>
                  <a:srgbClr val="FF0000"/>
                </a:solidFill>
              </a:rPr>
              <a:t>1. </a:t>
            </a:r>
            <a:r>
              <a:rPr lang="en-IN" sz="4400" spc="-5" dirty="0">
                <a:solidFill>
                  <a:srgbClr val="FF0000"/>
                </a:solidFill>
              </a:rPr>
              <a:t>Descriptive </a:t>
            </a:r>
            <a:r>
              <a:rPr lang="en-IN" sz="4400" spc="-5" dirty="0" err="1">
                <a:solidFill>
                  <a:srgbClr val="FF0000"/>
                </a:solidFill>
              </a:rPr>
              <a:t>Vs</a:t>
            </a:r>
            <a:r>
              <a:rPr lang="en-IN" sz="4400" spc="-5" dirty="0">
                <a:solidFill>
                  <a:srgbClr val="FF0000"/>
                </a:solidFill>
              </a:rPr>
              <a:t> Analytical</a:t>
            </a:r>
            <a:r>
              <a:rPr lang="en-IN" sz="4400" spc="-65" dirty="0">
                <a:solidFill>
                  <a:srgbClr val="FF0000"/>
                </a:solidFill>
              </a:rPr>
              <a:t> </a:t>
            </a:r>
            <a:r>
              <a:rPr lang="en-IN" sz="4400" spc="-5" dirty="0">
                <a:solidFill>
                  <a:srgbClr val="FF0000"/>
                </a:solidFill>
              </a:rPr>
              <a:t>research.</a:t>
            </a:r>
            <a:endParaRPr lang="en-IN" dirty="0"/>
          </a:p>
        </p:txBody>
      </p:sp>
    </p:spTree>
    <p:extLst>
      <p:ext uri="{BB962C8B-B14F-4D97-AF65-F5344CB8AC3E}">
        <p14:creationId xmlns:p14="http://schemas.microsoft.com/office/powerpoint/2010/main" val="24550009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pPr marL="12700">
              <a:lnSpc>
                <a:spcPct val="100000"/>
              </a:lnSpc>
              <a:spcBef>
                <a:spcPts val="434"/>
              </a:spcBef>
            </a:pPr>
            <a:r>
              <a:rPr lang="en-IN" sz="2800" b="1" spc="-10" dirty="0">
                <a:latin typeface="Arial"/>
                <a:cs typeface="Arial"/>
              </a:rPr>
              <a:t>Applied</a:t>
            </a:r>
            <a:r>
              <a:rPr lang="en-IN" sz="2800" b="1" dirty="0">
                <a:latin typeface="Arial"/>
                <a:cs typeface="Arial"/>
              </a:rPr>
              <a:t> research:</a:t>
            </a:r>
            <a:endParaRPr lang="en-IN" sz="2800" dirty="0">
              <a:latin typeface="Arial"/>
              <a:cs typeface="Arial"/>
            </a:endParaRPr>
          </a:p>
          <a:p>
            <a:pPr marL="355600" marR="669290" indent="-342900">
              <a:lnSpc>
                <a:spcPct val="100000"/>
              </a:lnSpc>
              <a:spcBef>
                <a:spcPts val="335"/>
              </a:spcBef>
              <a:buChar char="•"/>
              <a:tabLst>
                <a:tab pos="354965" algn="l"/>
                <a:tab pos="355600" algn="l"/>
              </a:tabLst>
            </a:pPr>
            <a:r>
              <a:rPr lang="en-IN" sz="2800" spc="-5" dirty="0">
                <a:latin typeface="Arial"/>
                <a:cs typeface="Arial"/>
              </a:rPr>
              <a:t>Aims </a:t>
            </a:r>
            <a:r>
              <a:rPr lang="en-IN" sz="2800" dirty="0">
                <a:latin typeface="Arial"/>
                <a:cs typeface="Arial"/>
              </a:rPr>
              <a:t>at finding a solution for an </a:t>
            </a:r>
            <a:r>
              <a:rPr lang="en-IN" sz="2800" spc="-5" dirty="0">
                <a:latin typeface="Arial"/>
                <a:cs typeface="Arial"/>
              </a:rPr>
              <a:t>immediate </a:t>
            </a:r>
            <a:r>
              <a:rPr lang="en-IN" sz="2800" dirty="0">
                <a:latin typeface="Arial"/>
                <a:cs typeface="Arial"/>
              </a:rPr>
              <a:t>problem facing a society or an</a:t>
            </a:r>
            <a:r>
              <a:rPr lang="en-IN" sz="2800" spc="-210" dirty="0">
                <a:latin typeface="Arial"/>
                <a:cs typeface="Arial"/>
              </a:rPr>
              <a:t> </a:t>
            </a:r>
            <a:r>
              <a:rPr lang="en-IN" sz="2800" spc="-5" dirty="0">
                <a:latin typeface="Arial"/>
                <a:cs typeface="Arial"/>
              </a:rPr>
              <a:t>industrial/business  organization.</a:t>
            </a:r>
            <a:endParaRPr lang="en-IN" sz="2800" dirty="0">
              <a:latin typeface="Arial"/>
              <a:cs typeface="Arial"/>
            </a:endParaRPr>
          </a:p>
          <a:p>
            <a:pPr marL="355600" indent="-342900">
              <a:lnSpc>
                <a:spcPct val="100000"/>
              </a:lnSpc>
              <a:spcBef>
                <a:spcPts val="335"/>
              </a:spcBef>
              <a:buChar char="•"/>
              <a:tabLst>
                <a:tab pos="354965" algn="l"/>
                <a:tab pos="355600" algn="l"/>
              </a:tabLst>
            </a:pPr>
            <a:r>
              <a:rPr lang="en-IN" sz="2800" spc="-5" dirty="0">
                <a:latin typeface="Arial"/>
                <a:cs typeface="Arial"/>
              </a:rPr>
              <a:t>The</a:t>
            </a:r>
            <a:r>
              <a:rPr lang="en-IN" sz="2800" spc="-20" dirty="0">
                <a:latin typeface="Arial"/>
                <a:cs typeface="Arial"/>
              </a:rPr>
              <a:t> </a:t>
            </a:r>
            <a:r>
              <a:rPr lang="en-IN" sz="2800" dirty="0">
                <a:latin typeface="Arial"/>
                <a:cs typeface="Arial"/>
              </a:rPr>
              <a:t>central</a:t>
            </a:r>
            <a:r>
              <a:rPr lang="en-IN" sz="2800" spc="-25" dirty="0">
                <a:latin typeface="Arial"/>
                <a:cs typeface="Arial"/>
              </a:rPr>
              <a:t> </a:t>
            </a:r>
            <a:r>
              <a:rPr lang="en-IN" sz="2800" dirty="0">
                <a:latin typeface="Arial"/>
                <a:cs typeface="Arial"/>
              </a:rPr>
              <a:t>aim</a:t>
            </a:r>
            <a:r>
              <a:rPr lang="en-IN" sz="2800" spc="-20" dirty="0">
                <a:latin typeface="Arial"/>
                <a:cs typeface="Arial"/>
              </a:rPr>
              <a:t> </a:t>
            </a:r>
            <a:r>
              <a:rPr lang="en-IN" sz="2800" dirty="0">
                <a:latin typeface="Arial"/>
                <a:cs typeface="Arial"/>
              </a:rPr>
              <a:t>of</a:t>
            </a:r>
            <a:r>
              <a:rPr lang="en-IN" sz="2800" spc="-10" dirty="0">
                <a:latin typeface="Arial"/>
                <a:cs typeface="Arial"/>
              </a:rPr>
              <a:t> </a:t>
            </a:r>
            <a:r>
              <a:rPr lang="en-IN" sz="2800" dirty="0">
                <a:latin typeface="Arial"/>
                <a:cs typeface="Arial"/>
              </a:rPr>
              <a:t>applied</a:t>
            </a:r>
            <a:r>
              <a:rPr lang="en-IN" sz="2800" spc="-20" dirty="0">
                <a:latin typeface="Arial"/>
                <a:cs typeface="Arial"/>
              </a:rPr>
              <a:t> </a:t>
            </a:r>
            <a:r>
              <a:rPr lang="en-IN" sz="2800" dirty="0">
                <a:latin typeface="Arial"/>
                <a:cs typeface="Arial"/>
              </a:rPr>
              <a:t>research</a:t>
            </a:r>
            <a:r>
              <a:rPr lang="en-IN" sz="2800" spc="-40" dirty="0">
                <a:latin typeface="Arial"/>
                <a:cs typeface="Arial"/>
              </a:rPr>
              <a:t> </a:t>
            </a:r>
            <a:r>
              <a:rPr lang="en-IN" sz="2800" dirty="0">
                <a:latin typeface="Arial"/>
                <a:cs typeface="Arial"/>
              </a:rPr>
              <a:t>is to</a:t>
            </a:r>
            <a:r>
              <a:rPr lang="en-IN" sz="2800" spc="-15" dirty="0">
                <a:latin typeface="Arial"/>
                <a:cs typeface="Arial"/>
              </a:rPr>
              <a:t> </a:t>
            </a:r>
            <a:r>
              <a:rPr lang="en-IN" sz="2800" spc="-5" dirty="0">
                <a:latin typeface="Arial"/>
                <a:cs typeface="Arial"/>
              </a:rPr>
              <a:t>discover</a:t>
            </a:r>
            <a:r>
              <a:rPr lang="en-IN" sz="2800" spc="-15" dirty="0">
                <a:latin typeface="Arial"/>
                <a:cs typeface="Arial"/>
              </a:rPr>
              <a:t> </a:t>
            </a:r>
            <a:r>
              <a:rPr lang="en-IN" sz="2800" dirty="0">
                <a:latin typeface="Arial"/>
                <a:cs typeface="Arial"/>
              </a:rPr>
              <a:t>a</a:t>
            </a:r>
            <a:r>
              <a:rPr lang="en-IN" sz="2800" spc="-10" dirty="0">
                <a:latin typeface="Arial"/>
                <a:cs typeface="Arial"/>
              </a:rPr>
              <a:t> </a:t>
            </a:r>
            <a:r>
              <a:rPr lang="en-IN" sz="2800" dirty="0">
                <a:latin typeface="Arial"/>
                <a:cs typeface="Arial"/>
              </a:rPr>
              <a:t>solution</a:t>
            </a:r>
            <a:r>
              <a:rPr lang="en-IN" sz="2800" spc="-40" dirty="0">
                <a:latin typeface="Arial"/>
                <a:cs typeface="Arial"/>
              </a:rPr>
              <a:t> </a:t>
            </a:r>
            <a:r>
              <a:rPr lang="en-IN" sz="2800" dirty="0">
                <a:latin typeface="Arial"/>
                <a:cs typeface="Arial"/>
              </a:rPr>
              <a:t>for</a:t>
            </a:r>
            <a:r>
              <a:rPr lang="en-IN" sz="2800" spc="-15" dirty="0">
                <a:latin typeface="Arial"/>
                <a:cs typeface="Arial"/>
              </a:rPr>
              <a:t> </a:t>
            </a:r>
            <a:r>
              <a:rPr lang="en-IN" sz="2800" spc="-5" dirty="0">
                <a:latin typeface="Arial"/>
                <a:cs typeface="Arial"/>
              </a:rPr>
              <a:t>some</a:t>
            </a:r>
            <a:r>
              <a:rPr lang="en-IN" sz="2800" spc="-25" dirty="0">
                <a:latin typeface="Arial"/>
                <a:cs typeface="Arial"/>
              </a:rPr>
              <a:t> </a:t>
            </a:r>
            <a:r>
              <a:rPr lang="en-IN" sz="2800" dirty="0">
                <a:latin typeface="Arial"/>
                <a:cs typeface="Arial"/>
              </a:rPr>
              <a:t>pressing</a:t>
            </a:r>
            <a:r>
              <a:rPr lang="en-IN" sz="2800" spc="-45" dirty="0">
                <a:latin typeface="Arial"/>
                <a:cs typeface="Arial"/>
              </a:rPr>
              <a:t> </a:t>
            </a:r>
            <a:r>
              <a:rPr lang="en-IN" sz="2800" spc="-5" dirty="0">
                <a:latin typeface="Arial"/>
                <a:cs typeface="Arial"/>
              </a:rPr>
              <a:t>practical</a:t>
            </a:r>
            <a:r>
              <a:rPr lang="en-IN" sz="2800" spc="-25" dirty="0">
                <a:latin typeface="Arial"/>
                <a:cs typeface="Arial"/>
              </a:rPr>
              <a:t> </a:t>
            </a:r>
            <a:r>
              <a:rPr lang="en-IN" sz="2800" dirty="0">
                <a:latin typeface="Arial"/>
                <a:cs typeface="Arial"/>
              </a:rPr>
              <a:t>problem.</a:t>
            </a:r>
          </a:p>
          <a:p>
            <a:pPr marL="355600" indent="-342900">
              <a:lnSpc>
                <a:spcPct val="100000"/>
              </a:lnSpc>
              <a:spcBef>
                <a:spcPts val="335"/>
              </a:spcBef>
              <a:buChar char="•"/>
              <a:tabLst>
                <a:tab pos="354965" algn="l"/>
                <a:tab pos="355600" algn="l"/>
              </a:tabLst>
            </a:pPr>
            <a:r>
              <a:rPr lang="en-IN" sz="2800" spc="-5" dirty="0">
                <a:latin typeface="Arial"/>
                <a:cs typeface="Arial"/>
              </a:rPr>
              <a:t>Example </a:t>
            </a:r>
            <a:r>
              <a:rPr lang="en-IN" sz="2800" dirty="0">
                <a:latin typeface="Arial"/>
                <a:cs typeface="Arial"/>
              </a:rPr>
              <a:t>for Applied</a:t>
            </a:r>
            <a:r>
              <a:rPr lang="en-IN" sz="2800" spc="-120" dirty="0">
                <a:latin typeface="Arial"/>
                <a:cs typeface="Arial"/>
              </a:rPr>
              <a:t> </a:t>
            </a:r>
            <a:r>
              <a:rPr lang="en-IN" sz="2800" dirty="0">
                <a:latin typeface="Arial"/>
                <a:cs typeface="Arial"/>
              </a:rPr>
              <a:t>research.</a:t>
            </a:r>
          </a:p>
          <a:p>
            <a:pPr marL="355600" indent="-342900">
              <a:lnSpc>
                <a:spcPct val="100000"/>
              </a:lnSpc>
              <a:spcBef>
                <a:spcPts val="340"/>
              </a:spcBef>
              <a:buChar char="•"/>
              <a:tabLst>
                <a:tab pos="354965" algn="l"/>
                <a:tab pos="355600" algn="l"/>
              </a:tabLst>
            </a:pPr>
            <a:r>
              <a:rPr lang="en-IN" sz="2800" dirty="0">
                <a:latin typeface="Arial"/>
                <a:cs typeface="Arial"/>
              </a:rPr>
              <a:t>Research</a:t>
            </a:r>
            <a:r>
              <a:rPr lang="en-IN" sz="2800" spc="-45" dirty="0">
                <a:latin typeface="Arial"/>
                <a:cs typeface="Arial"/>
              </a:rPr>
              <a:t> </a:t>
            </a:r>
            <a:r>
              <a:rPr lang="en-IN" sz="2800" dirty="0">
                <a:latin typeface="Arial"/>
                <a:cs typeface="Arial"/>
              </a:rPr>
              <a:t>aimed</a:t>
            </a:r>
            <a:r>
              <a:rPr lang="en-IN" sz="2800" spc="-20" dirty="0">
                <a:latin typeface="Arial"/>
                <a:cs typeface="Arial"/>
              </a:rPr>
              <a:t> </a:t>
            </a:r>
            <a:r>
              <a:rPr lang="en-IN" sz="2800" dirty="0">
                <a:latin typeface="Arial"/>
                <a:cs typeface="Arial"/>
              </a:rPr>
              <a:t>at</a:t>
            </a:r>
            <a:r>
              <a:rPr lang="en-IN" sz="2800" spc="-15" dirty="0">
                <a:latin typeface="Arial"/>
                <a:cs typeface="Arial"/>
              </a:rPr>
              <a:t> </a:t>
            </a:r>
            <a:r>
              <a:rPr lang="en-IN" sz="2800" dirty="0">
                <a:latin typeface="Arial"/>
                <a:cs typeface="Arial"/>
              </a:rPr>
              <a:t>certain</a:t>
            </a:r>
            <a:r>
              <a:rPr lang="en-IN" sz="2800" spc="-30" dirty="0">
                <a:latin typeface="Arial"/>
                <a:cs typeface="Arial"/>
              </a:rPr>
              <a:t> </a:t>
            </a:r>
            <a:r>
              <a:rPr lang="en-IN" sz="2800" dirty="0">
                <a:latin typeface="Arial"/>
                <a:cs typeface="Arial"/>
              </a:rPr>
              <a:t>conclusions</a:t>
            </a:r>
            <a:r>
              <a:rPr lang="en-IN" sz="2800" spc="-50" dirty="0">
                <a:latin typeface="Arial"/>
                <a:cs typeface="Arial"/>
              </a:rPr>
              <a:t> </a:t>
            </a:r>
            <a:r>
              <a:rPr lang="en-IN" sz="2800" spc="-25" dirty="0">
                <a:latin typeface="Arial"/>
                <a:cs typeface="Arial"/>
              </a:rPr>
              <a:t>(say,</a:t>
            </a:r>
            <a:r>
              <a:rPr lang="en-IN" sz="2800" dirty="0">
                <a:latin typeface="Arial"/>
                <a:cs typeface="Arial"/>
              </a:rPr>
              <a:t> a</a:t>
            </a:r>
            <a:r>
              <a:rPr lang="en-IN" sz="2800" spc="-10" dirty="0">
                <a:latin typeface="Arial"/>
                <a:cs typeface="Arial"/>
              </a:rPr>
              <a:t> </a:t>
            </a:r>
            <a:r>
              <a:rPr lang="en-IN" sz="2800" dirty="0">
                <a:latin typeface="Arial"/>
                <a:cs typeface="Arial"/>
              </a:rPr>
              <a:t>solution)</a:t>
            </a:r>
            <a:r>
              <a:rPr lang="en-IN" sz="2800" spc="-45" dirty="0">
                <a:latin typeface="Arial"/>
                <a:cs typeface="Arial"/>
              </a:rPr>
              <a:t> </a:t>
            </a:r>
            <a:r>
              <a:rPr lang="en-IN" sz="2800" dirty="0">
                <a:latin typeface="Arial"/>
                <a:cs typeface="Arial"/>
              </a:rPr>
              <a:t>facing</a:t>
            </a:r>
            <a:r>
              <a:rPr lang="en-IN" sz="2800" spc="-45" dirty="0">
                <a:latin typeface="Arial"/>
                <a:cs typeface="Arial"/>
              </a:rPr>
              <a:t> </a:t>
            </a:r>
            <a:r>
              <a:rPr lang="en-IN" sz="2800" dirty="0">
                <a:latin typeface="Arial"/>
                <a:cs typeface="Arial"/>
              </a:rPr>
              <a:t>a</a:t>
            </a:r>
            <a:r>
              <a:rPr lang="en-IN" sz="2800" spc="-10" dirty="0">
                <a:latin typeface="Arial"/>
                <a:cs typeface="Arial"/>
              </a:rPr>
              <a:t> </a:t>
            </a:r>
            <a:r>
              <a:rPr lang="en-IN" sz="2800" dirty="0">
                <a:latin typeface="Arial"/>
                <a:cs typeface="Arial"/>
              </a:rPr>
              <a:t>concrete</a:t>
            </a:r>
            <a:r>
              <a:rPr lang="en-IN" sz="2800" spc="-50" dirty="0">
                <a:latin typeface="Arial"/>
                <a:cs typeface="Arial"/>
              </a:rPr>
              <a:t> </a:t>
            </a:r>
            <a:r>
              <a:rPr lang="en-IN" sz="2800" dirty="0">
                <a:latin typeface="Arial"/>
                <a:cs typeface="Arial"/>
              </a:rPr>
              <a:t>social</a:t>
            </a:r>
            <a:r>
              <a:rPr lang="en-IN" sz="2800" spc="-20" dirty="0">
                <a:latin typeface="Arial"/>
                <a:cs typeface="Arial"/>
              </a:rPr>
              <a:t> </a:t>
            </a:r>
            <a:r>
              <a:rPr lang="en-IN" sz="2800" dirty="0">
                <a:latin typeface="Arial"/>
                <a:cs typeface="Arial"/>
              </a:rPr>
              <a:t>or</a:t>
            </a:r>
            <a:r>
              <a:rPr lang="en-IN" sz="2800" spc="-20" dirty="0">
                <a:latin typeface="Arial"/>
                <a:cs typeface="Arial"/>
              </a:rPr>
              <a:t> </a:t>
            </a:r>
            <a:r>
              <a:rPr lang="en-IN" sz="2800" dirty="0">
                <a:latin typeface="Arial"/>
                <a:cs typeface="Arial"/>
              </a:rPr>
              <a:t>business</a:t>
            </a:r>
            <a:r>
              <a:rPr lang="en-IN" sz="2800" spc="-40" dirty="0">
                <a:latin typeface="Arial"/>
                <a:cs typeface="Arial"/>
              </a:rPr>
              <a:t> </a:t>
            </a:r>
            <a:r>
              <a:rPr lang="en-IN" sz="2800" dirty="0">
                <a:latin typeface="Arial"/>
                <a:cs typeface="Arial"/>
              </a:rPr>
              <a:t>problem.</a:t>
            </a:r>
          </a:p>
          <a:p>
            <a:pPr marL="355600" marR="184785" indent="-342900">
              <a:lnSpc>
                <a:spcPct val="100000"/>
              </a:lnSpc>
              <a:spcBef>
                <a:spcPts val="335"/>
              </a:spcBef>
              <a:buChar char="•"/>
              <a:tabLst>
                <a:tab pos="354965" algn="l"/>
                <a:tab pos="355600" algn="l"/>
              </a:tabLst>
            </a:pPr>
            <a:r>
              <a:rPr lang="en-IN" sz="2800" dirty="0">
                <a:latin typeface="Arial"/>
                <a:cs typeface="Arial"/>
              </a:rPr>
              <a:t>Research</a:t>
            </a:r>
            <a:r>
              <a:rPr lang="en-IN" sz="2800" spc="-45" dirty="0">
                <a:latin typeface="Arial"/>
                <a:cs typeface="Arial"/>
              </a:rPr>
              <a:t> </a:t>
            </a:r>
            <a:r>
              <a:rPr lang="en-IN" sz="2800" dirty="0">
                <a:latin typeface="Arial"/>
                <a:cs typeface="Arial"/>
              </a:rPr>
              <a:t>to</a:t>
            </a:r>
            <a:r>
              <a:rPr lang="en-IN" sz="2800" spc="-20" dirty="0">
                <a:latin typeface="Arial"/>
                <a:cs typeface="Arial"/>
              </a:rPr>
              <a:t> </a:t>
            </a:r>
            <a:r>
              <a:rPr lang="en-IN" sz="2800" dirty="0">
                <a:latin typeface="Arial"/>
                <a:cs typeface="Arial"/>
              </a:rPr>
              <a:t>identify</a:t>
            </a:r>
            <a:r>
              <a:rPr lang="en-IN" sz="2800" spc="-35" dirty="0">
                <a:latin typeface="Arial"/>
                <a:cs typeface="Arial"/>
              </a:rPr>
              <a:t> </a:t>
            </a:r>
            <a:r>
              <a:rPr lang="en-IN" sz="2800" dirty="0">
                <a:latin typeface="Arial"/>
                <a:cs typeface="Arial"/>
              </a:rPr>
              <a:t>social,</a:t>
            </a:r>
            <a:r>
              <a:rPr lang="en-IN" sz="2800" spc="-30" dirty="0">
                <a:latin typeface="Arial"/>
                <a:cs typeface="Arial"/>
              </a:rPr>
              <a:t> </a:t>
            </a:r>
            <a:r>
              <a:rPr lang="en-IN" sz="2800" dirty="0">
                <a:latin typeface="Arial"/>
                <a:cs typeface="Arial"/>
              </a:rPr>
              <a:t>economic</a:t>
            </a:r>
            <a:r>
              <a:rPr lang="en-IN" sz="2800" spc="-35" dirty="0">
                <a:latin typeface="Arial"/>
                <a:cs typeface="Arial"/>
              </a:rPr>
              <a:t> </a:t>
            </a:r>
            <a:r>
              <a:rPr lang="en-IN" sz="2800" dirty="0">
                <a:latin typeface="Arial"/>
                <a:cs typeface="Arial"/>
              </a:rPr>
              <a:t>or</a:t>
            </a:r>
            <a:r>
              <a:rPr lang="en-IN" sz="2800" spc="-10" dirty="0">
                <a:latin typeface="Arial"/>
                <a:cs typeface="Arial"/>
              </a:rPr>
              <a:t> </a:t>
            </a:r>
            <a:r>
              <a:rPr lang="en-IN" sz="2800" dirty="0">
                <a:latin typeface="Arial"/>
                <a:cs typeface="Arial"/>
              </a:rPr>
              <a:t>political</a:t>
            </a:r>
            <a:r>
              <a:rPr lang="en-IN" sz="2800" spc="-40" dirty="0">
                <a:latin typeface="Arial"/>
                <a:cs typeface="Arial"/>
              </a:rPr>
              <a:t> </a:t>
            </a:r>
            <a:r>
              <a:rPr lang="en-IN" sz="2800" dirty="0">
                <a:latin typeface="Arial"/>
                <a:cs typeface="Arial"/>
              </a:rPr>
              <a:t>trends</a:t>
            </a:r>
            <a:r>
              <a:rPr lang="en-IN" sz="2800" spc="-30" dirty="0">
                <a:latin typeface="Arial"/>
                <a:cs typeface="Arial"/>
              </a:rPr>
              <a:t> </a:t>
            </a:r>
            <a:r>
              <a:rPr lang="en-IN" sz="2800" dirty="0">
                <a:latin typeface="Arial"/>
                <a:cs typeface="Arial"/>
              </a:rPr>
              <a:t>that</a:t>
            </a:r>
            <a:r>
              <a:rPr lang="en-IN" sz="2800" spc="-25" dirty="0">
                <a:latin typeface="Arial"/>
                <a:cs typeface="Arial"/>
              </a:rPr>
              <a:t> </a:t>
            </a:r>
            <a:r>
              <a:rPr lang="en-IN" sz="2800" spc="-5" dirty="0">
                <a:latin typeface="Arial"/>
                <a:cs typeface="Arial"/>
              </a:rPr>
              <a:t>may</a:t>
            </a:r>
            <a:r>
              <a:rPr lang="en-IN" sz="2800" spc="-15" dirty="0">
                <a:latin typeface="Arial"/>
                <a:cs typeface="Arial"/>
              </a:rPr>
              <a:t> </a:t>
            </a:r>
            <a:r>
              <a:rPr lang="en-IN" sz="2800" spc="-5" dirty="0">
                <a:latin typeface="Arial"/>
                <a:cs typeface="Arial"/>
              </a:rPr>
              <a:t>affect</a:t>
            </a:r>
            <a:r>
              <a:rPr lang="en-IN" sz="2800" spc="-45" dirty="0">
                <a:latin typeface="Arial"/>
                <a:cs typeface="Arial"/>
              </a:rPr>
              <a:t> </a:t>
            </a:r>
            <a:r>
              <a:rPr lang="en-IN" sz="2800" dirty="0">
                <a:latin typeface="Arial"/>
                <a:cs typeface="Arial"/>
              </a:rPr>
              <a:t>a</a:t>
            </a:r>
            <a:r>
              <a:rPr lang="en-IN" sz="2800" spc="-10" dirty="0">
                <a:latin typeface="Arial"/>
                <a:cs typeface="Arial"/>
              </a:rPr>
              <a:t> </a:t>
            </a:r>
            <a:r>
              <a:rPr lang="en-IN" sz="2800" dirty="0">
                <a:latin typeface="Arial"/>
                <a:cs typeface="Arial"/>
              </a:rPr>
              <a:t>particular</a:t>
            </a:r>
            <a:r>
              <a:rPr lang="en-IN" sz="2800" spc="-45" dirty="0">
                <a:latin typeface="Arial"/>
                <a:cs typeface="Arial"/>
              </a:rPr>
              <a:t> </a:t>
            </a:r>
            <a:r>
              <a:rPr lang="en-IN" sz="2800" dirty="0">
                <a:latin typeface="Arial"/>
                <a:cs typeface="Arial"/>
              </a:rPr>
              <a:t>institution</a:t>
            </a:r>
            <a:r>
              <a:rPr lang="en-IN" sz="2800" spc="-40" dirty="0">
                <a:latin typeface="Arial"/>
                <a:cs typeface="Arial"/>
              </a:rPr>
              <a:t> </a:t>
            </a:r>
            <a:r>
              <a:rPr lang="en-IN" sz="2800" dirty="0">
                <a:latin typeface="Arial"/>
                <a:cs typeface="Arial"/>
              </a:rPr>
              <a:t>or</a:t>
            </a:r>
            <a:r>
              <a:rPr lang="en-IN" sz="2800" spc="-20" dirty="0">
                <a:latin typeface="Arial"/>
                <a:cs typeface="Arial"/>
              </a:rPr>
              <a:t> </a:t>
            </a:r>
            <a:r>
              <a:rPr lang="en-IN" sz="2800" dirty="0">
                <a:latin typeface="Arial"/>
                <a:cs typeface="Arial"/>
              </a:rPr>
              <a:t>the  copy research or the marketing research or </a:t>
            </a:r>
            <a:r>
              <a:rPr lang="en-IN" sz="2800" spc="-5" dirty="0">
                <a:latin typeface="Arial"/>
                <a:cs typeface="Arial"/>
              </a:rPr>
              <a:t>evaluation</a:t>
            </a:r>
            <a:r>
              <a:rPr lang="en-IN" sz="2800" spc="-250" dirty="0">
                <a:latin typeface="Arial"/>
                <a:cs typeface="Arial"/>
              </a:rPr>
              <a:t> </a:t>
            </a:r>
            <a:r>
              <a:rPr lang="en-IN" sz="2800" dirty="0">
                <a:latin typeface="Arial"/>
                <a:cs typeface="Arial"/>
              </a:rPr>
              <a:t>research.</a:t>
            </a:r>
          </a:p>
          <a:p>
            <a:pPr>
              <a:lnSpc>
                <a:spcPct val="100000"/>
              </a:lnSpc>
              <a:spcBef>
                <a:spcPts val="55"/>
              </a:spcBef>
              <a:buFont typeface="Arial"/>
              <a:buChar char="•"/>
            </a:pPr>
            <a:endParaRPr lang="en-IN" sz="4000" dirty="0">
              <a:latin typeface="Arial"/>
              <a:cs typeface="Arial"/>
            </a:endParaRPr>
          </a:p>
          <a:p>
            <a:pPr marL="12700">
              <a:lnSpc>
                <a:spcPct val="100000"/>
              </a:lnSpc>
            </a:pPr>
            <a:r>
              <a:rPr lang="en-IN" sz="2800" b="1" spc="-5" dirty="0">
                <a:latin typeface="Arial"/>
                <a:cs typeface="Arial"/>
              </a:rPr>
              <a:t>Fundamental</a:t>
            </a:r>
            <a:r>
              <a:rPr lang="en-IN" sz="2800" b="1" spc="-40" dirty="0">
                <a:latin typeface="Arial"/>
                <a:cs typeface="Arial"/>
              </a:rPr>
              <a:t> </a:t>
            </a:r>
            <a:r>
              <a:rPr lang="en-IN" sz="2800" b="1" dirty="0">
                <a:latin typeface="Arial"/>
                <a:cs typeface="Arial"/>
              </a:rPr>
              <a:t>research:</a:t>
            </a:r>
            <a:endParaRPr lang="en-IN" sz="2800" dirty="0">
              <a:latin typeface="Arial"/>
              <a:cs typeface="Arial"/>
            </a:endParaRPr>
          </a:p>
          <a:p>
            <a:pPr marL="355600" indent="-342900">
              <a:lnSpc>
                <a:spcPct val="100000"/>
              </a:lnSpc>
              <a:spcBef>
                <a:spcPts val="335"/>
              </a:spcBef>
              <a:buChar char="•"/>
              <a:tabLst>
                <a:tab pos="354965" algn="l"/>
                <a:tab pos="355600" algn="l"/>
              </a:tabLst>
            </a:pPr>
            <a:r>
              <a:rPr lang="en-IN" sz="2800" dirty="0">
                <a:latin typeface="Arial"/>
                <a:cs typeface="Arial"/>
              </a:rPr>
              <a:t>is mainly concerned </a:t>
            </a:r>
            <a:r>
              <a:rPr lang="en-IN" sz="2800" spc="-5" dirty="0">
                <a:latin typeface="Arial"/>
                <a:cs typeface="Arial"/>
              </a:rPr>
              <a:t>with </a:t>
            </a:r>
            <a:r>
              <a:rPr lang="en-IN" sz="2800" dirty="0">
                <a:latin typeface="Arial"/>
                <a:cs typeface="Arial"/>
              </a:rPr>
              <a:t>generalizations and </a:t>
            </a:r>
            <a:r>
              <a:rPr lang="en-IN" sz="2800" spc="-5" dirty="0">
                <a:latin typeface="Arial"/>
                <a:cs typeface="Arial"/>
              </a:rPr>
              <a:t>with </a:t>
            </a:r>
            <a:r>
              <a:rPr lang="en-IN" sz="2800" dirty="0">
                <a:latin typeface="Arial"/>
                <a:cs typeface="Arial"/>
              </a:rPr>
              <a:t>the </a:t>
            </a:r>
            <a:r>
              <a:rPr lang="en-IN" sz="2800" spc="-5" dirty="0">
                <a:latin typeface="Arial"/>
                <a:cs typeface="Arial"/>
              </a:rPr>
              <a:t>formulation </a:t>
            </a:r>
            <a:r>
              <a:rPr lang="en-IN" sz="2800" dirty="0">
                <a:latin typeface="Arial"/>
                <a:cs typeface="Arial"/>
              </a:rPr>
              <a:t>of a</a:t>
            </a:r>
            <a:r>
              <a:rPr lang="en-IN" sz="2800" spc="-210" dirty="0">
                <a:latin typeface="Arial"/>
                <a:cs typeface="Arial"/>
              </a:rPr>
              <a:t> </a:t>
            </a:r>
            <a:r>
              <a:rPr lang="en-IN" sz="2800" spc="-20" dirty="0">
                <a:latin typeface="Arial"/>
                <a:cs typeface="Arial"/>
              </a:rPr>
              <a:t>theory.</a:t>
            </a:r>
            <a:endParaRPr lang="en-IN" sz="2800" dirty="0">
              <a:latin typeface="Arial"/>
              <a:cs typeface="Arial"/>
            </a:endParaRPr>
          </a:p>
          <a:p>
            <a:pPr marL="355600" indent="-342900">
              <a:lnSpc>
                <a:spcPct val="100000"/>
              </a:lnSpc>
              <a:spcBef>
                <a:spcPts val="340"/>
              </a:spcBef>
              <a:buChar char="•"/>
              <a:tabLst>
                <a:tab pos="354965" algn="l"/>
                <a:tab pos="355600" algn="l"/>
              </a:tabLst>
            </a:pPr>
            <a:r>
              <a:rPr lang="en-IN" sz="2800" spc="-5" dirty="0">
                <a:latin typeface="Arial"/>
                <a:cs typeface="Arial"/>
              </a:rPr>
              <a:t>Fundamental </a:t>
            </a:r>
            <a:r>
              <a:rPr lang="en-IN" sz="2800" dirty="0">
                <a:latin typeface="Arial"/>
                <a:cs typeface="Arial"/>
              </a:rPr>
              <a:t>research is directed </a:t>
            </a:r>
            <a:r>
              <a:rPr lang="en-IN" sz="2800" spc="-5" dirty="0">
                <a:latin typeface="Arial"/>
                <a:cs typeface="Arial"/>
              </a:rPr>
              <a:t>towards </a:t>
            </a:r>
            <a:r>
              <a:rPr lang="en-IN" sz="2800" dirty="0">
                <a:latin typeface="Arial"/>
                <a:cs typeface="Arial"/>
              </a:rPr>
              <a:t>finding </a:t>
            </a:r>
            <a:r>
              <a:rPr lang="en-IN" sz="2800" spc="-5" dirty="0">
                <a:latin typeface="Arial"/>
                <a:cs typeface="Arial"/>
              </a:rPr>
              <a:t>information </a:t>
            </a:r>
            <a:r>
              <a:rPr lang="en-IN" sz="2800" dirty="0">
                <a:latin typeface="Arial"/>
                <a:cs typeface="Arial"/>
              </a:rPr>
              <a:t>that has a broad base</a:t>
            </a:r>
            <a:r>
              <a:rPr lang="en-IN" sz="2800" spc="-280" dirty="0">
                <a:latin typeface="Arial"/>
                <a:cs typeface="Arial"/>
              </a:rPr>
              <a:t> </a:t>
            </a:r>
            <a:r>
              <a:rPr lang="en-IN" sz="2800" dirty="0">
                <a:latin typeface="Arial"/>
                <a:cs typeface="Arial"/>
              </a:rPr>
              <a:t>of applications</a:t>
            </a:r>
          </a:p>
          <a:p>
            <a:pPr marL="355600" indent="-342900">
              <a:lnSpc>
                <a:spcPct val="100000"/>
              </a:lnSpc>
              <a:spcBef>
                <a:spcPts val="335"/>
              </a:spcBef>
              <a:buChar char="•"/>
              <a:tabLst>
                <a:tab pos="354965" algn="l"/>
                <a:tab pos="355600" algn="l"/>
              </a:tabLst>
            </a:pPr>
            <a:r>
              <a:rPr lang="en-IN" sz="2800" spc="-5" dirty="0">
                <a:latin typeface="Arial"/>
                <a:cs typeface="Arial"/>
              </a:rPr>
              <a:t>Examples </a:t>
            </a:r>
            <a:r>
              <a:rPr lang="en-IN" sz="2800" dirty="0">
                <a:latin typeface="Arial"/>
                <a:cs typeface="Arial"/>
              </a:rPr>
              <a:t>of </a:t>
            </a:r>
            <a:r>
              <a:rPr lang="en-IN" sz="2800" spc="-5" dirty="0">
                <a:latin typeface="Arial"/>
                <a:cs typeface="Arial"/>
              </a:rPr>
              <a:t>fundamental</a:t>
            </a:r>
            <a:r>
              <a:rPr lang="en-IN" sz="2800" spc="-50" dirty="0">
                <a:latin typeface="Arial"/>
                <a:cs typeface="Arial"/>
              </a:rPr>
              <a:t> </a:t>
            </a:r>
            <a:r>
              <a:rPr lang="en-IN" sz="2800" dirty="0">
                <a:latin typeface="Arial"/>
                <a:cs typeface="Arial"/>
              </a:rPr>
              <a:t>research:</a:t>
            </a:r>
          </a:p>
          <a:p>
            <a:pPr marL="355600" indent="-342900">
              <a:lnSpc>
                <a:spcPct val="100000"/>
              </a:lnSpc>
              <a:spcBef>
                <a:spcPts val="335"/>
              </a:spcBef>
              <a:buChar char="•"/>
              <a:tabLst>
                <a:tab pos="354965" algn="l"/>
                <a:tab pos="355600" algn="l"/>
              </a:tabLst>
            </a:pPr>
            <a:r>
              <a:rPr lang="en-IN" sz="2800" dirty="0">
                <a:latin typeface="Arial"/>
                <a:cs typeface="Arial"/>
              </a:rPr>
              <a:t>Research concerning </a:t>
            </a:r>
            <a:r>
              <a:rPr lang="en-IN" sz="2800" spc="-5" dirty="0">
                <a:latin typeface="Arial"/>
                <a:cs typeface="Arial"/>
              </a:rPr>
              <a:t>some </a:t>
            </a:r>
            <a:r>
              <a:rPr lang="en-IN" sz="2800" dirty="0">
                <a:latin typeface="Arial"/>
                <a:cs typeface="Arial"/>
              </a:rPr>
              <a:t>natural phenomenon or relating</a:t>
            </a:r>
            <a:r>
              <a:rPr lang="en-IN" sz="2800" spc="-285" dirty="0">
                <a:latin typeface="Arial"/>
                <a:cs typeface="Arial"/>
              </a:rPr>
              <a:t> </a:t>
            </a:r>
            <a:r>
              <a:rPr lang="en-IN" sz="2800" dirty="0">
                <a:latin typeface="Arial"/>
                <a:cs typeface="Arial"/>
              </a:rPr>
              <a:t>to pure </a:t>
            </a:r>
            <a:r>
              <a:rPr lang="en-IN" sz="2800" spc="-5" dirty="0">
                <a:latin typeface="Arial"/>
                <a:cs typeface="Arial"/>
              </a:rPr>
              <a:t>mathematics.</a:t>
            </a:r>
            <a:endParaRPr lang="en-IN" sz="2800" dirty="0">
              <a:latin typeface="Arial"/>
              <a:cs typeface="Arial"/>
            </a:endParaRPr>
          </a:p>
          <a:p>
            <a:pPr marL="355600" indent="-342900">
              <a:lnSpc>
                <a:spcPct val="100000"/>
              </a:lnSpc>
              <a:spcBef>
                <a:spcPts val="335"/>
              </a:spcBef>
              <a:buChar char="•"/>
              <a:tabLst>
                <a:tab pos="354965" algn="l"/>
                <a:tab pos="355600" algn="l"/>
              </a:tabLst>
            </a:pPr>
            <a:r>
              <a:rPr lang="en-IN" sz="2800" dirty="0">
                <a:latin typeface="Arial"/>
                <a:cs typeface="Arial"/>
              </a:rPr>
              <a:t>Research carried on </a:t>
            </a:r>
            <a:r>
              <a:rPr lang="en-IN" sz="2800" spc="-5" dirty="0">
                <a:latin typeface="Arial"/>
                <a:cs typeface="Arial"/>
              </a:rPr>
              <a:t>with </a:t>
            </a:r>
            <a:r>
              <a:rPr lang="en-IN" sz="2800" dirty="0">
                <a:latin typeface="Arial"/>
                <a:cs typeface="Arial"/>
              </a:rPr>
              <a:t>a </a:t>
            </a:r>
            <a:r>
              <a:rPr lang="en-IN" sz="2800" spc="-5" dirty="0">
                <a:latin typeface="Arial"/>
                <a:cs typeface="Arial"/>
              </a:rPr>
              <a:t>view </a:t>
            </a:r>
            <a:r>
              <a:rPr lang="en-IN" sz="2800" dirty="0">
                <a:latin typeface="Arial"/>
                <a:cs typeface="Arial"/>
              </a:rPr>
              <a:t>to </a:t>
            </a:r>
            <a:r>
              <a:rPr lang="en-IN" sz="2800" spc="-5" dirty="0">
                <a:latin typeface="Arial"/>
                <a:cs typeface="Arial"/>
              </a:rPr>
              <a:t>make </a:t>
            </a:r>
            <a:r>
              <a:rPr lang="en-IN" sz="2800" dirty="0">
                <a:latin typeface="Arial"/>
                <a:cs typeface="Arial"/>
              </a:rPr>
              <a:t>generalizations about human</a:t>
            </a:r>
            <a:r>
              <a:rPr lang="en-IN" sz="2800" spc="-215" dirty="0">
                <a:latin typeface="Arial"/>
                <a:cs typeface="Arial"/>
              </a:rPr>
              <a:t> </a:t>
            </a:r>
            <a:r>
              <a:rPr lang="en-IN" sz="2800" spc="-10" dirty="0" err="1">
                <a:latin typeface="Arial"/>
                <a:cs typeface="Arial"/>
              </a:rPr>
              <a:t>behavior</a:t>
            </a:r>
            <a:r>
              <a:rPr lang="en-IN" sz="2800" spc="-10" dirty="0" smtClean="0">
                <a:latin typeface="Arial"/>
                <a:cs typeface="Arial"/>
              </a:rPr>
              <a:t>.</a:t>
            </a:r>
            <a:endParaRPr lang="en-IN" sz="2800" dirty="0">
              <a:latin typeface="Arial"/>
              <a:cs typeface="Arial"/>
            </a:endParaRPr>
          </a:p>
        </p:txBody>
      </p:sp>
      <p:sp>
        <p:nvSpPr>
          <p:cNvPr id="3" name="Title 2"/>
          <p:cNvSpPr>
            <a:spLocks noGrp="1"/>
          </p:cNvSpPr>
          <p:nvPr>
            <p:ph type="title"/>
          </p:nvPr>
        </p:nvSpPr>
        <p:spPr/>
        <p:txBody>
          <a:bodyPr/>
          <a:lstStyle/>
          <a:p>
            <a:r>
              <a:rPr lang="en-IN" sz="4400" dirty="0">
                <a:solidFill>
                  <a:srgbClr val="FF0000"/>
                </a:solidFill>
              </a:rPr>
              <a:t>2. Applied </a:t>
            </a:r>
            <a:r>
              <a:rPr lang="en-IN" sz="4400" spc="-5" dirty="0">
                <a:solidFill>
                  <a:srgbClr val="FF0000"/>
                </a:solidFill>
              </a:rPr>
              <a:t>vs.</a:t>
            </a:r>
            <a:r>
              <a:rPr lang="en-IN" sz="4400" spc="-165" dirty="0">
                <a:solidFill>
                  <a:srgbClr val="FF0000"/>
                </a:solidFill>
              </a:rPr>
              <a:t> </a:t>
            </a:r>
            <a:r>
              <a:rPr lang="en-IN" sz="4400" spc="-5" dirty="0">
                <a:solidFill>
                  <a:srgbClr val="FF0000"/>
                </a:solidFill>
              </a:rPr>
              <a:t>Fundamental.</a:t>
            </a:r>
            <a:endParaRPr lang="en-IN" dirty="0"/>
          </a:p>
        </p:txBody>
      </p:sp>
    </p:spTree>
    <p:extLst>
      <p:ext uri="{BB962C8B-B14F-4D97-AF65-F5344CB8AC3E}">
        <p14:creationId xmlns:p14="http://schemas.microsoft.com/office/powerpoint/2010/main" val="20997765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marL="12700">
              <a:lnSpc>
                <a:spcPct val="100000"/>
              </a:lnSpc>
              <a:spcBef>
                <a:spcPts val="385"/>
              </a:spcBef>
            </a:pPr>
            <a:r>
              <a:rPr lang="en-IN" sz="2800" b="1" spc="-5" dirty="0">
                <a:latin typeface="Arial"/>
                <a:cs typeface="Arial"/>
              </a:rPr>
              <a:t>Quantitative</a:t>
            </a:r>
            <a:r>
              <a:rPr lang="en-IN" sz="2800" b="1" spc="10" dirty="0">
                <a:latin typeface="Arial"/>
                <a:cs typeface="Arial"/>
              </a:rPr>
              <a:t> </a:t>
            </a:r>
            <a:r>
              <a:rPr lang="en-IN" sz="2800" b="1" spc="-5" dirty="0">
                <a:latin typeface="Arial"/>
                <a:cs typeface="Arial"/>
              </a:rPr>
              <a:t>research:</a:t>
            </a:r>
            <a:endParaRPr lang="en-IN" sz="2800" dirty="0">
              <a:latin typeface="Arial"/>
              <a:cs typeface="Arial"/>
            </a:endParaRPr>
          </a:p>
          <a:p>
            <a:pPr marL="355600" indent="-342900">
              <a:lnSpc>
                <a:spcPct val="100000"/>
              </a:lnSpc>
              <a:spcBef>
                <a:spcPts val="290"/>
              </a:spcBef>
              <a:buChar char="•"/>
              <a:tabLst>
                <a:tab pos="354965" algn="l"/>
                <a:tab pos="355600" algn="l"/>
              </a:tabLst>
            </a:pPr>
            <a:r>
              <a:rPr lang="en-IN" sz="2800" spc="-5" dirty="0">
                <a:latin typeface="Arial"/>
                <a:cs typeface="Arial"/>
              </a:rPr>
              <a:t>is based on </a:t>
            </a:r>
            <a:r>
              <a:rPr lang="en-IN" sz="2800" dirty="0">
                <a:latin typeface="Arial"/>
                <a:cs typeface="Arial"/>
              </a:rPr>
              <a:t>the </a:t>
            </a:r>
            <a:r>
              <a:rPr lang="en-IN" sz="2800" spc="-5" dirty="0">
                <a:latin typeface="Arial"/>
                <a:cs typeface="Arial"/>
              </a:rPr>
              <a:t>measurement </a:t>
            </a:r>
            <a:r>
              <a:rPr lang="en-IN" sz="2800" dirty="0">
                <a:latin typeface="Arial"/>
                <a:cs typeface="Arial"/>
              </a:rPr>
              <a:t>of </a:t>
            </a:r>
            <a:r>
              <a:rPr lang="en-IN" sz="2800" spc="-5" dirty="0">
                <a:latin typeface="Arial"/>
                <a:cs typeface="Arial"/>
              </a:rPr>
              <a:t>quantity or</a:t>
            </a:r>
            <a:r>
              <a:rPr lang="en-IN" sz="2800" spc="-85" dirty="0">
                <a:latin typeface="Arial"/>
                <a:cs typeface="Arial"/>
              </a:rPr>
              <a:t> </a:t>
            </a:r>
            <a:r>
              <a:rPr lang="en-IN" sz="2800" spc="-5" dirty="0">
                <a:latin typeface="Arial"/>
                <a:cs typeface="Arial"/>
              </a:rPr>
              <a:t>amount.</a:t>
            </a:r>
            <a:endParaRPr lang="en-IN" sz="2800" dirty="0">
              <a:latin typeface="Arial"/>
              <a:cs typeface="Arial"/>
            </a:endParaRPr>
          </a:p>
          <a:p>
            <a:pPr marL="355600" indent="-342900">
              <a:lnSpc>
                <a:spcPct val="100000"/>
              </a:lnSpc>
              <a:spcBef>
                <a:spcPts val="290"/>
              </a:spcBef>
              <a:buChar char="•"/>
              <a:tabLst>
                <a:tab pos="354965" algn="l"/>
                <a:tab pos="355600" algn="l"/>
              </a:tabLst>
            </a:pPr>
            <a:r>
              <a:rPr lang="en-IN" sz="2800" dirty="0">
                <a:latin typeface="Arial"/>
                <a:cs typeface="Arial"/>
              </a:rPr>
              <a:t>It </a:t>
            </a:r>
            <a:r>
              <a:rPr lang="en-IN" sz="2800" spc="-5" dirty="0">
                <a:latin typeface="Arial"/>
                <a:cs typeface="Arial"/>
              </a:rPr>
              <a:t>is applicable </a:t>
            </a:r>
            <a:r>
              <a:rPr lang="en-IN" sz="2800" dirty="0">
                <a:latin typeface="Arial"/>
                <a:cs typeface="Arial"/>
              </a:rPr>
              <a:t>to </a:t>
            </a:r>
            <a:r>
              <a:rPr lang="en-IN" sz="2800" spc="-5" dirty="0">
                <a:latin typeface="Arial"/>
                <a:cs typeface="Arial"/>
              </a:rPr>
              <a:t>phenomena </a:t>
            </a:r>
            <a:r>
              <a:rPr lang="en-IN" sz="2800" dirty="0">
                <a:latin typeface="Arial"/>
                <a:cs typeface="Arial"/>
              </a:rPr>
              <a:t>that </a:t>
            </a:r>
            <a:r>
              <a:rPr lang="en-IN" sz="2800" spc="-5" dirty="0">
                <a:latin typeface="Arial"/>
                <a:cs typeface="Arial"/>
              </a:rPr>
              <a:t>can be expressed in </a:t>
            </a:r>
            <a:r>
              <a:rPr lang="en-IN" sz="2800" dirty="0">
                <a:latin typeface="Arial"/>
                <a:cs typeface="Arial"/>
              </a:rPr>
              <a:t>terms of</a:t>
            </a:r>
            <a:r>
              <a:rPr lang="en-IN" sz="2800" spc="-135" dirty="0">
                <a:latin typeface="Arial"/>
                <a:cs typeface="Arial"/>
              </a:rPr>
              <a:t> </a:t>
            </a:r>
            <a:r>
              <a:rPr lang="en-IN" sz="2800" spc="-15" dirty="0">
                <a:latin typeface="Arial"/>
                <a:cs typeface="Arial"/>
              </a:rPr>
              <a:t>quantity.</a:t>
            </a:r>
            <a:endParaRPr lang="en-IN" sz="2800" dirty="0">
              <a:latin typeface="Arial"/>
              <a:cs typeface="Arial"/>
            </a:endParaRPr>
          </a:p>
          <a:p>
            <a:pPr marL="355600" marR="617220" indent="-342900">
              <a:lnSpc>
                <a:spcPct val="100000"/>
              </a:lnSpc>
              <a:spcBef>
                <a:spcPts val="285"/>
              </a:spcBef>
              <a:buChar char="•"/>
              <a:tabLst>
                <a:tab pos="354965" algn="l"/>
                <a:tab pos="355600" algn="l"/>
              </a:tabLst>
            </a:pPr>
            <a:r>
              <a:rPr lang="en-IN" sz="2800" spc="-5" dirty="0">
                <a:latin typeface="Arial"/>
                <a:cs typeface="Arial"/>
              </a:rPr>
              <a:t>Quantitative </a:t>
            </a:r>
            <a:r>
              <a:rPr lang="en-IN" sz="2800" dirty="0">
                <a:latin typeface="Arial"/>
                <a:cs typeface="Arial"/>
              </a:rPr>
              <a:t>Research </a:t>
            </a:r>
            <a:r>
              <a:rPr lang="en-IN" sz="2800" spc="-5" dirty="0">
                <a:latin typeface="Arial"/>
                <a:cs typeface="Arial"/>
              </a:rPr>
              <a:t>is used </a:t>
            </a:r>
            <a:r>
              <a:rPr lang="en-IN" sz="2800" dirty="0">
                <a:latin typeface="Arial"/>
                <a:cs typeface="Arial"/>
              </a:rPr>
              <a:t>to quantify the </a:t>
            </a:r>
            <a:r>
              <a:rPr lang="en-IN" sz="2800" spc="-5" dirty="0">
                <a:latin typeface="Arial"/>
                <a:cs typeface="Arial"/>
              </a:rPr>
              <a:t>problem by </a:t>
            </a:r>
            <a:r>
              <a:rPr lang="en-IN" sz="2800" spc="-10" dirty="0">
                <a:latin typeface="Arial"/>
                <a:cs typeface="Arial"/>
              </a:rPr>
              <a:t>way </a:t>
            </a:r>
            <a:r>
              <a:rPr lang="en-IN" sz="2800" dirty="0">
                <a:latin typeface="Arial"/>
                <a:cs typeface="Arial"/>
              </a:rPr>
              <a:t>of </a:t>
            </a:r>
            <a:r>
              <a:rPr lang="en-IN" sz="2800" spc="-5" dirty="0">
                <a:latin typeface="Arial"/>
                <a:cs typeface="Arial"/>
              </a:rPr>
              <a:t>generating numerical data or data </a:t>
            </a:r>
            <a:r>
              <a:rPr lang="en-IN" sz="2800" dirty="0">
                <a:latin typeface="Arial"/>
                <a:cs typeface="Arial"/>
              </a:rPr>
              <a:t>that </a:t>
            </a:r>
            <a:r>
              <a:rPr lang="en-IN" sz="2800" spc="-5" dirty="0">
                <a:latin typeface="Arial"/>
                <a:cs typeface="Arial"/>
              </a:rPr>
              <a:t>can be  </a:t>
            </a:r>
            <a:r>
              <a:rPr lang="en-IN" sz="2800" dirty="0">
                <a:latin typeface="Arial"/>
                <a:cs typeface="Arial"/>
              </a:rPr>
              <a:t>transformed </a:t>
            </a:r>
            <a:r>
              <a:rPr lang="en-IN" sz="2800" spc="-5" dirty="0">
                <a:latin typeface="Arial"/>
                <a:cs typeface="Arial"/>
              </a:rPr>
              <a:t>into usable</a:t>
            </a:r>
            <a:r>
              <a:rPr lang="en-IN" sz="2800" spc="-90" dirty="0">
                <a:latin typeface="Arial"/>
                <a:cs typeface="Arial"/>
              </a:rPr>
              <a:t> </a:t>
            </a:r>
            <a:r>
              <a:rPr lang="en-IN" sz="2800" dirty="0">
                <a:latin typeface="Arial"/>
                <a:cs typeface="Arial"/>
              </a:rPr>
              <a:t>statistics.</a:t>
            </a:r>
          </a:p>
          <a:p>
            <a:pPr marL="355600" indent="-342900">
              <a:lnSpc>
                <a:spcPct val="100000"/>
              </a:lnSpc>
              <a:spcBef>
                <a:spcPts val="290"/>
              </a:spcBef>
              <a:buChar char="•"/>
              <a:tabLst>
                <a:tab pos="354965" algn="l"/>
                <a:tab pos="355600" algn="l"/>
              </a:tabLst>
            </a:pPr>
            <a:r>
              <a:rPr lang="en-IN" sz="2800" dirty="0">
                <a:latin typeface="Arial"/>
                <a:cs typeface="Arial"/>
              </a:rPr>
              <a:t>It is used to quantify attitudes, opinions, </a:t>
            </a:r>
            <a:r>
              <a:rPr lang="en-IN" sz="2800" dirty="0" err="1">
                <a:latin typeface="Arial"/>
                <a:cs typeface="Arial"/>
              </a:rPr>
              <a:t>behaviors</a:t>
            </a:r>
            <a:r>
              <a:rPr lang="en-IN" sz="2800" dirty="0">
                <a:latin typeface="Arial"/>
                <a:cs typeface="Arial"/>
              </a:rPr>
              <a:t>, and other </a:t>
            </a:r>
            <a:r>
              <a:rPr lang="en-IN" sz="2800" spc="-5" dirty="0">
                <a:latin typeface="Arial"/>
                <a:cs typeface="Arial"/>
              </a:rPr>
              <a:t>defined variables </a:t>
            </a:r>
            <a:r>
              <a:rPr lang="en-IN" sz="2800" dirty="0">
                <a:latin typeface="Arial"/>
                <a:cs typeface="Arial"/>
              </a:rPr>
              <a:t>– and </a:t>
            </a:r>
            <a:r>
              <a:rPr lang="en-IN" sz="2800" spc="-5" dirty="0">
                <a:latin typeface="Arial"/>
                <a:cs typeface="Arial"/>
              </a:rPr>
              <a:t>generalize </a:t>
            </a:r>
            <a:r>
              <a:rPr lang="en-IN" sz="2800" dirty="0">
                <a:latin typeface="Arial"/>
                <a:cs typeface="Arial"/>
              </a:rPr>
              <a:t>results from</a:t>
            </a:r>
            <a:r>
              <a:rPr lang="en-IN" sz="2800" spc="-240" dirty="0">
                <a:latin typeface="Arial"/>
                <a:cs typeface="Arial"/>
              </a:rPr>
              <a:t> </a:t>
            </a:r>
            <a:r>
              <a:rPr lang="en-IN" sz="2800" dirty="0">
                <a:latin typeface="Arial"/>
                <a:cs typeface="Arial"/>
              </a:rPr>
              <a:t>a </a:t>
            </a:r>
            <a:r>
              <a:rPr lang="en-IN" sz="2800" spc="-5" dirty="0">
                <a:latin typeface="Arial"/>
                <a:cs typeface="Arial"/>
              </a:rPr>
              <a:t>larger</a:t>
            </a:r>
            <a:endParaRPr lang="en-IN" sz="2800" dirty="0">
              <a:latin typeface="Arial"/>
              <a:cs typeface="Arial"/>
            </a:endParaRPr>
          </a:p>
          <a:p>
            <a:pPr marL="355600">
              <a:lnSpc>
                <a:spcPct val="100000"/>
              </a:lnSpc>
            </a:pPr>
            <a:r>
              <a:rPr lang="en-IN" sz="2800" dirty="0">
                <a:latin typeface="Arial"/>
                <a:cs typeface="Arial"/>
              </a:rPr>
              <a:t>sample</a:t>
            </a:r>
            <a:r>
              <a:rPr lang="en-IN" sz="2800" spc="-40" dirty="0">
                <a:latin typeface="Arial"/>
                <a:cs typeface="Arial"/>
              </a:rPr>
              <a:t> </a:t>
            </a:r>
            <a:r>
              <a:rPr lang="en-IN" sz="2800" spc="-5" dirty="0">
                <a:latin typeface="Arial"/>
                <a:cs typeface="Arial"/>
              </a:rPr>
              <a:t>population.</a:t>
            </a:r>
            <a:endParaRPr lang="en-IN" sz="2800" dirty="0">
              <a:latin typeface="Arial"/>
              <a:cs typeface="Arial"/>
            </a:endParaRPr>
          </a:p>
          <a:p>
            <a:pPr marL="355600" indent="-342900">
              <a:lnSpc>
                <a:spcPct val="100000"/>
              </a:lnSpc>
              <a:spcBef>
                <a:spcPts val="290"/>
              </a:spcBef>
              <a:buChar char="•"/>
              <a:tabLst>
                <a:tab pos="354965" algn="l"/>
                <a:tab pos="355600" algn="l"/>
              </a:tabLst>
            </a:pPr>
            <a:r>
              <a:rPr lang="en-IN" sz="2800" spc="-5" dirty="0">
                <a:latin typeface="Arial"/>
                <a:cs typeface="Arial"/>
              </a:rPr>
              <a:t>Quantitative </a:t>
            </a:r>
            <a:r>
              <a:rPr lang="en-IN" sz="2800" dirty="0">
                <a:latin typeface="Arial"/>
                <a:cs typeface="Arial"/>
              </a:rPr>
              <a:t>Research </a:t>
            </a:r>
            <a:r>
              <a:rPr lang="en-IN" sz="2800" spc="-5" dirty="0">
                <a:latin typeface="Arial"/>
                <a:cs typeface="Arial"/>
              </a:rPr>
              <a:t>uses measurable data </a:t>
            </a:r>
            <a:r>
              <a:rPr lang="en-IN" sz="2800" dirty="0">
                <a:latin typeface="Arial"/>
                <a:cs typeface="Arial"/>
              </a:rPr>
              <a:t>to formulate facts </a:t>
            </a:r>
            <a:r>
              <a:rPr lang="en-IN" sz="2800" spc="-5" dirty="0">
                <a:latin typeface="Arial"/>
                <a:cs typeface="Arial"/>
              </a:rPr>
              <a:t>and uncover </a:t>
            </a:r>
            <a:r>
              <a:rPr lang="en-IN" sz="2800" dirty="0">
                <a:latin typeface="Arial"/>
                <a:cs typeface="Arial"/>
              </a:rPr>
              <a:t>patterns </a:t>
            </a:r>
            <a:r>
              <a:rPr lang="en-IN" sz="2800" spc="-5" dirty="0">
                <a:latin typeface="Arial"/>
                <a:cs typeface="Arial"/>
              </a:rPr>
              <a:t>in</a:t>
            </a:r>
            <a:r>
              <a:rPr lang="en-IN" sz="2800" spc="-220" dirty="0">
                <a:latin typeface="Arial"/>
                <a:cs typeface="Arial"/>
              </a:rPr>
              <a:t> </a:t>
            </a:r>
            <a:r>
              <a:rPr lang="en-IN" sz="2800" spc="-5" dirty="0">
                <a:latin typeface="Arial"/>
                <a:cs typeface="Arial"/>
              </a:rPr>
              <a:t>research.</a:t>
            </a:r>
            <a:endParaRPr lang="en-IN" sz="2800" dirty="0">
              <a:latin typeface="Arial"/>
              <a:cs typeface="Arial"/>
            </a:endParaRPr>
          </a:p>
          <a:p>
            <a:pPr marL="355600" indent="-342900">
              <a:lnSpc>
                <a:spcPct val="100000"/>
              </a:lnSpc>
              <a:spcBef>
                <a:spcPts val="290"/>
              </a:spcBef>
              <a:buChar char="•"/>
              <a:tabLst>
                <a:tab pos="354965" algn="l"/>
                <a:tab pos="355600" algn="l"/>
              </a:tabLst>
            </a:pPr>
            <a:r>
              <a:rPr lang="en-IN" sz="2800" spc="-5" dirty="0">
                <a:latin typeface="Arial"/>
                <a:cs typeface="Arial"/>
              </a:rPr>
              <a:t>Quantitative data collection methods are </a:t>
            </a:r>
            <a:r>
              <a:rPr lang="en-IN" sz="2800" dirty="0">
                <a:latin typeface="Arial"/>
                <a:cs typeface="Arial"/>
              </a:rPr>
              <a:t>much more structured than </a:t>
            </a:r>
            <a:r>
              <a:rPr lang="en-IN" sz="2800" spc="-5" dirty="0">
                <a:latin typeface="Arial"/>
                <a:cs typeface="Arial"/>
              </a:rPr>
              <a:t>Qualitative data collection</a:t>
            </a:r>
            <a:r>
              <a:rPr lang="en-IN" sz="2800" spc="-185" dirty="0">
                <a:latin typeface="Arial"/>
                <a:cs typeface="Arial"/>
              </a:rPr>
              <a:t> </a:t>
            </a:r>
            <a:r>
              <a:rPr lang="en-IN" sz="2800" dirty="0">
                <a:latin typeface="Arial"/>
                <a:cs typeface="Arial"/>
              </a:rPr>
              <a:t>methods.</a:t>
            </a:r>
          </a:p>
          <a:p>
            <a:pPr marL="355600" marR="44450" indent="-342900" algn="just">
              <a:lnSpc>
                <a:spcPct val="100000"/>
              </a:lnSpc>
              <a:spcBef>
                <a:spcPts val="285"/>
              </a:spcBef>
              <a:buChar char="•"/>
              <a:tabLst>
                <a:tab pos="355600" algn="l"/>
              </a:tabLst>
            </a:pPr>
            <a:r>
              <a:rPr lang="en-IN" sz="2800" spc="-5" dirty="0">
                <a:latin typeface="Arial"/>
                <a:cs typeface="Arial"/>
              </a:rPr>
              <a:t>Quantitative data collection methods include various </a:t>
            </a:r>
            <a:r>
              <a:rPr lang="en-IN" sz="2800" dirty="0">
                <a:latin typeface="Arial"/>
                <a:cs typeface="Arial"/>
              </a:rPr>
              <a:t>forms of </a:t>
            </a:r>
            <a:r>
              <a:rPr lang="en-IN" sz="2800" spc="-10" dirty="0">
                <a:latin typeface="Arial"/>
                <a:cs typeface="Arial"/>
              </a:rPr>
              <a:t>surveys </a:t>
            </a:r>
            <a:r>
              <a:rPr lang="en-IN" sz="2800" dirty="0">
                <a:latin typeface="Arial"/>
                <a:cs typeface="Arial"/>
              </a:rPr>
              <a:t>– </a:t>
            </a:r>
            <a:r>
              <a:rPr lang="en-IN" sz="2800" spc="-5" dirty="0">
                <a:latin typeface="Arial"/>
                <a:cs typeface="Arial"/>
              </a:rPr>
              <a:t>online surveys, paper surveys, mobile </a:t>
            </a:r>
            <a:r>
              <a:rPr lang="en-IN" sz="2800" spc="-10" dirty="0">
                <a:latin typeface="Arial"/>
                <a:cs typeface="Arial"/>
              </a:rPr>
              <a:t>surveys  </a:t>
            </a:r>
            <a:r>
              <a:rPr lang="en-IN" sz="2800" spc="-5" dirty="0">
                <a:latin typeface="Arial"/>
                <a:cs typeface="Arial"/>
              </a:rPr>
              <a:t>and kiosk surveys, </a:t>
            </a:r>
            <a:r>
              <a:rPr lang="en-IN" sz="2800" dirty="0">
                <a:latin typeface="Arial"/>
                <a:cs typeface="Arial"/>
              </a:rPr>
              <a:t>face-to-face </a:t>
            </a:r>
            <a:r>
              <a:rPr lang="en-IN" sz="2800" spc="-5" dirty="0">
                <a:latin typeface="Arial"/>
                <a:cs typeface="Arial"/>
              </a:rPr>
              <a:t>interviews, telephone interviews, longitudinal </a:t>
            </a:r>
            <a:r>
              <a:rPr lang="en-IN" sz="2800" dirty="0">
                <a:latin typeface="Arial"/>
                <a:cs typeface="Arial"/>
              </a:rPr>
              <a:t>studies, </a:t>
            </a:r>
            <a:r>
              <a:rPr lang="en-IN" sz="2800" spc="-5" dirty="0">
                <a:latin typeface="Arial"/>
                <a:cs typeface="Arial"/>
              </a:rPr>
              <a:t>website </a:t>
            </a:r>
            <a:r>
              <a:rPr lang="en-IN" sz="2800" dirty="0">
                <a:latin typeface="Arial"/>
                <a:cs typeface="Arial"/>
              </a:rPr>
              <a:t>interceptors, </a:t>
            </a:r>
            <a:r>
              <a:rPr lang="en-IN" sz="2800" spc="-5" dirty="0">
                <a:latin typeface="Arial"/>
                <a:cs typeface="Arial"/>
              </a:rPr>
              <a:t>online polls,  and systematic</a:t>
            </a:r>
            <a:r>
              <a:rPr lang="en-IN" sz="2800" spc="-25" dirty="0">
                <a:latin typeface="Arial"/>
                <a:cs typeface="Arial"/>
              </a:rPr>
              <a:t> </a:t>
            </a:r>
            <a:r>
              <a:rPr lang="en-IN" sz="2800" spc="-5" dirty="0">
                <a:latin typeface="Arial"/>
                <a:cs typeface="Arial"/>
              </a:rPr>
              <a:t>observations.</a:t>
            </a:r>
            <a:endParaRPr lang="en-IN" sz="2800" dirty="0">
              <a:latin typeface="Arial"/>
              <a:cs typeface="Arial"/>
            </a:endParaRPr>
          </a:p>
          <a:p>
            <a:pPr>
              <a:lnSpc>
                <a:spcPct val="100000"/>
              </a:lnSpc>
              <a:spcBef>
                <a:spcPts val="5"/>
              </a:spcBef>
              <a:buFont typeface="Arial"/>
              <a:buChar char="•"/>
            </a:pPr>
            <a:endParaRPr lang="en-IN" sz="4000" dirty="0">
              <a:latin typeface="Arial"/>
              <a:cs typeface="Arial"/>
            </a:endParaRPr>
          </a:p>
        </p:txBody>
      </p:sp>
      <p:sp>
        <p:nvSpPr>
          <p:cNvPr id="3" name="Title 2"/>
          <p:cNvSpPr>
            <a:spLocks noGrp="1"/>
          </p:cNvSpPr>
          <p:nvPr>
            <p:ph type="title"/>
          </p:nvPr>
        </p:nvSpPr>
        <p:spPr/>
        <p:txBody>
          <a:bodyPr>
            <a:normAutofit fontScale="90000"/>
          </a:bodyPr>
          <a:lstStyle/>
          <a:p>
            <a:r>
              <a:rPr lang="en-IN" sz="4400" dirty="0">
                <a:solidFill>
                  <a:srgbClr val="FF0000"/>
                </a:solidFill>
              </a:rPr>
              <a:t>3. Quantitative </a:t>
            </a:r>
            <a:r>
              <a:rPr lang="en-IN" sz="4400" spc="-5" dirty="0">
                <a:solidFill>
                  <a:srgbClr val="FF0000"/>
                </a:solidFill>
              </a:rPr>
              <a:t>vs.</a:t>
            </a:r>
            <a:r>
              <a:rPr lang="en-IN" sz="4400" spc="-100" dirty="0">
                <a:solidFill>
                  <a:srgbClr val="FF0000"/>
                </a:solidFill>
              </a:rPr>
              <a:t> </a:t>
            </a:r>
            <a:r>
              <a:rPr lang="en-IN" sz="4400" dirty="0">
                <a:solidFill>
                  <a:srgbClr val="FF0000"/>
                </a:solidFill>
              </a:rPr>
              <a:t>Qualitative:</a:t>
            </a:r>
            <a:endParaRPr lang="en-IN" dirty="0"/>
          </a:p>
        </p:txBody>
      </p:sp>
    </p:spTree>
    <p:extLst>
      <p:ext uri="{BB962C8B-B14F-4D97-AF65-F5344CB8AC3E}">
        <p14:creationId xmlns:p14="http://schemas.microsoft.com/office/powerpoint/2010/main" val="2340155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marL="12700">
              <a:lnSpc>
                <a:spcPct val="100000"/>
              </a:lnSpc>
            </a:pPr>
            <a:r>
              <a:rPr lang="en-IN" sz="2400" b="1" spc="-5" dirty="0">
                <a:latin typeface="Arial"/>
                <a:cs typeface="Arial"/>
              </a:rPr>
              <a:t>Qualitative</a:t>
            </a:r>
            <a:r>
              <a:rPr lang="en-IN" sz="2400" b="1" spc="10" dirty="0">
                <a:latin typeface="Arial"/>
                <a:cs typeface="Arial"/>
              </a:rPr>
              <a:t> </a:t>
            </a:r>
            <a:r>
              <a:rPr lang="en-IN" sz="2400" b="1" spc="-5" dirty="0">
                <a:latin typeface="Arial"/>
                <a:cs typeface="Arial"/>
              </a:rPr>
              <a:t>research:</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spc="-5" dirty="0">
                <a:latin typeface="Arial"/>
                <a:cs typeface="Arial"/>
              </a:rPr>
              <a:t>is concerned with qualitative</a:t>
            </a:r>
            <a:r>
              <a:rPr lang="en-IN" sz="2400" spc="-40" dirty="0">
                <a:latin typeface="Arial"/>
                <a:cs typeface="Arial"/>
              </a:rPr>
              <a:t> </a:t>
            </a:r>
            <a:r>
              <a:rPr lang="en-IN" sz="2400" spc="-5" dirty="0">
                <a:latin typeface="Arial"/>
                <a:cs typeface="Arial"/>
              </a:rPr>
              <a:t>phenomenon.</a:t>
            </a:r>
            <a:endParaRPr lang="en-IN" sz="2400" dirty="0">
              <a:latin typeface="Arial"/>
              <a:cs typeface="Arial"/>
            </a:endParaRPr>
          </a:p>
          <a:p>
            <a:pPr marL="355600" indent="-342900">
              <a:lnSpc>
                <a:spcPct val="100000"/>
              </a:lnSpc>
              <a:spcBef>
                <a:spcPts val="285"/>
              </a:spcBef>
              <a:buChar char="•"/>
              <a:tabLst>
                <a:tab pos="354965" algn="l"/>
                <a:tab pos="355600" algn="l"/>
              </a:tabLst>
            </a:pPr>
            <a:r>
              <a:rPr lang="en-IN" sz="2400" spc="-5" dirty="0">
                <a:latin typeface="Arial"/>
                <a:cs typeface="Arial"/>
              </a:rPr>
              <a:t>Phenomena relating </a:t>
            </a:r>
            <a:r>
              <a:rPr lang="en-IN" sz="2400" dirty="0">
                <a:latin typeface="Arial"/>
                <a:cs typeface="Arial"/>
              </a:rPr>
              <a:t>to </a:t>
            </a:r>
            <a:r>
              <a:rPr lang="en-IN" sz="2400" spc="-5" dirty="0">
                <a:latin typeface="Arial"/>
                <a:cs typeface="Arial"/>
              </a:rPr>
              <a:t>or involving quality </a:t>
            </a:r>
            <a:r>
              <a:rPr lang="en-IN" sz="2400" dirty="0">
                <a:latin typeface="Arial"/>
                <a:cs typeface="Arial"/>
              </a:rPr>
              <a:t>or</a:t>
            </a:r>
            <a:r>
              <a:rPr lang="en-IN" sz="2400" spc="-45" dirty="0">
                <a:latin typeface="Arial"/>
                <a:cs typeface="Arial"/>
              </a:rPr>
              <a:t> </a:t>
            </a:r>
            <a:r>
              <a:rPr lang="en-IN" sz="2400" spc="-5" dirty="0">
                <a:latin typeface="Arial"/>
                <a:cs typeface="Arial"/>
              </a:rPr>
              <a:t>kind.</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spc="-5" dirty="0">
                <a:latin typeface="Arial"/>
                <a:cs typeface="Arial"/>
              </a:rPr>
              <a:t>Qualitative </a:t>
            </a:r>
            <a:r>
              <a:rPr lang="en-IN" sz="2400" dirty="0">
                <a:latin typeface="Arial"/>
                <a:cs typeface="Arial"/>
              </a:rPr>
              <a:t>Research </a:t>
            </a:r>
            <a:r>
              <a:rPr lang="en-IN" sz="2400" spc="-5" dirty="0">
                <a:latin typeface="Arial"/>
                <a:cs typeface="Arial"/>
              </a:rPr>
              <a:t>is primarily exploratory</a:t>
            </a:r>
            <a:r>
              <a:rPr lang="en-IN" sz="2400" spc="-90" dirty="0">
                <a:latin typeface="Arial"/>
                <a:cs typeface="Arial"/>
              </a:rPr>
              <a:t> </a:t>
            </a:r>
            <a:r>
              <a:rPr lang="en-IN" sz="2400" spc="-5" dirty="0">
                <a:latin typeface="Arial"/>
                <a:cs typeface="Arial"/>
              </a:rPr>
              <a:t>research.</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dirty="0">
                <a:latin typeface="Arial"/>
                <a:cs typeface="Arial"/>
              </a:rPr>
              <a:t>It </a:t>
            </a:r>
            <a:r>
              <a:rPr lang="en-IN" sz="2400" spc="-5" dirty="0">
                <a:latin typeface="Arial"/>
                <a:cs typeface="Arial"/>
              </a:rPr>
              <a:t>is </a:t>
            </a:r>
            <a:r>
              <a:rPr lang="en-IN" sz="2400" dirty="0">
                <a:latin typeface="Arial"/>
                <a:cs typeface="Arial"/>
              </a:rPr>
              <a:t>used to </a:t>
            </a:r>
            <a:r>
              <a:rPr lang="en-IN" sz="2400" spc="-5" dirty="0">
                <a:latin typeface="Arial"/>
                <a:cs typeface="Arial"/>
              </a:rPr>
              <a:t>gain an understanding </a:t>
            </a:r>
            <a:r>
              <a:rPr lang="en-IN" sz="2400" dirty="0">
                <a:latin typeface="Arial"/>
                <a:cs typeface="Arial"/>
              </a:rPr>
              <a:t>of </a:t>
            </a:r>
            <a:r>
              <a:rPr lang="en-IN" sz="2400" spc="-5" dirty="0">
                <a:latin typeface="Arial"/>
                <a:cs typeface="Arial"/>
              </a:rPr>
              <a:t>underlying reasons, opinions, and</a:t>
            </a:r>
            <a:r>
              <a:rPr lang="en-IN" sz="2400" spc="-155" dirty="0">
                <a:latin typeface="Arial"/>
                <a:cs typeface="Arial"/>
              </a:rPr>
              <a:t> </a:t>
            </a:r>
            <a:r>
              <a:rPr lang="en-IN" sz="2400" spc="-5" dirty="0">
                <a:latin typeface="Arial"/>
                <a:cs typeface="Arial"/>
              </a:rPr>
              <a:t>motivations.</a:t>
            </a:r>
            <a:endParaRPr lang="en-IN" sz="2400" dirty="0">
              <a:latin typeface="Arial"/>
              <a:cs typeface="Arial"/>
            </a:endParaRPr>
          </a:p>
          <a:p>
            <a:pPr marL="355600" indent="-342900">
              <a:lnSpc>
                <a:spcPct val="100000"/>
              </a:lnSpc>
              <a:spcBef>
                <a:spcPts val="285"/>
              </a:spcBef>
              <a:buChar char="•"/>
              <a:tabLst>
                <a:tab pos="354965" algn="l"/>
                <a:tab pos="355600" algn="l"/>
              </a:tabLst>
            </a:pPr>
            <a:r>
              <a:rPr lang="en-IN" sz="2400" dirty="0">
                <a:latin typeface="Arial"/>
                <a:cs typeface="Arial"/>
              </a:rPr>
              <a:t>It </a:t>
            </a:r>
            <a:r>
              <a:rPr lang="en-IN" sz="2400" spc="-5" dirty="0">
                <a:latin typeface="Arial"/>
                <a:cs typeface="Arial"/>
              </a:rPr>
              <a:t>provides insights into </a:t>
            </a:r>
            <a:r>
              <a:rPr lang="en-IN" sz="2400" dirty="0">
                <a:latin typeface="Arial"/>
                <a:cs typeface="Arial"/>
              </a:rPr>
              <a:t>the </a:t>
            </a:r>
            <a:r>
              <a:rPr lang="en-IN" sz="2400" spc="-5" dirty="0">
                <a:latin typeface="Arial"/>
                <a:cs typeface="Arial"/>
              </a:rPr>
              <a:t>problem or helps </a:t>
            </a:r>
            <a:r>
              <a:rPr lang="en-IN" sz="2400" dirty="0">
                <a:latin typeface="Arial"/>
                <a:cs typeface="Arial"/>
              </a:rPr>
              <a:t>to </a:t>
            </a:r>
            <a:r>
              <a:rPr lang="en-IN" sz="2400" spc="-5" dirty="0">
                <a:latin typeface="Arial"/>
                <a:cs typeface="Arial"/>
              </a:rPr>
              <a:t>develop </a:t>
            </a:r>
            <a:r>
              <a:rPr lang="en-IN" sz="2400" dirty="0">
                <a:latin typeface="Arial"/>
                <a:cs typeface="Arial"/>
              </a:rPr>
              <a:t>ideas </a:t>
            </a:r>
            <a:r>
              <a:rPr lang="en-IN" sz="2400" spc="-5" dirty="0">
                <a:latin typeface="Arial"/>
                <a:cs typeface="Arial"/>
              </a:rPr>
              <a:t>or hypotheses </a:t>
            </a:r>
            <a:r>
              <a:rPr lang="en-IN" sz="2400" dirty="0">
                <a:latin typeface="Arial"/>
                <a:cs typeface="Arial"/>
              </a:rPr>
              <a:t>for </a:t>
            </a:r>
            <a:r>
              <a:rPr lang="en-IN" sz="2400" spc="-5" dirty="0">
                <a:latin typeface="Arial"/>
                <a:cs typeface="Arial"/>
              </a:rPr>
              <a:t>potential quantitative</a:t>
            </a:r>
            <a:r>
              <a:rPr lang="en-IN" sz="2400" spc="15" dirty="0">
                <a:latin typeface="Arial"/>
                <a:cs typeface="Arial"/>
              </a:rPr>
              <a:t> </a:t>
            </a:r>
            <a:r>
              <a:rPr lang="en-IN" sz="2400" spc="-5" dirty="0">
                <a:latin typeface="Arial"/>
                <a:cs typeface="Arial"/>
              </a:rPr>
              <a:t>research.</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spc="-5" dirty="0">
                <a:latin typeface="Arial"/>
                <a:cs typeface="Arial"/>
              </a:rPr>
              <a:t>Qualitative </a:t>
            </a:r>
            <a:r>
              <a:rPr lang="en-IN" sz="2400" dirty="0">
                <a:latin typeface="Arial"/>
                <a:cs typeface="Arial"/>
              </a:rPr>
              <a:t>Research </a:t>
            </a:r>
            <a:r>
              <a:rPr lang="en-IN" sz="2400" spc="-5" dirty="0">
                <a:latin typeface="Arial"/>
                <a:cs typeface="Arial"/>
              </a:rPr>
              <a:t>is also used </a:t>
            </a:r>
            <a:r>
              <a:rPr lang="en-IN" sz="2400" dirty="0">
                <a:latin typeface="Arial"/>
                <a:cs typeface="Arial"/>
              </a:rPr>
              <a:t>to </a:t>
            </a:r>
            <a:r>
              <a:rPr lang="en-IN" sz="2400" spc="-5" dirty="0">
                <a:latin typeface="Arial"/>
                <a:cs typeface="Arial"/>
              </a:rPr>
              <a:t>uncover trends in thought and opinions, and dive deeper into </a:t>
            </a:r>
            <a:r>
              <a:rPr lang="en-IN" sz="2400" dirty="0">
                <a:latin typeface="Arial"/>
                <a:cs typeface="Arial"/>
              </a:rPr>
              <a:t>the </a:t>
            </a:r>
            <a:r>
              <a:rPr lang="en-IN" sz="2400" spc="-5" dirty="0">
                <a:latin typeface="Arial"/>
                <a:cs typeface="Arial"/>
              </a:rPr>
              <a:t>problem.</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spc="-5" dirty="0">
                <a:latin typeface="Arial"/>
                <a:cs typeface="Arial"/>
              </a:rPr>
              <a:t>Qualitative data collection methods vary using </a:t>
            </a:r>
            <a:r>
              <a:rPr lang="en-IN" sz="2400" dirty="0">
                <a:latin typeface="Arial"/>
                <a:cs typeface="Arial"/>
              </a:rPr>
              <a:t>unstructured or semi-structured</a:t>
            </a:r>
            <a:r>
              <a:rPr lang="en-IN" sz="2400" spc="-140" dirty="0">
                <a:latin typeface="Arial"/>
                <a:cs typeface="Arial"/>
              </a:rPr>
              <a:t> </a:t>
            </a:r>
            <a:r>
              <a:rPr lang="en-IN" sz="2400" spc="-5" dirty="0">
                <a:latin typeface="Arial"/>
                <a:cs typeface="Arial"/>
              </a:rPr>
              <a:t>techniques.</a:t>
            </a:r>
            <a:endParaRPr lang="en-IN" sz="2400" dirty="0">
              <a:latin typeface="Arial"/>
              <a:cs typeface="Arial"/>
            </a:endParaRPr>
          </a:p>
          <a:p>
            <a:pPr marL="355600" indent="-342900">
              <a:lnSpc>
                <a:spcPct val="100000"/>
              </a:lnSpc>
              <a:spcBef>
                <a:spcPts val="290"/>
              </a:spcBef>
              <a:buChar char="•"/>
              <a:tabLst>
                <a:tab pos="354965" algn="l"/>
                <a:tab pos="355600" algn="l"/>
              </a:tabLst>
            </a:pPr>
            <a:r>
              <a:rPr lang="en-IN" sz="2400" dirty="0">
                <a:latin typeface="Arial"/>
                <a:cs typeface="Arial"/>
              </a:rPr>
              <a:t>Some common </a:t>
            </a:r>
            <a:r>
              <a:rPr lang="en-IN" sz="2400" spc="-5" dirty="0">
                <a:latin typeface="Arial"/>
                <a:cs typeface="Arial"/>
              </a:rPr>
              <a:t>methods include </a:t>
            </a:r>
            <a:r>
              <a:rPr lang="en-IN" sz="2400" dirty="0">
                <a:latin typeface="Arial"/>
                <a:cs typeface="Arial"/>
              </a:rPr>
              <a:t>focus </a:t>
            </a:r>
            <a:r>
              <a:rPr lang="en-IN" sz="2400" spc="-5" dirty="0">
                <a:latin typeface="Arial"/>
                <a:cs typeface="Arial"/>
              </a:rPr>
              <a:t>groups (group discussions), individual interviews, and</a:t>
            </a:r>
            <a:r>
              <a:rPr lang="en-IN" sz="2400" spc="-35" dirty="0">
                <a:latin typeface="Arial"/>
                <a:cs typeface="Arial"/>
              </a:rPr>
              <a:t> </a:t>
            </a:r>
            <a:r>
              <a:rPr lang="en-IN" sz="2400" spc="-5" dirty="0">
                <a:latin typeface="Arial"/>
                <a:cs typeface="Arial"/>
              </a:rPr>
              <a:t>participation/observations.</a:t>
            </a:r>
            <a:endParaRPr lang="en-IN" sz="2400" dirty="0">
              <a:latin typeface="Arial"/>
              <a:cs typeface="Arial"/>
            </a:endParaRPr>
          </a:p>
          <a:p>
            <a:pPr marL="355600" indent="-342900">
              <a:lnSpc>
                <a:spcPct val="100000"/>
              </a:lnSpc>
              <a:spcBef>
                <a:spcPts val="285"/>
              </a:spcBef>
              <a:buChar char="•"/>
              <a:tabLst>
                <a:tab pos="354965" algn="l"/>
                <a:tab pos="355600" algn="l"/>
              </a:tabLst>
            </a:pPr>
            <a:r>
              <a:rPr lang="en-IN" sz="2400" dirty="0">
                <a:latin typeface="Arial"/>
                <a:cs typeface="Arial"/>
              </a:rPr>
              <a:t>The sample </a:t>
            </a:r>
            <a:r>
              <a:rPr lang="en-IN" sz="2400" spc="-5" dirty="0">
                <a:latin typeface="Arial"/>
                <a:cs typeface="Arial"/>
              </a:rPr>
              <a:t>size is typically small, and respondents are selected </a:t>
            </a:r>
            <a:r>
              <a:rPr lang="en-IN" sz="2400" dirty="0">
                <a:latin typeface="Arial"/>
                <a:cs typeface="Arial"/>
              </a:rPr>
              <a:t>to </a:t>
            </a:r>
            <a:r>
              <a:rPr lang="en-IN" sz="2400" dirty="0" err="1">
                <a:latin typeface="Arial"/>
                <a:cs typeface="Arial"/>
              </a:rPr>
              <a:t>fulfill</a:t>
            </a:r>
            <a:r>
              <a:rPr lang="en-IN" sz="2400" dirty="0">
                <a:latin typeface="Arial"/>
                <a:cs typeface="Arial"/>
              </a:rPr>
              <a:t> </a:t>
            </a:r>
            <a:r>
              <a:rPr lang="en-IN" sz="2400" spc="-5" dirty="0">
                <a:latin typeface="Arial"/>
                <a:cs typeface="Arial"/>
              </a:rPr>
              <a:t>a given</a:t>
            </a:r>
            <a:r>
              <a:rPr lang="en-IN" sz="2400" spc="-165" dirty="0">
                <a:latin typeface="Arial"/>
                <a:cs typeface="Arial"/>
              </a:rPr>
              <a:t> </a:t>
            </a:r>
            <a:r>
              <a:rPr lang="en-IN" sz="2400" spc="5" dirty="0">
                <a:latin typeface="Arial"/>
                <a:cs typeface="Arial"/>
              </a:rPr>
              <a:t>quota.</a:t>
            </a:r>
            <a:endParaRPr lang="en-IN" sz="2400" dirty="0">
              <a:latin typeface="Arial"/>
              <a:cs typeface="Arial"/>
            </a:endParaRPr>
          </a:p>
          <a:p>
            <a:endParaRPr lang="en-IN" dirty="0"/>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5783270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55000" lnSpcReduction="20000"/>
          </a:bodyPr>
          <a:lstStyle/>
          <a:p>
            <a:pPr marL="12700">
              <a:lnSpc>
                <a:spcPct val="100000"/>
              </a:lnSpc>
              <a:spcBef>
                <a:spcPts val="95"/>
              </a:spcBef>
            </a:pPr>
            <a:r>
              <a:rPr lang="en-IN" sz="4000" b="1" spc="-5" dirty="0">
                <a:latin typeface="Arial"/>
                <a:cs typeface="Arial"/>
              </a:rPr>
              <a:t>Conceptual</a:t>
            </a:r>
            <a:r>
              <a:rPr lang="en-IN" sz="4000" b="1" spc="35" dirty="0">
                <a:latin typeface="Arial"/>
                <a:cs typeface="Arial"/>
              </a:rPr>
              <a:t> </a:t>
            </a:r>
            <a:r>
              <a:rPr lang="en-IN" sz="4000" b="1" spc="-5" dirty="0">
                <a:latin typeface="Arial"/>
                <a:cs typeface="Arial"/>
              </a:rPr>
              <a:t>research</a:t>
            </a:r>
            <a:r>
              <a:rPr lang="en-IN" sz="4000" spc="-5" dirty="0">
                <a:latin typeface="Arial"/>
                <a:cs typeface="Arial"/>
              </a:rPr>
              <a:t>:</a:t>
            </a:r>
            <a:endParaRPr lang="en-IN" sz="4000" dirty="0">
              <a:latin typeface="Arial"/>
              <a:cs typeface="Arial"/>
            </a:endParaRPr>
          </a:p>
          <a:p>
            <a:pPr marL="355600" indent="-342900">
              <a:lnSpc>
                <a:spcPct val="100000"/>
              </a:lnSpc>
              <a:spcBef>
                <a:spcPts val="25"/>
              </a:spcBef>
              <a:buChar char="•"/>
              <a:tabLst>
                <a:tab pos="354965" algn="l"/>
                <a:tab pos="355600" algn="l"/>
              </a:tabLst>
            </a:pPr>
            <a:r>
              <a:rPr lang="en-IN" sz="2800" spc="-5" dirty="0">
                <a:latin typeface="Arial"/>
                <a:cs typeface="Arial"/>
              </a:rPr>
              <a:t>is that related to some abstract idea(s) or</a:t>
            </a:r>
            <a:r>
              <a:rPr lang="en-IN" sz="2800" spc="95" dirty="0">
                <a:latin typeface="Arial"/>
                <a:cs typeface="Arial"/>
              </a:rPr>
              <a:t> </a:t>
            </a:r>
            <a:r>
              <a:rPr lang="en-IN" sz="2800" spc="-25" dirty="0">
                <a:latin typeface="Arial"/>
                <a:cs typeface="Arial"/>
              </a:rPr>
              <a:t>theory.</a:t>
            </a:r>
            <a:endParaRPr lang="en-IN" sz="2800" dirty="0">
              <a:latin typeface="Arial"/>
              <a:cs typeface="Arial"/>
            </a:endParaRPr>
          </a:p>
          <a:p>
            <a:pPr marL="355600" marR="5080" indent="-342900">
              <a:lnSpc>
                <a:spcPct val="80000"/>
              </a:lnSpc>
              <a:spcBef>
                <a:spcPts val="380"/>
              </a:spcBef>
              <a:buChar char="•"/>
              <a:tabLst>
                <a:tab pos="354965" algn="l"/>
                <a:tab pos="355600" algn="l"/>
              </a:tabLst>
            </a:pPr>
            <a:r>
              <a:rPr lang="en-IN" sz="2800" spc="-5" dirty="0">
                <a:latin typeface="Arial"/>
                <a:cs typeface="Arial"/>
              </a:rPr>
              <a:t>It is generally used by philosophers and thinkers to develop new concepts or to reinterpret  existing</a:t>
            </a:r>
            <a:r>
              <a:rPr lang="en-IN" sz="2800" spc="-10" dirty="0">
                <a:latin typeface="Arial"/>
                <a:cs typeface="Arial"/>
              </a:rPr>
              <a:t> </a:t>
            </a:r>
            <a:r>
              <a:rPr lang="en-IN" sz="2800" spc="-5" dirty="0">
                <a:latin typeface="Arial"/>
                <a:cs typeface="Arial"/>
              </a:rPr>
              <a:t>ones.</a:t>
            </a:r>
            <a:endParaRPr lang="en-IN" sz="2800" dirty="0">
              <a:latin typeface="Arial"/>
              <a:cs typeface="Arial"/>
            </a:endParaRPr>
          </a:p>
          <a:p>
            <a:pPr>
              <a:lnSpc>
                <a:spcPct val="100000"/>
              </a:lnSpc>
              <a:spcBef>
                <a:spcPts val="35"/>
              </a:spcBef>
              <a:buFont typeface="Arial"/>
              <a:buChar char="•"/>
            </a:pPr>
            <a:endParaRPr lang="en-IN" sz="4000" dirty="0">
              <a:latin typeface="Arial"/>
              <a:cs typeface="Arial"/>
            </a:endParaRPr>
          </a:p>
          <a:p>
            <a:pPr marL="12700">
              <a:lnSpc>
                <a:spcPct val="100000"/>
              </a:lnSpc>
            </a:pPr>
            <a:r>
              <a:rPr lang="en-IN" sz="4000" b="1" spc="-5" dirty="0">
                <a:latin typeface="Arial"/>
                <a:cs typeface="Arial"/>
              </a:rPr>
              <a:t>Empirical</a:t>
            </a:r>
            <a:r>
              <a:rPr lang="en-IN" sz="4000" b="1" spc="5" dirty="0">
                <a:latin typeface="Arial"/>
                <a:cs typeface="Arial"/>
              </a:rPr>
              <a:t> </a:t>
            </a:r>
            <a:r>
              <a:rPr lang="en-IN" sz="4000" b="1" spc="-5" dirty="0">
                <a:latin typeface="Arial"/>
                <a:cs typeface="Arial"/>
              </a:rPr>
              <a:t>research:</a:t>
            </a:r>
            <a:endParaRPr lang="en-IN" sz="4000" dirty="0">
              <a:latin typeface="Arial"/>
              <a:cs typeface="Arial"/>
            </a:endParaRPr>
          </a:p>
          <a:p>
            <a:pPr marL="355600" indent="-342900">
              <a:lnSpc>
                <a:spcPct val="100000"/>
              </a:lnSpc>
              <a:spcBef>
                <a:spcPts val="25"/>
              </a:spcBef>
              <a:buChar char="•"/>
              <a:tabLst>
                <a:tab pos="354965" algn="l"/>
                <a:tab pos="355600" algn="l"/>
              </a:tabLst>
            </a:pPr>
            <a:r>
              <a:rPr lang="en-IN" sz="2800" spc="-5" dirty="0">
                <a:latin typeface="Arial"/>
                <a:cs typeface="Arial"/>
              </a:rPr>
              <a:t>relies on experience or observation alone, often without due regard for </a:t>
            </a:r>
            <a:r>
              <a:rPr lang="en-IN" sz="2800" spc="-10" dirty="0">
                <a:latin typeface="Arial"/>
                <a:cs typeface="Arial"/>
              </a:rPr>
              <a:t>system </a:t>
            </a:r>
            <a:r>
              <a:rPr lang="en-IN" sz="2800" spc="-5" dirty="0">
                <a:latin typeface="Arial"/>
                <a:cs typeface="Arial"/>
              </a:rPr>
              <a:t>and</a:t>
            </a:r>
            <a:r>
              <a:rPr lang="en-IN" sz="2800" spc="285" dirty="0">
                <a:latin typeface="Arial"/>
                <a:cs typeface="Arial"/>
              </a:rPr>
              <a:t> </a:t>
            </a:r>
            <a:r>
              <a:rPr lang="en-IN" sz="2800" spc="-25" dirty="0">
                <a:latin typeface="Arial"/>
                <a:cs typeface="Arial"/>
              </a:rPr>
              <a:t>theory.</a:t>
            </a:r>
            <a:endParaRPr lang="en-IN" sz="2800" dirty="0">
              <a:latin typeface="Arial"/>
              <a:cs typeface="Arial"/>
            </a:endParaRPr>
          </a:p>
          <a:p>
            <a:pPr marL="355600" marR="71755" indent="-342900">
              <a:lnSpc>
                <a:spcPct val="80000"/>
              </a:lnSpc>
              <a:spcBef>
                <a:spcPts val="380"/>
              </a:spcBef>
              <a:buChar char="•"/>
              <a:tabLst>
                <a:tab pos="354965" algn="l"/>
                <a:tab pos="355600" algn="l"/>
              </a:tabLst>
            </a:pPr>
            <a:r>
              <a:rPr lang="en-IN" sz="2800" spc="-5" dirty="0">
                <a:latin typeface="Arial"/>
                <a:cs typeface="Arial"/>
              </a:rPr>
              <a:t>It is data-based research, coming up </a:t>
            </a:r>
            <a:r>
              <a:rPr lang="en-IN" sz="2800" spc="-10" dirty="0">
                <a:latin typeface="Arial"/>
                <a:cs typeface="Arial"/>
              </a:rPr>
              <a:t>with </a:t>
            </a:r>
            <a:r>
              <a:rPr lang="en-IN" sz="2800" spc="-5" dirty="0">
                <a:latin typeface="Arial"/>
                <a:cs typeface="Arial"/>
              </a:rPr>
              <a:t>conclusions </a:t>
            </a:r>
            <a:r>
              <a:rPr lang="en-IN" sz="2800" spc="-10" dirty="0">
                <a:latin typeface="Arial"/>
                <a:cs typeface="Arial"/>
              </a:rPr>
              <a:t>which </a:t>
            </a:r>
            <a:r>
              <a:rPr lang="en-IN" sz="2800" spc="-5" dirty="0">
                <a:latin typeface="Arial"/>
                <a:cs typeface="Arial"/>
              </a:rPr>
              <a:t>are capable of being verified  by observation or</a:t>
            </a:r>
            <a:r>
              <a:rPr lang="en-IN" sz="2800" spc="5" dirty="0">
                <a:latin typeface="Arial"/>
                <a:cs typeface="Arial"/>
              </a:rPr>
              <a:t> </a:t>
            </a:r>
            <a:r>
              <a:rPr lang="en-IN" sz="2800" spc="-5" dirty="0">
                <a:latin typeface="Arial"/>
                <a:cs typeface="Arial"/>
              </a:rPr>
              <a:t>experiment.</a:t>
            </a:r>
            <a:endParaRPr lang="en-IN" sz="2800" dirty="0">
              <a:latin typeface="Arial"/>
              <a:cs typeface="Arial"/>
            </a:endParaRPr>
          </a:p>
          <a:p>
            <a:pPr marL="355600" indent="-342900">
              <a:lnSpc>
                <a:spcPct val="100000"/>
              </a:lnSpc>
              <a:buChar char="•"/>
              <a:tabLst>
                <a:tab pos="354965" algn="l"/>
                <a:tab pos="355600" algn="l"/>
              </a:tabLst>
            </a:pPr>
            <a:r>
              <a:rPr lang="en-IN" sz="2800" spc="-15" dirty="0">
                <a:latin typeface="Arial"/>
                <a:cs typeface="Arial"/>
              </a:rPr>
              <a:t>We </a:t>
            </a:r>
            <a:r>
              <a:rPr lang="en-IN" sz="2800" spc="-5" dirty="0">
                <a:latin typeface="Arial"/>
                <a:cs typeface="Arial"/>
              </a:rPr>
              <a:t>can also call it as experimental </a:t>
            </a:r>
            <a:r>
              <a:rPr lang="en-IN" sz="2800" spc="-10" dirty="0">
                <a:latin typeface="Arial"/>
                <a:cs typeface="Arial"/>
              </a:rPr>
              <a:t>type </a:t>
            </a:r>
            <a:r>
              <a:rPr lang="en-IN" sz="2800" spc="-5" dirty="0">
                <a:latin typeface="Arial"/>
                <a:cs typeface="Arial"/>
              </a:rPr>
              <a:t>of</a:t>
            </a:r>
            <a:r>
              <a:rPr lang="en-IN" sz="2800" spc="80" dirty="0">
                <a:latin typeface="Arial"/>
                <a:cs typeface="Arial"/>
              </a:rPr>
              <a:t> </a:t>
            </a:r>
            <a:r>
              <a:rPr lang="en-IN" sz="2800" spc="-5" dirty="0">
                <a:latin typeface="Arial"/>
                <a:cs typeface="Arial"/>
              </a:rPr>
              <a:t>research.</a:t>
            </a:r>
            <a:endParaRPr lang="en-IN" sz="2800" dirty="0">
              <a:latin typeface="Arial"/>
              <a:cs typeface="Arial"/>
            </a:endParaRPr>
          </a:p>
          <a:p>
            <a:pPr marL="355600" marR="129539" indent="-342900">
              <a:lnSpc>
                <a:spcPts val="1540"/>
              </a:lnSpc>
              <a:spcBef>
                <a:spcPts val="370"/>
              </a:spcBef>
              <a:buChar char="•"/>
              <a:tabLst>
                <a:tab pos="354965" algn="l"/>
                <a:tab pos="355600" algn="l"/>
              </a:tabLst>
            </a:pPr>
            <a:r>
              <a:rPr lang="en-IN" sz="2800" spc="-5" dirty="0">
                <a:latin typeface="Arial"/>
                <a:cs typeface="Arial"/>
              </a:rPr>
              <a:t>In such a research it is necessary to get at facts </a:t>
            </a:r>
            <a:r>
              <a:rPr lang="en-IN" sz="2800" spc="-5" dirty="0" err="1">
                <a:latin typeface="Arial"/>
                <a:cs typeface="Arial"/>
              </a:rPr>
              <a:t>firsthand</a:t>
            </a:r>
            <a:r>
              <a:rPr lang="en-IN" sz="2800" spc="-5" dirty="0">
                <a:latin typeface="Arial"/>
                <a:cs typeface="Arial"/>
              </a:rPr>
              <a:t>, at their source, and actively to  go about doing certain things to stimulate the production of desired</a:t>
            </a:r>
            <a:r>
              <a:rPr lang="en-IN" sz="2800" spc="140" dirty="0">
                <a:latin typeface="Arial"/>
                <a:cs typeface="Arial"/>
              </a:rPr>
              <a:t> </a:t>
            </a:r>
            <a:r>
              <a:rPr lang="en-IN" sz="2800" spc="-5" dirty="0">
                <a:latin typeface="Arial"/>
                <a:cs typeface="Arial"/>
              </a:rPr>
              <a:t>information.</a:t>
            </a:r>
            <a:endParaRPr lang="en-IN" sz="2800" dirty="0">
              <a:latin typeface="Arial"/>
              <a:cs typeface="Arial"/>
            </a:endParaRPr>
          </a:p>
          <a:p>
            <a:pPr marL="355600" marR="66040" indent="-342900">
              <a:lnSpc>
                <a:spcPts val="1540"/>
              </a:lnSpc>
              <a:spcBef>
                <a:spcPts val="380"/>
              </a:spcBef>
              <a:buChar char="•"/>
              <a:tabLst>
                <a:tab pos="354965" algn="l"/>
                <a:tab pos="355600" algn="l"/>
              </a:tabLst>
            </a:pPr>
            <a:r>
              <a:rPr lang="en-IN" sz="2800" spc="-5" dirty="0">
                <a:latin typeface="Arial"/>
                <a:cs typeface="Arial"/>
              </a:rPr>
              <a:t>In such a research, the researcher must first provide himself </a:t>
            </a:r>
            <a:r>
              <a:rPr lang="en-IN" sz="2800" spc="-10" dirty="0">
                <a:latin typeface="Arial"/>
                <a:cs typeface="Arial"/>
              </a:rPr>
              <a:t>with </a:t>
            </a:r>
            <a:r>
              <a:rPr lang="en-IN" sz="2800" spc="-5" dirty="0">
                <a:latin typeface="Arial"/>
                <a:cs typeface="Arial"/>
              </a:rPr>
              <a:t>a working hypothesis or  guess as to the probable</a:t>
            </a:r>
            <a:r>
              <a:rPr lang="en-IN" sz="2800" spc="30" dirty="0">
                <a:latin typeface="Arial"/>
                <a:cs typeface="Arial"/>
              </a:rPr>
              <a:t> </a:t>
            </a:r>
            <a:r>
              <a:rPr lang="en-IN" sz="2800" spc="-5" dirty="0">
                <a:latin typeface="Arial"/>
                <a:cs typeface="Arial"/>
              </a:rPr>
              <a:t>results.</a:t>
            </a:r>
            <a:endParaRPr lang="en-IN" sz="2800" dirty="0">
              <a:latin typeface="Arial"/>
              <a:cs typeface="Arial"/>
            </a:endParaRPr>
          </a:p>
          <a:p>
            <a:pPr marL="355600" indent="-342900">
              <a:lnSpc>
                <a:spcPct val="100000"/>
              </a:lnSpc>
              <a:spcBef>
                <a:spcPts val="5"/>
              </a:spcBef>
              <a:buChar char="•"/>
              <a:tabLst>
                <a:tab pos="354965" algn="l"/>
                <a:tab pos="355600" algn="l"/>
              </a:tabLst>
            </a:pPr>
            <a:r>
              <a:rPr lang="en-IN" sz="2800" spc="-10" dirty="0">
                <a:latin typeface="Arial"/>
                <a:cs typeface="Arial"/>
              </a:rPr>
              <a:t>He then works </a:t>
            </a:r>
            <a:r>
              <a:rPr lang="en-IN" sz="2800" spc="-5" dirty="0">
                <a:latin typeface="Arial"/>
                <a:cs typeface="Arial"/>
              </a:rPr>
              <a:t>to </a:t>
            </a:r>
            <a:r>
              <a:rPr lang="en-IN" sz="2800" spc="-10" dirty="0">
                <a:latin typeface="Arial"/>
                <a:cs typeface="Arial"/>
              </a:rPr>
              <a:t>get enough </a:t>
            </a:r>
            <a:r>
              <a:rPr lang="en-IN" sz="2800" spc="-5" dirty="0">
                <a:latin typeface="Arial"/>
                <a:cs typeface="Arial"/>
              </a:rPr>
              <a:t>facts </a:t>
            </a:r>
            <a:r>
              <a:rPr lang="en-IN" sz="2800" spc="-10" dirty="0">
                <a:latin typeface="Arial"/>
                <a:cs typeface="Arial"/>
              </a:rPr>
              <a:t>(data) </a:t>
            </a:r>
            <a:r>
              <a:rPr lang="en-IN" sz="2800" spc="-5" dirty="0">
                <a:latin typeface="Arial"/>
                <a:cs typeface="Arial"/>
              </a:rPr>
              <a:t>to </a:t>
            </a:r>
            <a:r>
              <a:rPr lang="en-IN" sz="2800" spc="-10" dirty="0">
                <a:latin typeface="Arial"/>
                <a:cs typeface="Arial"/>
              </a:rPr>
              <a:t>prove </a:t>
            </a:r>
            <a:r>
              <a:rPr lang="en-IN" sz="2800" spc="-5" dirty="0">
                <a:latin typeface="Arial"/>
                <a:cs typeface="Arial"/>
              </a:rPr>
              <a:t>or disprove his</a:t>
            </a:r>
            <a:r>
              <a:rPr lang="en-IN" sz="2800" spc="210" dirty="0">
                <a:latin typeface="Arial"/>
                <a:cs typeface="Arial"/>
              </a:rPr>
              <a:t> </a:t>
            </a:r>
            <a:r>
              <a:rPr lang="en-IN" sz="2800" spc="-10" dirty="0">
                <a:latin typeface="Arial"/>
                <a:cs typeface="Arial"/>
              </a:rPr>
              <a:t>hypothesis.</a:t>
            </a:r>
            <a:endParaRPr lang="en-IN" sz="2800" dirty="0">
              <a:latin typeface="Arial"/>
              <a:cs typeface="Arial"/>
            </a:endParaRPr>
          </a:p>
          <a:p>
            <a:pPr marL="355600" marR="154305" indent="-342900">
              <a:lnSpc>
                <a:spcPts val="1540"/>
              </a:lnSpc>
              <a:spcBef>
                <a:spcPts val="370"/>
              </a:spcBef>
              <a:buChar char="•"/>
              <a:tabLst>
                <a:tab pos="354965" algn="l"/>
                <a:tab pos="355600" algn="l"/>
              </a:tabLst>
            </a:pPr>
            <a:r>
              <a:rPr lang="en-IN" sz="2800" spc="-10" dirty="0">
                <a:latin typeface="Arial"/>
                <a:cs typeface="Arial"/>
              </a:rPr>
              <a:t>He then </a:t>
            </a:r>
            <a:r>
              <a:rPr lang="en-IN" sz="2800" spc="-5" dirty="0">
                <a:latin typeface="Arial"/>
                <a:cs typeface="Arial"/>
              </a:rPr>
              <a:t>sets up </a:t>
            </a:r>
            <a:r>
              <a:rPr lang="en-IN" sz="2800" spc="-10" dirty="0">
                <a:latin typeface="Arial"/>
                <a:cs typeface="Arial"/>
              </a:rPr>
              <a:t>experimental </a:t>
            </a:r>
            <a:r>
              <a:rPr lang="en-IN" sz="2800" spc="-5" dirty="0">
                <a:latin typeface="Arial"/>
                <a:cs typeface="Arial"/>
              </a:rPr>
              <a:t>designs </a:t>
            </a:r>
            <a:r>
              <a:rPr lang="en-IN" sz="2800" spc="-10" dirty="0">
                <a:latin typeface="Arial"/>
                <a:cs typeface="Arial"/>
              </a:rPr>
              <a:t>which </a:t>
            </a:r>
            <a:r>
              <a:rPr lang="en-IN" sz="2800" spc="-5" dirty="0">
                <a:latin typeface="Arial"/>
                <a:cs typeface="Arial"/>
              </a:rPr>
              <a:t>he thinks </a:t>
            </a:r>
            <a:r>
              <a:rPr lang="en-IN" sz="2800" spc="-10" dirty="0">
                <a:latin typeface="Arial"/>
                <a:cs typeface="Arial"/>
              </a:rPr>
              <a:t>will </a:t>
            </a:r>
            <a:r>
              <a:rPr lang="en-IN" sz="2800" spc="-5" dirty="0">
                <a:latin typeface="Arial"/>
                <a:cs typeface="Arial"/>
              </a:rPr>
              <a:t>manipulate </a:t>
            </a:r>
            <a:r>
              <a:rPr lang="en-IN" sz="2800" spc="-10" dirty="0">
                <a:latin typeface="Arial"/>
                <a:cs typeface="Arial"/>
              </a:rPr>
              <a:t>the persons </a:t>
            </a:r>
            <a:r>
              <a:rPr lang="en-IN" sz="2800" spc="-5" dirty="0">
                <a:latin typeface="Arial"/>
                <a:cs typeface="Arial"/>
              </a:rPr>
              <a:t>or </a:t>
            </a:r>
            <a:r>
              <a:rPr lang="en-IN" sz="2800" spc="-10" dirty="0">
                <a:latin typeface="Arial"/>
                <a:cs typeface="Arial"/>
              </a:rPr>
              <a:t>the  </a:t>
            </a:r>
            <a:r>
              <a:rPr lang="en-IN" sz="2800" spc="-5" dirty="0">
                <a:latin typeface="Arial"/>
                <a:cs typeface="Arial"/>
              </a:rPr>
              <a:t>materials concerned so as to bring forth the desired</a:t>
            </a:r>
            <a:r>
              <a:rPr lang="en-IN" sz="2800" spc="85" dirty="0">
                <a:latin typeface="Arial"/>
                <a:cs typeface="Arial"/>
              </a:rPr>
              <a:t> </a:t>
            </a:r>
            <a:r>
              <a:rPr lang="en-IN" sz="2800" spc="-5" dirty="0">
                <a:latin typeface="Arial"/>
                <a:cs typeface="Arial"/>
              </a:rPr>
              <a:t>information.</a:t>
            </a:r>
            <a:endParaRPr lang="en-IN" sz="2800" dirty="0">
              <a:latin typeface="Arial"/>
              <a:cs typeface="Arial"/>
            </a:endParaRPr>
          </a:p>
          <a:p>
            <a:pPr marL="355600" marR="15240" indent="-342900">
              <a:lnSpc>
                <a:spcPct val="80000"/>
              </a:lnSpc>
              <a:spcBef>
                <a:spcPts val="395"/>
              </a:spcBef>
              <a:buChar char="•"/>
              <a:tabLst>
                <a:tab pos="354965" algn="l"/>
                <a:tab pos="355600" algn="l"/>
              </a:tabLst>
            </a:pPr>
            <a:r>
              <a:rPr lang="en-IN" sz="2800" spc="-5" dirty="0">
                <a:latin typeface="Arial"/>
                <a:cs typeface="Arial"/>
              </a:rPr>
              <a:t>Evidence gathered through experiments or empirical studies is today considered to be the  most powerful support possible for a given</a:t>
            </a:r>
            <a:r>
              <a:rPr lang="en-IN" sz="2800" spc="40" dirty="0">
                <a:latin typeface="Arial"/>
                <a:cs typeface="Arial"/>
              </a:rPr>
              <a:t> </a:t>
            </a:r>
            <a:r>
              <a:rPr lang="en-IN" sz="2800" spc="-5" dirty="0">
                <a:latin typeface="Arial"/>
                <a:cs typeface="Arial"/>
              </a:rPr>
              <a:t>hypothesis.</a:t>
            </a:r>
            <a:endParaRPr lang="en-IN" dirty="0"/>
          </a:p>
        </p:txBody>
      </p:sp>
      <p:sp>
        <p:nvSpPr>
          <p:cNvPr id="3" name="Title 2"/>
          <p:cNvSpPr>
            <a:spLocks noGrp="1"/>
          </p:cNvSpPr>
          <p:nvPr>
            <p:ph type="title"/>
          </p:nvPr>
        </p:nvSpPr>
        <p:spPr/>
        <p:txBody>
          <a:bodyPr/>
          <a:lstStyle/>
          <a:p>
            <a:r>
              <a:rPr lang="en-IN" sz="4400" dirty="0">
                <a:solidFill>
                  <a:srgbClr val="FF0000"/>
                </a:solidFill>
              </a:rPr>
              <a:t>4. </a:t>
            </a:r>
            <a:r>
              <a:rPr lang="en-IN" sz="4400" spc="-5" dirty="0">
                <a:solidFill>
                  <a:srgbClr val="FF0000"/>
                </a:solidFill>
              </a:rPr>
              <a:t>Conceptual vs.</a:t>
            </a:r>
            <a:r>
              <a:rPr lang="en-IN" sz="4400" spc="-55" dirty="0">
                <a:solidFill>
                  <a:srgbClr val="FF0000"/>
                </a:solidFill>
              </a:rPr>
              <a:t> </a:t>
            </a:r>
            <a:r>
              <a:rPr lang="en-IN" sz="4400" dirty="0">
                <a:solidFill>
                  <a:srgbClr val="FF0000"/>
                </a:solidFill>
              </a:rPr>
              <a:t>Empirical:</a:t>
            </a:r>
            <a:endParaRPr lang="en-IN" dirty="0"/>
          </a:p>
        </p:txBody>
      </p:sp>
    </p:spTree>
    <p:extLst>
      <p:ext uri="{BB962C8B-B14F-4D97-AF65-F5344CB8AC3E}">
        <p14:creationId xmlns:p14="http://schemas.microsoft.com/office/powerpoint/2010/main" val="2244177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IN" sz="2800" b="1" dirty="0">
                <a:latin typeface="Arial"/>
                <a:cs typeface="Arial"/>
              </a:rPr>
              <a:t>Diagnostic Research: </a:t>
            </a:r>
            <a:r>
              <a:rPr lang="en-IN" sz="2800" spc="-5" dirty="0">
                <a:latin typeface="Arial"/>
                <a:cs typeface="Arial"/>
              </a:rPr>
              <a:t>It </a:t>
            </a:r>
            <a:r>
              <a:rPr lang="en-IN" sz="2800" dirty="0">
                <a:latin typeface="Arial"/>
                <a:cs typeface="Arial"/>
              </a:rPr>
              <a:t>is also called clinical research </a:t>
            </a:r>
            <a:r>
              <a:rPr lang="en-IN" sz="2800" spc="-5" dirty="0">
                <a:latin typeface="Arial"/>
                <a:cs typeface="Arial"/>
              </a:rPr>
              <a:t>which </a:t>
            </a:r>
            <a:r>
              <a:rPr lang="en-IN" sz="2800" dirty="0">
                <a:latin typeface="Arial"/>
                <a:cs typeface="Arial"/>
              </a:rPr>
              <a:t>aims at </a:t>
            </a:r>
            <a:r>
              <a:rPr lang="en-IN" sz="2800" spc="-5" dirty="0">
                <a:latin typeface="Arial"/>
                <a:cs typeface="Arial"/>
              </a:rPr>
              <a:t>identifying  the </a:t>
            </a:r>
            <a:r>
              <a:rPr lang="en-IN" sz="2800" dirty="0">
                <a:latin typeface="Arial"/>
                <a:cs typeface="Arial"/>
              </a:rPr>
              <a:t>causes of a problem, frequency </a:t>
            </a:r>
            <a:r>
              <a:rPr lang="en-IN" sz="2800" spc="-10" dirty="0">
                <a:latin typeface="Arial"/>
                <a:cs typeface="Arial"/>
              </a:rPr>
              <a:t>with </a:t>
            </a:r>
            <a:r>
              <a:rPr lang="en-IN" sz="2800" spc="-5" dirty="0">
                <a:latin typeface="Arial"/>
                <a:cs typeface="Arial"/>
              </a:rPr>
              <a:t>which </a:t>
            </a:r>
            <a:r>
              <a:rPr lang="en-IN" sz="2800" dirty="0">
                <a:latin typeface="Arial"/>
                <a:cs typeface="Arial"/>
              </a:rPr>
              <a:t>it occur and </a:t>
            </a:r>
            <a:r>
              <a:rPr lang="en-IN" sz="2800" spc="-5" dirty="0">
                <a:latin typeface="Arial"/>
                <a:cs typeface="Arial"/>
              </a:rPr>
              <a:t>the </a:t>
            </a:r>
            <a:r>
              <a:rPr lang="en-IN" sz="2800" dirty="0">
                <a:latin typeface="Arial"/>
                <a:cs typeface="Arial"/>
              </a:rPr>
              <a:t>possible solutions  </a:t>
            </a:r>
            <a:r>
              <a:rPr lang="en-IN" sz="2800" spc="-5" dirty="0">
                <a:latin typeface="Arial"/>
                <a:cs typeface="Arial"/>
              </a:rPr>
              <a:t>for</a:t>
            </a:r>
            <a:r>
              <a:rPr lang="en-IN" sz="2800" dirty="0">
                <a:latin typeface="Arial"/>
                <a:cs typeface="Arial"/>
              </a:rPr>
              <a:t> </a:t>
            </a:r>
            <a:r>
              <a:rPr lang="en-IN" sz="2800" spc="-5" dirty="0">
                <a:latin typeface="Arial"/>
                <a:cs typeface="Arial"/>
              </a:rPr>
              <a:t>it.</a:t>
            </a:r>
            <a:endParaRPr lang="en-IN" sz="2800" dirty="0">
              <a:latin typeface="Arial"/>
              <a:cs typeface="Arial"/>
            </a:endParaRPr>
          </a:p>
          <a:p>
            <a:endParaRPr lang="en-US" dirty="0" smtClean="0"/>
          </a:p>
          <a:p>
            <a:r>
              <a:rPr lang="en-IN" sz="2800" b="1" spc="-5" dirty="0">
                <a:latin typeface="Arial"/>
                <a:cs typeface="Arial"/>
              </a:rPr>
              <a:t>Historical </a:t>
            </a:r>
            <a:r>
              <a:rPr lang="en-IN" sz="2800" b="1" dirty="0">
                <a:latin typeface="Arial"/>
                <a:cs typeface="Arial"/>
              </a:rPr>
              <a:t>Research: </a:t>
            </a:r>
            <a:r>
              <a:rPr lang="en-IN" sz="2800" spc="-5" dirty="0">
                <a:latin typeface="Arial"/>
                <a:cs typeface="Arial"/>
              </a:rPr>
              <a:t>It </a:t>
            </a:r>
            <a:r>
              <a:rPr lang="en-IN" sz="2800" dirty="0">
                <a:latin typeface="Arial"/>
                <a:cs typeface="Arial"/>
              </a:rPr>
              <a:t>is </a:t>
            </a:r>
            <a:r>
              <a:rPr lang="en-IN" sz="2800" spc="-5" dirty="0">
                <a:latin typeface="Arial"/>
                <a:cs typeface="Arial"/>
              </a:rPr>
              <a:t>the study </a:t>
            </a:r>
            <a:r>
              <a:rPr lang="en-IN" sz="2800" dirty="0">
                <a:latin typeface="Arial"/>
                <a:cs typeface="Arial"/>
              </a:rPr>
              <a:t>of past records and </a:t>
            </a:r>
            <a:r>
              <a:rPr lang="en-IN" sz="2800" spc="-5" dirty="0">
                <a:latin typeface="Arial"/>
                <a:cs typeface="Arial"/>
              </a:rPr>
              <a:t>other information </a:t>
            </a:r>
            <a:r>
              <a:rPr lang="en-IN" sz="2800" dirty="0">
                <a:latin typeface="Arial"/>
                <a:cs typeface="Arial"/>
              </a:rPr>
              <a:t>sources,  </a:t>
            </a:r>
            <a:r>
              <a:rPr lang="en-IN" sz="2800" spc="-10" dirty="0">
                <a:latin typeface="Arial"/>
                <a:cs typeface="Arial"/>
              </a:rPr>
              <a:t>with </a:t>
            </a:r>
            <a:r>
              <a:rPr lang="en-IN" sz="2800" dirty="0">
                <a:latin typeface="Arial"/>
                <a:cs typeface="Arial"/>
              </a:rPr>
              <a:t>a view </a:t>
            </a:r>
            <a:r>
              <a:rPr lang="en-IN" sz="2800" spc="-5" dirty="0">
                <a:latin typeface="Arial"/>
                <a:cs typeface="Arial"/>
              </a:rPr>
              <a:t>to find the </a:t>
            </a:r>
            <a:r>
              <a:rPr lang="en-IN" sz="2800" dirty="0">
                <a:latin typeface="Arial"/>
                <a:cs typeface="Arial"/>
              </a:rPr>
              <a:t>origin and development of a phenomenon and </a:t>
            </a:r>
            <a:r>
              <a:rPr lang="en-IN" sz="2800" spc="-5" dirty="0">
                <a:latin typeface="Arial"/>
                <a:cs typeface="Arial"/>
              </a:rPr>
              <a:t>to </a:t>
            </a:r>
            <a:r>
              <a:rPr lang="en-IN" sz="2800" dirty="0">
                <a:latin typeface="Arial"/>
                <a:cs typeface="Arial"/>
              </a:rPr>
              <a:t>discover  </a:t>
            </a:r>
            <a:r>
              <a:rPr lang="en-IN" sz="2800" spc="-5" dirty="0">
                <a:latin typeface="Arial"/>
                <a:cs typeface="Arial"/>
              </a:rPr>
              <a:t>the </a:t>
            </a:r>
            <a:r>
              <a:rPr lang="en-IN" sz="2800" dirty="0">
                <a:latin typeface="Arial"/>
                <a:cs typeface="Arial"/>
              </a:rPr>
              <a:t>trends in </a:t>
            </a:r>
            <a:r>
              <a:rPr lang="en-IN" sz="2800" spc="-5" dirty="0">
                <a:latin typeface="Arial"/>
                <a:cs typeface="Arial"/>
              </a:rPr>
              <a:t>the </a:t>
            </a:r>
            <a:r>
              <a:rPr lang="en-IN" sz="2800" dirty="0">
                <a:latin typeface="Arial"/>
                <a:cs typeface="Arial"/>
              </a:rPr>
              <a:t>past, in order </a:t>
            </a:r>
            <a:r>
              <a:rPr lang="en-IN" sz="2800" spc="-5" dirty="0">
                <a:latin typeface="Arial"/>
                <a:cs typeface="Arial"/>
              </a:rPr>
              <a:t>to </a:t>
            </a:r>
            <a:r>
              <a:rPr lang="en-IN" sz="2800" dirty="0">
                <a:latin typeface="Arial"/>
                <a:cs typeface="Arial"/>
              </a:rPr>
              <a:t>understand </a:t>
            </a:r>
            <a:r>
              <a:rPr lang="en-IN" sz="2800" spc="-5" dirty="0">
                <a:latin typeface="Arial"/>
                <a:cs typeface="Arial"/>
              </a:rPr>
              <a:t>the </a:t>
            </a:r>
            <a:r>
              <a:rPr lang="en-IN" sz="2800" dirty="0">
                <a:latin typeface="Arial"/>
                <a:cs typeface="Arial"/>
              </a:rPr>
              <a:t>present and </a:t>
            </a:r>
            <a:r>
              <a:rPr lang="en-IN" sz="2800" spc="-5" dirty="0">
                <a:latin typeface="Arial"/>
                <a:cs typeface="Arial"/>
              </a:rPr>
              <a:t>to </a:t>
            </a:r>
            <a:r>
              <a:rPr lang="en-IN" sz="2800" dirty="0">
                <a:latin typeface="Arial"/>
                <a:cs typeface="Arial"/>
              </a:rPr>
              <a:t>anticipate the  </a:t>
            </a:r>
            <a:r>
              <a:rPr lang="en-IN" sz="2800" spc="-5" dirty="0">
                <a:latin typeface="Arial"/>
                <a:cs typeface="Arial"/>
              </a:rPr>
              <a:t>future.</a:t>
            </a:r>
            <a:endParaRPr lang="en-IN" sz="2800" dirty="0">
              <a:latin typeface="Arial"/>
              <a:cs typeface="Arial"/>
            </a:endParaRPr>
          </a:p>
          <a:p>
            <a:endParaRPr lang="en-IN" dirty="0"/>
          </a:p>
        </p:txBody>
      </p:sp>
      <p:sp>
        <p:nvSpPr>
          <p:cNvPr id="3" name="Title 2"/>
          <p:cNvSpPr>
            <a:spLocks noGrp="1"/>
          </p:cNvSpPr>
          <p:nvPr>
            <p:ph type="title"/>
          </p:nvPr>
        </p:nvSpPr>
        <p:spPr/>
        <p:txBody>
          <a:bodyPr/>
          <a:lstStyle/>
          <a:p>
            <a:r>
              <a:rPr lang="en-IN" sz="4400" spc="-5" dirty="0">
                <a:solidFill>
                  <a:srgbClr val="FF0000"/>
                </a:solidFill>
              </a:rPr>
              <a:t>Some </a:t>
            </a:r>
            <a:r>
              <a:rPr lang="en-IN" sz="4400" dirty="0">
                <a:solidFill>
                  <a:srgbClr val="FF0000"/>
                </a:solidFill>
              </a:rPr>
              <a:t>other </a:t>
            </a:r>
            <a:r>
              <a:rPr lang="en-IN" sz="4400" spc="-10" dirty="0">
                <a:solidFill>
                  <a:srgbClr val="FF0000"/>
                </a:solidFill>
              </a:rPr>
              <a:t>types </a:t>
            </a:r>
            <a:r>
              <a:rPr lang="en-IN" sz="4400" dirty="0">
                <a:solidFill>
                  <a:srgbClr val="FF0000"/>
                </a:solidFill>
              </a:rPr>
              <a:t>of</a:t>
            </a:r>
            <a:r>
              <a:rPr lang="en-IN" sz="4400" spc="-5" dirty="0">
                <a:solidFill>
                  <a:srgbClr val="FF0000"/>
                </a:solidFill>
              </a:rPr>
              <a:t> research</a:t>
            </a:r>
            <a:endParaRPr lang="en-IN" dirty="0"/>
          </a:p>
        </p:txBody>
      </p:sp>
    </p:spTree>
    <p:extLst>
      <p:ext uri="{BB962C8B-B14F-4D97-AF65-F5344CB8AC3E}">
        <p14:creationId xmlns:p14="http://schemas.microsoft.com/office/powerpoint/2010/main" val="11736752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marL="624078" indent="-514350">
              <a:buFont typeface="+mj-lt"/>
              <a:buAutoNum type="arabicParenR"/>
            </a:pPr>
            <a:r>
              <a:rPr lang="en-IN" dirty="0" smtClean="0"/>
              <a:t>It </a:t>
            </a:r>
            <a:r>
              <a:rPr lang="en-IN" dirty="0"/>
              <a:t>promotes the development of logical habits of thinking and </a:t>
            </a:r>
            <a:r>
              <a:rPr lang="en-IN" dirty="0" smtClean="0"/>
              <a:t>organisation</a:t>
            </a:r>
          </a:p>
          <a:p>
            <a:pPr marL="624078" indent="-514350">
              <a:buFont typeface="+mj-lt"/>
              <a:buAutoNum type="arabicParenR"/>
            </a:pPr>
            <a:r>
              <a:rPr lang="en-IN" dirty="0" smtClean="0"/>
              <a:t>Research </a:t>
            </a:r>
            <a:r>
              <a:rPr lang="en-IN" dirty="0"/>
              <a:t>provides the basis for nearly all </a:t>
            </a:r>
            <a:r>
              <a:rPr lang="en-IN" dirty="0" smtClean="0"/>
              <a:t>government </a:t>
            </a:r>
            <a:r>
              <a:rPr lang="en-IN" dirty="0"/>
              <a:t>policies in our economic </a:t>
            </a:r>
            <a:r>
              <a:rPr lang="en-IN" dirty="0" smtClean="0"/>
              <a:t>system.</a:t>
            </a:r>
          </a:p>
          <a:p>
            <a:pPr marL="624078" indent="-514350">
              <a:buFont typeface="+mj-lt"/>
              <a:buAutoNum type="arabicParenR"/>
            </a:pPr>
            <a:r>
              <a:rPr lang="en-IN" dirty="0" smtClean="0"/>
              <a:t>Research </a:t>
            </a:r>
            <a:r>
              <a:rPr lang="en-IN" dirty="0"/>
              <a:t>has its special significance in solving various operational and planning problems of business and industry</a:t>
            </a:r>
            <a:r>
              <a:rPr lang="en-IN" dirty="0" smtClean="0"/>
              <a:t>.</a:t>
            </a:r>
          </a:p>
          <a:p>
            <a:pPr marL="624078" indent="-514350">
              <a:buFont typeface="+mj-lt"/>
              <a:buAutoNum type="arabicParenR"/>
            </a:pPr>
            <a:r>
              <a:rPr lang="en-IN" dirty="0"/>
              <a:t>Research is equally important for social scientists in studying social relationships and in seeking answers to various social problems. </a:t>
            </a:r>
          </a:p>
        </p:txBody>
      </p:sp>
      <p:sp>
        <p:nvSpPr>
          <p:cNvPr id="3" name="Title 2"/>
          <p:cNvSpPr>
            <a:spLocks noGrp="1"/>
          </p:cNvSpPr>
          <p:nvPr>
            <p:ph type="title"/>
          </p:nvPr>
        </p:nvSpPr>
        <p:spPr/>
        <p:txBody>
          <a:bodyPr/>
          <a:lstStyle/>
          <a:p>
            <a:r>
              <a:rPr lang="en-IN" dirty="0"/>
              <a:t>Significance of Research</a:t>
            </a:r>
          </a:p>
        </p:txBody>
      </p:sp>
    </p:spTree>
    <p:extLst>
      <p:ext uri="{BB962C8B-B14F-4D97-AF65-F5344CB8AC3E}">
        <p14:creationId xmlns:p14="http://schemas.microsoft.com/office/powerpoint/2010/main" val="3845854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fontScale="92500" lnSpcReduction="20000"/>
          </a:bodyPr>
          <a:lstStyle/>
          <a:p>
            <a:r>
              <a:rPr lang="en-IN" dirty="0"/>
              <a:t>In addition to what has been stated above, the significance of research can also be understood keeping in view the following points: </a:t>
            </a:r>
            <a:endParaRPr lang="en-IN" dirty="0" smtClean="0"/>
          </a:p>
          <a:p>
            <a:r>
              <a:rPr lang="en-IN" dirty="0" smtClean="0"/>
              <a:t>(</a:t>
            </a:r>
            <a:r>
              <a:rPr lang="en-IN" dirty="0"/>
              <a:t>a) To those students who are to write a master’s or Ph.D. thesis, research may mean a careerism or a way to attain a high position in the social structure; </a:t>
            </a:r>
            <a:endParaRPr lang="en-IN" dirty="0" smtClean="0"/>
          </a:p>
          <a:p>
            <a:r>
              <a:rPr lang="en-IN" dirty="0" smtClean="0"/>
              <a:t>(</a:t>
            </a:r>
            <a:r>
              <a:rPr lang="en-IN" dirty="0"/>
              <a:t>b) To professionals in research methodology, research may mean a source of livelihood; </a:t>
            </a:r>
            <a:endParaRPr lang="en-IN" dirty="0" smtClean="0"/>
          </a:p>
          <a:p>
            <a:r>
              <a:rPr lang="en-IN" dirty="0" smtClean="0"/>
              <a:t>(</a:t>
            </a:r>
            <a:r>
              <a:rPr lang="en-IN" dirty="0"/>
              <a:t>c) To philosophers and thinkers, research may mean the outlet for new ideas and insights; </a:t>
            </a:r>
            <a:endParaRPr lang="en-IN" dirty="0" smtClean="0"/>
          </a:p>
          <a:p>
            <a:r>
              <a:rPr lang="en-IN" dirty="0" smtClean="0"/>
              <a:t>(</a:t>
            </a:r>
            <a:r>
              <a:rPr lang="en-IN" dirty="0"/>
              <a:t>d) To literary men and women, research may mean the development of new styles and creative work; </a:t>
            </a:r>
            <a:endParaRPr lang="en-IN" dirty="0" smtClean="0"/>
          </a:p>
          <a:p>
            <a:r>
              <a:rPr lang="en-IN" dirty="0" smtClean="0"/>
              <a:t>(</a:t>
            </a:r>
            <a:r>
              <a:rPr lang="en-IN" dirty="0"/>
              <a:t>e) To analysts and intellectuals, research may mean the generalisations of new theories.</a:t>
            </a:r>
          </a:p>
        </p:txBody>
      </p:sp>
    </p:spTree>
    <p:extLst>
      <p:ext uri="{BB962C8B-B14F-4D97-AF65-F5344CB8AC3E}">
        <p14:creationId xmlns:p14="http://schemas.microsoft.com/office/powerpoint/2010/main" val="60701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smtClean="0"/>
              <a:t>Meaning:</a:t>
            </a:r>
          </a:p>
          <a:p>
            <a:pPr marL="109728" indent="0">
              <a:buNone/>
            </a:pPr>
            <a:r>
              <a:rPr lang="en-US" dirty="0" smtClean="0"/>
              <a:t>-It i</a:t>
            </a:r>
            <a:r>
              <a:rPr lang="en-IN" dirty="0" smtClean="0"/>
              <a:t>s </a:t>
            </a:r>
            <a:r>
              <a:rPr lang="en-IN" dirty="0"/>
              <a:t>a way to systematically solve the research problem</a:t>
            </a:r>
            <a:r>
              <a:rPr lang="en-IN" dirty="0" smtClean="0"/>
              <a:t>.</a:t>
            </a:r>
          </a:p>
          <a:p>
            <a:pPr marL="109728" indent="0">
              <a:buNone/>
            </a:pPr>
            <a:r>
              <a:rPr lang="en-IN" dirty="0"/>
              <a:t>-</a:t>
            </a:r>
            <a:r>
              <a:rPr lang="en-IN" dirty="0" smtClean="0"/>
              <a:t> </a:t>
            </a:r>
            <a:r>
              <a:rPr lang="en-IN" dirty="0"/>
              <a:t>It may be understood as a science of studying how research is done scientifically.</a:t>
            </a:r>
          </a:p>
        </p:txBody>
      </p:sp>
      <p:sp>
        <p:nvSpPr>
          <p:cNvPr id="3" name="Title 2"/>
          <p:cNvSpPr>
            <a:spLocks noGrp="1"/>
          </p:cNvSpPr>
          <p:nvPr>
            <p:ph type="title"/>
          </p:nvPr>
        </p:nvSpPr>
        <p:spPr/>
        <p:txBody>
          <a:bodyPr/>
          <a:lstStyle/>
          <a:p>
            <a:r>
              <a:rPr lang="en-IN" dirty="0"/>
              <a:t>Research </a:t>
            </a:r>
            <a:r>
              <a:rPr lang="en-IN" dirty="0" smtClean="0"/>
              <a:t>Methodology</a:t>
            </a:r>
            <a:endParaRPr lang="en-IN" dirty="0"/>
          </a:p>
        </p:txBody>
      </p:sp>
    </p:spTree>
    <p:extLst>
      <p:ext uri="{BB962C8B-B14F-4D97-AF65-F5344CB8AC3E}">
        <p14:creationId xmlns:p14="http://schemas.microsoft.com/office/powerpoint/2010/main" val="2329735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IN" dirty="0"/>
              <a:t>It is necessary for the researcher to know not only the research methods/techniques but also the methodology. </a:t>
            </a:r>
            <a:endParaRPr lang="en-IN" dirty="0" smtClean="0"/>
          </a:p>
          <a:p>
            <a:r>
              <a:rPr lang="en-IN" dirty="0" smtClean="0"/>
              <a:t>Researchers </a:t>
            </a:r>
            <a:r>
              <a:rPr lang="en-IN" dirty="0"/>
              <a:t>not only need to know how to develop certain indices or tests, how to calculate the mean, the mode, the median or the standard deviation or chi-square, how to apply particular research techniques, but they also need to know which of these methods or techniques, are relevant and which are not, and what would they mean and indicate and why. </a:t>
            </a:r>
            <a:endParaRPr lang="en-IN" dirty="0" smtClean="0"/>
          </a:p>
          <a:p>
            <a:r>
              <a:rPr lang="en-IN" dirty="0" smtClean="0"/>
              <a:t>Researchers </a:t>
            </a:r>
            <a:r>
              <a:rPr lang="en-IN" dirty="0"/>
              <a:t>also need to understand the assumptions underlying various techniques and they need to know the criteria by which they can decide that certain techniques and procedures will be applicable to certain problems and others will not.</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3224685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an </a:t>
            </a:r>
            <a:r>
              <a:rPr lang="en-IN" dirty="0"/>
              <a:t>architect, who designs a building, has to consciously evaluate the basis of his decisions, i.e., he has to evaluate why and on what basis he selects particular size, number and location of doors, windows and ventilators, uses particular materials and not others and the like</a:t>
            </a:r>
            <a:r>
              <a:rPr lang="en-IN" dirty="0" smtClean="0"/>
              <a:t>.</a:t>
            </a:r>
          </a:p>
          <a:p>
            <a:r>
              <a:rPr lang="en-IN" dirty="0" smtClean="0"/>
              <a:t> </a:t>
            </a:r>
            <a:r>
              <a:rPr lang="en-IN" dirty="0"/>
              <a:t>Similarly, in research the scientist has to expose the research decisions to evaluation before they are implemented</a:t>
            </a:r>
          </a:p>
        </p:txBody>
      </p:sp>
      <p:sp>
        <p:nvSpPr>
          <p:cNvPr id="3" name="Title 2"/>
          <p:cNvSpPr>
            <a:spLocks noGrp="1"/>
          </p:cNvSpPr>
          <p:nvPr>
            <p:ph type="title"/>
          </p:nvPr>
        </p:nvSpPr>
        <p:spPr/>
        <p:txBody>
          <a:bodyPr/>
          <a:lstStyle/>
          <a:p>
            <a:r>
              <a:rPr lang="en-IN" dirty="0"/>
              <a:t>For example,</a:t>
            </a:r>
          </a:p>
        </p:txBody>
      </p:sp>
    </p:spTree>
    <p:extLst>
      <p:ext uri="{BB962C8B-B14F-4D97-AF65-F5344CB8AC3E}">
        <p14:creationId xmlns:p14="http://schemas.microsoft.com/office/powerpoint/2010/main" val="3465485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Thus, when we talk of research methodology we not only talk of the research methods but also consider the logic behind the methods we use in the context of our research study and explain why we are using a particular method or technique and why we are not using others so that research results are capable of being evaluated either by the researcher himself or by others.</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2453825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55600" indent="-342900">
              <a:lnSpc>
                <a:spcPct val="100000"/>
              </a:lnSpc>
              <a:spcBef>
                <a:spcPts val="385"/>
              </a:spcBef>
              <a:buChar char="•"/>
              <a:tabLst>
                <a:tab pos="354965" algn="l"/>
                <a:tab pos="355600" algn="l"/>
              </a:tabLst>
            </a:pPr>
            <a:r>
              <a:rPr lang="en-IN" sz="2800" spc="-5" dirty="0">
                <a:latin typeface="Arial"/>
                <a:cs typeface="Arial"/>
              </a:rPr>
              <a:t>The term ‘problem’ means a question or issue to be</a:t>
            </a:r>
            <a:r>
              <a:rPr lang="en-IN" sz="2800" dirty="0">
                <a:latin typeface="Arial"/>
                <a:cs typeface="Arial"/>
              </a:rPr>
              <a:t> </a:t>
            </a:r>
            <a:r>
              <a:rPr lang="en-IN" sz="2800" spc="-10" dirty="0">
                <a:latin typeface="Arial"/>
                <a:cs typeface="Arial"/>
              </a:rPr>
              <a:t>examined.</a:t>
            </a:r>
            <a:endParaRPr lang="en-IN" sz="2800" dirty="0">
              <a:latin typeface="Arial"/>
              <a:cs typeface="Arial"/>
            </a:endParaRPr>
          </a:p>
          <a:p>
            <a:pPr marL="355600" marR="5080" indent="-342900">
              <a:lnSpc>
                <a:spcPct val="100000"/>
              </a:lnSpc>
              <a:spcBef>
                <a:spcPts val="384"/>
              </a:spcBef>
              <a:buChar char="•"/>
              <a:tabLst>
                <a:tab pos="354965" algn="l"/>
                <a:tab pos="355600" algn="l"/>
              </a:tabLst>
            </a:pPr>
            <a:r>
              <a:rPr lang="en-IN" sz="2800" spc="-5" dirty="0">
                <a:latin typeface="Arial"/>
                <a:cs typeface="Arial"/>
              </a:rPr>
              <a:t>Research Problem refers to some difficulty/need </a:t>
            </a:r>
            <a:r>
              <a:rPr lang="en-IN" sz="2800" spc="-10" dirty="0">
                <a:latin typeface="Arial"/>
                <a:cs typeface="Arial"/>
              </a:rPr>
              <a:t>which </a:t>
            </a:r>
            <a:r>
              <a:rPr lang="en-IN" sz="2800" spc="-5" dirty="0">
                <a:latin typeface="Arial"/>
                <a:cs typeface="Arial"/>
              </a:rPr>
              <a:t>a researcher experiences in the  context of either theoretical or practical situation and wants to obtain a solution for the  same.</a:t>
            </a:r>
            <a:endParaRPr lang="en-IN" sz="2800" dirty="0">
              <a:latin typeface="Arial"/>
              <a:cs typeface="Arial"/>
            </a:endParaRPr>
          </a:p>
          <a:p>
            <a:endParaRPr lang="en-IN" dirty="0"/>
          </a:p>
        </p:txBody>
      </p:sp>
      <p:sp>
        <p:nvSpPr>
          <p:cNvPr id="3" name="Title 2"/>
          <p:cNvSpPr>
            <a:spLocks noGrp="1"/>
          </p:cNvSpPr>
          <p:nvPr>
            <p:ph type="title"/>
          </p:nvPr>
        </p:nvSpPr>
        <p:spPr/>
        <p:txBody>
          <a:bodyPr>
            <a:normAutofit fontScale="90000"/>
          </a:bodyPr>
          <a:lstStyle/>
          <a:p>
            <a:r>
              <a:rPr lang="en-IN" dirty="0"/>
              <a:t>WHAT IS A RESEARCH PROBLEM?</a:t>
            </a:r>
          </a:p>
        </p:txBody>
      </p:sp>
    </p:spTree>
    <p:extLst>
      <p:ext uri="{BB962C8B-B14F-4D97-AF65-F5344CB8AC3E}">
        <p14:creationId xmlns:p14="http://schemas.microsoft.com/office/powerpoint/2010/main" val="454964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55600" indent="-342900">
              <a:lnSpc>
                <a:spcPct val="100000"/>
              </a:lnSpc>
              <a:spcBef>
                <a:spcPts val="384"/>
              </a:spcBef>
              <a:buChar char="•"/>
              <a:tabLst>
                <a:tab pos="354965" algn="l"/>
                <a:tab pos="355600" algn="l"/>
              </a:tabLst>
            </a:pPr>
            <a:r>
              <a:rPr lang="en-IN" sz="2800" spc="-5" dirty="0">
                <a:latin typeface="Arial"/>
                <a:cs typeface="Arial"/>
              </a:rPr>
              <a:t>Customer</a:t>
            </a:r>
            <a:r>
              <a:rPr lang="en-IN" sz="2800" spc="15" dirty="0">
                <a:latin typeface="Arial"/>
                <a:cs typeface="Arial"/>
              </a:rPr>
              <a:t> </a:t>
            </a:r>
            <a:r>
              <a:rPr lang="en-IN" sz="2800" spc="-5" dirty="0">
                <a:latin typeface="Arial"/>
                <a:cs typeface="Arial"/>
              </a:rPr>
              <a:t>complaints</a:t>
            </a:r>
            <a:endParaRPr lang="en-IN" sz="2800" dirty="0">
              <a:latin typeface="Arial"/>
              <a:cs typeface="Arial"/>
            </a:endParaRPr>
          </a:p>
          <a:p>
            <a:pPr marL="355600" indent="-342900">
              <a:lnSpc>
                <a:spcPct val="100000"/>
              </a:lnSpc>
              <a:spcBef>
                <a:spcPts val="380"/>
              </a:spcBef>
              <a:buChar char="•"/>
              <a:tabLst>
                <a:tab pos="354965" algn="l"/>
                <a:tab pos="355600" algn="l"/>
              </a:tabLst>
            </a:pPr>
            <a:r>
              <a:rPr lang="en-IN" sz="2800" spc="-5" dirty="0">
                <a:latin typeface="Arial"/>
                <a:cs typeface="Arial"/>
              </a:rPr>
              <a:t>Conversation </a:t>
            </a:r>
            <a:r>
              <a:rPr lang="en-IN" sz="2800" spc="-10" dirty="0">
                <a:latin typeface="Arial"/>
                <a:cs typeface="Arial"/>
              </a:rPr>
              <a:t>with </a:t>
            </a:r>
            <a:r>
              <a:rPr lang="en-IN" sz="2800" spc="-5" dirty="0">
                <a:latin typeface="Arial"/>
                <a:cs typeface="Arial"/>
              </a:rPr>
              <a:t>company</a:t>
            </a:r>
            <a:r>
              <a:rPr lang="en-IN" sz="2800" spc="15" dirty="0">
                <a:latin typeface="Arial"/>
                <a:cs typeface="Arial"/>
              </a:rPr>
              <a:t> </a:t>
            </a:r>
            <a:r>
              <a:rPr lang="en-IN" sz="2800" spc="-5" dirty="0">
                <a:latin typeface="Arial"/>
                <a:cs typeface="Arial"/>
              </a:rPr>
              <a:t>employees</a:t>
            </a:r>
            <a:endParaRPr lang="en-IN" sz="2800" dirty="0">
              <a:latin typeface="Arial"/>
              <a:cs typeface="Arial"/>
            </a:endParaRPr>
          </a:p>
          <a:p>
            <a:pPr marL="355600" indent="-342900">
              <a:lnSpc>
                <a:spcPct val="100000"/>
              </a:lnSpc>
              <a:spcBef>
                <a:spcPts val="385"/>
              </a:spcBef>
              <a:buChar char="•"/>
              <a:tabLst>
                <a:tab pos="354965" algn="l"/>
                <a:tab pos="355600" algn="l"/>
              </a:tabLst>
            </a:pPr>
            <a:r>
              <a:rPr lang="en-IN" sz="2800" spc="-5" dirty="0">
                <a:latin typeface="Arial"/>
                <a:cs typeface="Arial"/>
              </a:rPr>
              <a:t>Observation of inappropriate </a:t>
            </a:r>
            <a:r>
              <a:rPr lang="en-IN" sz="2800" spc="-5" dirty="0" err="1">
                <a:latin typeface="Arial"/>
                <a:cs typeface="Arial"/>
              </a:rPr>
              <a:t>behavior</a:t>
            </a:r>
            <a:r>
              <a:rPr lang="en-IN" sz="2800" spc="-5" dirty="0">
                <a:latin typeface="Arial"/>
                <a:cs typeface="Arial"/>
              </a:rPr>
              <a:t> or conditions in the</a:t>
            </a:r>
            <a:r>
              <a:rPr lang="en-IN" sz="2800" spc="60" dirty="0">
                <a:latin typeface="Arial"/>
                <a:cs typeface="Arial"/>
              </a:rPr>
              <a:t> </a:t>
            </a:r>
            <a:r>
              <a:rPr lang="en-IN" sz="2800" spc="-5" dirty="0">
                <a:latin typeface="Arial"/>
                <a:cs typeface="Arial"/>
              </a:rPr>
              <a:t>firm</a:t>
            </a:r>
            <a:endParaRPr lang="en-IN" sz="2800" dirty="0">
              <a:latin typeface="Arial"/>
              <a:cs typeface="Arial"/>
            </a:endParaRPr>
          </a:p>
          <a:p>
            <a:pPr marL="355600" indent="-342900">
              <a:lnSpc>
                <a:spcPct val="100000"/>
              </a:lnSpc>
              <a:spcBef>
                <a:spcPts val="385"/>
              </a:spcBef>
              <a:buChar char="•"/>
              <a:tabLst>
                <a:tab pos="354965" algn="l"/>
                <a:tab pos="355600" algn="l"/>
              </a:tabLst>
            </a:pPr>
            <a:r>
              <a:rPr lang="en-IN" sz="2800" spc="-5" dirty="0">
                <a:latin typeface="Arial"/>
                <a:cs typeface="Arial"/>
              </a:rPr>
              <a:t>Deviation from the business</a:t>
            </a:r>
            <a:r>
              <a:rPr lang="en-IN" sz="2800" spc="5" dirty="0">
                <a:latin typeface="Arial"/>
                <a:cs typeface="Arial"/>
              </a:rPr>
              <a:t> </a:t>
            </a:r>
            <a:r>
              <a:rPr lang="en-IN" sz="2800" spc="-5" dirty="0">
                <a:latin typeface="Arial"/>
                <a:cs typeface="Arial"/>
              </a:rPr>
              <a:t>plan</a:t>
            </a:r>
            <a:endParaRPr lang="en-IN" sz="2800" dirty="0">
              <a:latin typeface="Arial"/>
              <a:cs typeface="Arial"/>
            </a:endParaRPr>
          </a:p>
          <a:p>
            <a:pPr marL="355600" indent="-342900">
              <a:lnSpc>
                <a:spcPct val="100000"/>
              </a:lnSpc>
              <a:spcBef>
                <a:spcPts val="385"/>
              </a:spcBef>
              <a:buChar char="•"/>
              <a:tabLst>
                <a:tab pos="354965" algn="l"/>
                <a:tab pos="355600" algn="l"/>
              </a:tabLst>
            </a:pPr>
            <a:r>
              <a:rPr lang="en-IN" sz="2800" spc="-5" dirty="0">
                <a:latin typeface="Arial"/>
                <a:cs typeface="Arial"/>
              </a:rPr>
              <a:t>Success of the firm’s</a:t>
            </a:r>
            <a:r>
              <a:rPr lang="en-IN" sz="2800" spc="5" dirty="0">
                <a:latin typeface="Arial"/>
                <a:cs typeface="Arial"/>
              </a:rPr>
              <a:t> </a:t>
            </a:r>
            <a:r>
              <a:rPr lang="en-IN" sz="2800" dirty="0">
                <a:latin typeface="Arial"/>
                <a:cs typeface="Arial"/>
              </a:rPr>
              <a:t>competitor’s</a:t>
            </a:r>
          </a:p>
          <a:p>
            <a:pPr marL="355600" indent="-342900">
              <a:lnSpc>
                <a:spcPct val="100000"/>
              </a:lnSpc>
              <a:spcBef>
                <a:spcPts val="385"/>
              </a:spcBef>
              <a:buChar char="•"/>
              <a:tabLst>
                <a:tab pos="354965" algn="l"/>
                <a:tab pos="355600" algn="l"/>
              </a:tabLst>
            </a:pPr>
            <a:r>
              <a:rPr lang="en-IN" sz="2800" spc="-5" dirty="0">
                <a:latin typeface="Arial"/>
                <a:cs typeface="Arial"/>
              </a:rPr>
              <a:t>Relevant reading of published material (trends,</a:t>
            </a:r>
            <a:r>
              <a:rPr lang="en-IN" sz="2800" spc="65" dirty="0">
                <a:latin typeface="Arial"/>
                <a:cs typeface="Arial"/>
              </a:rPr>
              <a:t> </a:t>
            </a:r>
            <a:r>
              <a:rPr lang="en-IN" sz="2800" spc="-5" dirty="0">
                <a:latin typeface="Arial"/>
                <a:cs typeface="Arial"/>
              </a:rPr>
              <a:t>regulations)</a:t>
            </a:r>
            <a:endParaRPr lang="en-IN" sz="2800" dirty="0">
              <a:latin typeface="Arial"/>
              <a:cs typeface="Arial"/>
            </a:endParaRPr>
          </a:p>
          <a:p>
            <a:pPr marL="355600" indent="-342900">
              <a:lnSpc>
                <a:spcPct val="100000"/>
              </a:lnSpc>
              <a:spcBef>
                <a:spcPts val="385"/>
              </a:spcBef>
              <a:buChar char="•"/>
              <a:tabLst>
                <a:tab pos="354965" algn="l"/>
                <a:tab pos="355600" algn="l"/>
              </a:tabLst>
            </a:pPr>
            <a:r>
              <a:rPr lang="en-IN" sz="2800" spc="-5" dirty="0">
                <a:latin typeface="Arial"/>
                <a:cs typeface="Arial"/>
              </a:rPr>
              <a:t>Company records and</a:t>
            </a:r>
            <a:r>
              <a:rPr lang="en-IN" sz="2800" spc="30" dirty="0">
                <a:latin typeface="Arial"/>
                <a:cs typeface="Arial"/>
              </a:rPr>
              <a:t> </a:t>
            </a:r>
            <a:r>
              <a:rPr lang="en-IN" sz="2800" spc="-5" dirty="0">
                <a:latin typeface="Arial"/>
                <a:cs typeface="Arial"/>
              </a:rPr>
              <a:t>reports.</a:t>
            </a:r>
            <a:endParaRPr lang="en-IN" sz="2800" dirty="0">
              <a:latin typeface="Arial"/>
              <a:cs typeface="Arial"/>
            </a:endParaRPr>
          </a:p>
          <a:p>
            <a:endParaRPr lang="en-IN" dirty="0"/>
          </a:p>
        </p:txBody>
      </p:sp>
      <p:sp>
        <p:nvSpPr>
          <p:cNvPr id="3" name="Title 2"/>
          <p:cNvSpPr>
            <a:spLocks noGrp="1"/>
          </p:cNvSpPr>
          <p:nvPr>
            <p:ph type="title"/>
          </p:nvPr>
        </p:nvSpPr>
        <p:spPr/>
        <p:txBody>
          <a:bodyPr>
            <a:normAutofit fontScale="90000"/>
          </a:bodyPr>
          <a:lstStyle/>
          <a:p>
            <a:r>
              <a:rPr lang="en-IN" sz="4400" spc="-5" dirty="0">
                <a:latin typeface="Arial"/>
                <a:cs typeface="Arial"/>
              </a:rPr>
              <a:t>How do </a:t>
            </a:r>
            <a:r>
              <a:rPr lang="en-IN" sz="4400" spc="15" dirty="0">
                <a:latin typeface="Arial"/>
                <a:cs typeface="Arial"/>
              </a:rPr>
              <a:t>we </a:t>
            </a:r>
            <a:r>
              <a:rPr lang="en-IN" sz="4400" spc="-5" dirty="0">
                <a:latin typeface="Arial"/>
                <a:cs typeface="Arial"/>
              </a:rPr>
              <a:t>know </a:t>
            </a:r>
            <a:r>
              <a:rPr lang="en-IN" sz="4400" spc="15" dirty="0">
                <a:latin typeface="Arial"/>
                <a:cs typeface="Arial"/>
              </a:rPr>
              <a:t>we </a:t>
            </a:r>
            <a:r>
              <a:rPr lang="en-IN" sz="4400" spc="-15" dirty="0">
                <a:latin typeface="Arial"/>
                <a:cs typeface="Arial"/>
              </a:rPr>
              <a:t>have </a:t>
            </a:r>
            <a:r>
              <a:rPr lang="en-IN" sz="4400" spc="-5" dirty="0">
                <a:latin typeface="Arial"/>
                <a:cs typeface="Arial"/>
              </a:rPr>
              <a:t>a research</a:t>
            </a:r>
            <a:r>
              <a:rPr lang="en-IN" sz="4400" spc="25" dirty="0">
                <a:latin typeface="Arial"/>
                <a:cs typeface="Arial"/>
              </a:rPr>
              <a:t> </a:t>
            </a:r>
            <a:r>
              <a:rPr lang="en-IN" sz="4400" spc="-5" dirty="0">
                <a:latin typeface="Arial"/>
                <a:cs typeface="Arial"/>
              </a:rPr>
              <a:t>problem</a:t>
            </a:r>
            <a:r>
              <a:rPr lang="en-IN" sz="4400" spc="-5" dirty="0" smtClean="0">
                <a:latin typeface="Arial"/>
                <a:cs typeface="Arial"/>
              </a:rPr>
              <a:t>?</a:t>
            </a:r>
            <a:endParaRPr lang="en-IN" dirty="0"/>
          </a:p>
        </p:txBody>
      </p:sp>
    </p:spTree>
    <p:extLst>
      <p:ext uri="{BB962C8B-B14F-4D97-AF65-F5344CB8AC3E}">
        <p14:creationId xmlns:p14="http://schemas.microsoft.com/office/powerpoint/2010/main" val="416399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55600" indent="-342900">
              <a:lnSpc>
                <a:spcPct val="100000"/>
              </a:lnSpc>
              <a:spcBef>
                <a:spcPts val="385"/>
              </a:spcBef>
              <a:buChar char="•"/>
              <a:tabLst>
                <a:tab pos="354965" algn="l"/>
                <a:tab pos="355600" algn="l"/>
              </a:tabLst>
            </a:pPr>
            <a:r>
              <a:rPr lang="en-IN" sz="2800" spc="-5" dirty="0">
                <a:latin typeface="Arial"/>
                <a:cs typeface="Arial"/>
              </a:rPr>
              <a:t>Identification / Selection of the</a:t>
            </a:r>
            <a:r>
              <a:rPr lang="en-IN" sz="2800" spc="10" dirty="0">
                <a:latin typeface="Arial"/>
                <a:cs typeface="Arial"/>
              </a:rPr>
              <a:t> </a:t>
            </a:r>
            <a:r>
              <a:rPr lang="en-IN" sz="2800" spc="-5" dirty="0">
                <a:latin typeface="Arial"/>
                <a:cs typeface="Arial"/>
              </a:rPr>
              <a:t>Problem</a:t>
            </a:r>
            <a:endParaRPr lang="en-IN" sz="2800" dirty="0">
              <a:latin typeface="Arial"/>
              <a:cs typeface="Arial"/>
            </a:endParaRPr>
          </a:p>
          <a:p>
            <a:pPr marL="355600" indent="-342900">
              <a:lnSpc>
                <a:spcPct val="100000"/>
              </a:lnSpc>
              <a:spcBef>
                <a:spcPts val="390"/>
              </a:spcBef>
              <a:buChar char="•"/>
              <a:tabLst>
                <a:tab pos="354965" algn="l"/>
                <a:tab pos="355600" algn="l"/>
              </a:tabLst>
            </a:pPr>
            <a:r>
              <a:rPr lang="en-IN" sz="2800" spc="-5" dirty="0">
                <a:latin typeface="Arial"/>
                <a:cs typeface="Arial"/>
              </a:rPr>
              <a:t>Formulation of the</a:t>
            </a:r>
            <a:r>
              <a:rPr lang="en-IN" sz="2800" spc="35" dirty="0">
                <a:latin typeface="Arial"/>
                <a:cs typeface="Arial"/>
              </a:rPr>
              <a:t> </a:t>
            </a:r>
            <a:r>
              <a:rPr lang="en-IN" sz="2800" spc="-5" dirty="0">
                <a:latin typeface="Arial"/>
                <a:cs typeface="Arial"/>
              </a:rPr>
              <a:t>Problem</a:t>
            </a:r>
            <a:endParaRPr lang="en-IN" sz="2800" dirty="0">
              <a:latin typeface="Arial"/>
              <a:cs typeface="Arial"/>
            </a:endParaRPr>
          </a:p>
          <a:p>
            <a:pPr marL="109728" indent="0">
              <a:buNone/>
            </a:pPr>
            <a:endParaRPr lang="en-IN" dirty="0"/>
          </a:p>
        </p:txBody>
      </p:sp>
      <p:sp>
        <p:nvSpPr>
          <p:cNvPr id="3" name="Title 2"/>
          <p:cNvSpPr>
            <a:spLocks noGrp="1"/>
          </p:cNvSpPr>
          <p:nvPr>
            <p:ph type="title"/>
          </p:nvPr>
        </p:nvSpPr>
        <p:spPr/>
        <p:txBody>
          <a:bodyPr>
            <a:normAutofit fontScale="90000"/>
          </a:bodyPr>
          <a:lstStyle/>
          <a:p>
            <a:r>
              <a:rPr lang="en-IN" sz="4400" spc="-5" dirty="0">
                <a:latin typeface="Arial"/>
                <a:cs typeface="Arial"/>
              </a:rPr>
              <a:t>Definition of </a:t>
            </a:r>
            <a:r>
              <a:rPr lang="en-IN" sz="4400" spc="-10" dirty="0">
                <a:latin typeface="Arial"/>
                <a:cs typeface="Arial"/>
              </a:rPr>
              <a:t>the </a:t>
            </a:r>
            <a:r>
              <a:rPr lang="en-IN" sz="4400" spc="-5" dirty="0">
                <a:latin typeface="Arial"/>
                <a:cs typeface="Arial"/>
              </a:rPr>
              <a:t>problem </a:t>
            </a:r>
            <a:r>
              <a:rPr lang="en-IN" sz="4400" spc="-10" dirty="0">
                <a:latin typeface="Arial"/>
                <a:cs typeface="Arial"/>
              </a:rPr>
              <a:t>involves </a:t>
            </a:r>
            <a:r>
              <a:rPr lang="en-IN" sz="4400" spc="5" dirty="0">
                <a:latin typeface="Arial"/>
                <a:cs typeface="Arial"/>
              </a:rPr>
              <a:t>two</a:t>
            </a:r>
            <a:r>
              <a:rPr lang="en-IN" sz="4400" spc="190" dirty="0">
                <a:latin typeface="Arial"/>
                <a:cs typeface="Arial"/>
              </a:rPr>
              <a:t> </a:t>
            </a:r>
            <a:r>
              <a:rPr lang="en-IN" sz="4400" spc="-5" dirty="0">
                <a:latin typeface="Arial"/>
                <a:cs typeface="Arial"/>
              </a:rPr>
              <a:t>activities:</a:t>
            </a:r>
            <a:endParaRPr lang="en-IN" dirty="0"/>
          </a:p>
        </p:txBody>
      </p:sp>
    </p:spTree>
    <p:extLst>
      <p:ext uri="{BB962C8B-B14F-4D97-AF65-F5344CB8AC3E}">
        <p14:creationId xmlns:p14="http://schemas.microsoft.com/office/powerpoint/2010/main" val="912682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spc="-5" dirty="0">
                <a:latin typeface="Arial"/>
                <a:cs typeface="Arial"/>
              </a:rPr>
              <a:t>This</a:t>
            </a:r>
            <a:r>
              <a:rPr lang="en-IN" sz="2800" spc="-15" dirty="0">
                <a:latin typeface="Arial"/>
                <a:cs typeface="Arial"/>
              </a:rPr>
              <a:t> </a:t>
            </a:r>
            <a:r>
              <a:rPr lang="en-IN" sz="2800" dirty="0">
                <a:latin typeface="Arial"/>
                <a:cs typeface="Arial"/>
              </a:rPr>
              <a:t>step</a:t>
            </a:r>
            <a:r>
              <a:rPr lang="en-IN" sz="2800" spc="-25" dirty="0">
                <a:latin typeface="Arial"/>
                <a:cs typeface="Arial"/>
              </a:rPr>
              <a:t> </a:t>
            </a:r>
            <a:r>
              <a:rPr lang="en-IN" sz="2800" spc="-5" dirty="0">
                <a:latin typeface="Arial"/>
                <a:cs typeface="Arial"/>
              </a:rPr>
              <a:t>involves</a:t>
            </a:r>
            <a:r>
              <a:rPr lang="en-IN" sz="2800" spc="5" dirty="0">
                <a:latin typeface="Arial"/>
                <a:cs typeface="Arial"/>
              </a:rPr>
              <a:t> </a:t>
            </a:r>
            <a:r>
              <a:rPr lang="en-IN" sz="2800" dirty="0">
                <a:latin typeface="Arial"/>
                <a:cs typeface="Arial"/>
              </a:rPr>
              <a:t>identification</a:t>
            </a:r>
            <a:r>
              <a:rPr lang="en-IN" sz="2800" spc="-50" dirty="0">
                <a:latin typeface="Arial"/>
                <a:cs typeface="Arial"/>
              </a:rPr>
              <a:t> </a:t>
            </a:r>
            <a:r>
              <a:rPr lang="en-IN" sz="2800" dirty="0">
                <a:latin typeface="Arial"/>
                <a:cs typeface="Arial"/>
              </a:rPr>
              <a:t>of</a:t>
            </a:r>
            <a:r>
              <a:rPr lang="en-IN" sz="2800" spc="-5" dirty="0">
                <a:latin typeface="Arial"/>
                <a:cs typeface="Arial"/>
              </a:rPr>
              <a:t> </a:t>
            </a:r>
            <a:r>
              <a:rPr lang="en-IN" sz="2800" dirty="0">
                <a:latin typeface="Arial"/>
                <a:cs typeface="Arial"/>
              </a:rPr>
              <a:t>a</a:t>
            </a:r>
            <a:r>
              <a:rPr lang="en-IN" sz="2800" spc="-5" dirty="0">
                <a:latin typeface="Arial"/>
                <a:cs typeface="Arial"/>
              </a:rPr>
              <a:t> </a:t>
            </a:r>
            <a:r>
              <a:rPr lang="en-IN" sz="2800" dirty="0">
                <a:latin typeface="Arial"/>
                <a:cs typeface="Arial"/>
              </a:rPr>
              <a:t>few</a:t>
            </a:r>
            <a:r>
              <a:rPr lang="en-IN" sz="2800" spc="-20" dirty="0">
                <a:latin typeface="Arial"/>
                <a:cs typeface="Arial"/>
              </a:rPr>
              <a:t> </a:t>
            </a:r>
            <a:r>
              <a:rPr lang="en-IN" sz="2800" dirty="0">
                <a:latin typeface="Arial"/>
                <a:cs typeface="Arial"/>
              </a:rPr>
              <a:t>problems</a:t>
            </a:r>
            <a:r>
              <a:rPr lang="en-IN" sz="2800" spc="-40" dirty="0">
                <a:latin typeface="Arial"/>
                <a:cs typeface="Arial"/>
              </a:rPr>
              <a:t> </a:t>
            </a:r>
            <a:r>
              <a:rPr lang="en-IN" sz="2800" dirty="0">
                <a:latin typeface="Arial"/>
                <a:cs typeface="Arial"/>
              </a:rPr>
              <a:t>and</a:t>
            </a:r>
            <a:r>
              <a:rPr lang="en-IN" sz="2800" spc="-5" dirty="0">
                <a:latin typeface="Arial"/>
                <a:cs typeface="Arial"/>
              </a:rPr>
              <a:t> </a:t>
            </a:r>
            <a:r>
              <a:rPr lang="en-IN" sz="2800" dirty="0">
                <a:latin typeface="Arial"/>
                <a:cs typeface="Arial"/>
              </a:rPr>
              <a:t>selection</a:t>
            </a:r>
            <a:r>
              <a:rPr lang="en-IN" sz="2800" spc="-45" dirty="0">
                <a:latin typeface="Arial"/>
                <a:cs typeface="Arial"/>
              </a:rPr>
              <a:t> </a:t>
            </a:r>
            <a:r>
              <a:rPr lang="en-IN" sz="2800" dirty="0">
                <a:latin typeface="Arial"/>
                <a:cs typeface="Arial"/>
              </a:rPr>
              <a:t>of</a:t>
            </a:r>
            <a:r>
              <a:rPr lang="en-IN" sz="2800" spc="-10" dirty="0">
                <a:latin typeface="Arial"/>
                <a:cs typeface="Arial"/>
              </a:rPr>
              <a:t> </a:t>
            </a:r>
            <a:r>
              <a:rPr lang="en-IN" sz="2800" dirty="0">
                <a:latin typeface="Arial"/>
                <a:cs typeface="Arial"/>
              </a:rPr>
              <a:t>one</a:t>
            </a:r>
            <a:r>
              <a:rPr lang="en-IN" sz="2800" spc="-20" dirty="0">
                <a:latin typeface="Arial"/>
                <a:cs typeface="Arial"/>
              </a:rPr>
              <a:t> </a:t>
            </a:r>
            <a:r>
              <a:rPr lang="en-IN" sz="2800" dirty="0">
                <a:latin typeface="Arial"/>
                <a:cs typeface="Arial"/>
              </a:rPr>
              <a:t>out</a:t>
            </a:r>
            <a:r>
              <a:rPr lang="en-IN" sz="2800" spc="-10" dirty="0">
                <a:latin typeface="Arial"/>
                <a:cs typeface="Arial"/>
              </a:rPr>
              <a:t> </a:t>
            </a:r>
            <a:r>
              <a:rPr lang="en-IN" sz="2800" dirty="0">
                <a:latin typeface="Arial"/>
                <a:cs typeface="Arial"/>
              </a:rPr>
              <a:t>of</a:t>
            </a:r>
            <a:r>
              <a:rPr lang="en-IN" sz="2800" spc="-10" dirty="0">
                <a:latin typeface="Arial"/>
                <a:cs typeface="Arial"/>
              </a:rPr>
              <a:t> </a:t>
            </a:r>
            <a:r>
              <a:rPr lang="en-IN" sz="2800" dirty="0">
                <a:latin typeface="Arial"/>
                <a:cs typeface="Arial"/>
              </a:rPr>
              <a:t>them,</a:t>
            </a:r>
            <a:r>
              <a:rPr lang="en-IN" sz="2800" spc="-30" dirty="0">
                <a:latin typeface="Arial"/>
                <a:cs typeface="Arial"/>
              </a:rPr>
              <a:t> </a:t>
            </a:r>
            <a:r>
              <a:rPr lang="en-IN" sz="2800" dirty="0">
                <a:latin typeface="Arial"/>
                <a:cs typeface="Arial"/>
              </a:rPr>
              <a:t>after</a:t>
            </a:r>
            <a:r>
              <a:rPr lang="en-IN" sz="2800" spc="-25" dirty="0">
                <a:latin typeface="Arial"/>
                <a:cs typeface="Arial"/>
              </a:rPr>
              <a:t> </a:t>
            </a:r>
            <a:r>
              <a:rPr lang="en-IN" sz="2800" spc="-5" dirty="0">
                <a:latin typeface="Arial"/>
                <a:cs typeface="Arial"/>
              </a:rPr>
              <a:t>evaluating</a:t>
            </a:r>
            <a:r>
              <a:rPr lang="en-IN" sz="2800" spc="-30" dirty="0">
                <a:latin typeface="Arial"/>
                <a:cs typeface="Arial"/>
              </a:rPr>
              <a:t> </a:t>
            </a:r>
            <a:r>
              <a:rPr lang="en-IN" sz="2800" dirty="0">
                <a:latin typeface="Arial"/>
                <a:cs typeface="Arial"/>
              </a:rPr>
              <a:t>the  </a:t>
            </a:r>
            <a:r>
              <a:rPr lang="en-IN" sz="2800" spc="-5" dirty="0">
                <a:latin typeface="Arial"/>
                <a:cs typeface="Arial"/>
              </a:rPr>
              <a:t>alternatives </a:t>
            </a:r>
            <a:r>
              <a:rPr lang="en-IN" sz="2800" dirty="0">
                <a:latin typeface="Arial"/>
                <a:cs typeface="Arial"/>
              </a:rPr>
              <a:t>against certain selection</a:t>
            </a:r>
            <a:r>
              <a:rPr lang="en-IN" sz="2800" spc="-140" dirty="0">
                <a:latin typeface="Arial"/>
                <a:cs typeface="Arial"/>
              </a:rPr>
              <a:t> </a:t>
            </a:r>
            <a:r>
              <a:rPr lang="en-IN" sz="2800" dirty="0">
                <a:latin typeface="Arial"/>
                <a:cs typeface="Arial"/>
              </a:rPr>
              <a:t>criteria.</a:t>
            </a:r>
          </a:p>
          <a:p>
            <a:pPr marL="109728" indent="0">
              <a:buNone/>
            </a:pPr>
            <a:endParaRPr lang="en-IN" dirty="0"/>
          </a:p>
        </p:txBody>
      </p:sp>
      <p:sp>
        <p:nvSpPr>
          <p:cNvPr id="3" name="Title 2"/>
          <p:cNvSpPr>
            <a:spLocks noGrp="1"/>
          </p:cNvSpPr>
          <p:nvPr>
            <p:ph type="title"/>
          </p:nvPr>
        </p:nvSpPr>
        <p:spPr/>
        <p:txBody>
          <a:bodyPr>
            <a:normAutofit fontScale="90000"/>
          </a:bodyPr>
          <a:lstStyle/>
          <a:p>
            <a:r>
              <a:rPr lang="en-US" dirty="0" smtClean="0"/>
              <a:t>1.</a:t>
            </a:r>
            <a:r>
              <a:rPr lang="en-IN" sz="4400" spc="-5" dirty="0">
                <a:latin typeface="Arial"/>
                <a:cs typeface="Arial"/>
              </a:rPr>
              <a:t> Identification/selection of the </a:t>
            </a:r>
            <a:r>
              <a:rPr lang="en-IN" sz="4400" dirty="0">
                <a:latin typeface="Arial"/>
                <a:cs typeface="Arial"/>
              </a:rPr>
              <a:t>research</a:t>
            </a:r>
            <a:r>
              <a:rPr lang="en-IN" sz="4400" spc="-95" dirty="0">
                <a:latin typeface="Arial"/>
                <a:cs typeface="Arial"/>
              </a:rPr>
              <a:t> </a:t>
            </a:r>
            <a:r>
              <a:rPr lang="en-IN" sz="4400" spc="-5" dirty="0">
                <a:latin typeface="Arial"/>
                <a:cs typeface="Arial"/>
              </a:rPr>
              <a:t>problem</a:t>
            </a:r>
            <a:r>
              <a:rPr lang="en-IN" sz="4400" spc="-5" dirty="0" smtClean="0">
                <a:latin typeface="Arial"/>
                <a:cs typeface="Arial"/>
              </a:rPr>
              <a:t>.</a:t>
            </a:r>
            <a:endParaRPr lang="en-IN" dirty="0"/>
          </a:p>
        </p:txBody>
      </p:sp>
    </p:spTree>
    <p:extLst>
      <p:ext uri="{BB962C8B-B14F-4D97-AF65-F5344CB8AC3E}">
        <p14:creationId xmlns:p14="http://schemas.microsoft.com/office/powerpoint/2010/main" val="813203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55600" marR="5080" indent="-342900">
              <a:lnSpc>
                <a:spcPts val="1510"/>
              </a:lnSpc>
              <a:spcBef>
                <a:spcPts val="360"/>
              </a:spcBef>
              <a:buChar char="•"/>
              <a:tabLst>
                <a:tab pos="354965" algn="l"/>
                <a:tab pos="355600" algn="l"/>
              </a:tabLst>
            </a:pPr>
            <a:r>
              <a:rPr lang="en-IN" sz="2000" dirty="0">
                <a:latin typeface="Arial"/>
                <a:cs typeface="Arial"/>
              </a:rPr>
              <a:t>Formulation means translating and </a:t>
            </a:r>
            <a:r>
              <a:rPr lang="en-IN" sz="2000" spc="-5" dirty="0">
                <a:latin typeface="Arial"/>
                <a:cs typeface="Arial"/>
              </a:rPr>
              <a:t>transforming </a:t>
            </a:r>
            <a:r>
              <a:rPr lang="en-IN" sz="2000" dirty="0">
                <a:latin typeface="Arial"/>
                <a:cs typeface="Arial"/>
              </a:rPr>
              <a:t>the selected research </a:t>
            </a:r>
            <a:r>
              <a:rPr lang="en-IN" sz="2000" spc="-5" dirty="0">
                <a:latin typeface="Arial"/>
                <a:cs typeface="Arial"/>
              </a:rPr>
              <a:t>problem/topic/idea </a:t>
            </a:r>
            <a:r>
              <a:rPr lang="en-IN" sz="2000" dirty="0">
                <a:latin typeface="Arial"/>
                <a:cs typeface="Arial"/>
              </a:rPr>
              <a:t>into a  </a:t>
            </a:r>
            <a:r>
              <a:rPr lang="en-IN" sz="2000" spc="-5" dirty="0">
                <a:latin typeface="Arial"/>
                <a:cs typeface="Arial"/>
              </a:rPr>
              <a:t>scientifically researchable </a:t>
            </a:r>
            <a:r>
              <a:rPr lang="en-IN" sz="2000" dirty="0">
                <a:latin typeface="Arial"/>
                <a:cs typeface="Arial"/>
              </a:rPr>
              <a:t>question. It is concerned </a:t>
            </a:r>
            <a:r>
              <a:rPr lang="en-IN" sz="2000" spc="-5" dirty="0">
                <a:latin typeface="Arial"/>
                <a:cs typeface="Arial"/>
              </a:rPr>
              <a:t>with specifying exactly what </a:t>
            </a:r>
            <a:r>
              <a:rPr lang="en-IN" sz="2000" dirty="0">
                <a:latin typeface="Arial"/>
                <a:cs typeface="Arial"/>
              </a:rPr>
              <a:t>the research problem  is.</a:t>
            </a:r>
          </a:p>
          <a:p>
            <a:pPr marL="355600" marR="88265" indent="-342900">
              <a:lnSpc>
                <a:spcPts val="1510"/>
              </a:lnSpc>
              <a:spcBef>
                <a:spcPts val="345"/>
              </a:spcBef>
              <a:buChar char="•"/>
              <a:tabLst>
                <a:tab pos="354965" algn="l"/>
                <a:tab pos="355600" algn="l"/>
              </a:tabLst>
            </a:pPr>
            <a:r>
              <a:rPr lang="en-IN" sz="2000" dirty="0">
                <a:latin typeface="Arial"/>
                <a:cs typeface="Arial"/>
              </a:rPr>
              <a:t>Problem</a:t>
            </a:r>
            <a:r>
              <a:rPr lang="en-IN" sz="2000" spc="-20" dirty="0">
                <a:latin typeface="Arial"/>
                <a:cs typeface="Arial"/>
              </a:rPr>
              <a:t> </a:t>
            </a:r>
            <a:r>
              <a:rPr lang="en-IN" sz="2000" dirty="0">
                <a:latin typeface="Arial"/>
                <a:cs typeface="Arial"/>
              </a:rPr>
              <a:t>definition</a:t>
            </a:r>
            <a:r>
              <a:rPr lang="en-IN" sz="2000" spc="-40" dirty="0">
                <a:latin typeface="Arial"/>
                <a:cs typeface="Arial"/>
              </a:rPr>
              <a:t> </a:t>
            </a:r>
            <a:r>
              <a:rPr lang="en-IN" sz="2000" dirty="0">
                <a:latin typeface="Arial"/>
                <a:cs typeface="Arial"/>
              </a:rPr>
              <a:t>or</a:t>
            </a:r>
            <a:r>
              <a:rPr lang="en-IN" sz="2000" spc="-10" dirty="0">
                <a:latin typeface="Arial"/>
                <a:cs typeface="Arial"/>
              </a:rPr>
              <a:t> </a:t>
            </a:r>
            <a:r>
              <a:rPr lang="en-IN" sz="2000" dirty="0">
                <a:latin typeface="Arial"/>
                <a:cs typeface="Arial"/>
              </a:rPr>
              <a:t>Problem</a:t>
            </a:r>
            <a:r>
              <a:rPr lang="en-IN" sz="2000" spc="-20" dirty="0">
                <a:latin typeface="Arial"/>
                <a:cs typeface="Arial"/>
              </a:rPr>
              <a:t> </a:t>
            </a:r>
            <a:r>
              <a:rPr lang="en-IN" sz="2000" spc="-5" dirty="0">
                <a:latin typeface="Arial"/>
                <a:cs typeface="Arial"/>
              </a:rPr>
              <a:t>statement</a:t>
            </a:r>
            <a:r>
              <a:rPr lang="en-IN" sz="2000" spc="-40" dirty="0">
                <a:latin typeface="Arial"/>
                <a:cs typeface="Arial"/>
              </a:rPr>
              <a:t> </a:t>
            </a:r>
            <a:r>
              <a:rPr lang="en-IN" sz="2000" dirty="0">
                <a:latin typeface="Arial"/>
                <a:cs typeface="Arial"/>
              </a:rPr>
              <a:t>is a </a:t>
            </a:r>
            <a:r>
              <a:rPr lang="en-IN" sz="2000" spc="-15" dirty="0">
                <a:latin typeface="Arial"/>
                <a:cs typeface="Arial"/>
              </a:rPr>
              <a:t>clear,</a:t>
            </a:r>
            <a:r>
              <a:rPr lang="en-IN" sz="2000" spc="-35" dirty="0">
                <a:latin typeface="Arial"/>
                <a:cs typeface="Arial"/>
              </a:rPr>
              <a:t> </a:t>
            </a:r>
            <a:r>
              <a:rPr lang="en-IN" sz="2000" dirty="0">
                <a:latin typeface="Arial"/>
                <a:cs typeface="Arial"/>
              </a:rPr>
              <a:t>precise</a:t>
            </a:r>
            <a:r>
              <a:rPr lang="en-IN" sz="2000" spc="-35" dirty="0">
                <a:latin typeface="Arial"/>
                <a:cs typeface="Arial"/>
              </a:rPr>
              <a:t> </a:t>
            </a:r>
            <a:r>
              <a:rPr lang="en-IN" sz="2000" dirty="0">
                <a:latin typeface="Arial"/>
                <a:cs typeface="Arial"/>
              </a:rPr>
              <a:t>and</a:t>
            </a:r>
            <a:r>
              <a:rPr lang="en-IN" sz="2000" spc="-15" dirty="0">
                <a:latin typeface="Arial"/>
                <a:cs typeface="Arial"/>
              </a:rPr>
              <a:t> </a:t>
            </a:r>
            <a:r>
              <a:rPr lang="en-IN" sz="2000" dirty="0">
                <a:latin typeface="Arial"/>
                <a:cs typeface="Arial"/>
              </a:rPr>
              <a:t>succinct</a:t>
            </a:r>
            <a:r>
              <a:rPr lang="en-IN" sz="2000" spc="-30" dirty="0">
                <a:latin typeface="Arial"/>
                <a:cs typeface="Arial"/>
              </a:rPr>
              <a:t> </a:t>
            </a:r>
            <a:r>
              <a:rPr lang="en-IN" sz="2000" spc="-5" dirty="0">
                <a:latin typeface="Arial"/>
                <a:cs typeface="Arial"/>
              </a:rPr>
              <a:t>statement</a:t>
            </a:r>
            <a:r>
              <a:rPr lang="en-IN" sz="2000" spc="-45" dirty="0">
                <a:latin typeface="Arial"/>
                <a:cs typeface="Arial"/>
              </a:rPr>
              <a:t> </a:t>
            </a:r>
            <a:r>
              <a:rPr lang="en-IN" sz="2000" dirty="0">
                <a:latin typeface="Arial"/>
                <a:cs typeface="Arial"/>
              </a:rPr>
              <a:t>of</a:t>
            </a:r>
            <a:r>
              <a:rPr lang="en-IN" sz="2000" spc="-5" dirty="0">
                <a:latin typeface="Arial"/>
                <a:cs typeface="Arial"/>
              </a:rPr>
              <a:t> </a:t>
            </a:r>
            <a:r>
              <a:rPr lang="en-IN" sz="2000" dirty="0">
                <a:latin typeface="Arial"/>
                <a:cs typeface="Arial"/>
              </a:rPr>
              <a:t>the</a:t>
            </a:r>
            <a:r>
              <a:rPr lang="en-IN" sz="2000" spc="-15" dirty="0">
                <a:latin typeface="Arial"/>
                <a:cs typeface="Arial"/>
              </a:rPr>
              <a:t> </a:t>
            </a:r>
            <a:r>
              <a:rPr lang="en-IN" sz="2000" dirty="0">
                <a:latin typeface="Arial"/>
                <a:cs typeface="Arial"/>
              </a:rPr>
              <a:t>question</a:t>
            </a:r>
            <a:r>
              <a:rPr lang="en-IN" sz="2000" spc="-35" dirty="0">
                <a:latin typeface="Arial"/>
                <a:cs typeface="Arial"/>
              </a:rPr>
              <a:t> </a:t>
            </a:r>
            <a:r>
              <a:rPr lang="en-IN" sz="2000" dirty="0">
                <a:latin typeface="Arial"/>
                <a:cs typeface="Arial"/>
              </a:rPr>
              <a:t>or  issue that is to be investigated </a:t>
            </a:r>
            <a:r>
              <a:rPr lang="en-IN" sz="2000" spc="-5" dirty="0">
                <a:latin typeface="Arial"/>
                <a:cs typeface="Arial"/>
              </a:rPr>
              <a:t>with </a:t>
            </a:r>
            <a:r>
              <a:rPr lang="en-IN" sz="2000" dirty="0">
                <a:latin typeface="Arial"/>
                <a:cs typeface="Arial"/>
              </a:rPr>
              <a:t>the goal of finding an </a:t>
            </a:r>
            <a:r>
              <a:rPr lang="en-IN" sz="2000" spc="-5" dirty="0">
                <a:latin typeface="Arial"/>
                <a:cs typeface="Arial"/>
              </a:rPr>
              <a:t>answer </a:t>
            </a:r>
            <a:r>
              <a:rPr lang="en-IN" sz="2000" dirty="0">
                <a:latin typeface="Arial"/>
                <a:cs typeface="Arial"/>
              </a:rPr>
              <a:t>or</a:t>
            </a:r>
            <a:r>
              <a:rPr lang="en-IN" sz="2000" spc="-275" dirty="0">
                <a:latin typeface="Arial"/>
                <a:cs typeface="Arial"/>
              </a:rPr>
              <a:t> </a:t>
            </a:r>
            <a:r>
              <a:rPr lang="en-IN" sz="2000" dirty="0">
                <a:latin typeface="Arial"/>
                <a:cs typeface="Arial"/>
              </a:rPr>
              <a:t>solution.</a:t>
            </a:r>
          </a:p>
          <a:p>
            <a:pPr marL="355600" indent="-342900">
              <a:lnSpc>
                <a:spcPct val="100000"/>
              </a:lnSpc>
              <a:spcBef>
                <a:spcPts val="145"/>
              </a:spcBef>
              <a:buChar char="•"/>
              <a:tabLst>
                <a:tab pos="354965" algn="l"/>
                <a:tab pos="355600" algn="l"/>
              </a:tabLst>
            </a:pPr>
            <a:r>
              <a:rPr lang="en-IN" sz="2000" dirty="0">
                <a:latin typeface="Arial"/>
                <a:cs typeface="Arial"/>
              </a:rPr>
              <a:t>There are </a:t>
            </a:r>
            <a:r>
              <a:rPr lang="en-IN" sz="2000" spc="-5" dirty="0">
                <a:latin typeface="Arial"/>
                <a:cs typeface="Arial"/>
              </a:rPr>
              <a:t>two </a:t>
            </a:r>
            <a:r>
              <a:rPr lang="en-IN" sz="2000" spc="-10" dirty="0">
                <a:latin typeface="Arial"/>
                <a:cs typeface="Arial"/>
              </a:rPr>
              <a:t>ways </a:t>
            </a:r>
            <a:r>
              <a:rPr lang="en-IN" sz="2000" dirty="0">
                <a:latin typeface="Arial"/>
                <a:cs typeface="Arial"/>
              </a:rPr>
              <a:t>of stating a</a:t>
            </a:r>
            <a:r>
              <a:rPr lang="en-IN" sz="2000" spc="-90" dirty="0">
                <a:latin typeface="Arial"/>
                <a:cs typeface="Arial"/>
              </a:rPr>
              <a:t> </a:t>
            </a:r>
            <a:r>
              <a:rPr lang="en-IN" sz="2000" dirty="0">
                <a:latin typeface="Arial"/>
                <a:cs typeface="Arial"/>
              </a:rPr>
              <a:t>problem:</a:t>
            </a:r>
          </a:p>
          <a:p>
            <a:pPr marL="1155700" lvl="1" indent="-229235">
              <a:lnSpc>
                <a:spcPct val="100000"/>
              </a:lnSpc>
              <a:spcBef>
                <a:spcPts val="170"/>
              </a:spcBef>
              <a:buChar char="•"/>
              <a:tabLst>
                <a:tab pos="1155700" algn="l"/>
                <a:tab pos="1156335" algn="l"/>
              </a:tabLst>
            </a:pPr>
            <a:r>
              <a:rPr lang="en-IN" sz="2000" dirty="0">
                <a:latin typeface="Arial"/>
                <a:cs typeface="Arial"/>
              </a:rPr>
              <a:t>Posting question /</a:t>
            </a:r>
            <a:r>
              <a:rPr lang="en-IN" sz="2000" spc="-95" dirty="0">
                <a:latin typeface="Arial"/>
                <a:cs typeface="Arial"/>
              </a:rPr>
              <a:t> </a:t>
            </a:r>
            <a:r>
              <a:rPr lang="en-IN" sz="2000" dirty="0">
                <a:latin typeface="Arial"/>
                <a:cs typeface="Arial"/>
              </a:rPr>
              <a:t>questions</a:t>
            </a:r>
          </a:p>
          <a:p>
            <a:pPr marL="1155700" lvl="1" indent="-229235">
              <a:lnSpc>
                <a:spcPct val="100000"/>
              </a:lnSpc>
              <a:spcBef>
                <a:spcPts val="170"/>
              </a:spcBef>
              <a:buChar char="•"/>
              <a:tabLst>
                <a:tab pos="1155700" algn="l"/>
                <a:tab pos="1156335" algn="l"/>
              </a:tabLst>
            </a:pPr>
            <a:r>
              <a:rPr lang="en-IN" sz="2000" dirty="0">
                <a:latin typeface="Arial"/>
                <a:cs typeface="Arial"/>
              </a:rPr>
              <a:t>Making </a:t>
            </a:r>
            <a:r>
              <a:rPr lang="en-IN" sz="2000" spc="-5" dirty="0">
                <a:latin typeface="Arial"/>
                <a:cs typeface="Arial"/>
              </a:rPr>
              <a:t>declarative statement </a:t>
            </a:r>
            <a:r>
              <a:rPr lang="en-IN" sz="2000" dirty="0">
                <a:latin typeface="Arial"/>
                <a:cs typeface="Arial"/>
              </a:rPr>
              <a:t>/</a:t>
            </a:r>
            <a:r>
              <a:rPr lang="en-IN" sz="2000" spc="-105" dirty="0">
                <a:latin typeface="Arial"/>
                <a:cs typeface="Arial"/>
              </a:rPr>
              <a:t> </a:t>
            </a:r>
            <a:r>
              <a:rPr lang="en-IN" sz="2000" spc="-5" dirty="0">
                <a:latin typeface="Arial"/>
                <a:cs typeface="Arial"/>
              </a:rPr>
              <a:t>statements</a:t>
            </a:r>
            <a:endParaRPr lang="en-IN" sz="2000" dirty="0">
              <a:latin typeface="Arial"/>
              <a:cs typeface="Arial"/>
            </a:endParaRPr>
          </a:p>
          <a:p>
            <a:pPr marL="109728" indent="0">
              <a:buNone/>
            </a:pPr>
            <a:endParaRPr lang="en-IN" dirty="0"/>
          </a:p>
        </p:txBody>
      </p:sp>
      <p:sp>
        <p:nvSpPr>
          <p:cNvPr id="3" name="Title 2"/>
          <p:cNvSpPr>
            <a:spLocks noGrp="1"/>
          </p:cNvSpPr>
          <p:nvPr>
            <p:ph type="title"/>
          </p:nvPr>
        </p:nvSpPr>
        <p:spPr/>
        <p:txBody>
          <a:bodyPr>
            <a:normAutofit fontScale="90000"/>
          </a:bodyPr>
          <a:lstStyle/>
          <a:p>
            <a:r>
              <a:rPr lang="en-IN" sz="4400" spc="-5" dirty="0">
                <a:latin typeface="Arial"/>
                <a:cs typeface="Arial"/>
              </a:rPr>
              <a:t>Definition/formulation of the </a:t>
            </a:r>
            <a:r>
              <a:rPr lang="en-IN" sz="4400" dirty="0">
                <a:latin typeface="Arial"/>
                <a:cs typeface="Arial"/>
              </a:rPr>
              <a:t>research</a:t>
            </a:r>
            <a:r>
              <a:rPr lang="en-IN" sz="4400" spc="-95" dirty="0">
                <a:latin typeface="Arial"/>
                <a:cs typeface="Arial"/>
              </a:rPr>
              <a:t> </a:t>
            </a:r>
            <a:r>
              <a:rPr lang="en-IN" sz="4400" spc="-5" dirty="0">
                <a:latin typeface="Arial"/>
                <a:cs typeface="Arial"/>
              </a:rPr>
              <a:t>problem</a:t>
            </a:r>
            <a:r>
              <a:rPr lang="en-IN" sz="4400" spc="-5" dirty="0" smtClean="0">
                <a:latin typeface="Arial"/>
                <a:cs typeface="Arial"/>
              </a:rPr>
              <a:t>.</a:t>
            </a:r>
            <a:endParaRPr lang="en-IN" dirty="0"/>
          </a:p>
        </p:txBody>
      </p:sp>
    </p:spTree>
    <p:extLst>
      <p:ext uri="{BB962C8B-B14F-4D97-AF65-F5344CB8AC3E}">
        <p14:creationId xmlns:p14="http://schemas.microsoft.com/office/powerpoint/2010/main" val="3701706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dirty="0">
                <a:latin typeface="Arial"/>
                <a:cs typeface="Arial"/>
              </a:rPr>
              <a:t>Research process consists of series of actions or steps necessary</a:t>
            </a:r>
            <a:r>
              <a:rPr lang="en-IN" sz="2800" spc="-245" dirty="0">
                <a:latin typeface="Arial"/>
                <a:cs typeface="Arial"/>
              </a:rPr>
              <a:t> </a:t>
            </a:r>
            <a:r>
              <a:rPr lang="en-IN" sz="2800" dirty="0">
                <a:latin typeface="Arial"/>
                <a:cs typeface="Arial"/>
              </a:rPr>
              <a:t>to  </a:t>
            </a:r>
            <a:r>
              <a:rPr lang="en-IN" sz="2800" spc="-5" dirty="0">
                <a:latin typeface="Arial"/>
                <a:cs typeface="Arial"/>
              </a:rPr>
              <a:t>effectively </a:t>
            </a:r>
            <a:r>
              <a:rPr lang="en-IN" sz="2800" dirty="0">
                <a:latin typeface="Arial"/>
                <a:cs typeface="Arial"/>
              </a:rPr>
              <a:t>carry out research and the desired sequencing of these  steps.</a:t>
            </a:r>
          </a:p>
          <a:p>
            <a:endParaRPr lang="en-US" dirty="0" smtClean="0"/>
          </a:p>
          <a:p>
            <a:r>
              <a:rPr lang="en-IN" sz="2800" dirty="0">
                <a:latin typeface="Arial"/>
                <a:cs typeface="Arial"/>
              </a:rPr>
              <a:t>The chart shown in Figure well illustrates a research</a:t>
            </a:r>
            <a:r>
              <a:rPr lang="en-IN" sz="2800" spc="-145" dirty="0">
                <a:latin typeface="Arial"/>
                <a:cs typeface="Arial"/>
              </a:rPr>
              <a:t> </a:t>
            </a:r>
            <a:r>
              <a:rPr lang="en-IN" sz="2800" dirty="0">
                <a:latin typeface="Arial"/>
                <a:cs typeface="Arial"/>
              </a:rPr>
              <a:t>process.</a:t>
            </a:r>
          </a:p>
          <a:p>
            <a:pPr marL="109728" indent="0">
              <a:buNone/>
            </a:pPr>
            <a:endParaRPr lang="en-IN" dirty="0"/>
          </a:p>
        </p:txBody>
      </p:sp>
      <p:sp>
        <p:nvSpPr>
          <p:cNvPr id="3" name="Title 2"/>
          <p:cNvSpPr>
            <a:spLocks noGrp="1"/>
          </p:cNvSpPr>
          <p:nvPr>
            <p:ph type="title"/>
          </p:nvPr>
        </p:nvSpPr>
        <p:spPr/>
        <p:txBody>
          <a:bodyPr/>
          <a:lstStyle/>
          <a:p>
            <a:r>
              <a:rPr lang="en-IN" sz="4400" spc="-5" dirty="0">
                <a:solidFill>
                  <a:srgbClr val="FF0000"/>
                </a:solidFill>
              </a:rPr>
              <a:t>RESEARCH</a:t>
            </a:r>
            <a:r>
              <a:rPr lang="en-IN" sz="4400" spc="-10" dirty="0">
                <a:solidFill>
                  <a:srgbClr val="FF0000"/>
                </a:solidFill>
              </a:rPr>
              <a:t> </a:t>
            </a:r>
            <a:r>
              <a:rPr lang="en-IN" sz="4400" spc="-5" dirty="0">
                <a:solidFill>
                  <a:srgbClr val="FF0000"/>
                </a:solidFill>
              </a:rPr>
              <a:t>PROCESS</a:t>
            </a:r>
            <a:endParaRPr lang="en-IN" dirty="0"/>
          </a:p>
        </p:txBody>
      </p:sp>
    </p:spTree>
    <p:extLst>
      <p:ext uri="{BB962C8B-B14F-4D97-AF65-F5344CB8AC3E}">
        <p14:creationId xmlns:p14="http://schemas.microsoft.com/office/powerpoint/2010/main" val="765294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xfrm>
            <a:off x="457200" y="332656"/>
            <a:ext cx="8075240" cy="5674635"/>
          </a:xfrm>
          <a:prstGeom prst="rect">
            <a:avLst/>
          </a:prstGeom>
          <a:blipFill>
            <a:blip r:embed="rId2" cstate="print"/>
            <a:stretch>
              <a:fillRect/>
            </a:stretch>
          </a:blipFill>
        </p:spPr>
        <p:txBody>
          <a:bodyPr wrap="square" lIns="0" tIns="0" rIns="0" bIns="0" rtlCol="0"/>
          <a:lstStyle/>
          <a:p>
            <a:endParaRPr lang="en-IN" dirty="0"/>
          </a:p>
        </p:txBody>
      </p:sp>
    </p:spTree>
    <p:extLst>
      <p:ext uri="{BB962C8B-B14F-4D97-AF65-F5344CB8AC3E}">
        <p14:creationId xmlns:p14="http://schemas.microsoft.com/office/powerpoint/2010/main" val="1050394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32656"/>
            <a:ext cx="8229600" cy="5674635"/>
          </a:xfrm>
        </p:spPr>
        <p:txBody>
          <a:bodyPr>
            <a:normAutofit fontScale="85000" lnSpcReduction="20000"/>
          </a:bodyPr>
          <a:lstStyle/>
          <a:p>
            <a:pPr marL="391795" indent="-379730">
              <a:lnSpc>
                <a:spcPct val="100000"/>
              </a:lnSpc>
              <a:spcBef>
                <a:spcPts val="105"/>
              </a:spcBef>
              <a:buAutoNum type="arabicParenBoth"/>
              <a:tabLst>
                <a:tab pos="392430" algn="l"/>
              </a:tabLst>
            </a:pPr>
            <a:r>
              <a:rPr lang="en-IN" sz="2800" dirty="0">
                <a:latin typeface="Arial"/>
                <a:cs typeface="Arial"/>
              </a:rPr>
              <a:t>Formulating the research</a:t>
            </a:r>
            <a:r>
              <a:rPr lang="en-IN" sz="2800" spc="-100" dirty="0">
                <a:latin typeface="Arial"/>
                <a:cs typeface="Arial"/>
              </a:rPr>
              <a:t> </a:t>
            </a:r>
            <a:r>
              <a:rPr lang="en-IN" sz="2800" dirty="0">
                <a:latin typeface="Arial"/>
                <a:cs typeface="Arial"/>
              </a:rPr>
              <a:t>problem</a:t>
            </a:r>
          </a:p>
          <a:p>
            <a:pPr marL="391795" indent="-379730">
              <a:lnSpc>
                <a:spcPct val="100000"/>
              </a:lnSpc>
              <a:spcBef>
                <a:spcPts val="1680"/>
              </a:spcBef>
              <a:buAutoNum type="arabicParenBoth"/>
              <a:tabLst>
                <a:tab pos="392430" algn="l"/>
              </a:tabLst>
            </a:pPr>
            <a:r>
              <a:rPr lang="en-IN" sz="2800" dirty="0">
                <a:latin typeface="Arial"/>
                <a:cs typeface="Arial"/>
              </a:rPr>
              <a:t>Extensive literature</a:t>
            </a:r>
            <a:r>
              <a:rPr lang="en-IN" sz="2800" spc="-110" dirty="0">
                <a:latin typeface="Arial"/>
                <a:cs typeface="Arial"/>
              </a:rPr>
              <a:t> </a:t>
            </a:r>
            <a:r>
              <a:rPr lang="en-IN" sz="2800" dirty="0">
                <a:latin typeface="Arial"/>
                <a:cs typeface="Arial"/>
              </a:rPr>
              <a:t>survey</a:t>
            </a:r>
          </a:p>
          <a:p>
            <a:pPr marL="391795" indent="-379730">
              <a:lnSpc>
                <a:spcPct val="100000"/>
              </a:lnSpc>
              <a:spcBef>
                <a:spcPts val="1680"/>
              </a:spcBef>
              <a:buAutoNum type="arabicParenBoth"/>
              <a:tabLst>
                <a:tab pos="392430" algn="l"/>
              </a:tabLst>
            </a:pPr>
            <a:r>
              <a:rPr lang="en-IN" sz="2800" dirty="0">
                <a:latin typeface="Arial"/>
                <a:cs typeface="Arial"/>
              </a:rPr>
              <a:t>Developing the</a:t>
            </a:r>
            <a:r>
              <a:rPr lang="en-IN" sz="2800" spc="-95" dirty="0">
                <a:latin typeface="Arial"/>
                <a:cs typeface="Arial"/>
              </a:rPr>
              <a:t> </a:t>
            </a:r>
            <a:r>
              <a:rPr lang="en-IN" sz="2800" dirty="0">
                <a:latin typeface="Arial"/>
                <a:cs typeface="Arial"/>
              </a:rPr>
              <a:t>hypothesis</a:t>
            </a:r>
          </a:p>
          <a:p>
            <a:pPr marL="391795" indent="-379730">
              <a:lnSpc>
                <a:spcPct val="100000"/>
              </a:lnSpc>
              <a:spcBef>
                <a:spcPts val="1680"/>
              </a:spcBef>
              <a:buAutoNum type="arabicParenBoth"/>
              <a:tabLst>
                <a:tab pos="392430" algn="l"/>
              </a:tabLst>
            </a:pPr>
            <a:r>
              <a:rPr lang="en-IN" sz="2800" dirty="0">
                <a:latin typeface="Arial"/>
                <a:cs typeface="Arial"/>
              </a:rPr>
              <a:t>Preparing the research</a:t>
            </a:r>
            <a:r>
              <a:rPr lang="en-IN" sz="2800" spc="-100" dirty="0">
                <a:latin typeface="Arial"/>
                <a:cs typeface="Arial"/>
              </a:rPr>
              <a:t> </a:t>
            </a:r>
            <a:r>
              <a:rPr lang="en-IN" sz="2800" dirty="0">
                <a:latin typeface="Arial"/>
                <a:cs typeface="Arial"/>
              </a:rPr>
              <a:t>design</a:t>
            </a:r>
          </a:p>
          <a:p>
            <a:pPr marL="391795" indent="-379730">
              <a:lnSpc>
                <a:spcPct val="100000"/>
              </a:lnSpc>
              <a:spcBef>
                <a:spcPts val="1685"/>
              </a:spcBef>
              <a:buAutoNum type="arabicParenBoth"/>
              <a:tabLst>
                <a:tab pos="392430" algn="l"/>
              </a:tabLst>
            </a:pPr>
            <a:r>
              <a:rPr lang="en-IN" sz="2800" dirty="0">
                <a:latin typeface="Arial"/>
                <a:cs typeface="Arial"/>
              </a:rPr>
              <a:t>Determining sample</a:t>
            </a:r>
            <a:r>
              <a:rPr lang="en-IN" sz="2800" spc="-60" dirty="0">
                <a:latin typeface="Arial"/>
                <a:cs typeface="Arial"/>
              </a:rPr>
              <a:t> </a:t>
            </a:r>
            <a:r>
              <a:rPr lang="en-IN" sz="2800" dirty="0">
                <a:latin typeface="Arial"/>
                <a:cs typeface="Arial"/>
              </a:rPr>
              <a:t>design</a:t>
            </a:r>
          </a:p>
          <a:p>
            <a:pPr marL="391795" indent="-379730">
              <a:lnSpc>
                <a:spcPct val="100000"/>
              </a:lnSpc>
              <a:spcBef>
                <a:spcPts val="1680"/>
              </a:spcBef>
              <a:buAutoNum type="arabicParenBoth"/>
              <a:tabLst>
                <a:tab pos="392430" algn="l"/>
              </a:tabLst>
            </a:pPr>
            <a:r>
              <a:rPr lang="en-IN" sz="2800" dirty="0">
                <a:latin typeface="Arial"/>
                <a:cs typeface="Arial"/>
              </a:rPr>
              <a:t>Collecting the</a:t>
            </a:r>
            <a:r>
              <a:rPr lang="en-IN" sz="2800" spc="-40" dirty="0">
                <a:latin typeface="Arial"/>
                <a:cs typeface="Arial"/>
              </a:rPr>
              <a:t> </a:t>
            </a:r>
            <a:r>
              <a:rPr lang="en-IN" sz="2800" dirty="0">
                <a:latin typeface="Arial"/>
                <a:cs typeface="Arial"/>
              </a:rPr>
              <a:t>data</a:t>
            </a:r>
          </a:p>
          <a:p>
            <a:pPr marL="391795" indent="-379730">
              <a:lnSpc>
                <a:spcPct val="100000"/>
              </a:lnSpc>
              <a:spcBef>
                <a:spcPts val="1680"/>
              </a:spcBef>
              <a:buAutoNum type="arabicParenBoth"/>
              <a:tabLst>
                <a:tab pos="392430" algn="l"/>
              </a:tabLst>
            </a:pPr>
            <a:r>
              <a:rPr lang="en-IN" sz="2800" dirty="0">
                <a:latin typeface="Arial"/>
                <a:cs typeface="Arial"/>
              </a:rPr>
              <a:t>Execution of the</a:t>
            </a:r>
            <a:r>
              <a:rPr lang="en-IN" sz="2800" spc="-60" dirty="0">
                <a:latin typeface="Arial"/>
                <a:cs typeface="Arial"/>
              </a:rPr>
              <a:t> </a:t>
            </a:r>
            <a:r>
              <a:rPr lang="en-IN" sz="2800" dirty="0">
                <a:latin typeface="Arial"/>
                <a:cs typeface="Arial"/>
              </a:rPr>
              <a:t>project</a:t>
            </a:r>
          </a:p>
          <a:p>
            <a:pPr marL="377825" indent="-365760">
              <a:lnSpc>
                <a:spcPct val="100000"/>
              </a:lnSpc>
              <a:spcBef>
                <a:spcPts val="1680"/>
              </a:spcBef>
              <a:buAutoNum type="arabicParenBoth"/>
              <a:tabLst>
                <a:tab pos="378460" algn="l"/>
              </a:tabLst>
            </a:pPr>
            <a:r>
              <a:rPr lang="en-IN" sz="2800" dirty="0">
                <a:latin typeface="Arial"/>
                <a:cs typeface="Arial"/>
              </a:rPr>
              <a:t>Analysis of</a:t>
            </a:r>
            <a:r>
              <a:rPr lang="en-IN" sz="2800" spc="-25" dirty="0">
                <a:latin typeface="Arial"/>
                <a:cs typeface="Arial"/>
              </a:rPr>
              <a:t> </a:t>
            </a:r>
            <a:r>
              <a:rPr lang="en-IN" sz="2800" dirty="0">
                <a:latin typeface="Arial"/>
                <a:cs typeface="Arial"/>
              </a:rPr>
              <a:t>data</a:t>
            </a:r>
          </a:p>
          <a:p>
            <a:pPr marL="391795" indent="-379730">
              <a:lnSpc>
                <a:spcPct val="100000"/>
              </a:lnSpc>
              <a:spcBef>
                <a:spcPts val="1680"/>
              </a:spcBef>
              <a:buAutoNum type="arabicParenBoth"/>
              <a:tabLst>
                <a:tab pos="392430" algn="l"/>
              </a:tabLst>
            </a:pPr>
            <a:r>
              <a:rPr lang="en-IN" sz="2800" dirty="0">
                <a:latin typeface="Arial"/>
                <a:cs typeface="Arial"/>
              </a:rPr>
              <a:t>Hypothesis</a:t>
            </a:r>
            <a:r>
              <a:rPr lang="en-IN" sz="2800" spc="-30" dirty="0">
                <a:latin typeface="Arial"/>
                <a:cs typeface="Arial"/>
              </a:rPr>
              <a:t> </a:t>
            </a:r>
            <a:r>
              <a:rPr lang="en-IN" sz="2800" dirty="0">
                <a:latin typeface="Arial"/>
                <a:cs typeface="Arial"/>
              </a:rPr>
              <a:t>testing</a:t>
            </a:r>
          </a:p>
          <a:p>
            <a:pPr marL="534035" indent="-521970">
              <a:lnSpc>
                <a:spcPct val="100000"/>
              </a:lnSpc>
              <a:spcBef>
                <a:spcPts val="1680"/>
              </a:spcBef>
              <a:buAutoNum type="arabicParenBoth"/>
              <a:tabLst>
                <a:tab pos="534670" algn="l"/>
              </a:tabLst>
            </a:pPr>
            <a:r>
              <a:rPr lang="en-IN" sz="2800" dirty="0">
                <a:latin typeface="Arial"/>
                <a:cs typeface="Arial"/>
              </a:rPr>
              <a:t>Generalizations and</a:t>
            </a:r>
            <a:r>
              <a:rPr lang="en-IN" sz="2800" spc="-60" dirty="0">
                <a:latin typeface="Arial"/>
                <a:cs typeface="Arial"/>
              </a:rPr>
              <a:t> </a:t>
            </a:r>
            <a:r>
              <a:rPr lang="en-IN" sz="2800" dirty="0">
                <a:latin typeface="Arial"/>
                <a:cs typeface="Arial"/>
              </a:rPr>
              <a:t>interpretation</a:t>
            </a:r>
          </a:p>
          <a:p>
            <a:pPr marL="513080" indent="-501015">
              <a:lnSpc>
                <a:spcPct val="100000"/>
              </a:lnSpc>
              <a:spcBef>
                <a:spcPts val="1685"/>
              </a:spcBef>
              <a:buAutoNum type="arabicParenBoth"/>
              <a:tabLst>
                <a:tab pos="513715" algn="l"/>
              </a:tabLst>
            </a:pPr>
            <a:r>
              <a:rPr lang="en-IN" sz="2800" dirty="0">
                <a:latin typeface="Arial"/>
                <a:cs typeface="Arial"/>
              </a:rPr>
              <a:t>Preparation of the report or presentation of the</a:t>
            </a:r>
            <a:r>
              <a:rPr lang="en-IN" sz="2800" spc="-215" dirty="0">
                <a:latin typeface="Arial"/>
                <a:cs typeface="Arial"/>
              </a:rPr>
              <a:t> </a:t>
            </a:r>
            <a:r>
              <a:rPr lang="en-IN" sz="2800" dirty="0">
                <a:latin typeface="Arial"/>
                <a:cs typeface="Arial"/>
              </a:rPr>
              <a:t>results</a:t>
            </a:r>
          </a:p>
          <a:p>
            <a:endParaRPr lang="en-IN" dirty="0"/>
          </a:p>
        </p:txBody>
      </p:sp>
    </p:spTree>
    <p:extLst>
      <p:ext uri="{BB962C8B-B14F-4D97-AF65-F5344CB8AC3E}">
        <p14:creationId xmlns:p14="http://schemas.microsoft.com/office/powerpoint/2010/main" val="1965722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There are two types of research problems, viz., those which relate to </a:t>
            </a:r>
            <a:r>
              <a:rPr lang="en-IN" b="1" dirty="0"/>
              <a:t>states of nature </a:t>
            </a:r>
            <a:r>
              <a:rPr lang="en-IN" dirty="0"/>
              <a:t>and those which relate to </a:t>
            </a:r>
            <a:r>
              <a:rPr lang="en-IN" b="1" dirty="0"/>
              <a:t>relationships between variables</a:t>
            </a:r>
            <a:r>
              <a:rPr lang="en-IN" dirty="0"/>
              <a:t>. </a:t>
            </a:r>
            <a:endParaRPr lang="en-IN" dirty="0" smtClean="0"/>
          </a:p>
          <a:p>
            <a:r>
              <a:rPr lang="en-IN" dirty="0"/>
              <a:t>Researcher must decide the general area of interest or aspect of a subject-matter that he would like to inquire into</a:t>
            </a:r>
          </a:p>
        </p:txBody>
      </p:sp>
      <p:sp>
        <p:nvSpPr>
          <p:cNvPr id="3" name="Title 2"/>
          <p:cNvSpPr>
            <a:spLocks noGrp="1"/>
          </p:cNvSpPr>
          <p:nvPr>
            <p:ph type="title"/>
          </p:nvPr>
        </p:nvSpPr>
        <p:spPr/>
        <p:txBody>
          <a:bodyPr>
            <a:normAutofit fontScale="90000"/>
          </a:bodyPr>
          <a:lstStyle/>
          <a:p>
            <a:r>
              <a:rPr lang="en-IN" dirty="0"/>
              <a:t>1. Formulating the research problem:</a:t>
            </a:r>
          </a:p>
        </p:txBody>
      </p:sp>
    </p:spTree>
    <p:extLst>
      <p:ext uri="{BB962C8B-B14F-4D97-AF65-F5344CB8AC3E}">
        <p14:creationId xmlns:p14="http://schemas.microsoft.com/office/powerpoint/2010/main" val="3506739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Once the problem is formulated, a brief summary of it should be written down. </a:t>
            </a:r>
            <a:endParaRPr lang="en-IN" dirty="0" smtClean="0"/>
          </a:p>
          <a:p>
            <a:r>
              <a:rPr lang="en-IN" dirty="0"/>
              <a:t>It is compulsory for a research worker writing a thesis for a Ph.D. degree to write a synopsis of the topic and submit it to the necessary Committee or the Research Board for approval.</a:t>
            </a:r>
          </a:p>
        </p:txBody>
      </p:sp>
      <p:sp>
        <p:nvSpPr>
          <p:cNvPr id="3" name="Title 2"/>
          <p:cNvSpPr>
            <a:spLocks noGrp="1"/>
          </p:cNvSpPr>
          <p:nvPr>
            <p:ph type="title"/>
          </p:nvPr>
        </p:nvSpPr>
        <p:spPr/>
        <p:txBody>
          <a:bodyPr/>
          <a:lstStyle/>
          <a:p>
            <a:r>
              <a:rPr lang="en-US" dirty="0" smtClean="0"/>
              <a:t>2.</a:t>
            </a:r>
            <a:r>
              <a:rPr lang="en-IN" dirty="0"/>
              <a:t> Extensive literature survey</a:t>
            </a:r>
          </a:p>
        </p:txBody>
      </p:sp>
    </p:spTree>
    <p:extLst>
      <p:ext uri="{BB962C8B-B14F-4D97-AF65-F5344CB8AC3E}">
        <p14:creationId xmlns:p14="http://schemas.microsoft.com/office/powerpoint/2010/main" val="1971656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After extensive literature survey, researcher should state in clear terms the working hypothesis or hypotheses</a:t>
            </a:r>
            <a:r>
              <a:rPr lang="en-IN" dirty="0" smtClean="0"/>
              <a:t>.</a:t>
            </a:r>
          </a:p>
          <a:p>
            <a:r>
              <a:rPr lang="en-IN" dirty="0"/>
              <a:t>In most types of research, the development of working hypothesis plays an important </a:t>
            </a:r>
            <a:r>
              <a:rPr lang="en-IN" dirty="0" smtClean="0"/>
              <a:t>role.</a:t>
            </a:r>
          </a:p>
          <a:p>
            <a:r>
              <a:rPr lang="en-IN" dirty="0" smtClean="0"/>
              <a:t>Hypothesis </a:t>
            </a:r>
            <a:r>
              <a:rPr lang="en-IN" dirty="0"/>
              <a:t>should be very specific and limited to the piece of research in hand because it has to be tested.</a:t>
            </a:r>
          </a:p>
        </p:txBody>
      </p:sp>
      <p:sp>
        <p:nvSpPr>
          <p:cNvPr id="3" name="Title 2"/>
          <p:cNvSpPr>
            <a:spLocks noGrp="1"/>
          </p:cNvSpPr>
          <p:nvPr>
            <p:ph type="title"/>
          </p:nvPr>
        </p:nvSpPr>
        <p:spPr/>
        <p:txBody>
          <a:bodyPr>
            <a:normAutofit fontScale="90000"/>
          </a:bodyPr>
          <a:lstStyle/>
          <a:p>
            <a:r>
              <a:rPr lang="en-US" dirty="0" smtClean="0"/>
              <a:t>3.</a:t>
            </a:r>
            <a:r>
              <a:rPr lang="en-IN" dirty="0"/>
              <a:t> Development of working hypotheses:</a:t>
            </a:r>
          </a:p>
        </p:txBody>
      </p:sp>
    </p:spTree>
    <p:extLst>
      <p:ext uri="{BB962C8B-B14F-4D97-AF65-F5344CB8AC3E}">
        <p14:creationId xmlns:p14="http://schemas.microsoft.com/office/powerpoint/2010/main" val="598882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dirty="0"/>
              <a:t>There are several research designs, such as, experimental and non-experimental hypothesis testing. </a:t>
            </a:r>
            <a:endParaRPr lang="en-IN" dirty="0" smtClean="0"/>
          </a:p>
          <a:p>
            <a:r>
              <a:rPr lang="en-IN" dirty="0" smtClean="0"/>
              <a:t>Experimental </a:t>
            </a:r>
            <a:r>
              <a:rPr lang="en-IN" dirty="0"/>
              <a:t>designs can be either </a:t>
            </a:r>
            <a:r>
              <a:rPr lang="en-IN" b="1" dirty="0"/>
              <a:t>informal </a:t>
            </a:r>
            <a:r>
              <a:rPr lang="en-IN" b="1" dirty="0" smtClean="0"/>
              <a:t>designs</a:t>
            </a:r>
            <a:endParaRPr lang="en-IN" dirty="0" smtClean="0"/>
          </a:p>
          <a:p>
            <a:pPr marL="109728" indent="0">
              <a:buNone/>
            </a:pPr>
            <a:r>
              <a:rPr lang="en-IN" dirty="0"/>
              <a:t>(</a:t>
            </a:r>
            <a:r>
              <a:rPr lang="en-IN" dirty="0" smtClean="0"/>
              <a:t>or) </a:t>
            </a:r>
          </a:p>
          <a:p>
            <a:r>
              <a:rPr lang="en-IN" b="1" dirty="0" smtClean="0"/>
              <a:t>formal </a:t>
            </a:r>
            <a:r>
              <a:rPr lang="en-IN" b="1" dirty="0"/>
              <a:t>designs </a:t>
            </a:r>
            <a:r>
              <a:rPr lang="en-IN" dirty="0" smtClean="0"/>
              <a:t>, </a:t>
            </a:r>
            <a:r>
              <a:rPr lang="en-IN" dirty="0"/>
              <a:t>out of which the researcher must select one for his own project.</a:t>
            </a:r>
          </a:p>
        </p:txBody>
      </p:sp>
      <p:sp>
        <p:nvSpPr>
          <p:cNvPr id="3" name="Title 2"/>
          <p:cNvSpPr>
            <a:spLocks noGrp="1"/>
          </p:cNvSpPr>
          <p:nvPr>
            <p:ph type="title"/>
          </p:nvPr>
        </p:nvSpPr>
        <p:spPr/>
        <p:txBody>
          <a:bodyPr>
            <a:normAutofit fontScale="90000"/>
          </a:bodyPr>
          <a:lstStyle/>
          <a:p>
            <a:r>
              <a:rPr lang="en-US" dirty="0" smtClean="0"/>
              <a:t>4.</a:t>
            </a:r>
            <a:r>
              <a:rPr lang="en-IN" dirty="0"/>
              <a:t> Preparing the research design: </a:t>
            </a:r>
          </a:p>
        </p:txBody>
      </p:sp>
    </p:spTree>
    <p:extLst>
      <p:ext uri="{BB962C8B-B14F-4D97-AF65-F5344CB8AC3E}">
        <p14:creationId xmlns:p14="http://schemas.microsoft.com/office/powerpoint/2010/main" val="3110656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The researcher must decide the way of selecting a sample or what is popularly known as the sample design</a:t>
            </a:r>
            <a:r>
              <a:rPr lang="en-IN" dirty="0" smtClean="0"/>
              <a:t>.</a:t>
            </a:r>
          </a:p>
          <a:p>
            <a:r>
              <a:rPr lang="en-IN" dirty="0"/>
              <a:t>Samples can be either probability samples or non-probability samples. </a:t>
            </a:r>
          </a:p>
        </p:txBody>
      </p:sp>
      <p:sp>
        <p:nvSpPr>
          <p:cNvPr id="3" name="Title 2"/>
          <p:cNvSpPr>
            <a:spLocks noGrp="1"/>
          </p:cNvSpPr>
          <p:nvPr>
            <p:ph type="title"/>
          </p:nvPr>
        </p:nvSpPr>
        <p:spPr/>
        <p:txBody>
          <a:bodyPr/>
          <a:lstStyle/>
          <a:p>
            <a:r>
              <a:rPr lang="en-US" dirty="0" smtClean="0"/>
              <a:t>5.</a:t>
            </a:r>
            <a:r>
              <a:rPr lang="en-IN" dirty="0"/>
              <a:t> Determining sample design: </a:t>
            </a:r>
          </a:p>
        </p:txBody>
      </p:sp>
    </p:spTree>
    <p:extLst>
      <p:ext uri="{BB962C8B-B14F-4D97-AF65-F5344CB8AC3E}">
        <p14:creationId xmlns:p14="http://schemas.microsoft.com/office/powerpoint/2010/main" val="414011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Primary data can be collected either through experiment or through </a:t>
            </a:r>
            <a:r>
              <a:rPr lang="en-IN" dirty="0" smtClean="0"/>
              <a:t>survey.</a:t>
            </a:r>
          </a:p>
          <a:p>
            <a:r>
              <a:rPr lang="en-IN" dirty="0" smtClean="0"/>
              <a:t>In </a:t>
            </a:r>
            <a:r>
              <a:rPr lang="en-IN" dirty="0"/>
              <a:t>the case of a survey, data can be collected by any one or more of the following ways</a:t>
            </a:r>
            <a:r>
              <a:rPr lang="en-IN" dirty="0" smtClean="0"/>
              <a:t>:</a:t>
            </a:r>
          </a:p>
          <a:p>
            <a:pPr marL="624078" indent="-514350">
              <a:buFont typeface="+mj-lt"/>
              <a:buAutoNum type="arabicParenR"/>
            </a:pPr>
            <a:r>
              <a:rPr lang="en-IN" dirty="0"/>
              <a:t>By observation</a:t>
            </a:r>
            <a:r>
              <a:rPr lang="en-IN" dirty="0" smtClean="0"/>
              <a:t>:</a:t>
            </a:r>
          </a:p>
          <a:p>
            <a:pPr marL="624078" indent="-514350">
              <a:buFont typeface="+mj-lt"/>
              <a:buAutoNum type="arabicParenR"/>
            </a:pPr>
            <a:r>
              <a:rPr lang="en-IN" dirty="0"/>
              <a:t>Through personal interview</a:t>
            </a:r>
            <a:r>
              <a:rPr lang="en-IN" dirty="0" smtClean="0"/>
              <a:t>:</a:t>
            </a:r>
          </a:p>
          <a:p>
            <a:pPr marL="624078" indent="-514350">
              <a:buFont typeface="+mj-lt"/>
              <a:buAutoNum type="arabicParenR"/>
            </a:pPr>
            <a:r>
              <a:rPr lang="en-IN" dirty="0"/>
              <a:t>Through telephone interviews</a:t>
            </a:r>
            <a:r>
              <a:rPr lang="en-IN" dirty="0" smtClean="0"/>
              <a:t>:</a:t>
            </a:r>
          </a:p>
          <a:p>
            <a:pPr marL="624078" indent="-514350">
              <a:buFont typeface="+mj-lt"/>
              <a:buAutoNum type="arabicParenR"/>
            </a:pPr>
            <a:r>
              <a:rPr lang="en-IN" dirty="0"/>
              <a:t>By mailing of questionnaires: </a:t>
            </a:r>
            <a:endParaRPr lang="en-IN" dirty="0" smtClean="0"/>
          </a:p>
          <a:p>
            <a:pPr marL="624078" indent="-514350">
              <a:buFont typeface="+mj-lt"/>
              <a:buAutoNum type="arabicParenR"/>
            </a:pPr>
            <a:r>
              <a:rPr lang="en-IN" dirty="0"/>
              <a:t>Through schedules:</a:t>
            </a:r>
          </a:p>
        </p:txBody>
      </p:sp>
      <p:sp>
        <p:nvSpPr>
          <p:cNvPr id="3" name="Title 2"/>
          <p:cNvSpPr>
            <a:spLocks noGrp="1"/>
          </p:cNvSpPr>
          <p:nvPr>
            <p:ph type="title"/>
          </p:nvPr>
        </p:nvSpPr>
        <p:spPr/>
        <p:txBody>
          <a:bodyPr/>
          <a:lstStyle/>
          <a:p>
            <a:r>
              <a:rPr lang="en-US" dirty="0" smtClean="0"/>
              <a:t>6.</a:t>
            </a:r>
            <a:r>
              <a:rPr lang="en-IN" dirty="0"/>
              <a:t> Collecting the data:</a:t>
            </a:r>
          </a:p>
        </p:txBody>
      </p:sp>
    </p:spTree>
    <p:extLst>
      <p:ext uri="{BB962C8B-B14F-4D97-AF65-F5344CB8AC3E}">
        <p14:creationId xmlns:p14="http://schemas.microsoft.com/office/powerpoint/2010/main" val="2307995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Execution of the project is a very important step in the research process. </a:t>
            </a:r>
            <a:endParaRPr lang="en-IN" dirty="0" smtClean="0"/>
          </a:p>
          <a:p>
            <a:r>
              <a:rPr lang="en-IN" dirty="0"/>
              <a:t>The researcher should see that the project is </a:t>
            </a:r>
            <a:r>
              <a:rPr lang="en-IN" dirty="0" smtClean="0"/>
              <a:t>executed </a:t>
            </a:r>
            <a:r>
              <a:rPr lang="en-IN" dirty="0"/>
              <a:t>in a systematic manner and in time</a:t>
            </a:r>
            <a:r>
              <a:rPr lang="en-IN" dirty="0" smtClean="0"/>
              <a:t>.</a:t>
            </a:r>
          </a:p>
          <a:p>
            <a:pPr marL="109728" indent="0">
              <a:buNone/>
            </a:pPr>
            <a:endParaRPr lang="en-US" dirty="0"/>
          </a:p>
          <a:p>
            <a:pPr marL="109728" indent="0">
              <a:buNone/>
            </a:pPr>
            <a:r>
              <a:rPr lang="en-US" b="1" dirty="0" smtClean="0"/>
              <a:t>8.</a:t>
            </a:r>
            <a:r>
              <a:rPr lang="en-IN" b="1" dirty="0"/>
              <a:t> Analysis of data: </a:t>
            </a:r>
            <a:r>
              <a:rPr lang="en-IN" dirty="0" smtClean="0"/>
              <a:t>Researcher </a:t>
            </a:r>
            <a:r>
              <a:rPr lang="en-IN" dirty="0"/>
              <a:t>should classify the raw data into some purposeful and usable categories. </a:t>
            </a:r>
          </a:p>
        </p:txBody>
      </p:sp>
      <p:sp>
        <p:nvSpPr>
          <p:cNvPr id="3" name="Title 2"/>
          <p:cNvSpPr>
            <a:spLocks noGrp="1"/>
          </p:cNvSpPr>
          <p:nvPr>
            <p:ph type="title"/>
          </p:nvPr>
        </p:nvSpPr>
        <p:spPr/>
        <p:txBody>
          <a:bodyPr/>
          <a:lstStyle/>
          <a:p>
            <a:r>
              <a:rPr lang="en-US" dirty="0" smtClean="0"/>
              <a:t>7.</a:t>
            </a:r>
            <a:r>
              <a:rPr lang="en-IN" dirty="0"/>
              <a:t> Execution of the project: </a:t>
            </a:r>
          </a:p>
        </p:txBody>
      </p:sp>
    </p:spTree>
    <p:extLst>
      <p:ext uri="{BB962C8B-B14F-4D97-AF65-F5344CB8AC3E}">
        <p14:creationId xmlns:p14="http://schemas.microsoft.com/office/powerpoint/2010/main" val="4266198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Various tests, such as Chi square test, t-test, F-test, have been developed by statisticians for the purpose. </a:t>
            </a:r>
            <a:endParaRPr lang="en-IN" dirty="0" smtClean="0"/>
          </a:p>
          <a:p>
            <a:r>
              <a:rPr lang="en-IN" dirty="0" smtClean="0"/>
              <a:t>The </a:t>
            </a:r>
            <a:r>
              <a:rPr lang="en-IN" dirty="0"/>
              <a:t>hypotheses may be tested through the use of one or more of such tests, depending upon the nature and object of research </a:t>
            </a:r>
            <a:r>
              <a:rPr lang="en-IN" dirty="0" smtClean="0"/>
              <a:t>inquiry</a:t>
            </a:r>
          </a:p>
          <a:p>
            <a:r>
              <a:rPr lang="en-IN" dirty="0"/>
              <a:t>Hypothesis-testing will result in either accepting the hypothesis or in rejecting it. </a:t>
            </a:r>
          </a:p>
        </p:txBody>
      </p:sp>
      <p:sp>
        <p:nvSpPr>
          <p:cNvPr id="3" name="Title 2"/>
          <p:cNvSpPr>
            <a:spLocks noGrp="1"/>
          </p:cNvSpPr>
          <p:nvPr>
            <p:ph type="title"/>
          </p:nvPr>
        </p:nvSpPr>
        <p:spPr/>
        <p:txBody>
          <a:bodyPr/>
          <a:lstStyle/>
          <a:p>
            <a:r>
              <a:rPr lang="en-IN" dirty="0"/>
              <a:t>9. Hypothesis-testing: </a:t>
            </a:r>
          </a:p>
        </p:txBody>
      </p:sp>
    </p:spTree>
    <p:extLst>
      <p:ext uri="{BB962C8B-B14F-4D97-AF65-F5344CB8AC3E}">
        <p14:creationId xmlns:p14="http://schemas.microsoft.com/office/powerpoint/2010/main" val="32029996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 If a hypothesis is tested and upheld several times, it may be possible for the researcher to arrive at </a:t>
            </a:r>
            <a:r>
              <a:rPr lang="en-IN" b="1" dirty="0"/>
              <a:t>generalisation</a:t>
            </a:r>
            <a:r>
              <a:rPr lang="en-IN" dirty="0"/>
              <a:t>, i.e., to build a theory. As a matter of fact, the real value of research lies in its ability to arrive at certain generalisations. </a:t>
            </a:r>
            <a:endParaRPr lang="en-IN" dirty="0" smtClean="0"/>
          </a:p>
          <a:p>
            <a:r>
              <a:rPr lang="en-IN" dirty="0" smtClean="0"/>
              <a:t>If </a:t>
            </a:r>
            <a:r>
              <a:rPr lang="en-IN" dirty="0"/>
              <a:t>the researcher had no hypothesis to start with, he might seek to explain his findings on the basis of some theory. It is known as </a:t>
            </a:r>
            <a:r>
              <a:rPr lang="en-IN" b="1" dirty="0"/>
              <a:t>interpretatio</a:t>
            </a:r>
            <a:r>
              <a:rPr lang="en-IN" dirty="0"/>
              <a:t>n.</a:t>
            </a:r>
          </a:p>
        </p:txBody>
      </p:sp>
      <p:sp>
        <p:nvSpPr>
          <p:cNvPr id="3" name="Title 2"/>
          <p:cNvSpPr>
            <a:spLocks noGrp="1"/>
          </p:cNvSpPr>
          <p:nvPr>
            <p:ph type="title"/>
          </p:nvPr>
        </p:nvSpPr>
        <p:spPr/>
        <p:txBody>
          <a:bodyPr>
            <a:normAutofit fontScale="90000"/>
          </a:bodyPr>
          <a:lstStyle/>
          <a:p>
            <a:r>
              <a:rPr lang="en-IN" dirty="0"/>
              <a:t>10. Generalisations and interpretation: </a:t>
            </a:r>
          </a:p>
        </p:txBody>
      </p:sp>
    </p:spTree>
    <p:extLst>
      <p:ext uri="{BB962C8B-B14F-4D97-AF65-F5344CB8AC3E}">
        <p14:creationId xmlns:p14="http://schemas.microsoft.com/office/powerpoint/2010/main" val="250390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IN" dirty="0"/>
              <a:t>Finally, the researcher has to prepare the report of what has been done by him. Writing of report must be done with great care keeping in view the following: </a:t>
            </a:r>
            <a:endParaRPr lang="en-IN" dirty="0" smtClean="0"/>
          </a:p>
          <a:p>
            <a:r>
              <a:rPr lang="en-IN" dirty="0" smtClean="0"/>
              <a:t>1</a:t>
            </a:r>
            <a:r>
              <a:rPr lang="en-IN" dirty="0"/>
              <a:t>. The layout of the report should be as follows</a:t>
            </a:r>
            <a:r>
              <a:rPr lang="en-IN" dirty="0" smtClean="0"/>
              <a:t>:</a:t>
            </a:r>
          </a:p>
          <a:p>
            <a:r>
              <a:rPr lang="en-IN" dirty="0" smtClean="0"/>
              <a:t> </a:t>
            </a:r>
            <a:r>
              <a:rPr lang="en-IN" dirty="0"/>
              <a:t>(i) the preliminary pages; </a:t>
            </a:r>
            <a:endParaRPr lang="en-IN" dirty="0" smtClean="0"/>
          </a:p>
          <a:p>
            <a:r>
              <a:rPr lang="en-IN" dirty="0" smtClean="0"/>
              <a:t>(</a:t>
            </a:r>
            <a:r>
              <a:rPr lang="en-IN" dirty="0"/>
              <a:t>ii) the main text, and </a:t>
            </a:r>
            <a:endParaRPr lang="en-IN" dirty="0" smtClean="0"/>
          </a:p>
          <a:p>
            <a:r>
              <a:rPr lang="en-IN" dirty="0" smtClean="0"/>
              <a:t>(</a:t>
            </a:r>
            <a:r>
              <a:rPr lang="en-IN" dirty="0"/>
              <a:t>iii) the end matter</a:t>
            </a:r>
            <a:r>
              <a:rPr lang="en-IN" dirty="0" smtClean="0"/>
              <a:t>.</a:t>
            </a:r>
          </a:p>
          <a:p>
            <a:r>
              <a:rPr lang="en-IN" dirty="0" smtClean="0"/>
              <a:t>Towards </a:t>
            </a:r>
            <a:r>
              <a:rPr lang="en-IN" dirty="0"/>
              <a:t>the end of the main text, researcher should again put down the results of his research clearly and precisely. In fact, it is the final summing up. </a:t>
            </a:r>
          </a:p>
        </p:txBody>
      </p:sp>
      <p:sp>
        <p:nvSpPr>
          <p:cNvPr id="3" name="Title 2"/>
          <p:cNvSpPr>
            <a:spLocks noGrp="1"/>
          </p:cNvSpPr>
          <p:nvPr>
            <p:ph type="title"/>
          </p:nvPr>
        </p:nvSpPr>
        <p:spPr/>
        <p:txBody>
          <a:bodyPr>
            <a:normAutofit fontScale="90000"/>
          </a:bodyPr>
          <a:lstStyle/>
          <a:p>
            <a:r>
              <a:rPr lang="en-US" dirty="0" smtClean="0"/>
              <a:t>11.</a:t>
            </a:r>
            <a:r>
              <a:rPr lang="en-IN" dirty="0"/>
              <a:t> Preparation of the report or the thesis:</a:t>
            </a:r>
          </a:p>
        </p:txBody>
      </p:sp>
    </p:spTree>
    <p:extLst>
      <p:ext uri="{BB962C8B-B14F-4D97-AF65-F5344CB8AC3E}">
        <p14:creationId xmlns:p14="http://schemas.microsoft.com/office/powerpoint/2010/main" val="34938837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 In its preliminary pages the report should carry </a:t>
            </a:r>
            <a:r>
              <a:rPr lang="en-IN" b="1" dirty="0"/>
              <a:t>title and date </a:t>
            </a:r>
            <a:r>
              <a:rPr lang="en-IN" dirty="0"/>
              <a:t>followed by </a:t>
            </a:r>
            <a:r>
              <a:rPr lang="en-IN" b="1" dirty="0"/>
              <a:t>acknowledgements and foreword</a:t>
            </a:r>
            <a:r>
              <a:rPr lang="en-IN" dirty="0"/>
              <a:t>. Then there should be a table of contents followed by a list of tables and list of graphs and charts, if any, given in the report. </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1627244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IN" dirty="0"/>
              <a:t>The main text of the report should have the following parts: </a:t>
            </a:r>
            <a:endParaRPr lang="en-IN" dirty="0" smtClean="0"/>
          </a:p>
          <a:p>
            <a:r>
              <a:rPr lang="en-IN" dirty="0" smtClean="0"/>
              <a:t>(</a:t>
            </a:r>
            <a:r>
              <a:rPr lang="en-IN" dirty="0"/>
              <a:t>a) Introduction: It should contain a clear statement of the objective of the research and an explanation of the methodology adopted in accomplishing the research. The scope of the study along with various limitations should as well be stated in this part. </a:t>
            </a:r>
            <a:endParaRPr lang="en-IN" dirty="0" smtClean="0"/>
          </a:p>
          <a:p>
            <a:r>
              <a:rPr lang="en-IN" dirty="0" smtClean="0"/>
              <a:t>(</a:t>
            </a:r>
            <a:r>
              <a:rPr lang="en-IN" dirty="0"/>
              <a:t>b) Summary of findings: After introduction there would appear a statement of findings and recommendations in non-technical language. If the findings are extensive, they should be summarised. (c) Main report: </a:t>
            </a:r>
            <a:endParaRPr lang="en-IN" dirty="0" smtClean="0"/>
          </a:p>
          <a:p>
            <a:r>
              <a:rPr lang="en-IN" dirty="0" smtClean="0"/>
              <a:t>The </a:t>
            </a:r>
            <a:r>
              <a:rPr lang="en-IN" dirty="0"/>
              <a:t>main body of the report should be presented in logical sequence and broken-down into readily identifiable sections. </a:t>
            </a:r>
            <a:endParaRPr lang="en-IN" dirty="0" smtClean="0"/>
          </a:p>
          <a:p>
            <a:r>
              <a:rPr lang="en-IN" dirty="0" smtClean="0"/>
              <a:t>(</a:t>
            </a:r>
            <a:r>
              <a:rPr lang="en-IN" dirty="0"/>
              <a:t>d) Conclusion:</a:t>
            </a:r>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252197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At the end of the report, appendices should be enlisted in respect of all technical data. Bibliography, i.e., list of books, journals, reports, etc., consulted, should also be given in the end. Index should also be given specially in a published research report.</a:t>
            </a:r>
          </a:p>
          <a:p>
            <a:endParaRPr lang="en-IN" dirty="0"/>
          </a:p>
        </p:txBody>
      </p:sp>
      <p:sp>
        <p:nvSpPr>
          <p:cNvPr id="3" name="Title 2"/>
          <p:cNvSpPr>
            <a:spLocks noGrp="1"/>
          </p:cNvSpPr>
          <p:nvPr>
            <p:ph type="title"/>
          </p:nvPr>
        </p:nvSpPr>
        <p:spPr/>
        <p:txBody>
          <a:bodyPr/>
          <a:lstStyle/>
          <a:p>
            <a:endParaRPr lang="en-IN"/>
          </a:p>
        </p:txBody>
      </p:sp>
    </p:spTree>
    <p:extLst>
      <p:ext uri="{BB962C8B-B14F-4D97-AF65-F5344CB8AC3E}">
        <p14:creationId xmlns:p14="http://schemas.microsoft.com/office/powerpoint/2010/main" val="1637304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pPr marL="355600" indent="-342900">
              <a:lnSpc>
                <a:spcPct val="100000"/>
              </a:lnSpc>
              <a:spcBef>
                <a:spcPts val="484"/>
              </a:spcBef>
              <a:buChar char="•"/>
              <a:tabLst>
                <a:tab pos="354965" algn="l"/>
                <a:tab pos="355600" algn="l"/>
              </a:tabLst>
            </a:pPr>
            <a:r>
              <a:rPr lang="en-IN" sz="2800" spc="-5" dirty="0">
                <a:latin typeface="Arial"/>
                <a:cs typeface="Arial"/>
              </a:rPr>
              <a:t>The scientific research must satisfy the following</a:t>
            </a:r>
            <a:r>
              <a:rPr lang="en-IN" sz="2800" spc="35" dirty="0">
                <a:latin typeface="Arial"/>
                <a:cs typeface="Arial"/>
              </a:rPr>
              <a:t> </a:t>
            </a:r>
            <a:r>
              <a:rPr lang="en-IN" sz="2800" spc="-5" dirty="0">
                <a:latin typeface="Arial"/>
                <a:cs typeface="Arial"/>
              </a:rPr>
              <a:t>criteria:</a:t>
            </a:r>
            <a:endParaRPr lang="en-IN" sz="2800" dirty="0">
              <a:latin typeface="Arial"/>
              <a:cs typeface="Arial"/>
            </a:endParaRPr>
          </a:p>
          <a:p>
            <a:pPr marL="355600" indent="-342900">
              <a:lnSpc>
                <a:spcPct val="100000"/>
              </a:lnSpc>
              <a:spcBef>
                <a:spcPts val="380"/>
              </a:spcBef>
              <a:buChar char="•"/>
              <a:tabLst>
                <a:tab pos="354965" algn="l"/>
                <a:tab pos="355600" algn="l"/>
              </a:tabLst>
            </a:pPr>
            <a:r>
              <a:rPr lang="en-IN" sz="2800" spc="-5" dirty="0">
                <a:latin typeface="Arial"/>
                <a:cs typeface="Arial"/>
              </a:rPr>
              <a:t>The purpose of the research should be clearly defined and common concepts be</a:t>
            </a:r>
            <a:r>
              <a:rPr lang="en-IN" sz="2800" spc="170" dirty="0">
                <a:latin typeface="Arial"/>
                <a:cs typeface="Arial"/>
              </a:rPr>
              <a:t> </a:t>
            </a:r>
            <a:r>
              <a:rPr lang="en-IN" sz="2800" spc="-5" dirty="0">
                <a:latin typeface="Arial"/>
                <a:cs typeface="Arial"/>
              </a:rPr>
              <a:t>used.</a:t>
            </a:r>
            <a:endParaRPr lang="en-IN" sz="2800" dirty="0">
              <a:latin typeface="Arial"/>
              <a:cs typeface="Arial"/>
            </a:endParaRPr>
          </a:p>
          <a:p>
            <a:pPr marL="355600" marR="110489" indent="-342900">
              <a:lnSpc>
                <a:spcPct val="100000"/>
              </a:lnSpc>
              <a:spcBef>
                <a:spcPts val="385"/>
              </a:spcBef>
              <a:buChar char="•"/>
              <a:tabLst>
                <a:tab pos="354965" algn="l"/>
                <a:tab pos="355600" algn="l"/>
              </a:tabLst>
            </a:pPr>
            <a:r>
              <a:rPr lang="en-IN" sz="2800" spc="-5" dirty="0">
                <a:latin typeface="Arial"/>
                <a:cs typeface="Arial"/>
              </a:rPr>
              <a:t>The research procedure used should be described </a:t>
            </a:r>
            <a:r>
              <a:rPr lang="en-IN" sz="2800" dirty="0">
                <a:latin typeface="Arial"/>
                <a:cs typeface="Arial"/>
              </a:rPr>
              <a:t>in </a:t>
            </a:r>
            <a:r>
              <a:rPr lang="en-IN" sz="2800" spc="-5" dirty="0">
                <a:latin typeface="Arial"/>
                <a:cs typeface="Arial"/>
              </a:rPr>
              <a:t>sufficient detail to permit another  researcher to repeat the research for further advancement, keeping the continuity of </a:t>
            </a:r>
            <a:r>
              <a:rPr lang="en-IN" sz="2800" spc="-10" dirty="0">
                <a:latin typeface="Arial"/>
                <a:cs typeface="Arial"/>
              </a:rPr>
              <a:t>what  </a:t>
            </a:r>
            <a:r>
              <a:rPr lang="en-IN" sz="2800" spc="-5" dirty="0">
                <a:latin typeface="Arial"/>
                <a:cs typeface="Arial"/>
              </a:rPr>
              <a:t>has already been</a:t>
            </a:r>
            <a:r>
              <a:rPr lang="en-IN" sz="2800" spc="5" dirty="0">
                <a:latin typeface="Arial"/>
                <a:cs typeface="Arial"/>
              </a:rPr>
              <a:t> </a:t>
            </a:r>
            <a:r>
              <a:rPr lang="en-IN" sz="2800" spc="-5" dirty="0">
                <a:latin typeface="Arial"/>
                <a:cs typeface="Arial"/>
              </a:rPr>
              <a:t>attained.</a:t>
            </a:r>
            <a:endParaRPr lang="en-IN" sz="2800" dirty="0">
              <a:latin typeface="Arial"/>
              <a:cs typeface="Arial"/>
            </a:endParaRPr>
          </a:p>
          <a:p>
            <a:pPr marL="355600" marR="71755" indent="-342900">
              <a:lnSpc>
                <a:spcPct val="100000"/>
              </a:lnSpc>
              <a:spcBef>
                <a:spcPts val="390"/>
              </a:spcBef>
              <a:buChar char="•"/>
              <a:tabLst>
                <a:tab pos="354965" algn="l"/>
                <a:tab pos="355600" algn="l"/>
              </a:tabLst>
            </a:pPr>
            <a:r>
              <a:rPr lang="en-IN" sz="2800" spc="-5" dirty="0">
                <a:latin typeface="Arial"/>
                <a:cs typeface="Arial"/>
              </a:rPr>
              <a:t>The procedural design of the research should be carefully planned to </a:t>
            </a:r>
            <a:r>
              <a:rPr lang="en-IN" sz="2800" spc="-10" dirty="0">
                <a:latin typeface="Arial"/>
                <a:cs typeface="Arial"/>
              </a:rPr>
              <a:t>yield </a:t>
            </a:r>
            <a:r>
              <a:rPr lang="en-IN" sz="2800" spc="-5" dirty="0">
                <a:latin typeface="Arial"/>
                <a:cs typeface="Arial"/>
              </a:rPr>
              <a:t>results that are  as objective as</a:t>
            </a:r>
            <a:r>
              <a:rPr lang="en-IN" sz="2800" spc="-10" dirty="0">
                <a:latin typeface="Arial"/>
                <a:cs typeface="Arial"/>
              </a:rPr>
              <a:t> </a:t>
            </a:r>
            <a:r>
              <a:rPr lang="en-IN" sz="2800" spc="-5" dirty="0">
                <a:latin typeface="Arial"/>
                <a:cs typeface="Arial"/>
              </a:rPr>
              <a:t>possible.</a:t>
            </a:r>
            <a:endParaRPr lang="en-IN" sz="2800" dirty="0">
              <a:latin typeface="Arial"/>
              <a:cs typeface="Arial"/>
            </a:endParaRPr>
          </a:p>
          <a:p>
            <a:pPr marL="355600" marR="421640" indent="-342900">
              <a:lnSpc>
                <a:spcPct val="100000"/>
              </a:lnSpc>
              <a:spcBef>
                <a:spcPts val="380"/>
              </a:spcBef>
              <a:buChar char="•"/>
              <a:tabLst>
                <a:tab pos="354965" algn="l"/>
                <a:tab pos="355600" algn="l"/>
              </a:tabLst>
            </a:pPr>
            <a:r>
              <a:rPr lang="en-IN" sz="2800" spc="-5" dirty="0">
                <a:latin typeface="Arial"/>
                <a:cs typeface="Arial"/>
              </a:rPr>
              <a:t>The researcher should report </a:t>
            </a:r>
            <a:r>
              <a:rPr lang="en-IN" sz="2800" spc="-10" dirty="0">
                <a:latin typeface="Arial"/>
                <a:cs typeface="Arial"/>
              </a:rPr>
              <a:t>with </a:t>
            </a:r>
            <a:r>
              <a:rPr lang="en-IN" sz="2800" spc="-5" dirty="0">
                <a:latin typeface="Arial"/>
                <a:cs typeface="Arial"/>
              </a:rPr>
              <a:t>complete frankness, flaws in procedural design and  estimate their </a:t>
            </a:r>
            <a:r>
              <a:rPr lang="en-IN" sz="2800" spc="-10" dirty="0">
                <a:latin typeface="Arial"/>
                <a:cs typeface="Arial"/>
              </a:rPr>
              <a:t>effects </a:t>
            </a:r>
            <a:r>
              <a:rPr lang="en-IN" sz="2800" spc="-5" dirty="0">
                <a:latin typeface="Arial"/>
                <a:cs typeface="Arial"/>
              </a:rPr>
              <a:t>upon the</a:t>
            </a:r>
            <a:r>
              <a:rPr lang="en-IN" sz="2800" spc="60" dirty="0">
                <a:latin typeface="Arial"/>
                <a:cs typeface="Arial"/>
              </a:rPr>
              <a:t> </a:t>
            </a:r>
            <a:r>
              <a:rPr lang="en-IN" sz="2800" spc="-5" dirty="0">
                <a:latin typeface="Arial"/>
                <a:cs typeface="Arial"/>
              </a:rPr>
              <a:t>findings.</a:t>
            </a:r>
            <a:endParaRPr lang="en-IN" sz="2800" dirty="0">
              <a:latin typeface="Arial"/>
              <a:cs typeface="Arial"/>
            </a:endParaRPr>
          </a:p>
          <a:p>
            <a:pPr marL="355600" marR="426084" indent="-342900">
              <a:lnSpc>
                <a:spcPct val="100000"/>
              </a:lnSpc>
              <a:spcBef>
                <a:spcPts val="385"/>
              </a:spcBef>
              <a:buChar char="•"/>
              <a:tabLst>
                <a:tab pos="354965" algn="l"/>
                <a:tab pos="355600" algn="l"/>
              </a:tabLst>
            </a:pPr>
            <a:r>
              <a:rPr lang="en-IN" sz="2800" spc="-5" dirty="0">
                <a:latin typeface="Arial"/>
                <a:cs typeface="Arial"/>
              </a:rPr>
              <a:t>The analysis of data should be sufficiently adequate to reveal its significance and the  methods of analysis used should be appropriate. The validity and reliability of the data  should be checked</a:t>
            </a:r>
            <a:r>
              <a:rPr lang="en-IN" sz="2800" spc="-10" dirty="0">
                <a:latin typeface="Arial"/>
                <a:cs typeface="Arial"/>
              </a:rPr>
              <a:t> </a:t>
            </a:r>
            <a:r>
              <a:rPr lang="en-IN" sz="2800" spc="-20" dirty="0">
                <a:latin typeface="Arial"/>
                <a:cs typeface="Arial"/>
              </a:rPr>
              <a:t>carefully.</a:t>
            </a:r>
            <a:endParaRPr lang="en-IN" sz="2800" dirty="0">
              <a:latin typeface="Arial"/>
              <a:cs typeface="Arial"/>
            </a:endParaRPr>
          </a:p>
          <a:p>
            <a:pPr marL="355600" marR="5080" indent="-342900">
              <a:lnSpc>
                <a:spcPct val="100000"/>
              </a:lnSpc>
              <a:spcBef>
                <a:spcPts val="385"/>
              </a:spcBef>
              <a:buChar char="•"/>
              <a:tabLst>
                <a:tab pos="354965" algn="l"/>
                <a:tab pos="355600" algn="l"/>
              </a:tabLst>
            </a:pPr>
            <a:r>
              <a:rPr lang="en-IN" sz="2800" spc="-5" dirty="0">
                <a:latin typeface="Arial"/>
                <a:cs typeface="Arial"/>
              </a:rPr>
              <a:t>Conclusions should be confined to those justified by the data of the research and limited to  those for </a:t>
            </a:r>
            <a:r>
              <a:rPr lang="en-IN" sz="2800" spc="-10" dirty="0">
                <a:latin typeface="Arial"/>
                <a:cs typeface="Arial"/>
              </a:rPr>
              <a:t>which </a:t>
            </a:r>
            <a:r>
              <a:rPr lang="en-IN" sz="2800" spc="-5" dirty="0">
                <a:latin typeface="Arial"/>
                <a:cs typeface="Arial"/>
              </a:rPr>
              <a:t>the data provide an adequate</a:t>
            </a:r>
            <a:r>
              <a:rPr lang="en-IN" sz="2800" spc="80" dirty="0">
                <a:latin typeface="Arial"/>
                <a:cs typeface="Arial"/>
              </a:rPr>
              <a:t> </a:t>
            </a:r>
            <a:r>
              <a:rPr lang="en-IN" sz="2800" spc="-5" dirty="0">
                <a:latin typeface="Arial"/>
                <a:cs typeface="Arial"/>
              </a:rPr>
              <a:t>basis.</a:t>
            </a:r>
            <a:endParaRPr lang="en-IN" sz="2800" dirty="0">
              <a:latin typeface="Arial"/>
              <a:cs typeface="Arial"/>
            </a:endParaRPr>
          </a:p>
          <a:p>
            <a:pPr marL="355600" marR="169545" indent="-342900">
              <a:lnSpc>
                <a:spcPct val="100000"/>
              </a:lnSpc>
              <a:spcBef>
                <a:spcPts val="385"/>
              </a:spcBef>
              <a:buChar char="•"/>
              <a:tabLst>
                <a:tab pos="354965" algn="l"/>
                <a:tab pos="355600" algn="l"/>
              </a:tabLst>
            </a:pPr>
            <a:r>
              <a:rPr lang="en-IN" sz="2800" spc="-5" dirty="0">
                <a:latin typeface="Arial"/>
                <a:cs typeface="Arial"/>
              </a:rPr>
              <a:t>Greater confidence in research is warranted if the researcher is experienced, has a good  reputation in research and </a:t>
            </a:r>
            <a:r>
              <a:rPr lang="en-IN" sz="2800" dirty="0">
                <a:latin typeface="Arial"/>
                <a:cs typeface="Arial"/>
              </a:rPr>
              <a:t>is </a:t>
            </a:r>
            <a:r>
              <a:rPr lang="en-IN" sz="2800" spc="-5" dirty="0">
                <a:latin typeface="Arial"/>
                <a:cs typeface="Arial"/>
              </a:rPr>
              <a:t>a person of</a:t>
            </a:r>
            <a:r>
              <a:rPr lang="en-IN" sz="2800" spc="60" dirty="0">
                <a:latin typeface="Arial"/>
                <a:cs typeface="Arial"/>
              </a:rPr>
              <a:t> </a:t>
            </a:r>
            <a:r>
              <a:rPr lang="en-IN" sz="2800" spc="-20" dirty="0">
                <a:latin typeface="Arial"/>
                <a:cs typeface="Arial"/>
              </a:rPr>
              <a:t>integrity.</a:t>
            </a:r>
            <a:endParaRPr lang="en-IN" sz="2800" dirty="0">
              <a:latin typeface="Arial"/>
              <a:cs typeface="Arial"/>
            </a:endParaRPr>
          </a:p>
          <a:p>
            <a:endParaRPr lang="en-IN" dirty="0"/>
          </a:p>
        </p:txBody>
      </p:sp>
      <p:sp>
        <p:nvSpPr>
          <p:cNvPr id="3" name="Title 2"/>
          <p:cNvSpPr>
            <a:spLocks noGrp="1"/>
          </p:cNvSpPr>
          <p:nvPr>
            <p:ph type="title"/>
          </p:nvPr>
        </p:nvSpPr>
        <p:spPr/>
        <p:txBody>
          <a:bodyPr/>
          <a:lstStyle/>
          <a:p>
            <a:r>
              <a:rPr lang="en-IN" dirty="0"/>
              <a:t>Criteria of Good Research</a:t>
            </a:r>
          </a:p>
        </p:txBody>
      </p:sp>
    </p:spTree>
    <p:extLst>
      <p:ext uri="{BB962C8B-B14F-4D97-AF65-F5344CB8AC3E}">
        <p14:creationId xmlns:p14="http://schemas.microsoft.com/office/powerpoint/2010/main" val="35850990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smtClean="0"/>
              <a:t>Research </a:t>
            </a:r>
            <a:r>
              <a:rPr lang="en-IN" dirty="0"/>
              <a:t>design is the conceptual structure within which research is conducted; </a:t>
            </a:r>
            <a:endParaRPr lang="en-IN" dirty="0" smtClean="0"/>
          </a:p>
          <a:p>
            <a:r>
              <a:rPr lang="en-IN" dirty="0" smtClean="0"/>
              <a:t>it </a:t>
            </a:r>
            <a:r>
              <a:rPr lang="en-IN" dirty="0"/>
              <a:t>constitutes the blueprint for the collection, measurement and analysis of data.</a:t>
            </a:r>
          </a:p>
        </p:txBody>
      </p:sp>
      <p:sp>
        <p:nvSpPr>
          <p:cNvPr id="3" name="Title 2"/>
          <p:cNvSpPr>
            <a:spLocks noGrp="1"/>
          </p:cNvSpPr>
          <p:nvPr>
            <p:ph type="title"/>
          </p:nvPr>
        </p:nvSpPr>
        <p:spPr/>
        <p:txBody>
          <a:bodyPr/>
          <a:lstStyle/>
          <a:p>
            <a:r>
              <a:rPr lang="en-IN" dirty="0"/>
              <a:t>Research Design</a:t>
            </a:r>
          </a:p>
        </p:txBody>
      </p:sp>
    </p:spTree>
    <p:extLst>
      <p:ext uri="{BB962C8B-B14F-4D97-AF65-F5344CB8AC3E}">
        <p14:creationId xmlns:p14="http://schemas.microsoft.com/office/powerpoint/2010/main" val="9943584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IN" dirty="0" smtClean="0"/>
              <a:t>(</a:t>
            </a:r>
            <a:r>
              <a:rPr lang="en-IN" dirty="0"/>
              <a:t>i) What is the study about? </a:t>
            </a:r>
            <a:endParaRPr lang="en-IN" dirty="0" smtClean="0"/>
          </a:p>
          <a:p>
            <a:r>
              <a:rPr lang="en-IN" dirty="0" smtClean="0"/>
              <a:t>(</a:t>
            </a:r>
            <a:r>
              <a:rPr lang="en-IN" dirty="0"/>
              <a:t>ii) Why is the study being made? </a:t>
            </a:r>
            <a:endParaRPr lang="en-IN" dirty="0" smtClean="0"/>
          </a:p>
          <a:p>
            <a:r>
              <a:rPr lang="en-IN" dirty="0" smtClean="0"/>
              <a:t>(</a:t>
            </a:r>
            <a:r>
              <a:rPr lang="en-IN" dirty="0"/>
              <a:t>iii) Where will the study be carried out? </a:t>
            </a:r>
            <a:endParaRPr lang="en-IN" dirty="0" smtClean="0"/>
          </a:p>
          <a:p>
            <a:r>
              <a:rPr lang="en-IN" dirty="0" smtClean="0"/>
              <a:t>(</a:t>
            </a:r>
            <a:r>
              <a:rPr lang="en-IN" dirty="0"/>
              <a:t>iv) What type of data is required</a:t>
            </a:r>
            <a:r>
              <a:rPr lang="en-IN" dirty="0" smtClean="0"/>
              <a:t>?</a:t>
            </a:r>
          </a:p>
          <a:p>
            <a:r>
              <a:rPr lang="en-IN" dirty="0" smtClean="0"/>
              <a:t> </a:t>
            </a:r>
            <a:r>
              <a:rPr lang="en-IN" dirty="0"/>
              <a:t>(v) Where can the required data be found? </a:t>
            </a:r>
            <a:endParaRPr lang="en-IN" dirty="0" smtClean="0"/>
          </a:p>
          <a:p>
            <a:r>
              <a:rPr lang="en-IN" dirty="0" smtClean="0"/>
              <a:t>(</a:t>
            </a:r>
            <a:r>
              <a:rPr lang="en-IN" dirty="0"/>
              <a:t>vi) What periods of time will the study include? </a:t>
            </a:r>
            <a:endParaRPr lang="en-IN" dirty="0" smtClean="0"/>
          </a:p>
          <a:p>
            <a:r>
              <a:rPr lang="en-IN" dirty="0" smtClean="0"/>
              <a:t>(</a:t>
            </a:r>
            <a:r>
              <a:rPr lang="en-IN" dirty="0"/>
              <a:t>vii) What will be the sample design? </a:t>
            </a:r>
            <a:endParaRPr lang="en-IN" dirty="0" smtClean="0"/>
          </a:p>
          <a:p>
            <a:r>
              <a:rPr lang="en-IN" dirty="0" smtClean="0"/>
              <a:t>(</a:t>
            </a:r>
            <a:r>
              <a:rPr lang="en-IN" dirty="0"/>
              <a:t>viii) What techniques of data collection will be used? </a:t>
            </a:r>
            <a:endParaRPr lang="en-IN" dirty="0" smtClean="0"/>
          </a:p>
          <a:p>
            <a:r>
              <a:rPr lang="en-IN" dirty="0" smtClean="0"/>
              <a:t>(</a:t>
            </a:r>
            <a:r>
              <a:rPr lang="en-IN" dirty="0"/>
              <a:t>ix) How will the data be analysed</a:t>
            </a:r>
            <a:r>
              <a:rPr lang="en-IN" dirty="0" smtClean="0"/>
              <a:t>?</a:t>
            </a:r>
          </a:p>
          <a:p>
            <a:r>
              <a:rPr lang="en-IN" dirty="0" smtClean="0"/>
              <a:t> </a:t>
            </a:r>
            <a:r>
              <a:rPr lang="en-IN" dirty="0"/>
              <a:t>(x) In what style will the report be prepared?</a:t>
            </a:r>
          </a:p>
        </p:txBody>
      </p:sp>
      <p:sp>
        <p:nvSpPr>
          <p:cNvPr id="3" name="Title 2"/>
          <p:cNvSpPr>
            <a:spLocks noGrp="1"/>
          </p:cNvSpPr>
          <p:nvPr>
            <p:ph type="title"/>
          </p:nvPr>
        </p:nvSpPr>
        <p:spPr/>
        <p:txBody>
          <a:bodyPr>
            <a:normAutofit fontScale="90000"/>
          </a:bodyPr>
          <a:lstStyle/>
          <a:p>
            <a:r>
              <a:rPr lang="en-IN" dirty="0" smtClean="0"/>
              <a:t>The design </a:t>
            </a:r>
            <a:r>
              <a:rPr lang="en-IN" dirty="0"/>
              <a:t>decisions happen to be in respect of:</a:t>
            </a:r>
          </a:p>
        </p:txBody>
      </p:sp>
    </p:spTree>
    <p:extLst>
      <p:ext uri="{BB962C8B-B14F-4D97-AF65-F5344CB8AC3E}">
        <p14:creationId xmlns:p14="http://schemas.microsoft.com/office/powerpoint/2010/main" val="21453050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624078" indent="-514350">
              <a:buFont typeface="+mj-lt"/>
              <a:buAutoNum type="arabicParenR"/>
            </a:pPr>
            <a:r>
              <a:rPr lang="en-IN" dirty="0"/>
              <a:t>Research design is needed because it facilitates the smooth sailing of the various research operations, thereby making research as efficient as possible yielding maximal information with minimal expenditure of effort, time and money</a:t>
            </a:r>
            <a:r>
              <a:rPr lang="en-IN" dirty="0" smtClean="0"/>
              <a:t>.</a:t>
            </a:r>
          </a:p>
          <a:p>
            <a:pPr marL="624078" indent="-514350">
              <a:buFont typeface="+mj-lt"/>
              <a:buAutoNum type="arabicParenR"/>
            </a:pPr>
            <a:r>
              <a:rPr lang="en-IN" dirty="0"/>
              <a:t>Research design stands for advance planning of the methods to be adopted for collecting the relevant data and the techniques to be used in their analysis, keeping in view the objective of the research and the availability of staff, time and money</a:t>
            </a:r>
          </a:p>
        </p:txBody>
      </p:sp>
      <p:sp>
        <p:nvSpPr>
          <p:cNvPr id="3" name="Title 2"/>
          <p:cNvSpPr>
            <a:spLocks noGrp="1"/>
          </p:cNvSpPr>
          <p:nvPr>
            <p:ph type="title"/>
          </p:nvPr>
        </p:nvSpPr>
        <p:spPr/>
        <p:txBody>
          <a:bodyPr/>
          <a:lstStyle/>
          <a:p>
            <a:r>
              <a:rPr lang="en-IN" dirty="0"/>
              <a:t>NEED FOR RESEARCH DESIGN</a:t>
            </a:r>
          </a:p>
        </p:txBody>
      </p:sp>
    </p:spTree>
    <p:extLst>
      <p:ext uri="{BB962C8B-B14F-4D97-AF65-F5344CB8AC3E}">
        <p14:creationId xmlns:p14="http://schemas.microsoft.com/office/powerpoint/2010/main" val="26069100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1268760"/>
            <a:ext cx="6768752" cy="477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177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81</TotalTime>
  <Words>3207</Words>
  <Application>Microsoft Office PowerPoint</Application>
  <PresentationFormat>On-screen Show (4:3)</PresentationFormat>
  <Paragraphs>236</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Concourse</vt:lpstr>
      <vt:lpstr>UNIT-1     INTRODUCTION TO    RESEARCH</vt:lpstr>
      <vt:lpstr>MEANING OF RESEARCH</vt:lpstr>
      <vt:lpstr>DEFINITIONS</vt:lpstr>
      <vt:lpstr>OBJECTIVES OF RESEARCH</vt:lpstr>
      <vt:lpstr>PowerPoint Presentation</vt:lpstr>
      <vt:lpstr>TYPES OF RESEARCH</vt:lpstr>
      <vt:lpstr>1. Descriptive Vs Analytical research.</vt:lpstr>
      <vt:lpstr>2. Applied vs. Fundamental.</vt:lpstr>
      <vt:lpstr>3. Quantitative vs. Qualitative:</vt:lpstr>
      <vt:lpstr>PowerPoint Presentation</vt:lpstr>
      <vt:lpstr>4. Conceptual vs. Empirical:</vt:lpstr>
      <vt:lpstr>Some other types of research</vt:lpstr>
      <vt:lpstr>Significance of Research</vt:lpstr>
      <vt:lpstr>PowerPoint Presentation</vt:lpstr>
      <vt:lpstr>Research Methodology</vt:lpstr>
      <vt:lpstr>PowerPoint Presentation</vt:lpstr>
      <vt:lpstr>For example,</vt:lpstr>
      <vt:lpstr>PowerPoint Presentation</vt:lpstr>
      <vt:lpstr>WHAT IS A RESEARCH PROBLEM?</vt:lpstr>
      <vt:lpstr>How do we know we have a research problem?</vt:lpstr>
      <vt:lpstr>Definition of the problem involves two activities:</vt:lpstr>
      <vt:lpstr>1. Identification/selection of the research problem.</vt:lpstr>
      <vt:lpstr>Definition/formulation of the research problem.</vt:lpstr>
      <vt:lpstr>RESEARCH PROCESS</vt:lpstr>
      <vt:lpstr>PowerPoint Presentation</vt:lpstr>
      <vt:lpstr>PowerPoint Presentation</vt:lpstr>
      <vt:lpstr>1. Formulating the research problem:</vt:lpstr>
      <vt:lpstr>2. Extensive literature survey</vt:lpstr>
      <vt:lpstr>3. Development of working hypotheses:</vt:lpstr>
      <vt:lpstr>4. Preparing the research design: </vt:lpstr>
      <vt:lpstr>5. Determining sample design: </vt:lpstr>
      <vt:lpstr>6. Collecting the data:</vt:lpstr>
      <vt:lpstr>7. Execution of the project: </vt:lpstr>
      <vt:lpstr>9. Hypothesis-testing: </vt:lpstr>
      <vt:lpstr>10. Generalisations and interpretation: </vt:lpstr>
      <vt:lpstr>11. Preparation of the report or the thesis:</vt:lpstr>
      <vt:lpstr>PowerPoint Presentation</vt:lpstr>
      <vt:lpstr>PowerPoint Presentation</vt:lpstr>
      <vt:lpstr>PowerPoint Presentation</vt:lpstr>
      <vt:lpstr>Criteria of Good Research</vt:lpstr>
      <vt:lpstr>Research Design</vt:lpstr>
      <vt:lpstr>The design decisions happen to be in respect of:</vt:lpstr>
      <vt:lpstr>NEED FOR RESEARCH DESIGN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INTRODUCTION TO    RESEARCH</dc:title>
  <dc:creator>Home</dc:creator>
  <cp:lastModifiedBy>Home</cp:lastModifiedBy>
  <cp:revision>29</cp:revision>
  <dcterms:created xsi:type="dcterms:W3CDTF">2024-11-19T13:16:41Z</dcterms:created>
  <dcterms:modified xsi:type="dcterms:W3CDTF">2024-11-19T14:59:38Z</dcterms:modified>
</cp:coreProperties>
</file>