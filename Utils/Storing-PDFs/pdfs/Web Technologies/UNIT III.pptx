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Lst>
  <p:sldSz cy="5143500" cx="9144000"/>
  <p:notesSz cx="6858000" cy="9144000"/>
  <p:embeddedFontLst>
    <p:embeddedFont>
      <p:font typeface="Nunito"/>
      <p:regular r:id="rId133"/>
      <p:bold r:id="rId134"/>
      <p:italic r:id="rId135"/>
      <p:boldItalic r:id="rId1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font" Target="fonts/Nunito-boldItalic.fntdata"/><Relationship Id="rId135" Type="http://schemas.openxmlformats.org/officeDocument/2006/relationships/font" Target="fonts/Nunito-italic.fntdata"/><Relationship Id="rId134" Type="http://schemas.openxmlformats.org/officeDocument/2006/relationships/font" Target="fonts/Nunito-bold.fntdata"/><Relationship Id="rId133" Type="http://schemas.openxmlformats.org/officeDocument/2006/relationships/font" Target="fonts/Nunito-regular.fntdata"/><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2286e3b9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2286e3b9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2286e3b9e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2286e3b9e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2286e3b9e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2286e3b9e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2286e3b9e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2286e3b9e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2286e3b9e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2286e3b9e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2286e3b9e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2286e3b9e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22a952192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22a952192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2c0999f59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2c0999f59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22a952192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22a952192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22a952192d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22a952192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2c0999f5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2c0999f5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2c0999f59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2c0999f59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2c0999f59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2c0999f59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2c0999f59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2c0999f59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2c0999f59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2c0999f59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22a952192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22a952192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22a952192d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22a952192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22a952192d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22a952192d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22a952192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22a952192d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2ad40053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2ad40053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2ad400532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2ad400532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2ad400532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2ad400532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2ad400532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2ad400532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2ad400532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2ad400532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2ad400532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2ad400532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2ad400532a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2ad400532a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275122997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275122997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275122997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275122997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275122997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275122997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275122997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275122997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275122997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275122997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2751229976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275122997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275122997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275122997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275122997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275122997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275122997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275122997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2751229976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2751229976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2751229976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2751229976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2751229976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2751229976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2751229976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2751229976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2751229976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2751229976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2751229976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2751229976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2751229976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2751229976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2751229976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2751229976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2751229976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2751229976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2751229976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2751229976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2751229976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2751229976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2751229976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2751229976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2751229976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2751229976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2751229976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2751229976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2751229976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2751229976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2751229976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2751229976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2751229976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2751229976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2751229976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2751229976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2751229976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2751229976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2751229976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2751229976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2751229976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2751229976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2751229976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2751229976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2751229976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2751229976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2751229976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2751229976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2df727fed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2df727fed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2df727fed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2df727fed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2df727fed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2df727fed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2df727fed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2df727fed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2df727fed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2df727fed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2df727fed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2df727fed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2df727fedb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2df727fedb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2df727fed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2df727fed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2df727fedb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2df727fed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2df727fedb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2df727fed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2df727fed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2df727fed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2df727fedb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2df727fed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2df727fedb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2df727fed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2df727fed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2df727fed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2df727fedb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2df727fedb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2df727fedb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2df727fedb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2df727fed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2df727fed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2df727fedb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2df727fedb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2e555220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2e555220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298e3d3ea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298e3d3ea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298e3d3ea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298e3d3ea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298e3d3ea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298e3d3ea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298e3d3ea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298e3d3ea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298e3d3ea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298e3d3ea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298e3d3ea9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298e3d3ea9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298e3d3ea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298e3d3ea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298e3d3ea9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298e3d3ea9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2a38878f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2a38878f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2a38878f7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2a38878f7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2a38878f7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2a38878f7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2a38878f7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2a38878f7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2a38878f7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2a38878f7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2a38878f70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2a38878f70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298e3d3ea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298e3d3ea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298e3d3ea9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298e3d3ea9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298e3d3ea9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298e3d3ea9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298e3d3ea9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298e3d3ea9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298e3d3ea9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298e3d3ea9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298e3d3ea9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298e3d3ea9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298e3d3ea9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298e3d3ea9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298e3d3ea9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298e3d3ea9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298e3d3ea9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298e3d3ea9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298e3d3ea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298e3d3ea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2a38878f7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32a38878f7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2a38878f70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2a38878f70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2a38878f7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2a38878f7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2a38878f7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2a38878f7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2a38878f70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2a38878f70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2a38878f70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2a38878f70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2a38878f70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2a38878f7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2a38878f70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2a38878f70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2a38878f70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32a38878f70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2a38878f70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2a38878f70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2a38878f70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2a38878f70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2a38878f70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32a38878f70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2a38878f70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2a38878f70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2a38878f70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2a38878f70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2a38878f70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2a38878f70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2a38878f70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2a38878f70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2f2cdcffd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32f2cdcffd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2f2cdcffd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32f2cdcffd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2f2cdcffd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32f2cdcffd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2f2cdcffd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32f2cdcffd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2f2cdcffd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2f2cdcffd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2f2cdcffd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2f2cdcffd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2f2cdcffd6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32f2cdcffd6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2f2cdcffd6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32f2cdcffd6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geeksforgeeks.org/javascript/" TargetMode="External"/><Relationship Id="rId4" Type="http://schemas.openxmlformats.org/officeDocument/2006/relationships/hyperlink" Target="https://www.geeksforgeeks.org/what-is-a-typed-language/" TargetMode="External"/><Relationship Id="rId11" Type="http://schemas.openxmlformats.org/officeDocument/2006/relationships/hyperlink" Target="https://www.geeksforgeeks.org/variables-datatypes-javascript/" TargetMode="External"/><Relationship Id="rId10" Type="http://schemas.openxmlformats.org/officeDocument/2006/relationships/hyperlink" Target="https://www.geeksforgeeks.org/difference-between-compiled-and-interpreted-language/" TargetMode="External"/><Relationship Id="rId12" Type="http://schemas.openxmlformats.org/officeDocument/2006/relationships/hyperlink" Target="https://www.geeksforgeeks.org/javascript-how-is-js-dynamically-typed/" TargetMode="External"/><Relationship Id="rId9" Type="http://schemas.openxmlformats.org/officeDocument/2006/relationships/hyperlink" Target="https://www.geeksforgeeks.org/why-javascript-is-a-single-thread-language-that-can-be-non-blocking/" TargetMode="External"/><Relationship Id="rId5" Type="http://schemas.openxmlformats.org/officeDocument/2006/relationships/hyperlink" Target="https://www.geeksforgeeks.org/server-side-client-side-programming/" TargetMode="External"/><Relationship Id="rId6" Type="http://schemas.openxmlformats.org/officeDocument/2006/relationships/hyperlink" Target="https://www.geeksforgeeks.org/html-tutorial/" TargetMode="External"/><Relationship Id="rId7" Type="http://schemas.openxmlformats.org/officeDocument/2006/relationships/hyperlink" Target="https://www.geeksforgeeks.org/css-tutorial/" TargetMode="External"/><Relationship Id="rId8" Type="http://schemas.openxmlformats.org/officeDocument/2006/relationships/hyperlink" Target="https://www.geeksforgeeks.org/javascrip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geeksforgeeks.org/javascript/" TargetMode="External"/><Relationship Id="rId4" Type="http://schemas.openxmlformats.org/officeDocument/2006/relationships/hyperlink" Target="https://www.geeksforgeeks.org/web-browser/" TargetMode="External"/><Relationship Id="rId5" Type="http://schemas.openxmlformats.org/officeDocument/2006/relationships/hyperlink" Target="https://www.geeksforgeeks.org/client-server-model/" TargetMode="External"/><Relationship Id="rId6" Type="http://schemas.openxmlformats.org/officeDocument/2006/relationships/hyperlink" Target="https://www.geeksforgeeks.org/how-to-use-the-javascript-fetch-api-to-get-data/" TargetMode="External"/><Relationship Id="rId7" Type="http://schemas.openxmlformats.org/officeDocument/2006/relationships/hyperlink" Target="https://www.geeksforgeeks.org/what-is-serve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www.w3schools.com/js/js_arrays.asp"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1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6.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7.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10.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hyperlink" Target="https://www.geeksforgeeks.org/javascript-window-confirm-method/"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hyperlink" Target="https://www.geeksforgeeks.org/javascript-window-prompt-method/"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3.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8.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hyperlink" Target="https://www.w3schools.com/jsref/event_onmouseout.asp" TargetMode="Externa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18.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1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15.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16.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17.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13.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9.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19.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44575"/>
            <a:ext cx="8520600" cy="142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UNIT III</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JAVA SCRIPT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2100">
                <a:solidFill>
                  <a:srgbClr val="273239"/>
                </a:solidFill>
                <a:highlight>
                  <a:srgbClr val="FFFFFF"/>
                </a:highlight>
              </a:rPr>
              <a:t>Introduction to JavaScript</a:t>
            </a:r>
            <a:endParaRPr b="1" sz="2100">
              <a:solidFill>
                <a:srgbClr val="273239"/>
              </a:solidFill>
              <a:highlight>
                <a:srgbClr val="FFFFFF"/>
              </a:highlight>
            </a:endParaRPr>
          </a:p>
          <a:p>
            <a:pPr indent="0" lvl="0" marL="0" rtl="0" algn="l">
              <a:spcBef>
                <a:spcPts val="0"/>
              </a:spcBef>
              <a:spcAft>
                <a:spcPts val="0"/>
              </a:spcAft>
              <a:buNone/>
            </a:pPr>
            <a:r>
              <a:rPr lang="en" sz="1450">
                <a:solidFill>
                  <a:schemeClr val="dk1"/>
                </a:solidFill>
                <a:highlight>
                  <a:srgbClr val="FFFFFF"/>
                </a:highlight>
                <a:uFill>
                  <a:noFill/>
                </a:uFill>
                <a:latin typeface="Times New Roman"/>
                <a:ea typeface="Times New Roman"/>
                <a:cs typeface="Times New Roman"/>
                <a:sym typeface="Times New Roman"/>
                <a:hlinkClick r:id="rId3">
                  <a:extLst>
                    <a:ext uri="{A12FA001-AC4F-418D-AE19-62706E023703}">
                      <ahyp:hlinkClr val="tx"/>
                    </a:ext>
                  </a:extLst>
                </a:hlinkClick>
              </a:rPr>
              <a:t>JavaScript</a:t>
            </a:r>
            <a:r>
              <a:rPr lang="en" sz="1450">
                <a:solidFill>
                  <a:schemeClr val="dk1"/>
                </a:solidFill>
                <a:highlight>
                  <a:srgbClr val="FFFFFF"/>
                </a:highlight>
                <a:latin typeface="Times New Roman"/>
                <a:ea typeface="Times New Roman"/>
                <a:cs typeface="Times New Roman"/>
                <a:sym typeface="Times New Roman"/>
              </a:rPr>
              <a:t> is a versatile, </a:t>
            </a:r>
            <a:r>
              <a:rPr lang="en" sz="1450">
                <a:solidFill>
                  <a:schemeClr val="dk1"/>
                </a:solidFill>
                <a:highlight>
                  <a:srgbClr val="FFFFFF"/>
                </a:highlight>
                <a:uFill>
                  <a:noFill/>
                </a:uFill>
                <a:latin typeface="Times New Roman"/>
                <a:ea typeface="Times New Roman"/>
                <a:cs typeface="Times New Roman"/>
                <a:sym typeface="Times New Roman"/>
                <a:hlinkClick r:id="rId4">
                  <a:extLst>
                    <a:ext uri="{A12FA001-AC4F-418D-AE19-62706E023703}">
                      <ahyp:hlinkClr val="tx"/>
                    </a:ext>
                  </a:extLst>
                </a:hlinkClick>
              </a:rPr>
              <a:t>dynamically typed </a:t>
            </a:r>
            <a:r>
              <a:rPr lang="en" sz="1450">
                <a:solidFill>
                  <a:schemeClr val="dk1"/>
                </a:solidFill>
                <a:highlight>
                  <a:srgbClr val="FFFFFF"/>
                </a:highlight>
                <a:latin typeface="Times New Roman"/>
                <a:ea typeface="Times New Roman"/>
                <a:cs typeface="Times New Roman"/>
                <a:sym typeface="Times New Roman"/>
              </a:rPr>
              <a:t>programming language used for interactive web applications, supporting both </a:t>
            </a:r>
            <a:r>
              <a:rPr lang="en" sz="1450">
                <a:solidFill>
                  <a:schemeClr val="dk1"/>
                </a:solidFill>
                <a:highlight>
                  <a:srgbClr val="FFFFFF"/>
                </a:highlight>
                <a:uFill>
                  <a:noFill/>
                </a:uFill>
                <a:latin typeface="Times New Roman"/>
                <a:ea typeface="Times New Roman"/>
                <a:cs typeface="Times New Roman"/>
                <a:sym typeface="Times New Roman"/>
                <a:hlinkClick r:id="rId5">
                  <a:extLst>
                    <a:ext uri="{A12FA001-AC4F-418D-AE19-62706E023703}">
                      <ahyp:hlinkClr val="tx"/>
                    </a:ext>
                  </a:extLst>
                </a:hlinkClick>
              </a:rPr>
              <a:t>client-side and server-side</a:t>
            </a:r>
            <a:r>
              <a:rPr lang="en" sz="1450">
                <a:solidFill>
                  <a:schemeClr val="dk1"/>
                </a:solidFill>
                <a:highlight>
                  <a:srgbClr val="FFFFFF"/>
                </a:highlight>
                <a:latin typeface="Times New Roman"/>
                <a:ea typeface="Times New Roman"/>
                <a:cs typeface="Times New Roman"/>
                <a:sym typeface="Times New Roman"/>
              </a:rPr>
              <a:t> development, and integrating seamlessly with </a:t>
            </a:r>
            <a:r>
              <a:rPr lang="en" sz="1450">
                <a:solidFill>
                  <a:schemeClr val="dk1"/>
                </a:solidFill>
                <a:highlight>
                  <a:srgbClr val="FFFFFF"/>
                </a:highlight>
                <a:uFill>
                  <a:noFill/>
                </a:uFill>
                <a:latin typeface="Times New Roman"/>
                <a:ea typeface="Times New Roman"/>
                <a:cs typeface="Times New Roman"/>
                <a:sym typeface="Times New Roman"/>
                <a:hlinkClick r:id="rId6">
                  <a:extLst>
                    <a:ext uri="{A12FA001-AC4F-418D-AE19-62706E023703}">
                      <ahyp:hlinkClr val="tx"/>
                    </a:ext>
                  </a:extLst>
                </a:hlinkClick>
              </a:rPr>
              <a:t>HTML</a:t>
            </a:r>
            <a:r>
              <a:rPr lang="en" sz="1450">
                <a:solidFill>
                  <a:schemeClr val="dk1"/>
                </a:solidFill>
                <a:highlight>
                  <a:srgbClr val="FFFFFF"/>
                </a:highlight>
                <a:latin typeface="Times New Roman"/>
                <a:ea typeface="Times New Roman"/>
                <a:cs typeface="Times New Roman"/>
                <a:sym typeface="Times New Roman"/>
              </a:rPr>
              <a:t>,</a:t>
            </a:r>
            <a:r>
              <a:rPr lang="en" sz="1450">
                <a:solidFill>
                  <a:schemeClr val="dk1"/>
                </a:solidFill>
                <a:highlight>
                  <a:srgbClr val="FFFFFF"/>
                </a:highlight>
                <a:uFill>
                  <a:noFill/>
                </a:uFill>
                <a:latin typeface="Times New Roman"/>
                <a:ea typeface="Times New Roman"/>
                <a:cs typeface="Times New Roman"/>
                <a:sym typeface="Times New Roman"/>
                <a:hlinkClick r:id="rId7">
                  <a:extLst>
                    <a:ext uri="{A12FA001-AC4F-418D-AE19-62706E023703}">
                      <ahyp:hlinkClr val="tx"/>
                    </a:ext>
                  </a:extLst>
                </a:hlinkClick>
              </a:rPr>
              <a:t> CSS,</a:t>
            </a:r>
            <a:r>
              <a:rPr lang="en" sz="1450">
                <a:solidFill>
                  <a:schemeClr val="dk1"/>
                </a:solidFill>
                <a:highlight>
                  <a:srgbClr val="FFFFFF"/>
                </a:highlight>
                <a:latin typeface="Times New Roman"/>
                <a:ea typeface="Times New Roman"/>
                <a:cs typeface="Times New Roman"/>
                <a:sym typeface="Times New Roman"/>
              </a:rPr>
              <a:t> and a rich standard library.</a:t>
            </a:r>
            <a:endParaRPr sz="1450">
              <a:solidFill>
                <a:schemeClr val="dk1"/>
              </a:solidFill>
              <a:highlight>
                <a:srgbClr val="FFFFFF"/>
              </a:highlight>
              <a:latin typeface="Times New Roman"/>
              <a:ea typeface="Times New Roman"/>
              <a:cs typeface="Times New Roman"/>
              <a:sym typeface="Times New Roman"/>
            </a:endParaRPr>
          </a:p>
          <a:p>
            <a:pPr indent="-320675" lvl="0" marL="685800" rtl="0" algn="l">
              <a:lnSpc>
                <a:spcPct val="158000"/>
              </a:lnSpc>
              <a:spcBef>
                <a:spcPts val="1200"/>
              </a:spcBef>
              <a:spcAft>
                <a:spcPts val="0"/>
              </a:spcAft>
              <a:buClr>
                <a:schemeClr val="dk1"/>
              </a:buClr>
              <a:buSzPts val="1450"/>
              <a:buFont typeface="Times New Roman"/>
              <a:buChar char="●"/>
            </a:pPr>
            <a:r>
              <a:rPr lang="en" sz="1450">
                <a:solidFill>
                  <a:schemeClr val="dk1"/>
                </a:solidFill>
                <a:highlight>
                  <a:srgbClr val="FFFFFF"/>
                </a:highlight>
                <a:uFill>
                  <a:noFill/>
                </a:uFill>
                <a:latin typeface="Times New Roman"/>
                <a:ea typeface="Times New Roman"/>
                <a:cs typeface="Times New Roman"/>
                <a:sym typeface="Times New Roman"/>
                <a:hlinkClick r:id="rId8">
                  <a:extLst>
                    <a:ext uri="{A12FA001-AC4F-418D-AE19-62706E023703}">
                      <ahyp:hlinkClr val="tx"/>
                    </a:ext>
                  </a:extLst>
                </a:hlinkClick>
              </a:rPr>
              <a:t>JavaScript</a:t>
            </a:r>
            <a:r>
              <a:rPr lang="en" sz="1450">
                <a:solidFill>
                  <a:schemeClr val="dk1"/>
                </a:solidFill>
                <a:highlight>
                  <a:srgbClr val="FFFFFF"/>
                </a:highlight>
                <a:latin typeface="Times New Roman"/>
                <a:ea typeface="Times New Roman"/>
                <a:cs typeface="Times New Roman"/>
                <a:sym typeface="Times New Roman"/>
              </a:rPr>
              <a:t> is a </a:t>
            </a:r>
            <a:r>
              <a:rPr lang="en" sz="1450">
                <a:solidFill>
                  <a:schemeClr val="dk1"/>
                </a:solidFill>
                <a:highlight>
                  <a:srgbClr val="FFFFFF"/>
                </a:highlight>
                <a:uFill>
                  <a:noFill/>
                </a:uFill>
                <a:latin typeface="Times New Roman"/>
                <a:ea typeface="Times New Roman"/>
                <a:cs typeface="Times New Roman"/>
                <a:sym typeface="Times New Roman"/>
                <a:hlinkClick r:id="rId9">
                  <a:extLst>
                    <a:ext uri="{A12FA001-AC4F-418D-AE19-62706E023703}">
                      <ahyp:hlinkClr val="tx"/>
                    </a:ext>
                  </a:extLst>
                </a:hlinkClick>
              </a:rPr>
              <a:t>single-threaded </a:t>
            </a:r>
            <a:r>
              <a:rPr lang="en" sz="1450">
                <a:solidFill>
                  <a:schemeClr val="dk1"/>
                </a:solidFill>
                <a:highlight>
                  <a:srgbClr val="FFFFFF"/>
                </a:highlight>
                <a:latin typeface="Times New Roman"/>
                <a:ea typeface="Times New Roman"/>
                <a:cs typeface="Times New Roman"/>
                <a:sym typeface="Times New Roman"/>
              </a:rPr>
              <a:t>language which means it executes one task at a time.</a:t>
            </a:r>
            <a:endParaRPr sz="1450">
              <a:solidFill>
                <a:schemeClr val="dk1"/>
              </a:solidFill>
              <a:highlight>
                <a:srgbClr val="FFFFFF"/>
              </a:highlight>
              <a:latin typeface="Times New Roman"/>
              <a:ea typeface="Times New Roman"/>
              <a:cs typeface="Times New Roman"/>
              <a:sym typeface="Times New Roman"/>
            </a:endParaRPr>
          </a:p>
          <a:p>
            <a:pPr indent="-320675" lvl="0" marL="685800" rtl="0" algn="l">
              <a:lnSpc>
                <a:spcPct val="158000"/>
              </a:lnSpc>
              <a:spcBef>
                <a:spcPts val="0"/>
              </a:spcBef>
              <a:spcAft>
                <a:spcPts val="0"/>
              </a:spcAft>
              <a:buClr>
                <a:schemeClr val="dk1"/>
              </a:buClr>
              <a:buSzPts val="1450"/>
              <a:buFont typeface="Times New Roman"/>
              <a:buChar char="●"/>
            </a:pPr>
            <a:r>
              <a:rPr lang="en" sz="1450">
                <a:solidFill>
                  <a:schemeClr val="dk1"/>
                </a:solidFill>
                <a:highlight>
                  <a:srgbClr val="FFFFFF"/>
                </a:highlight>
                <a:latin typeface="Times New Roman"/>
                <a:ea typeface="Times New Roman"/>
                <a:cs typeface="Times New Roman"/>
                <a:sym typeface="Times New Roman"/>
              </a:rPr>
              <a:t>It is an </a:t>
            </a:r>
            <a:r>
              <a:rPr lang="en" sz="1450">
                <a:solidFill>
                  <a:schemeClr val="dk1"/>
                </a:solidFill>
                <a:highlight>
                  <a:srgbClr val="FFFFFF"/>
                </a:highlight>
                <a:uFill>
                  <a:noFill/>
                </a:uFill>
                <a:latin typeface="Times New Roman"/>
                <a:ea typeface="Times New Roman"/>
                <a:cs typeface="Times New Roman"/>
                <a:sym typeface="Times New Roman"/>
                <a:hlinkClick r:id="rId10">
                  <a:extLst>
                    <a:ext uri="{A12FA001-AC4F-418D-AE19-62706E023703}">
                      <ahyp:hlinkClr val="tx"/>
                    </a:ext>
                  </a:extLst>
                </a:hlinkClick>
              </a:rPr>
              <a:t>Interpreted language</a:t>
            </a:r>
            <a:r>
              <a:rPr lang="en" sz="1450">
                <a:solidFill>
                  <a:schemeClr val="dk1"/>
                </a:solidFill>
                <a:highlight>
                  <a:srgbClr val="FFFFFF"/>
                </a:highlight>
                <a:latin typeface="Times New Roman"/>
                <a:ea typeface="Times New Roman"/>
                <a:cs typeface="Times New Roman"/>
                <a:sym typeface="Times New Roman"/>
              </a:rPr>
              <a:t> which means it executes the code line by line.</a:t>
            </a:r>
            <a:endParaRPr sz="1450">
              <a:solidFill>
                <a:schemeClr val="dk1"/>
              </a:solidFill>
              <a:highlight>
                <a:srgbClr val="FFFFFF"/>
              </a:highlight>
              <a:latin typeface="Times New Roman"/>
              <a:ea typeface="Times New Roman"/>
              <a:cs typeface="Times New Roman"/>
              <a:sym typeface="Times New Roman"/>
            </a:endParaRPr>
          </a:p>
          <a:p>
            <a:pPr indent="-320675" lvl="0" marL="685800" rtl="0" algn="l">
              <a:lnSpc>
                <a:spcPct val="158000"/>
              </a:lnSpc>
              <a:spcBef>
                <a:spcPts val="0"/>
              </a:spcBef>
              <a:spcAft>
                <a:spcPts val="0"/>
              </a:spcAft>
              <a:buClr>
                <a:schemeClr val="dk1"/>
              </a:buClr>
              <a:buSzPts val="1450"/>
              <a:buFont typeface="Times New Roman"/>
              <a:buChar char="●"/>
            </a:pPr>
            <a:r>
              <a:rPr lang="en" sz="1450">
                <a:solidFill>
                  <a:schemeClr val="dk1"/>
                </a:solidFill>
                <a:highlight>
                  <a:srgbClr val="FFFFFF"/>
                </a:highlight>
                <a:latin typeface="Times New Roman"/>
                <a:ea typeface="Times New Roman"/>
                <a:cs typeface="Times New Roman"/>
                <a:sym typeface="Times New Roman"/>
              </a:rPr>
              <a:t>The data type of the </a:t>
            </a:r>
            <a:r>
              <a:rPr lang="en" sz="1450">
                <a:solidFill>
                  <a:schemeClr val="dk1"/>
                </a:solidFill>
                <a:highlight>
                  <a:srgbClr val="FFFFFF"/>
                </a:highlight>
                <a:uFill>
                  <a:noFill/>
                </a:uFill>
                <a:latin typeface="Times New Roman"/>
                <a:ea typeface="Times New Roman"/>
                <a:cs typeface="Times New Roman"/>
                <a:sym typeface="Times New Roman"/>
                <a:hlinkClick r:id="rId11">
                  <a:extLst>
                    <a:ext uri="{A12FA001-AC4F-418D-AE19-62706E023703}">
                      <ahyp:hlinkClr val="tx"/>
                    </a:ext>
                  </a:extLst>
                </a:hlinkClick>
              </a:rPr>
              <a:t>variable</a:t>
            </a:r>
            <a:r>
              <a:rPr lang="en" sz="1450">
                <a:solidFill>
                  <a:schemeClr val="dk1"/>
                </a:solidFill>
                <a:highlight>
                  <a:srgbClr val="FFFFFF"/>
                </a:highlight>
                <a:latin typeface="Times New Roman"/>
                <a:ea typeface="Times New Roman"/>
                <a:cs typeface="Times New Roman"/>
                <a:sym typeface="Times New Roman"/>
              </a:rPr>
              <a:t> is decided at run-time in JavaScript that’s why it is called </a:t>
            </a:r>
            <a:r>
              <a:rPr lang="en" sz="1450">
                <a:solidFill>
                  <a:schemeClr val="dk1"/>
                </a:solidFill>
                <a:highlight>
                  <a:srgbClr val="FFFFFF"/>
                </a:highlight>
                <a:uFill>
                  <a:noFill/>
                </a:uFill>
                <a:latin typeface="Times New Roman"/>
                <a:ea typeface="Times New Roman"/>
                <a:cs typeface="Times New Roman"/>
                <a:sym typeface="Times New Roman"/>
                <a:hlinkClick r:id="rId12">
                  <a:extLst>
                    <a:ext uri="{A12FA001-AC4F-418D-AE19-62706E023703}">
                      <ahyp:hlinkClr val="tx"/>
                    </a:ext>
                  </a:extLst>
                </a:hlinkClick>
              </a:rPr>
              <a:t>dynamically typed</a:t>
            </a:r>
            <a:r>
              <a:rPr lang="en" sz="1450">
                <a:solidFill>
                  <a:schemeClr val="dk1"/>
                </a:solidFill>
                <a:highlight>
                  <a:srgbClr val="FFFFFF"/>
                </a:highlight>
                <a:latin typeface="Times New Roman"/>
                <a:ea typeface="Times New Roman"/>
                <a:cs typeface="Times New Roman"/>
                <a:sym typeface="Times New Roman"/>
              </a:rPr>
              <a:t>.</a:t>
            </a:r>
            <a:endParaRPr sz="1450">
              <a:solidFill>
                <a:schemeClr val="dk1"/>
              </a:solidFill>
              <a:highlight>
                <a:srgbClr val="FFFFFF"/>
              </a:highlight>
              <a:latin typeface="Times New Roman"/>
              <a:ea typeface="Times New Roman"/>
              <a:cs typeface="Times New Roman"/>
              <a:sym typeface="Times New Roman"/>
            </a:endParaRPr>
          </a:p>
          <a:p>
            <a:pPr indent="0" lvl="0" marL="0" rtl="0" algn="l">
              <a:spcBef>
                <a:spcPts val="1800"/>
              </a:spcBef>
              <a:spcAft>
                <a:spcPts val="1200"/>
              </a:spcAft>
              <a:buNone/>
            </a:pPr>
            <a:r>
              <a:t/>
            </a:r>
            <a:endParaRPr sz="145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chemeClr val="dk1"/>
                </a:solidFill>
                <a:highlight>
                  <a:srgbClr val="FFFFFF"/>
                </a:highlight>
                <a:latin typeface="Times New Roman"/>
                <a:ea typeface="Times New Roman"/>
                <a:cs typeface="Times New Roman"/>
                <a:sym typeface="Times New Roman"/>
              </a:rPr>
              <a:t>Key Features of JavaScript</a:t>
            </a:r>
            <a:endParaRPr b="1" sz="1400">
              <a:solidFill>
                <a:schemeClr val="dk1"/>
              </a:solidFill>
              <a:highlight>
                <a:srgbClr val="FFFFFF"/>
              </a:highlight>
              <a:latin typeface="Times New Roman"/>
              <a:ea typeface="Times New Roman"/>
              <a:cs typeface="Times New Roman"/>
              <a:sym typeface="Times New Roman"/>
            </a:endParaRPr>
          </a:p>
          <a:p>
            <a:pPr indent="-317500" lvl="0" marL="685800" rtl="0" algn="l">
              <a:lnSpc>
                <a:spcPct val="158000"/>
              </a:lnSpc>
              <a:spcBef>
                <a:spcPts val="0"/>
              </a:spcBef>
              <a:spcAft>
                <a:spcPts val="0"/>
              </a:spcAft>
              <a:buClr>
                <a:schemeClr val="dk1"/>
              </a:buClr>
              <a:buSzPts val="1400"/>
              <a:buFont typeface="Nunito"/>
              <a:buChar char="●"/>
            </a:pPr>
            <a:r>
              <a:rPr b="1" lang="en" sz="1400">
                <a:solidFill>
                  <a:schemeClr val="dk1"/>
                </a:solidFill>
                <a:highlight>
                  <a:srgbClr val="FFFFFF"/>
                </a:highlight>
                <a:latin typeface="Times New Roman"/>
                <a:ea typeface="Times New Roman"/>
                <a:cs typeface="Times New Roman"/>
                <a:sym typeface="Times New Roman"/>
              </a:rPr>
              <a:t>Client-Side Scripting:</a:t>
            </a:r>
            <a:r>
              <a:rPr lang="en" sz="1400">
                <a:solidFill>
                  <a:schemeClr val="dk1"/>
                </a:solidFill>
                <a:highlight>
                  <a:srgbClr val="FFFFFF"/>
                </a:highlight>
                <a:latin typeface="Times New Roman"/>
                <a:ea typeface="Times New Roman"/>
                <a:cs typeface="Times New Roman"/>
                <a:sym typeface="Times New Roman"/>
              </a:rPr>
              <a:t> </a:t>
            </a:r>
            <a:r>
              <a:rPr lang="en" sz="1400">
                <a:solidFill>
                  <a:schemeClr val="dk1"/>
                </a:solidFill>
                <a:highlight>
                  <a:srgbClr val="FFFFFF"/>
                </a:highlight>
                <a:uFill>
                  <a:noFill/>
                </a:uFill>
                <a:latin typeface="Times New Roman"/>
                <a:ea typeface="Times New Roman"/>
                <a:cs typeface="Times New Roman"/>
                <a:sym typeface="Times New Roman"/>
                <a:hlinkClick r:id="rId3">
                  <a:extLst>
                    <a:ext uri="{A12FA001-AC4F-418D-AE19-62706E023703}">
                      <ahyp:hlinkClr val="tx"/>
                    </a:ext>
                  </a:extLst>
                </a:hlinkClick>
              </a:rPr>
              <a:t>JavaScrip</a:t>
            </a:r>
            <a:r>
              <a:rPr lang="en" sz="1400">
                <a:solidFill>
                  <a:schemeClr val="dk1"/>
                </a:solidFill>
                <a:highlight>
                  <a:srgbClr val="FFFFFF"/>
                </a:highlight>
                <a:latin typeface="Times New Roman"/>
                <a:ea typeface="Times New Roman"/>
                <a:cs typeface="Times New Roman"/>
                <a:sym typeface="Times New Roman"/>
              </a:rPr>
              <a:t>t runs on the user’s</a:t>
            </a:r>
            <a:r>
              <a:rPr lang="en" sz="1400">
                <a:solidFill>
                  <a:schemeClr val="dk1"/>
                </a:solidFill>
                <a:highlight>
                  <a:srgbClr val="FFFFFF"/>
                </a:highlight>
                <a:uFill>
                  <a:noFill/>
                </a:uFill>
                <a:latin typeface="Times New Roman"/>
                <a:ea typeface="Times New Roman"/>
                <a:cs typeface="Times New Roman"/>
                <a:sym typeface="Times New Roman"/>
                <a:hlinkClick r:id="rId4">
                  <a:extLst>
                    <a:ext uri="{A12FA001-AC4F-418D-AE19-62706E023703}">
                      <ahyp:hlinkClr val="tx"/>
                    </a:ext>
                  </a:extLst>
                </a:hlinkClick>
              </a:rPr>
              <a:t> browser,</a:t>
            </a:r>
            <a:r>
              <a:rPr lang="en" sz="1400">
                <a:solidFill>
                  <a:schemeClr val="dk1"/>
                </a:solidFill>
                <a:highlight>
                  <a:srgbClr val="FFFFFF"/>
                </a:highlight>
                <a:latin typeface="Times New Roman"/>
                <a:ea typeface="Times New Roman"/>
                <a:cs typeface="Times New Roman"/>
                <a:sym typeface="Times New Roman"/>
              </a:rPr>
              <a:t> so has a faster response time without needing to communicate with the </a:t>
            </a:r>
            <a:r>
              <a:rPr lang="en" sz="1400">
                <a:solidFill>
                  <a:schemeClr val="dk1"/>
                </a:solidFill>
                <a:highlight>
                  <a:srgbClr val="FFFFFF"/>
                </a:highlight>
                <a:uFill>
                  <a:noFill/>
                </a:uFill>
                <a:latin typeface="Times New Roman"/>
                <a:ea typeface="Times New Roman"/>
                <a:cs typeface="Times New Roman"/>
                <a:sym typeface="Times New Roman"/>
                <a:hlinkClick r:id="rId5">
                  <a:extLst>
                    <a:ext uri="{A12FA001-AC4F-418D-AE19-62706E023703}">
                      <ahyp:hlinkClr val="tx"/>
                    </a:ext>
                  </a:extLst>
                </a:hlinkClick>
              </a:rPr>
              <a:t>server</a:t>
            </a:r>
            <a:r>
              <a:rPr lang="en" sz="1400">
                <a:solidFill>
                  <a:schemeClr val="dk1"/>
                </a:solidFill>
                <a:highlight>
                  <a:srgbClr val="FFFFFF"/>
                </a:highlight>
                <a:latin typeface="Times New Roman"/>
                <a:ea typeface="Times New Roman"/>
                <a:cs typeface="Times New Roman"/>
                <a:sym typeface="Times New Roman"/>
              </a:rPr>
              <a:t>.</a:t>
            </a:r>
            <a:endParaRPr sz="1400">
              <a:solidFill>
                <a:schemeClr val="dk1"/>
              </a:solidFill>
              <a:highlight>
                <a:srgbClr val="FFFFFF"/>
              </a:highlight>
              <a:latin typeface="Times New Roman"/>
              <a:ea typeface="Times New Roman"/>
              <a:cs typeface="Times New Roman"/>
              <a:sym typeface="Times New Roman"/>
            </a:endParaRPr>
          </a:p>
          <a:p>
            <a:pPr indent="-317500" lvl="0" marL="685800" rtl="0" algn="l">
              <a:lnSpc>
                <a:spcPct val="158000"/>
              </a:lnSpc>
              <a:spcBef>
                <a:spcPts val="0"/>
              </a:spcBef>
              <a:spcAft>
                <a:spcPts val="0"/>
              </a:spcAft>
              <a:buClr>
                <a:schemeClr val="dk1"/>
              </a:buClr>
              <a:buSzPts val="1400"/>
              <a:buFont typeface="Nunito"/>
              <a:buChar char="●"/>
            </a:pPr>
            <a:r>
              <a:rPr b="1" lang="en" sz="1400">
                <a:solidFill>
                  <a:schemeClr val="dk1"/>
                </a:solidFill>
                <a:highlight>
                  <a:srgbClr val="FFFFFF"/>
                </a:highlight>
                <a:latin typeface="Times New Roman"/>
                <a:ea typeface="Times New Roman"/>
                <a:cs typeface="Times New Roman"/>
                <a:sym typeface="Times New Roman"/>
              </a:rPr>
              <a:t>Versatile:</a:t>
            </a:r>
            <a:r>
              <a:rPr lang="en" sz="1400">
                <a:solidFill>
                  <a:schemeClr val="dk1"/>
                </a:solidFill>
                <a:highlight>
                  <a:srgbClr val="FFFFFF"/>
                </a:highlight>
                <a:latin typeface="Times New Roman"/>
                <a:ea typeface="Times New Roman"/>
                <a:cs typeface="Times New Roman"/>
                <a:sym typeface="Times New Roman"/>
              </a:rPr>
              <a:t> JavaScript can be used for a wide range of tasks, from simple calculations to complex server-side applications.</a:t>
            </a:r>
            <a:endParaRPr sz="1400">
              <a:solidFill>
                <a:schemeClr val="dk1"/>
              </a:solidFill>
              <a:highlight>
                <a:srgbClr val="FFFFFF"/>
              </a:highlight>
              <a:latin typeface="Times New Roman"/>
              <a:ea typeface="Times New Roman"/>
              <a:cs typeface="Times New Roman"/>
              <a:sym typeface="Times New Roman"/>
            </a:endParaRPr>
          </a:p>
          <a:p>
            <a:pPr indent="-317500" lvl="0" marL="685800" rtl="0" algn="l">
              <a:lnSpc>
                <a:spcPct val="158000"/>
              </a:lnSpc>
              <a:spcBef>
                <a:spcPts val="0"/>
              </a:spcBef>
              <a:spcAft>
                <a:spcPts val="0"/>
              </a:spcAft>
              <a:buClr>
                <a:schemeClr val="dk1"/>
              </a:buClr>
              <a:buSzPts val="1400"/>
              <a:buFont typeface="Nunito"/>
              <a:buChar char="●"/>
            </a:pPr>
            <a:r>
              <a:rPr b="1" lang="en" sz="1400">
                <a:solidFill>
                  <a:schemeClr val="dk1"/>
                </a:solidFill>
                <a:highlight>
                  <a:srgbClr val="FFFFFF"/>
                </a:highlight>
                <a:latin typeface="Times New Roman"/>
                <a:ea typeface="Times New Roman"/>
                <a:cs typeface="Times New Roman"/>
                <a:sym typeface="Times New Roman"/>
              </a:rPr>
              <a:t>Event-Driven:</a:t>
            </a:r>
            <a:r>
              <a:rPr lang="en" sz="1400">
                <a:solidFill>
                  <a:schemeClr val="dk1"/>
                </a:solidFill>
                <a:highlight>
                  <a:srgbClr val="FFFFFF"/>
                </a:highlight>
                <a:latin typeface="Times New Roman"/>
                <a:ea typeface="Times New Roman"/>
                <a:cs typeface="Times New Roman"/>
                <a:sym typeface="Times New Roman"/>
              </a:rPr>
              <a:t> JavaScript can respond to user actions (clicks, keystrokes) in real-time.</a:t>
            </a:r>
            <a:endParaRPr sz="1400">
              <a:solidFill>
                <a:schemeClr val="dk1"/>
              </a:solidFill>
              <a:highlight>
                <a:srgbClr val="FFFFFF"/>
              </a:highlight>
              <a:latin typeface="Times New Roman"/>
              <a:ea typeface="Times New Roman"/>
              <a:cs typeface="Times New Roman"/>
              <a:sym typeface="Times New Roman"/>
            </a:endParaRPr>
          </a:p>
          <a:p>
            <a:pPr indent="-317500" lvl="0" marL="685800" rtl="0" algn="l">
              <a:lnSpc>
                <a:spcPct val="158000"/>
              </a:lnSpc>
              <a:spcBef>
                <a:spcPts val="0"/>
              </a:spcBef>
              <a:spcAft>
                <a:spcPts val="0"/>
              </a:spcAft>
              <a:buClr>
                <a:schemeClr val="dk1"/>
              </a:buClr>
              <a:buSzPts val="1400"/>
              <a:buFont typeface="Nunito"/>
              <a:buChar char="●"/>
            </a:pPr>
            <a:r>
              <a:rPr b="1" lang="en" sz="1400">
                <a:solidFill>
                  <a:schemeClr val="dk1"/>
                </a:solidFill>
                <a:highlight>
                  <a:srgbClr val="FFFFFF"/>
                </a:highlight>
                <a:latin typeface="Times New Roman"/>
                <a:ea typeface="Times New Roman"/>
                <a:cs typeface="Times New Roman"/>
                <a:sym typeface="Times New Roman"/>
              </a:rPr>
              <a:t>Asynchronous:</a:t>
            </a:r>
            <a:r>
              <a:rPr lang="en" sz="1400">
                <a:solidFill>
                  <a:schemeClr val="dk1"/>
                </a:solidFill>
                <a:highlight>
                  <a:srgbClr val="FFFFFF"/>
                </a:highlight>
                <a:latin typeface="Times New Roman"/>
                <a:ea typeface="Times New Roman"/>
                <a:cs typeface="Times New Roman"/>
                <a:sym typeface="Times New Roman"/>
              </a:rPr>
              <a:t> JavaScript can handle tasks like </a:t>
            </a:r>
            <a:r>
              <a:rPr lang="en" sz="1400">
                <a:solidFill>
                  <a:schemeClr val="dk1"/>
                </a:solidFill>
                <a:highlight>
                  <a:srgbClr val="FFFFFF"/>
                </a:highlight>
                <a:uFill>
                  <a:noFill/>
                </a:uFill>
                <a:latin typeface="Times New Roman"/>
                <a:ea typeface="Times New Roman"/>
                <a:cs typeface="Times New Roman"/>
                <a:sym typeface="Times New Roman"/>
                <a:hlinkClick r:id="rId6">
                  <a:extLst>
                    <a:ext uri="{A12FA001-AC4F-418D-AE19-62706E023703}">
                      <ahyp:hlinkClr val="tx"/>
                    </a:ext>
                  </a:extLst>
                </a:hlinkClick>
              </a:rPr>
              <a:t>fetching data </a:t>
            </a:r>
            <a:r>
              <a:rPr lang="en" sz="1400">
                <a:solidFill>
                  <a:schemeClr val="dk1"/>
                </a:solidFill>
                <a:highlight>
                  <a:srgbClr val="FFFFFF"/>
                </a:highlight>
                <a:latin typeface="Times New Roman"/>
                <a:ea typeface="Times New Roman"/>
                <a:cs typeface="Times New Roman"/>
                <a:sym typeface="Times New Roman"/>
              </a:rPr>
              <a:t>from</a:t>
            </a:r>
            <a:r>
              <a:rPr lang="en" sz="1400">
                <a:solidFill>
                  <a:schemeClr val="dk1"/>
                </a:solidFill>
                <a:highlight>
                  <a:srgbClr val="FFFFFF"/>
                </a:highlight>
                <a:uFill>
                  <a:noFill/>
                </a:uFill>
                <a:latin typeface="Times New Roman"/>
                <a:ea typeface="Times New Roman"/>
                <a:cs typeface="Times New Roman"/>
                <a:sym typeface="Times New Roman"/>
                <a:hlinkClick r:id="rId7">
                  <a:extLst>
                    <a:ext uri="{A12FA001-AC4F-418D-AE19-62706E023703}">
                      <ahyp:hlinkClr val="tx"/>
                    </a:ext>
                  </a:extLst>
                </a:hlinkClick>
              </a:rPr>
              <a:t> servers</a:t>
            </a:r>
            <a:r>
              <a:rPr lang="en" sz="1400">
                <a:solidFill>
                  <a:schemeClr val="dk1"/>
                </a:solidFill>
                <a:highlight>
                  <a:srgbClr val="FFFFFF"/>
                </a:highlight>
                <a:latin typeface="Times New Roman"/>
                <a:ea typeface="Times New Roman"/>
                <a:cs typeface="Times New Roman"/>
                <a:sym typeface="Times New Roman"/>
              </a:rPr>
              <a:t> without freezing the user interface.</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1800"/>
              </a:spcBef>
              <a:spcAft>
                <a:spcPts val="1200"/>
              </a:spcAft>
              <a:buNone/>
            </a:pPr>
            <a:r>
              <a:t/>
            </a:r>
            <a:endParaRPr b="1" sz="1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idx="1" type="body"/>
          </p:nvPr>
        </p:nvSpPr>
        <p:spPr>
          <a:xfrm>
            <a:off x="311700" y="301200"/>
            <a:ext cx="8520600" cy="4267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100">
                <a:solidFill>
                  <a:srgbClr val="273239"/>
                </a:solidFill>
                <a:highlight>
                  <a:srgbClr val="FFFFFF"/>
                </a:highlight>
              </a:rPr>
              <a:t>Advantages</a:t>
            </a:r>
            <a:endParaRPr b="1" sz="2100">
              <a:solidFill>
                <a:srgbClr val="273239"/>
              </a:solidFill>
              <a:highlight>
                <a:srgbClr val="FFFFFF"/>
              </a:highlight>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Saves time and bandwidth:</a:t>
            </a:r>
            <a:r>
              <a:rPr lang="en" sz="1350">
                <a:solidFill>
                  <a:srgbClr val="273239"/>
                </a:solidFill>
                <a:highlight>
                  <a:srgbClr val="FFFFFF"/>
                </a:highlight>
                <a:latin typeface="Nunito"/>
                <a:ea typeface="Nunito"/>
                <a:cs typeface="Nunito"/>
                <a:sym typeface="Nunito"/>
              </a:rPr>
              <a:t> Regardless of where you host JavaScript, it always gets executed on the client environment to save lots of bandwidth and make the execution process fast.</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Compatible for all browsers:</a:t>
            </a:r>
            <a:r>
              <a:rPr lang="en" sz="1350">
                <a:solidFill>
                  <a:srgbClr val="273239"/>
                </a:solidFill>
                <a:highlight>
                  <a:srgbClr val="FFFFFF"/>
                </a:highlight>
                <a:latin typeface="Nunito"/>
                <a:ea typeface="Nunito"/>
                <a:cs typeface="Nunito"/>
                <a:sym typeface="Nunito"/>
              </a:rPr>
              <a:t> The biggest advantage of JavaScript having the ability to support all modern browsers and produce an equivalent result.</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Community Support:</a:t>
            </a:r>
            <a:r>
              <a:rPr lang="en" sz="1350">
                <a:solidFill>
                  <a:srgbClr val="273239"/>
                </a:solidFill>
                <a:highlight>
                  <a:srgbClr val="FFFFFF"/>
                </a:highlight>
                <a:latin typeface="Nunito"/>
                <a:ea typeface="Nunito"/>
                <a:cs typeface="Nunito"/>
                <a:sym typeface="Nunito"/>
              </a:rPr>
              <a:t> Global companies support community development by creating important projects. </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Vastly used:</a:t>
            </a:r>
            <a:r>
              <a:rPr lang="en" sz="1350">
                <a:solidFill>
                  <a:srgbClr val="273239"/>
                </a:solidFill>
                <a:highlight>
                  <a:srgbClr val="FFFFFF"/>
                </a:highlight>
                <a:latin typeface="Nunito"/>
                <a:ea typeface="Nunito"/>
                <a:cs typeface="Nunito"/>
                <a:sym typeface="Nunito"/>
              </a:rPr>
              <a:t> JavaScript is employed everywhere on the web.</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Environment Support:</a:t>
            </a:r>
            <a:r>
              <a:rPr lang="en" sz="1350">
                <a:solidFill>
                  <a:srgbClr val="273239"/>
                </a:solidFill>
                <a:highlight>
                  <a:srgbClr val="FFFFFF"/>
                </a:highlight>
                <a:latin typeface="Nunito"/>
                <a:ea typeface="Nunito"/>
                <a:cs typeface="Nunito"/>
                <a:sym typeface="Nunito"/>
              </a:rPr>
              <a:t> JavaScript plays nicely with other languages and may be utilized in an enormous sort of application.</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0"/>
              </a:spcAft>
              <a:buClr>
                <a:schemeClr val="dk1"/>
              </a:buClr>
              <a:buSzPts val="1100"/>
              <a:buFont typeface="Arial"/>
              <a:buNone/>
            </a:pPr>
            <a:r>
              <a:t/>
            </a:r>
            <a:endParaRPr b="1" sz="2100">
              <a:solidFill>
                <a:srgbClr val="273239"/>
              </a:solidFill>
              <a:highlight>
                <a:srgbClr val="FFFFFF"/>
              </a:highlight>
            </a:endParaRPr>
          </a:p>
          <a:p>
            <a:pPr indent="0" lvl="0" marL="0" rtl="0" algn="l">
              <a:spcBef>
                <a:spcPts val="0"/>
              </a:spcBef>
              <a:spcAft>
                <a:spcPts val="1200"/>
              </a:spcAft>
              <a:buNone/>
            </a:pPr>
            <a:r>
              <a:t/>
            </a:r>
            <a:endParaRPr b="1" sz="1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7"/>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100">
                <a:solidFill>
                  <a:srgbClr val="273239"/>
                </a:solidFill>
                <a:highlight>
                  <a:srgbClr val="FFFFFF"/>
                </a:highlight>
              </a:rPr>
              <a:t>Advantages</a:t>
            </a:r>
            <a:endParaRPr b="1" sz="2100">
              <a:solidFill>
                <a:srgbClr val="273239"/>
              </a:solidFill>
              <a:highlight>
                <a:srgbClr val="FFFFFF"/>
              </a:highlight>
            </a:endParaRPr>
          </a:p>
          <a:p>
            <a:pPr indent="0" lvl="0" marL="457200" rtl="0" algn="l">
              <a:lnSpc>
                <a:spcPct val="158000"/>
              </a:lnSpc>
              <a:spcBef>
                <a:spcPts val="0"/>
              </a:spcBef>
              <a:spcAft>
                <a:spcPts val="0"/>
              </a:spcAft>
              <a:buNone/>
            </a:pPr>
            <a:r>
              <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180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Open source: </a:t>
            </a:r>
            <a:r>
              <a:rPr lang="en" sz="1350">
                <a:solidFill>
                  <a:srgbClr val="273239"/>
                </a:solidFill>
                <a:highlight>
                  <a:srgbClr val="FFFFFF"/>
                </a:highlight>
                <a:latin typeface="Nunito"/>
                <a:ea typeface="Nunito"/>
                <a:cs typeface="Nunito"/>
                <a:sym typeface="Nunito"/>
              </a:rPr>
              <a:t>Many open-source projects provide useful help for developers to add JavaScript.</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Easy to use: </a:t>
            </a:r>
            <a:r>
              <a:rPr lang="en" sz="1350">
                <a:solidFill>
                  <a:srgbClr val="273239"/>
                </a:solidFill>
                <a:highlight>
                  <a:srgbClr val="FFFFFF"/>
                </a:highlight>
                <a:latin typeface="Nunito"/>
                <a:ea typeface="Nunito"/>
                <a:cs typeface="Nunito"/>
                <a:sym typeface="Nunito"/>
              </a:rPr>
              <a:t>It is not difficult to start working in JavaScript. For this reason, many of us prefer to start our adventure in the IT sector by learning this language. It gives the power to make rich interfaces.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Backend usage</a:t>
            </a:r>
            <a:r>
              <a:rPr lang="en" sz="1350">
                <a:solidFill>
                  <a:srgbClr val="273239"/>
                </a:solidFill>
                <a:highlight>
                  <a:srgbClr val="FFFFFF"/>
                </a:highlight>
                <a:latin typeface="Nunito"/>
                <a:ea typeface="Nunito"/>
                <a:cs typeface="Nunito"/>
                <a:sym typeface="Nunito"/>
              </a:rPr>
              <a:t>: There are some ways to use JavaScript through Node.js servers. It is possible to develop a whole JavaScript app from front to back using only JavaScript.</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0"/>
              </a:spcAft>
              <a:buNone/>
            </a:pPr>
            <a:r>
              <a:t/>
            </a:r>
            <a:endParaRPr b="1" sz="2100">
              <a:solidFill>
                <a:srgbClr val="273239"/>
              </a:solidFill>
              <a:highlight>
                <a:srgbClr val="FFFFFF"/>
              </a:highlight>
            </a:endParaRPr>
          </a:p>
          <a:p>
            <a:pPr indent="0" lvl="0" marL="0" rtl="0" algn="l">
              <a:spcBef>
                <a:spcPts val="0"/>
              </a:spcBef>
              <a:spcAft>
                <a:spcPts val="1200"/>
              </a:spcAft>
              <a:buNone/>
            </a:pPr>
            <a:r>
              <a:t/>
            </a:r>
            <a:endParaRPr b="1" sz="1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8"/>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800"/>
              </a:spcBef>
              <a:spcAft>
                <a:spcPts val="0"/>
              </a:spcAft>
              <a:buClr>
                <a:schemeClr val="dk1"/>
              </a:buClr>
              <a:buSzPts val="1100"/>
              <a:buFont typeface="Arial"/>
              <a:buNone/>
            </a:pPr>
            <a:r>
              <a:rPr lang="en">
                <a:solidFill>
                  <a:schemeClr val="dk1"/>
                </a:solidFill>
              </a:rPr>
              <a:t>Datatypes</a:t>
            </a:r>
            <a:endParaRPr>
              <a:solidFill>
                <a:schemeClr val="dk1"/>
              </a:solidFill>
            </a:endParaRPr>
          </a:p>
          <a:p>
            <a:pPr indent="0" lvl="0" marL="0" rtl="0" algn="l">
              <a:spcBef>
                <a:spcPts val="1100"/>
              </a:spcBef>
              <a:spcAft>
                <a:spcPts val="0"/>
              </a:spcAft>
              <a:buClr>
                <a:schemeClr val="dk1"/>
              </a:buClr>
              <a:buSzPts val="1100"/>
              <a:buFont typeface="Arial"/>
              <a:buNone/>
            </a:pPr>
            <a:r>
              <a:rPr lang="en" sz="1150">
                <a:solidFill>
                  <a:schemeClr val="dk1"/>
                </a:solidFill>
                <a:latin typeface="Verdana"/>
                <a:ea typeface="Verdana"/>
                <a:cs typeface="Verdana"/>
                <a:sym typeface="Verdana"/>
              </a:rPr>
              <a:t>String</a:t>
            </a:r>
            <a:br>
              <a:rPr lang="en" sz="1150">
                <a:solidFill>
                  <a:schemeClr val="dk1"/>
                </a:solidFill>
                <a:latin typeface="Verdana"/>
                <a:ea typeface="Verdana"/>
                <a:cs typeface="Verdana"/>
                <a:sym typeface="Verdana"/>
              </a:rPr>
            </a:br>
            <a:r>
              <a:rPr lang="en" sz="1150">
                <a:solidFill>
                  <a:schemeClr val="dk1"/>
                </a:solidFill>
                <a:latin typeface="Verdana"/>
                <a:ea typeface="Verdana"/>
                <a:cs typeface="Verdana"/>
                <a:sym typeface="Verdana"/>
              </a:rPr>
              <a:t>Number</a:t>
            </a:r>
            <a:br>
              <a:rPr lang="en" sz="1150">
                <a:solidFill>
                  <a:schemeClr val="dk1"/>
                </a:solidFill>
                <a:latin typeface="Verdana"/>
                <a:ea typeface="Verdana"/>
                <a:cs typeface="Verdana"/>
                <a:sym typeface="Verdana"/>
              </a:rPr>
            </a:br>
            <a:r>
              <a:rPr lang="en" sz="1150">
                <a:solidFill>
                  <a:schemeClr val="dk1"/>
                </a:solidFill>
                <a:latin typeface="Verdana"/>
                <a:ea typeface="Verdana"/>
                <a:cs typeface="Verdana"/>
                <a:sym typeface="Verdana"/>
              </a:rPr>
              <a:t>Bigint</a:t>
            </a:r>
            <a:br>
              <a:rPr lang="en" sz="1150">
                <a:solidFill>
                  <a:schemeClr val="dk1"/>
                </a:solidFill>
                <a:latin typeface="Verdana"/>
                <a:ea typeface="Verdana"/>
                <a:cs typeface="Verdana"/>
                <a:sym typeface="Verdana"/>
              </a:rPr>
            </a:br>
            <a:r>
              <a:rPr lang="en" sz="1150">
                <a:solidFill>
                  <a:schemeClr val="dk1"/>
                </a:solidFill>
                <a:latin typeface="Verdana"/>
                <a:ea typeface="Verdana"/>
                <a:cs typeface="Verdana"/>
                <a:sym typeface="Verdana"/>
              </a:rPr>
              <a:t>Boolean</a:t>
            </a:r>
            <a:br>
              <a:rPr lang="en" sz="1150">
                <a:solidFill>
                  <a:schemeClr val="dk1"/>
                </a:solidFill>
                <a:latin typeface="Verdana"/>
                <a:ea typeface="Verdana"/>
                <a:cs typeface="Verdana"/>
                <a:sym typeface="Verdana"/>
              </a:rPr>
            </a:br>
            <a:r>
              <a:rPr lang="en" sz="1150">
                <a:solidFill>
                  <a:schemeClr val="dk1"/>
                </a:solidFill>
                <a:latin typeface="Verdana"/>
                <a:ea typeface="Verdana"/>
                <a:cs typeface="Verdana"/>
                <a:sym typeface="Verdana"/>
              </a:rPr>
              <a:t>Undefined</a:t>
            </a:r>
            <a:br>
              <a:rPr lang="en" sz="1150">
                <a:solidFill>
                  <a:schemeClr val="dk1"/>
                </a:solidFill>
                <a:latin typeface="Verdana"/>
                <a:ea typeface="Verdana"/>
                <a:cs typeface="Verdana"/>
                <a:sym typeface="Verdana"/>
              </a:rPr>
            </a:br>
            <a:r>
              <a:rPr lang="en" sz="1150">
                <a:solidFill>
                  <a:schemeClr val="dk1"/>
                </a:solidFill>
                <a:latin typeface="Verdana"/>
                <a:ea typeface="Verdana"/>
                <a:cs typeface="Verdana"/>
                <a:sym typeface="Verdana"/>
              </a:rPr>
              <a:t>Null</a:t>
            </a:r>
            <a:br>
              <a:rPr lang="en" sz="1150">
                <a:solidFill>
                  <a:schemeClr val="dk1"/>
                </a:solidFill>
                <a:latin typeface="Verdana"/>
                <a:ea typeface="Verdana"/>
                <a:cs typeface="Verdana"/>
                <a:sym typeface="Verdana"/>
              </a:rPr>
            </a:br>
            <a:r>
              <a:rPr lang="en" sz="1150">
                <a:solidFill>
                  <a:schemeClr val="dk1"/>
                </a:solidFill>
                <a:latin typeface="Verdana"/>
                <a:ea typeface="Verdana"/>
                <a:cs typeface="Verdana"/>
                <a:sym typeface="Verdana"/>
              </a:rPr>
              <a:t>Symbol</a:t>
            </a:r>
            <a:br>
              <a:rPr lang="en" sz="1150">
                <a:solidFill>
                  <a:schemeClr val="dk1"/>
                </a:solidFill>
                <a:latin typeface="Verdana"/>
                <a:ea typeface="Verdana"/>
                <a:cs typeface="Verdana"/>
                <a:sym typeface="Verdana"/>
              </a:rPr>
            </a:br>
            <a:r>
              <a:rPr lang="en" sz="1150">
                <a:solidFill>
                  <a:schemeClr val="dk1"/>
                </a:solidFill>
                <a:latin typeface="Verdana"/>
                <a:ea typeface="Verdana"/>
                <a:cs typeface="Verdana"/>
                <a:sym typeface="Verdana"/>
              </a:rPr>
              <a:t>Object</a:t>
            </a:r>
            <a:endParaRPr sz="1150">
              <a:solidFill>
                <a:schemeClr val="dk1"/>
              </a:solidFill>
              <a:latin typeface="Verdana"/>
              <a:ea typeface="Verdana"/>
              <a:cs typeface="Verdana"/>
              <a:sym typeface="Verdana"/>
            </a:endParaRPr>
          </a:p>
          <a:p>
            <a:pPr indent="0" lvl="0" marL="0" rtl="0" algn="l">
              <a:spcBef>
                <a:spcPts val="1100"/>
              </a:spcBef>
              <a:spcAft>
                <a:spcPts val="0"/>
              </a:spcAft>
              <a:buClr>
                <a:schemeClr val="dk1"/>
              </a:buClr>
              <a:buSzPts val="1100"/>
              <a:buFont typeface="Arial"/>
              <a:buNone/>
            </a:pPr>
            <a:r>
              <a:rPr lang="en">
                <a:solidFill>
                  <a:schemeClr val="dk1"/>
                </a:solidFill>
              </a:rPr>
              <a:t>The Object Datatype</a:t>
            </a:r>
            <a:endParaRPr>
              <a:solidFill>
                <a:schemeClr val="dk1"/>
              </a:solidFill>
            </a:endParaRPr>
          </a:p>
          <a:p>
            <a:pPr indent="0" lvl="0" marL="0" rtl="0" algn="l">
              <a:spcBef>
                <a:spcPts val="1100"/>
              </a:spcBef>
              <a:spcAft>
                <a:spcPts val="0"/>
              </a:spcAft>
              <a:buClr>
                <a:schemeClr val="dk1"/>
              </a:buClr>
              <a:buSzPts val="1100"/>
              <a:buFont typeface="Arial"/>
              <a:buNone/>
            </a:pPr>
            <a:r>
              <a:rPr lang="en" sz="1150">
                <a:solidFill>
                  <a:schemeClr val="dk1"/>
                </a:solidFill>
                <a:latin typeface="Verdana"/>
                <a:ea typeface="Verdana"/>
                <a:cs typeface="Verdana"/>
                <a:sym typeface="Verdana"/>
              </a:rPr>
              <a:t>The object data type can contain both built-in objects, and user defined objects:</a:t>
            </a:r>
            <a:endParaRPr sz="1150">
              <a:solidFill>
                <a:schemeClr val="dk1"/>
              </a:solidFill>
              <a:latin typeface="Verdana"/>
              <a:ea typeface="Verdana"/>
              <a:cs typeface="Verdana"/>
              <a:sym typeface="Verdana"/>
            </a:endParaRPr>
          </a:p>
          <a:p>
            <a:pPr indent="0" lvl="0" marL="0" rtl="0" algn="l">
              <a:spcBef>
                <a:spcPts val="1100"/>
              </a:spcBef>
              <a:spcAft>
                <a:spcPts val="0"/>
              </a:spcAft>
              <a:buClr>
                <a:schemeClr val="dk1"/>
              </a:buClr>
              <a:buSzPts val="1100"/>
              <a:buFont typeface="Arial"/>
              <a:buNone/>
            </a:pPr>
            <a:r>
              <a:rPr lang="en" sz="1150">
                <a:solidFill>
                  <a:schemeClr val="dk1"/>
                </a:solidFill>
                <a:latin typeface="Verdana"/>
                <a:ea typeface="Verdana"/>
                <a:cs typeface="Verdana"/>
                <a:sym typeface="Verdana"/>
              </a:rPr>
              <a:t>Built-in object types can be:</a:t>
            </a:r>
            <a:endParaRPr sz="1150">
              <a:solidFill>
                <a:schemeClr val="dk1"/>
              </a:solidFill>
              <a:latin typeface="Verdana"/>
              <a:ea typeface="Verdana"/>
              <a:cs typeface="Verdana"/>
              <a:sym typeface="Verdana"/>
            </a:endParaRPr>
          </a:p>
          <a:p>
            <a:pPr indent="0" lvl="0" marL="0" rtl="0" algn="l">
              <a:spcBef>
                <a:spcPts val="1100"/>
              </a:spcBef>
              <a:spcAft>
                <a:spcPts val="0"/>
              </a:spcAft>
              <a:buClr>
                <a:schemeClr val="dk1"/>
              </a:buClr>
              <a:buSzPts val="1100"/>
              <a:buFont typeface="Arial"/>
              <a:buNone/>
            </a:pPr>
            <a:r>
              <a:rPr lang="en" sz="1150">
                <a:solidFill>
                  <a:schemeClr val="dk1"/>
                </a:solidFill>
                <a:latin typeface="Verdana"/>
                <a:ea typeface="Verdana"/>
                <a:cs typeface="Verdana"/>
                <a:sym typeface="Verdana"/>
              </a:rPr>
              <a:t>objects, arrays, dates, maps, sets, intarrays, floatarrays, promises, and more.</a:t>
            </a:r>
            <a:endParaRPr sz="1150">
              <a:solidFill>
                <a:schemeClr val="dk1"/>
              </a:solidFill>
              <a:latin typeface="Verdana"/>
              <a:ea typeface="Verdana"/>
              <a:cs typeface="Verdana"/>
              <a:sym typeface="Verdana"/>
            </a:endParaRPr>
          </a:p>
          <a:p>
            <a:pPr indent="0" lvl="0" marL="0" rtl="0" algn="l">
              <a:spcBef>
                <a:spcPts val="1100"/>
              </a:spcBef>
              <a:spcAft>
                <a:spcPts val="1200"/>
              </a:spcAft>
              <a:buNone/>
            </a:pPr>
            <a:r>
              <a:t/>
            </a:r>
            <a:endParaRPr b="1" sz="2100">
              <a:solidFill>
                <a:srgbClr val="273239"/>
              </a:solidFill>
              <a:highlight>
                <a:srgbClr val="FF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9"/>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800"/>
              </a:spcBef>
              <a:spcAft>
                <a:spcPts val="0"/>
              </a:spcAft>
              <a:buClr>
                <a:schemeClr val="dk1"/>
              </a:buClr>
              <a:buSzPts val="1100"/>
              <a:buFont typeface="Arial"/>
              <a:buNone/>
            </a:pPr>
            <a:r>
              <a:rPr lang="en" sz="2400">
                <a:solidFill>
                  <a:schemeClr val="dk1"/>
                </a:solidFill>
                <a:highlight>
                  <a:srgbClr val="FFFFFF"/>
                </a:highlight>
              </a:rPr>
              <a:t>Types of JavaScript Operators</a:t>
            </a:r>
            <a:endParaRPr sz="2400">
              <a:solidFill>
                <a:schemeClr val="dk1"/>
              </a:solidFill>
              <a:highlight>
                <a:srgbClr val="FFFFFF"/>
              </a:highlight>
            </a:endParaRPr>
          </a:p>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There are different types of JavaScript operators:</a:t>
            </a:r>
            <a:endParaRPr sz="1150">
              <a:solidFill>
                <a:schemeClr val="dk1"/>
              </a:solidFill>
              <a:highlight>
                <a:srgbClr val="FFFFFF"/>
              </a:highlight>
              <a:latin typeface="Verdana"/>
              <a:ea typeface="Verdana"/>
              <a:cs typeface="Verdana"/>
              <a:sym typeface="Verdana"/>
            </a:endParaRPr>
          </a:p>
          <a:p>
            <a:pPr indent="-301625" lvl="0" marL="457200" rtl="0" algn="l">
              <a:spcBef>
                <a:spcPts val="140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Arithmetic Operators</a:t>
            </a:r>
            <a:endParaRPr sz="1150">
              <a:solidFill>
                <a:schemeClr val="dk1"/>
              </a:solidFill>
              <a:highlight>
                <a:srgbClr val="FFFFFF"/>
              </a:highlight>
              <a:latin typeface="Verdana"/>
              <a:ea typeface="Verdana"/>
              <a:cs typeface="Verdana"/>
              <a:sym typeface="Verdana"/>
            </a:endParaRPr>
          </a:p>
          <a:p>
            <a:pPr indent="-301625" lvl="0" marL="457200" rtl="0" algn="l">
              <a:spcBef>
                <a:spcPts val="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Assignment Operators</a:t>
            </a:r>
            <a:endParaRPr sz="1150">
              <a:solidFill>
                <a:schemeClr val="dk1"/>
              </a:solidFill>
              <a:highlight>
                <a:srgbClr val="FFFFFF"/>
              </a:highlight>
              <a:latin typeface="Verdana"/>
              <a:ea typeface="Verdana"/>
              <a:cs typeface="Verdana"/>
              <a:sym typeface="Verdana"/>
            </a:endParaRPr>
          </a:p>
          <a:p>
            <a:pPr indent="-301625" lvl="0" marL="457200" rtl="0" algn="l">
              <a:spcBef>
                <a:spcPts val="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Comparison Operators</a:t>
            </a:r>
            <a:endParaRPr sz="1150">
              <a:solidFill>
                <a:schemeClr val="dk1"/>
              </a:solidFill>
              <a:highlight>
                <a:srgbClr val="FFFFFF"/>
              </a:highlight>
              <a:latin typeface="Verdana"/>
              <a:ea typeface="Verdana"/>
              <a:cs typeface="Verdana"/>
              <a:sym typeface="Verdana"/>
            </a:endParaRPr>
          </a:p>
          <a:p>
            <a:pPr indent="-301625" lvl="0" marL="457200" rtl="0" algn="l">
              <a:spcBef>
                <a:spcPts val="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Logical Operators</a:t>
            </a:r>
            <a:endParaRPr sz="1150">
              <a:solidFill>
                <a:schemeClr val="dk1"/>
              </a:solidFill>
              <a:highlight>
                <a:srgbClr val="FFFFFF"/>
              </a:highlight>
              <a:latin typeface="Verdana"/>
              <a:ea typeface="Verdana"/>
              <a:cs typeface="Verdana"/>
              <a:sym typeface="Verdana"/>
            </a:endParaRPr>
          </a:p>
          <a:p>
            <a:pPr indent="-301625" lvl="0" marL="457200" rtl="0" algn="l">
              <a:spcBef>
                <a:spcPts val="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Bitwise Operators</a:t>
            </a:r>
            <a:endParaRPr sz="1150">
              <a:solidFill>
                <a:schemeClr val="dk1"/>
              </a:solidFill>
              <a:highlight>
                <a:srgbClr val="FFFFFF"/>
              </a:highlight>
              <a:latin typeface="Verdana"/>
              <a:ea typeface="Verdana"/>
              <a:cs typeface="Verdana"/>
              <a:sym typeface="Verdana"/>
            </a:endParaRPr>
          </a:p>
          <a:p>
            <a:pPr indent="-301625" lvl="0" marL="457200" rtl="0" algn="l">
              <a:spcBef>
                <a:spcPts val="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Ternary Operators</a:t>
            </a:r>
            <a:endParaRPr sz="1150">
              <a:solidFill>
                <a:schemeClr val="dk1"/>
              </a:solidFill>
              <a:highlight>
                <a:srgbClr val="FFFFFF"/>
              </a:highlight>
              <a:latin typeface="Verdana"/>
              <a:ea typeface="Verdana"/>
              <a:cs typeface="Verdana"/>
              <a:sym typeface="Verdana"/>
            </a:endParaRPr>
          </a:p>
          <a:p>
            <a:pPr indent="-301625" lvl="0" marL="457200" rtl="0" algn="l">
              <a:spcBef>
                <a:spcPts val="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Type Operators</a:t>
            </a:r>
            <a:endParaRPr sz="1150">
              <a:solidFill>
                <a:schemeClr val="dk1"/>
              </a:solidFill>
              <a:highlight>
                <a:srgbClr val="FFFFFF"/>
              </a:highlight>
              <a:latin typeface="Verdana"/>
              <a:ea typeface="Verdana"/>
              <a:cs typeface="Verdana"/>
              <a:sym typeface="Verdana"/>
            </a:endParaRPr>
          </a:p>
          <a:p>
            <a:pPr indent="0" lvl="0" marL="0" rtl="0" algn="l">
              <a:spcBef>
                <a:spcPts val="1100"/>
              </a:spcBef>
              <a:spcAft>
                <a:spcPts val="1200"/>
              </a:spcAft>
              <a:buNone/>
            </a:pPr>
            <a:r>
              <a:t/>
            </a:r>
            <a:endParaRPr sz="56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0"/>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55000"/>
          </a:bodyPr>
          <a:lstStyle/>
          <a:p>
            <a:pPr indent="0" lvl="0" marL="0" rtl="0" algn="l">
              <a:spcBef>
                <a:spcPts val="800"/>
              </a:spcBef>
              <a:spcAft>
                <a:spcPts val="0"/>
              </a:spcAft>
              <a:buNone/>
            </a:pPr>
            <a:r>
              <a:rPr lang="en" sz="5600">
                <a:solidFill>
                  <a:schemeClr val="dk1"/>
                </a:solidFill>
                <a:highlight>
                  <a:srgbClr val="FFFFFF"/>
                </a:highlight>
                <a:latin typeface="Times New Roman"/>
                <a:ea typeface="Times New Roman"/>
                <a:cs typeface="Times New Roman"/>
                <a:sym typeface="Times New Roman"/>
              </a:rPr>
              <a:t>Operators : Assignment</a:t>
            </a:r>
            <a:endParaRPr sz="5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lang="en" sz="4800">
                <a:solidFill>
                  <a:schemeClr val="dk1"/>
                </a:solidFill>
                <a:highlight>
                  <a:srgbClr val="FFFFFF"/>
                </a:highlight>
                <a:latin typeface="Times New Roman"/>
                <a:ea typeface="Times New Roman"/>
                <a:cs typeface="Times New Roman"/>
                <a:sym typeface="Times New Roman"/>
              </a:rPr>
              <a:t>The Assignment Operator (</a:t>
            </a:r>
            <a:r>
              <a:rPr lang="en" sz="4800">
                <a:solidFill>
                  <a:srgbClr val="DC143C"/>
                </a:solidFill>
                <a:highlight>
                  <a:srgbClr val="FFFFFF"/>
                </a:highlight>
                <a:latin typeface="Times New Roman"/>
                <a:ea typeface="Times New Roman"/>
                <a:cs typeface="Times New Roman"/>
                <a:sym typeface="Times New Roman"/>
              </a:rPr>
              <a:t>=</a:t>
            </a:r>
            <a:r>
              <a:rPr lang="en" sz="4800">
                <a:solidFill>
                  <a:schemeClr val="dk1"/>
                </a:solidFill>
                <a:highlight>
                  <a:srgbClr val="FFFFFF"/>
                </a:highlight>
                <a:latin typeface="Times New Roman"/>
                <a:ea typeface="Times New Roman"/>
                <a:cs typeface="Times New Roman"/>
                <a:sym typeface="Times New Roman"/>
              </a:rPr>
              <a:t>) assigns a value to a variable:</a:t>
            </a:r>
            <a:endParaRPr sz="48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lang="en" sz="4800">
                <a:solidFill>
                  <a:schemeClr val="dk1"/>
                </a:solidFill>
                <a:latin typeface="Times New Roman"/>
                <a:ea typeface="Times New Roman"/>
                <a:cs typeface="Times New Roman"/>
                <a:sym typeface="Times New Roman"/>
              </a:rPr>
              <a:t>&lt;html&gt;</a:t>
            </a:r>
            <a:endParaRPr sz="48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 sz="4800">
                <a:solidFill>
                  <a:schemeClr val="dk1"/>
                </a:solidFill>
                <a:latin typeface="Times New Roman"/>
                <a:ea typeface="Times New Roman"/>
                <a:cs typeface="Times New Roman"/>
                <a:sym typeface="Times New Roman"/>
              </a:rPr>
              <a:t>&lt;body&gt;</a:t>
            </a:r>
            <a:endParaRPr sz="48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 sz="4800">
                <a:solidFill>
                  <a:schemeClr val="dk1"/>
                </a:solidFill>
                <a:latin typeface="Times New Roman"/>
                <a:ea typeface="Times New Roman"/>
                <a:cs typeface="Times New Roman"/>
                <a:sym typeface="Times New Roman"/>
              </a:rPr>
              <a:t>&lt;h1&gt;JavaScript Operators&lt;/h1&gt;</a:t>
            </a:r>
            <a:endParaRPr sz="48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 sz="4800">
                <a:solidFill>
                  <a:schemeClr val="dk1"/>
                </a:solidFill>
                <a:latin typeface="Times New Roman"/>
                <a:ea typeface="Times New Roman"/>
                <a:cs typeface="Times New Roman"/>
                <a:sym typeface="Times New Roman"/>
              </a:rPr>
              <a:t>&lt;h2&gt;The = Operator&lt;/h2&gt;</a:t>
            </a:r>
            <a:endParaRPr sz="48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40000" lnSpcReduction="20000"/>
          </a:bodyPr>
          <a:lstStyle/>
          <a:p>
            <a:pPr indent="0" lvl="0" marL="0" marR="0" rtl="0" algn="l">
              <a:lnSpc>
                <a:spcPct val="100000"/>
              </a:lnSpc>
              <a:spcBef>
                <a:spcPts val="0"/>
              </a:spcBef>
              <a:spcAft>
                <a:spcPts val="0"/>
              </a:spcAft>
              <a:buNone/>
            </a:pPr>
            <a:r>
              <a:rPr lang="en" sz="4800">
                <a:solidFill>
                  <a:schemeClr val="dk1"/>
                </a:solidFill>
                <a:highlight>
                  <a:srgbClr val="FFFFFF"/>
                </a:highlight>
                <a:latin typeface="Times New Roman"/>
                <a:ea typeface="Times New Roman"/>
                <a:cs typeface="Times New Roman"/>
                <a:sym typeface="Times New Roman"/>
              </a:rPr>
              <a:t>Operators : Assignment</a:t>
            </a:r>
            <a:endParaRPr sz="48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4800">
                <a:solidFill>
                  <a:schemeClr val="dk1"/>
                </a:solidFill>
                <a:highlight>
                  <a:srgbClr val="FFFFFF"/>
                </a:highlight>
                <a:latin typeface="Times New Roman"/>
                <a:ea typeface="Times New Roman"/>
                <a:cs typeface="Times New Roman"/>
                <a:sym typeface="Times New Roman"/>
              </a:rPr>
              <a:t>let x = 5;</a:t>
            </a:r>
            <a:endParaRPr sz="48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4800">
                <a:solidFill>
                  <a:schemeClr val="dk1"/>
                </a:solidFill>
                <a:highlight>
                  <a:srgbClr val="FFFFFF"/>
                </a:highlight>
                <a:latin typeface="Times New Roman"/>
                <a:ea typeface="Times New Roman"/>
                <a:cs typeface="Times New Roman"/>
                <a:sym typeface="Times New Roman"/>
              </a:rPr>
              <a:t>x += 3;  // x = x + 3 =&gt; 5 + 3 = 8</a:t>
            </a:r>
            <a:endParaRPr sz="48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4800">
                <a:solidFill>
                  <a:schemeClr val="dk1"/>
                </a:solidFill>
                <a:highlight>
                  <a:srgbClr val="FFFFFF"/>
                </a:highlight>
                <a:latin typeface="Times New Roman"/>
                <a:ea typeface="Times New Roman"/>
                <a:cs typeface="Times New Roman"/>
                <a:sym typeface="Times New Roman"/>
              </a:rPr>
              <a:t>console.log(x);</a:t>
            </a:r>
            <a:endParaRPr sz="48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4800">
                <a:solidFill>
                  <a:schemeClr val="dk1"/>
                </a:solidFill>
                <a:highlight>
                  <a:srgbClr val="FFFFFF"/>
                </a:highlight>
                <a:latin typeface="Times New Roman"/>
                <a:ea typeface="Times New Roman"/>
                <a:cs typeface="Times New Roman"/>
                <a:sym typeface="Times New Roman"/>
              </a:rPr>
              <a:t>x -= 2;  // x = x - 2 =&gt; 8 - 2 = 6</a:t>
            </a:r>
            <a:endParaRPr sz="48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4800">
                <a:solidFill>
                  <a:schemeClr val="dk1"/>
                </a:solidFill>
                <a:highlight>
                  <a:srgbClr val="FFFFFF"/>
                </a:highlight>
                <a:latin typeface="Times New Roman"/>
                <a:ea typeface="Times New Roman"/>
                <a:cs typeface="Times New Roman"/>
                <a:sym typeface="Times New Roman"/>
              </a:rPr>
              <a:t>console.log(x);</a:t>
            </a:r>
            <a:endParaRPr sz="48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4800">
                <a:solidFill>
                  <a:schemeClr val="dk1"/>
                </a:solidFill>
                <a:highlight>
                  <a:srgbClr val="FFFFFF"/>
                </a:highlight>
                <a:latin typeface="Times New Roman"/>
                <a:ea typeface="Times New Roman"/>
                <a:cs typeface="Times New Roman"/>
                <a:sym typeface="Times New Roman"/>
              </a:rPr>
              <a:t>x *= 4;  // x = x * 4 =&gt; 6 * 4 = 24</a:t>
            </a:r>
            <a:endParaRPr sz="48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4800">
                <a:solidFill>
                  <a:schemeClr val="dk1"/>
                </a:solidFill>
                <a:highlight>
                  <a:srgbClr val="FFFFFF"/>
                </a:highlight>
                <a:latin typeface="Times New Roman"/>
                <a:ea typeface="Times New Roman"/>
                <a:cs typeface="Times New Roman"/>
                <a:sym typeface="Times New Roman"/>
              </a:rPr>
              <a:t>console.log(x);</a:t>
            </a:r>
            <a:endParaRPr sz="48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4800">
                <a:solidFill>
                  <a:schemeClr val="dk1"/>
                </a:solidFill>
                <a:highlight>
                  <a:srgbClr val="FFFFFF"/>
                </a:highlight>
                <a:latin typeface="Times New Roman"/>
                <a:ea typeface="Times New Roman"/>
                <a:cs typeface="Times New Roman"/>
                <a:sym typeface="Times New Roman"/>
              </a:rPr>
              <a:t>x /= 6;  // x = x / 6 =&gt; 24 / 6 = 4</a:t>
            </a:r>
            <a:endParaRPr sz="48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4800">
                <a:solidFill>
                  <a:schemeClr val="dk1"/>
                </a:solidFill>
                <a:highlight>
                  <a:srgbClr val="FFFFFF"/>
                </a:highlight>
                <a:latin typeface="Times New Roman"/>
                <a:ea typeface="Times New Roman"/>
                <a:cs typeface="Times New Roman"/>
                <a:sym typeface="Times New Roman"/>
              </a:rPr>
              <a:t>console.log(x);</a:t>
            </a:r>
            <a:endParaRPr sz="48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4800">
                <a:solidFill>
                  <a:schemeClr val="dk1"/>
                </a:solidFill>
                <a:highlight>
                  <a:srgbClr val="FFFFFF"/>
                </a:highlight>
                <a:latin typeface="Times New Roman"/>
                <a:ea typeface="Times New Roman"/>
                <a:cs typeface="Times New Roman"/>
                <a:sym typeface="Times New Roman"/>
              </a:rPr>
              <a:t>x %= 2;  // x = x % 2 =&gt; 4 % 2 = 0</a:t>
            </a:r>
            <a:endParaRPr sz="48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4800">
                <a:solidFill>
                  <a:schemeClr val="dk1"/>
                </a:solidFill>
                <a:highlight>
                  <a:srgbClr val="FFFFFF"/>
                </a:highlight>
                <a:latin typeface="Times New Roman"/>
                <a:ea typeface="Times New Roman"/>
                <a:cs typeface="Times New Roman"/>
                <a:sym typeface="Times New Roman"/>
              </a:rPr>
              <a:t>console.log(x);</a:t>
            </a:r>
            <a:endParaRPr sz="48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440"/>
              <a:buFont typeface="Arial"/>
              <a:buNone/>
            </a:pPr>
            <a:r>
              <a:t/>
            </a:r>
            <a:endParaRPr sz="48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t/>
            </a:r>
            <a:endParaRPr sz="4800">
              <a:solidFill>
                <a:schemeClr val="dk1"/>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2"/>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Clr>
                <a:schemeClr val="dk1"/>
              </a:buClr>
              <a:buSzPts val="1100"/>
              <a:buFont typeface="Arial"/>
              <a:buNone/>
            </a:pPr>
            <a:r>
              <a:rPr b="1" lang="en" sz="2300">
                <a:solidFill>
                  <a:schemeClr val="dk1"/>
                </a:solidFill>
              </a:rPr>
              <a:t>JavaScript Arithmetic</a:t>
            </a:r>
            <a:endParaRPr b="1" sz="2300">
              <a:solidFill>
                <a:schemeClr val="dk1"/>
              </a:solidFill>
            </a:endParaRPr>
          </a:p>
          <a:p>
            <a:pPr indent="0" lvl="0" marL="0" rtl="0" algn="l">
              <a:spcBef>
                <a:spcPts val="1800"/>
              </a:spcBef>
              <a:spcAft>
                <a:spcPts val="0"/>
              </a:spcAft>
              <a:buClr>
                <a:schemeClr val="dk1"/>
              </a:buClr>
              <a:buSzPts val="1100"/>
              <a:buFont typeface="Arial"/>
              <a:buNone/>
            </a:pPr>
            <a:r>
              <a:rPr b="1" lang="en" sz="1700">
                <a:solidFill>
                  <a:schemeClr val="dk1"/>
                </a:solidFill>
              </a:rPr>
              <a:t>Arithmetic Operations</a:t>
            </a:r>
            <a:endParaRPr b="1" sz="1700">
              <a:solidFill>
                <a:schemeClr val="dk1"/>
              </a:solidFill>
            </a:endParaRPr>
          </a:p>
          <a:p>
            <a:pPr indent="0" lvl="0" marL="0" rtl="0" algn="l">
              <a:spcBef>
                <a:spcPts val="400"/>
              </a:spcBef>
              <a:spcAft>
                <a:spcPts val="0"/>
              </a:spcAft>
              <a:buNone/>
            </a:pPr>
            <a:r>
              <a:t/>
            </a:r>
            <a:endParaRPr sz="23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3"/>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92500" lnSpcReduction="20000"/>
          </a:bodyPr>
          <a:lstStyle/>
          <a:p>
            <a:pPr indent="0" lvl="0" marL="0" marR="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JavaScript Arithmetic</a:t>
            </a:r>
            <a:endParaRPr>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Arithmetic Operations</a:t>
            </a:r>
            <a:endParaRPr>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let a = 5;</a:t>
            </a:r>
            <a:endParaRPr>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let b = 3;</a:t>
            </a:r>
            <a:endParaRPr>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console.log(a + b); // Addition: 5 + 3 = 8</a:t>
            </a:r>
            <a:endParaRPr>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console.log(a - b); // Subtraction: 5 - 3 = 2</a:t>
            </a:r>
            <a:endParaRPr>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console.log(a * b); // Multiplication: 5 * 3 = 15</a:t>
            </a:r>
            <a:endParaRPr>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console.log(a / b); // Division: 5 / 3 = 1.666...</a:t>
            </a:r>
            <a:endParaRPr>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console.log(a % b); // Modulus (Remainder): 5 % 3 = 2</a:t>
            </a:r>
            <a:endParaRPr>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console.log(a++);   // Increment: 5 -&gt; 6</a:t>
            </a:r>
            <a:endParaRPr>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a:solidFill>
                  <a:schemeClr val="dk1"/>
                </a:solidFill>
                <a:latin typeface="Times New Roman"/>
                <a:ea typeface="Times New Roman"/>
                <a:cs typeface="Times New Roman"/>
                <a:sym typeface="Times New Roman"/>
              </a:rPr>
              <a:t>console.log(--b);   // Decrement: 3 -&gt; 2</a:t>
            </a:r>
            <a:endParaRPr>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23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4"/>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62500" lnSpcReduction="20000"/>
          </a:bodyPr>
          <a:lstStyle/>
          <a:p>
            <a:pPr indent="0" lvl="0" marL="0" marR="0" rtl="0" algn="l">
              <a:lnSpc>
                <a:spcPct val="115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JavaScript Comparison Operators</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let x = 10;</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let y = 20;</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console.log(x == y);  // Equal to: false (10 is not equal to 20)</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console.log(x === "10");  // Strict Equal to: false (different types)</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console.log(x != y);  // Not equal to: true (10 is not 20)</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console.log(x !== "10");  // Strict Not Equal to: true (different types)</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console.log(x &gt; y);  // Greater than: false (10 is not greater than 20)</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console.log(x &lt; y);  // Less than: true (10 is less than 20)</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console.log(x &gt;= 10);  // Greater than or equal to: true (10 is equal to 10)</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console.log(x &lt;= 5);   // Less than or equal to: false (10 is not less than 5)</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spcBef>
                <a:spcPts val="800"/>
              </a:spcBef>
              <a:spcAft>
                <a:spcPts val="0"/>
              </a:spcAft>
              <a:buNone/>
            </a:pPr>
            <a:r>
              <a:t/>
            </a:r>
            <a:endParaRPr sz="2400">
              <a:solidFill>
                <a:schemeClr val="dk1"/>
              </a:solidFill>
              <a:highlight>
                <a:srgbClr val="FFFFFF"/>
              </a:highlight>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23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5"/>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70000" lnSpcReduction="20000"/>
          </a:bodyPr>
          <a:lstStyle/>
          <a:p>
            <a:pPr indent="0" lvl="0" marL="0" marR="0" rtl="0" algn="l">
              <a:lnSpc>
                <a:spcPct val="115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JavaScript Logical Operators</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latin typeface="Times New Roman"/>
                <a:ea typeface="Times New Roman"/>
                <a:cs typeface="Times New Roman"/>
                <a:sym typeface="Times New Roman"/>
              </a:rPr>
              <a:t>let a = true;</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latin typeface="Times New Roman"/>
                <a:ea typeface="Times New Roman"/>
                <a:cs typeface="Times New Roman"/>
                <a:sym typeface="Times New Roman"/>
              </a:rPr>
              <a:t>let b = false;</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45833"/>
              <a:buFont typeface="Arial"/>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latin typeface="Times New Roman"/>
                <a:ea typeface="Times New Roman"/>
                <a:cs typeface="Times New Roman"/>
                <a:sym typeface="Times New Roman"/>
              </a:rPr>
              <a:t>console.log(a &amp;&amp; b);  // Logical AND: false (both need to be true)</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latin typeface="Times New Roman"/>
                <a:ea typeface="Times New Roman"/>
                <a:cs typeface="Times New Roman"/>
                <a:sym typeface="Times New Roman"/>
              </a:rPr>
              <a:t>console.log(a || b);  // Logical OR: true (one of them is true)</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latin typeface="Times New Roman"/>
                <a:ea typeface="Times New Roman"/>
                <a:cs typeface="Times New Roman"/>
                <a:sym typeface="Times New Roman"/>
              </a:rPr>
              <a:t>console.log(!a);      // Logical NOT: false (inverts the value)</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45833"/>
              <a:buFont typeface="Arial"/>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sz="2400">
              <a:solidFill>
                <a:schemeClr val="dk1"/>
              </a:solidFill>
              <a:highlight>
                <a:srgbClr val="FFFFFF"/>
              </a:highlight>
            </a:endParaRPr>
          </a:p>
          <a:p>
            <a:pPr indent="0" lvl="0" marL="0" rtl="0" algn="l">
              <a:spcBef>
                <a:spcPts val="800"/>
              </a:spcBef>
              <a:spcAft>
                <a:spcPts val="0"/>
              </a:spcAft>
              <a:buNone/>
            </a:pPr>
            <a:r>
              <a:t/>
            </a:r>
            <a:endParaRPr sz="2400">
              <a:solidFill>
                <a:schemeClr val="dk1"/>
              </a:solidFill>
              <a:highlight>
                <a:srgbClr val="FFFFFF"/>
              </a:highlight>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23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6"/>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70000" lnSpcReduction="20000"/>
          </a:bodyPr>
          <a:lstStyle/>
          <a:p>
            <a:pPr indent="0" lvl="0" marL="0" marR="0" rtl="0" algn="l">
              <a:lnSpc>
                <a:spcPct val="115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JavaScript Ternary Operators</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2400">
                <a:solidFill>
                  <a:schemeClr val="dk1"/>
                </a:solidFill>
                <a:highlight>
                  <a:srgbClr val="FFFFFF"/>
                </a:highlight>
                <a:latin typeface="Times New Roman"/>
                <a:ea typeface="Times New Roman"/>
                <a:cs typeface="Times New Roman"/>
                <a:sym typeface="Times New Roman"/>
              </a:rPr>
              <a:t>let age = 18;</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2400">
                <a:solidFill>
                  <a:schemeClr val="dk1"/>
                </a:solidFill>
                <a:highlight>
                  <a:srgbClr val="FFFFFF"/>
                </a:highlight>
                <a:latin typeface="Times New Roman"/>
                <a:ea typeface="Times New Roman"/>
                <a:cs typeface="Times New Roman"/>
                <a:sym typeface="Times New Roman"/>
              </a:rPr>
              <a:t>let result = (age &gt;= 18) ? "Adult" : "Minor";</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2400">
                <a:solidFill>
                  <a:schemeClr val="dk1"/>
                </a:solidFill>
                <a:highlight>
                  <a:srgbClr val="FFFFFF"/>
                </a:highlight>
                <a:latin typeface="Times New Roman"/>
                <a:ea typeface="Times New Roman"/>
                <a:cs typeface="Times New Roman"/>
                <a:sym typeface="Times New Roman"/>
              </a:rPr>
              <a:t>console.log(result);  // Output: "Adult"</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2400">
                <a:solidFill>
                  <a:schemeClr val="dk1"/>
                </a:solidFill>
                <a:highlight>
                  <a:srgbClr val="FFFFFF"/>
                </a:highlight>
                <a:latin typeface="Times New Roman"/>
                <a:ea typeface="Times New Roman"/>
                <a:cs typeface="Times New Roman"/>
                <a:sym typeface="Times New Roman"/>
              </a:rPr>
              <a:t>e</a:t>
            </a:r>
            <a:r>
              <a:rPr lang="en" sz="2400">
                <a:solidFill>
                  <a:schemeClr val="dk1"/>
                </a:solidFill>
                <a:highlight>
                  <a:srgbClr val="FFFFFF"/>
                </a:highlight>
                <a:latin typeface="Times New Roman"/>
                <a:ea typeface="Times New Roman"/>
                <a:cs typeface="Times New Roman"/>
                <a:sym typeface="Times New Roman"/>
              </a:rPr>
              <a:t>xpression1?expression2:expression3;</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sz="2400">
              <a:solidFill>
                <a:schemeClr val="dk1"/>
              </a:solidFill>
              <a:highlight>
                <a:srgbClr val="FFFFFF"/>
              </a:highlight>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23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7"/>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40000" lnSpcReduction="10000"/>
          </a:bodyPr>
          <a:lstStyle/>
          <a:p>
            <a:pPr indent="0" lvl="0" marL="0" marR="0" rtl="0" algn="l">
              <a:lnSpc>
                <a:spcPct val="115000"/>
              </a:lnSpc>
              <a:spcBef>
                <a:spcPts val="0"/>
              </a:spcBef>
              <a:spcAft>
                <a:spcPts val="0"/>
              </a:spcAft>
              <a:buNone/>
            </a:pPr>
            <a:r>
              <a:rPr lang="en" sz="3750">
                <a:solidFill>
                  <a:schemeClr val="dk1"/>
                </a:solidFill>
                <a:highlight>
                  <a:srgbClr val="FFFFFF"/>
                </a:highlight>
                <a:latin typeface="Times New Roman"/>
                <a:ea typeface="Times New Roman"/>
                <a:cs typeface="Times New Roman"/>
                <a:sym typeface="Times New Roman"/>
              </a:rPr>
              <a:t>Jav</a:t>
            </a:r>
            <a:r>
              <a:rPr lang="en" sz="3750">
                <a:solidFill>
                  <a:schemeClr val="dk1"/>
                </a:solidFill>
                <a:highlight>
                  <a:srgbClr val="FFFFFF"/>
                </a:highlight>
                <a:latin typeface="Times New Roman"/>
                <a:ea typeface="Times New Roman"/>
                <a:cs typeface="Times New Roman"/>
                <a:sym typeface="Times New Roman"/>
              </a:rPr>
              <a:t>aScript Typeof Operators</a:t>
            </a:r>
            <a:endParaRPr sz="375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t/>
            </a:r>
            <a:endParaRPr sz="375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3750">
                <a:solidFill>
                  <a:schemeClr val="dk1"/>
                </a:solidFill>
                <a:highlight>
                  <a:srgbClr val="FFFFFF"/>
                </a:highlight>
                <a:latin typeface="Times New Roman"/>
                <a:ea typeface="Times New Roman"/>
                <a:cs typeface="Times New Roman"/>
                <a:sym typeface="Times New Roman"/>
              </a:rPr>
              <a:t>let x = 5;</a:t>
            </a:r>
            <a:endParaRPr sz="375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3750">
                <a:solidFill>
                  <a:schemeClr val="dk1"/>
                </a:solidFill>
                <a:highlight>
                  <a:srgbClr val="FFFFFF"/>
                </a:highlight>
                <a:latin typeface="Times New Roman"/>
                <a:ea typeface="Times New Roman"/>
                <a:cs typeface="Times New Roman"/>
                <a:sym typeface="Times New Roman"/>
              </a:rPr>
              <a:t>console.log(typeof x);  // Typeof: "number"</a:t>
            </a:r>
            <a:endParaRPr sz="375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3750">
                <a:solidFill>
                  <a:schemeClr val="dk1"/>
                </a:solidFill>
                <a:highlight>
                  <a:srgbClr val="FFFFFF"/>
                </a:highlight>
                <a:latin typeface="Times New Roman"/>
                <a:ea typeface="Times New Roman"/>
                <a:cs typeface="Times New Roman"/>
                <a:sym typeface="Times New Roman"/>
              </a:rPr>
              <a:t>let y = "Hello";</a:t>
            </a:r>
            <a:endParaRPr sz="375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3750">
                <a:solidFill>
                  <a:schemeClr val="dk1"/>
                </a:solidFill>
                <a:highlight>
                  <a:srgbClr val="FFFFFF"/>
                </a:highlight>
                <a:latin typeface="Times New Roman"/>
                <a:ea typeface="Times New Roman"/>
                <a:cs typeface="Times New Roman"/>
                <a:sym typeface="Times New Roman"/>
              </a:rPr>
              <a:t>console.log(typeof y);  // Typeof: "string"</a:t>
            </a:r>
            <a:endParaRPr sz="375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3750">
                <a:solidFill>
                  <a:schemeClr val="dk1"/>
                </a:solidFill>
                <a:highlight>
                  <a:srgbClr val="FFFFFF"/>
                </a:highlight>
                <a:latin typeface="Times New Roman"/>
                <a:ea typeface="Times New Roman"/>
                <a:cs typeface="Times New Roman"/>
                <a:sym typeface="Times New Roman"/>
              </a:rPr>
              <a:t>let z = [1, 2, 3];</a:t>
            </a:r>
            <a:endParaRPr sz="375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3750">
                <a:solidFill>
                  <a:schemeClr val="dk1"/>
                </a:solidFill>
                <a:highlight>
                  <a:srgbClr val="FFFFFF"/>
                </a:highlight>
                <a:latin typeface="Times New Roman"/>
                <a:ea typeface="Times New Roman"/>
                <a:cs typeface="Times New Roman"/>
                <a:sym typeface="Times New Roman"/>
              </a:rPr>
              <a:t>console.log(typeof z);  // Typeof: "object"</a:t>
            </a:r>
            <a:endParaRPr sz="375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3750">
                <a:solidFill>
                  <a:schemeClr val="dk1"/>
                </a:solidFill>
                <a:highlight>
                  <a:srgbClr val="FFFFFF"/>
                </a:highlight>
                <a:latin typeface="Times New Roman"/>
                <a:ea typeface="Times New Roman"/>
                <a:cs typeface="Times New Roman"/>
                <a:sym typeface="Times New Roman"/>
              </a:rPr>
              <a:t>let obj = { name: "Alice" };</a:t>
            </a:r>
            <a:endParaRPr sz="375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3750">
                <a:solidFill>
                  <a:schemeClr val="dk1"/>
                </a:solidFill>
                <a:highlight>
                  <a:srgbClr val="FFFFFF"/>
                </a:highlight>
                <a:latin typeface="Times New Roman"/>
                <a:ea typeface="Times New Roman"/>
                <a:cs typeface="Times New Roman"/>
                <a:sym typeface="Times New Roman"/>
              </a:rPr>
              <a:t>console.log(obj instanceof Object);  // true (obj is an instance of Object)</a:t>
            </a:r>
            <a:endParaRPr sz="375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sz="2400">
              <a:solidFill>
                <a:schemeClr val="dk1"/>
              </a:solidFill>
              <a:highlight>
                <a:srgbClr val="FFFFFF"/>
              </a:highlight>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23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8"/>
          <p:cNvSpPr txBox="1"/>
          <p:nvPr>
            <p:ph idx="1" type="body"/>
          </p:nvPr>
        </p:nvSpPr>
        <p:spPr>
          <a:xfrm>
            <a:off x="389825" y="275150"/>
            <a:ext cx="8520600" cy="4267800"/>
          </a:xfrm>
          <a:prstGeom prst="rect">
            <a:avLst/>
          </a:prstGeom>
        </p:spPr>
        <p:txBody>
          <a:bodyPr anchorCtr="0" anchor="t" bIns="91425" lIns="91425" spcFirstLastPara="1" rIns="91425" wrap="square" tIns="91425">
            <a:normAutofit fontScale="32500" lnSpcReduction="20000"/>
          </a:bodyPr>
          <a:lstStyle/>
          <a:p>
            <a:pPr indent="0" lvl="0" marL="0" marR="0" rtl="0" algn="l">
              <a:lnSpc>
                <a:spcPct val="115000"/>
              </a:lnSpc>
              <a:spcBef>
                <a:spcPts val="0"/>
              </a:spcBef>
              <a:spcAft>
                <a:spcPts val="0"/>
              </a:spcAft>
              <a:buNone/>
            </a:pPr>
            <a:r>
              <a:rPr lang="en" sz="4615">
                <a:solidFill>
                  <a:schemeClr val="dk1"/>
                </a:solidFill>
                <a:highlight>
                  <a:srgbClr val="FFFFFF"/>
                </a:highlight>
                <a:latin typeface="Times New Roman"/>
                <a:ea typeface="Times New Roman"/>
                <a:cs typeface="Times New Roman"/>
                <a:sym typeface="Times New Roman"/>
              </a:rPr>
              <a:t>JavaScript BitWise Operators</a:t>
            </a:r>
            <a:endParaRPr sz="4615">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t/>
            </a:r>
            <a:endParaRPr sz="4615">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4615">
                <a:solidFill>
                  <a:schemeClr val="dk1"/>
                </a:solidFill>
                <a:highlight>
                  <a:srgbClr val="FFFFFF"/>
                </a:highlight>
                <a:latin typeface="Times New Roman"/>
                <a:ea typeface="Times New Roman"/>
                <a:cs typeface="Times New Roman"/>
                <a:sym typeface="Times New Roman"/>
              </a:rPr>
              <a:t>let x = 5;  // In binary: 0101</a:t>
            </a:r>
            <a:endParaRPr sz="4615">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4615">
                <a:solidFill>
                  <a:schemeClr val="dk1"/>
                </a:solidFill>
                <a:highlight>
                  <a:srgbClr val="FFFFFF"/>
                </a:highlight>
                <a:latin typeface="Times New Roman"/>
                <a:ea typeface="Times New Roman"/>
                <a:cs typeface="Times New Roman"/>
                <a:sym typeface="Times New Roman"/>
              </a:rPr>
              <a:t>let y = 3;  // In binary: 0011</a:t>
            </a:r>
            <a:endParaRPr sz="4615">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t/>
            </a:r>
            <a:endParaRPr sz="4615">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4615">
                <a:solidFill>
                  <a:schemeClr val="dk1"/>
                </a:solidFill>
                <a:highlight>
                  <a:srgbClr val="FFFFFF"/>
                </a:highlight>
                <a:latin typeface="Times New Roman"/>
                <a:ea typeface="Times New Roman"/>
                <a:cs typeface="Times New Roman"/>
                <a:sym typeface="Times New Roman"/>
              </a:rPr>
              <a:t>console.log(x &amp; y);  // Bitwise AND: 0101 &amp; 0011 = 0001 (1)</a:t>
            </a:r>
            <a:endParaRPr sz="4615">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4615">
                <a:solidFill>
                  <a:schemeClr val="dk1"/>
                </a:solidFill>
                <a:highlight>
                  <a:srgbClr val="FFFFFF"/>
                </a:highlight>
                <a:latin typeface="Times New Roman"/>
                <a:ea typeface="Times New Roman"/>
                <a:cs typeface="Times New Roman"/>
                <a:sym typeface="Times New Roman"/>
              </a:rPr>
              <a:t>console.log(x | y);  // Bitwise OR: 0101 | 0011 = 0111 (7)</a:t>
            </a:r>
            <a:endParaRPr sz="4615">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4615">
                <a:solidFill>
                  <a:schemeClr val="dk1"/>
                </a:solidFill>
                <a:highlight>
                  <a:srgbClr val="FFFFFF"/>
                </a:highlight>
                <a:latin typeface="Times New Roman"/>
                <a:ea typeface="Times New Roman"/>
                <a:cs typeface="Times New Roman"/>
                <a:sym typeface="Times New Roman"/>
              </a:rPr>
              <a:t>console.log(x ^ y);  // Bitwise XOR: 0101 ^ 0011 = 0110 (6)</a:t>
            </a:r>
            <a:endParaRPr sz="4615">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4615">
                <a:solidFill>
                  <a:schemeClr val="dk1"/>
                </a:solidFill>
                <a:highlight>
                  <a:srgbClr val="FFFFFF"/>
                </a:highlight>
                <a:latin typeface="Times New Roman"/>
                <a:ea typeface="Times New Roman"/>
                <a:cs typeface="Times New Roman"/>
                <a:sym typeface="Times New Roman"/>
              </a:rPr>
              <a:t>console.log(~x);     // Bitwise NOT: ~0101 = 1010 (-6)</a:t>
            </a:r>
            <a:endParaRPr sz="4615">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4615">
                <a:solidFill>
                  <a:schemeClr val="dk1"/>
                </a:solidFill>
                <a:highlight>
                  <a:srgbClr val="FFFFFF"/>
                </a:highlight>
                <a:latin typeface="Times New Roman"/>
                <a:ea typeface="Times New Roman"/>
                <a:cs typeface="Times New Roman"/>
                <a:sym typeface="Times New Roman"/>
              </a:rPr>
              <a:t>console.log(x &lt;&lt; 1); // Left Shift: 0101 &lt;&lt; 1 = 1010 (10)</a:t>
            </a:r>
            <a:endParaRPr sz="4615">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4615">
                <a:solidFill>
                  <a:schemeClr val="dk1"/>
                </a:solidFill>
                <a:highlight>
                  <a:srgbClr val="FFFFFF"/>
                </a:highlight>
                <a:latin typeface="Times New Roman"/>
                <a:ea typeface="Times New Roman"/>
                <a:cs typeface="Times New Roman"/>
                <a:sym typeface="Times New Roman"/>
              </a:rPr>
              <a:t>console.log(x &gt;&gt; 1); // Right Shift: 0101 &gt;&gt; 1 = 0010 (2)</a:t>
            </a:r>
            <a:endParaRPr sz="4615">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sz="375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sz="375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sz="2400">
              <a:solidFill>
                <a:schemeClr val="dk1"/>
              </a:solidFill>
              <a:highlight>
                <a:srgbClr val="FFFFFF"/>
              </a:highlight>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23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9"/>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solidFill>
                  <a:srgbClr val="DC143C"/>
                </a:solidFill>
              </a:rPr>
              <a:t>OTHER WAY</a:t>
            </a:r>
            <a:endParaRPr sz="2300">
              <a:solidFill>
                <a:srgbClr val="DC143C"/>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0"/>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800"/>
              </a:spcBef>
              <a:spcAft>
                <a:spcPts val="0"/>
              </a:spcAft>
              <a:buNone/>
            </a:pPr>
            <a:r>
              <a:rPr b="1" lang="en" sz="1400" u="sng">
                <a:solidFill>
                  <a:schemeClr val="dk1"/>
                </a:solidFill>
                <a:highlight>
                  <a:srgbClr val="FFFFFF"/>
                </a:highlight>
                <a:latin typeface="Times New Roman"/>
                <a:ea typeface="Times New Roman"/>
                <a:cs typeface="Times New Roman"/>
                <a:sym typeface="Times New Roman"/>
              </a:rPr>
              <a:t>Logical Operators</a:t>
            </a:r>
            <a:endParaRPr b="1" sz="1400" u="sng">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sz="2300">
              <a:solidFill>
                <a:schemeClr val="dk1"/>
              </a:solidFill>
            </a:endParaRPr>
          </a:p>
        </p:txBody>
      </p:sp>
      <p:pic>
        <p:nvPicPr>
          <p:cNvPr id="141" name="Google Shape;141;p30"/>
          <p:cNvPicPr preferRelativeResize="0"/>
          <p:nvPr/>
        </p:nvPicPr>
        <p:blipFill rotWithShape="1">
          <a:blip r:embed="rId3">
            <a:alphaModFix/>
          </a:blip>
          <a:srcRect b="31923" l="13165" r="47847" t="34764"/>
          <a:stretch/>
        </p:blipFill>
        <p:spPr>
          <a:xfrm>
            <a:off x="1056250" y="1070950"/>
            <a:ext cx="4705550" cy="2037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1"/>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Clr>
                <a:schemeClr val="dk1"/>
              </a:buClr>
              <a:buSzPct val="47826"/>
              <a:buFont typeface="Arial"/>
              <a:buNone/>
            </a:pPr>
            <a:r>
              <a:rPr lang="en" sz="2300">
                <a:solidFill>
                  <a:schemeClr val="dk1"/>
                </a:solidFill>
              </a:rPr>
              <a:t>&lt;html&gt;</a:t>
            </a:r>
            <a:endParaRPr sz="2300">
              <a:solidFill>
                <a:schemeClr val="dk1"/>
              </a:solidFill>
            </a:endParaRPr>
          </a:p>
          <a:p>
            <a:pPr indent="0" lvl="0" marL="0" rtl="0" algn="l">
              <a:spcBef>
                <a:spcPts val="0"/>
              </a:spcBef>
              <a:spcAft>
                <a:spcPts val="0"/>
              </a:spcAft>
              <a:buClr>
                <a:schemeClr val="dk1"/>
              </a:buClr>
              <a:buSzPct val="47826"/>
              <a:buFont typeface="Arial"/>
              <a:buNone/>
            </a:pPr>
            <a:r>
              <a:rPr lang="en" sz="2300">
                <a:solidFill>
                  <a:schemeClr val="dk1"/>
                </a:solidFill>
              </a:rPr>
              <a:t>&lt;body&gt;</a:t>
            </a:r>
            <a:endParaRPr sz="2300">
              <a:solidFill>
                <a:schemeClr val="dk1"/>
              </a:solidFill>
            </a:endParaRPr>
          </a:p>
          <a:p>
            <a:pPr indent="0" lvl="0" marL="0" rtl="0" algn="l">
              <a:spcBef>
                <a:spcPts val="0"/>
              </a:spcBef>
              <a:spcAft>
                <a:spcPts val="0"/>
              </a:spcAft>
              <a:buClr>
                <a:schemeClr val="dk1"/>
              </a:buClr>
              <a:buSzPct val="47826"/>
              <a:buFont typeface="Arial"/>
              <a:buNone/>
            </a:pPr>
            <a:r>
              <a:t/>
            </a:r>
            <a:endParaRPr sz="2300">
              <a:solidFill>
                <a:schemeClr val="dk1"/>
              </a:solidFill>
            </a:endParaRPr>
          </a:p>
          <a:p>
            <a:pPr indent="0" lvl="0" marL="0" rtl="0" algn="l">
              <a:spcBef>
                <a:spcPts val="0"/>
              </a:spcBef>
              <a:spcAft>
                <a:spcPts val="0"/>
              </a:spcAft>
              <a:buClr>
                <a:schemeClr val="dk1"/>
              </a:buClr>
              <a:buSzPct val="47826"/>
              <a:buFont typeface="Arial"/>
              <a:buNone/>
            </a:pPr>
            <a:r>
              <a:rPr lang="en" sz="2300">
                <a:solidFill>
                  <a:schemeClr val="dk1"/>
                </a:solidFill>
              </a:rPr>
              <a:t>&lt;h1&gt;JavaScript Comparison&lt;/h1&gt;</a:t>
            </a:r>
            <a:endParaRPr sz="2300">
              <a:solidFill>
                <a:schemeClr val="dk1"/>
              </a:solidFill>
            </a:endParaRPr>
          </a:p>
          <a:p>
            <a:pPr indent="0" lvl="0" marL="0" rtl="0" algn="l">
              <a:spcBef>
                <a:spcPts val="0"/>
              </a:spcBef>
              <a:spcAft>
                <a:spcPts val="0"/>
              </a:spcAft>
              <a:buClr>
                <a:schemeClr val="dk1"/>
              </a:buClr>
              <a:buSzPct val="47826"/>
              <a:buFont typeface="Arial"/>
              <a:buNone/>
            </a:pPr>
            <a:r>
              <a:rPr lang="en" sz="2300">
                <a:solidFill>
                  <a:schemeClr val="dk1"/>
                </a:solidFill>
              </a:rPr>
              <a:t>&lt;h2&gt;The &amp;&amp; Operator (Logical AND)&lt;/h2&gt;</a:t>
            </a:r>
            <a:endParaRPr sz="2300">
              <a:solidFill>
                <a:schemeClr val="dk1"/>
              </a:solidFill>
            </a:endParaRPr>
          </a:p>
          <a:p>
            <a:pPr indent="0" lvl="0" marL="0" rtl="0" algn="l">
              <a:spcBef>
                <a:spcPts val="0"/>
              </a:spcBef>
              <a:spcAft>
                <a:spcPts val="0"/>
              </a:spcAft>
              <a:buClr>
                <a:schemeClr val="dk1"/>
              </a:buClr>
              <a:buSzPct val="47826"/>
              <a:buFont typeface="Arial"/>
              <a:buNone/>
            </a:pPr>
            <a:r>
              <a:rPr lang="en" sz="2300">
                <a:solidFill>
                  <a:schemeClr val="dk1"/>
                </a:solidFill>
              </a:rPr>
              <a:t>&lt;p&gt;The &amp;&amp; operator returns true if both expressions are true, otherwise it returns false.&lt;/p&gt;</a:t>
            </a:r>
            <a:endParaRPr sz="2300">
              <a:solidFill>
                <a:schemeClr val="dk1"/>
              </a:solidFill>
            </a:endParaRPr>
          </a:p>
          <a:p>
            <a:pPr indent="0" lvl="0" marL="0" rtl="0" algn="l">
              <a:spcBef>
                <a:spcPts val="0"/>
              </a:spcBef>
              <a:spcAft>
                <a:spcPts val="0"/>
              </a:spcAft>
              <a:buClr>
                <a:schemeClr val="dk1"/>
              </a:buClr>
              <a:buSzPct val="47826"/>
              <a:buFont typeface="Arial"/>
              <a:buNone/>
            </a:pPr>
            <a:r>
              <a:t/>
            </a:r>
            <a:endParaRPr sz="2300">
              <a:solidFill>
                <a:schemeClr val="dk1"/>
              </a:solidFill>
            </a:endParaRPr>
          </a:p>
          <a:p>
            <a:pPr indent="0" lvl="0" marL="0" rtl="0" algn="l">
              <a:spcBef>
                <a:spcPts val="0"/>
              </a:spcBef>
              <a:spcAft>
                <a:spcPts val="0"/>
              </a:spcAft>
              <a:buClr>
                <a:schemeClr val="dk1"/>
              </a:buClr>
              <a:buSzPct val="47826"/>
              <a:buFont typeface="Arial"/>
              <a:buNone/>
            </a:pPr>
            <a:r>
              <a:rPr lang="en" sz="2300">
                <a:solidFill>
                  <a:schemeClr val="dk1"/>
                </a:solidFill>
              </a:rPr>
              <a:t>&lt;p id="demo"&gt;&lt;/p&gt;</a:t>
            </a:r>
            <a:endParaRPr sz="2300">
              <a:solidFill>
                <a:schemeClr val="dk1"/>
              </a:solidFill>
            </a:endParaRPr>
          </a:p>
          <a:p>
            <a:pPr indent="0" lvl="0" marL="0" rtl="0" algn="l">
              <a:spcBef>
                <a:spcPts val="0"/>
              </a:spcBef>
              <a:spcAft>
                <a:spcPts val="0"/>
              </a:spcAft>
              <a:buClr>
                <a:schemeClr val="dk1"/>
              </a:buClr>
              <a:buSzPct val="47826"/>
              <a:buFont typeface="Arial"/>
              <a:buNone/>
            </a:pPr>
            <a:r>
              <a:t/>
            </a:r>
            <a:endParaRPr sz="2300">
              <a:solidFill>
                <a:schemeClr val="dk1"/>
              </a:solidFill>
            </a:endParaRPr>
          </a:p>
          <a:p>
            <a:pPr indent="0" lvl="0" marL="0" rtl="0" algn="l">
              <a:spcBef>
                <a:spcPts val="0"/>
              </a:spcBef>
              <a:spcAft>
                <a:spcPts val="0"/>
              </a:spcAft>
              <a:buClr>
                <a:schemeClr val="dk1"/>
              </a:buClr>
              <a:buSzPct val="47826"/>
              <a:buFont typeface="Arial"/>
              <a:buNone/>
            </a:pPr>
            <a:r>
              <a:rPr lang="en" sz="2300">
                <a:solidFill>
                  <a:schemeClr val="dk1"/>
                </a:solidFill>
              </a:rPr>
              <a:t>&lt;script&gt;</a:t>
            </a:r>
            <a:endParaRPr sz="2300">
              <a:solidFill>
                <a:schemeClr val="dk1"/>
              </a:solidFill>
            </a:endParaRPr>
          </a:p>
          <a:p>
            <a:pPr indent="0" lvl="0" marL="0" rtl="0" algn="l">
              <a:spcBef>
                <a:spcPts val="0"/>
              </a:spcBef>
              <a:spcAft>
                <a:spcPts val="0"/>
              </a:spcAft>
              <a:buClr>
                <a:schemeClr val="dk1"/>
              </a:buClr>
              <a:buSzPct val="47826"/>
              <a:buFont typeface="Arial"/>
              <a:buNone/>
            </a:pPr>
            <a:r>
              <a:rPr lang="en" sz="2300">
                <a:solidFill>
                  <a:schemeClr val="dk1"/>
                </a:solidFill>
              </a:rPr>
              <a:t>let x = 6;</a:t>
            </a:r>
            <a:endParaRPr sz="2300">
              <a:solidFill>
                <a:schemeClr val="dk1"/>
              </a:solidFill>
            </a:endParaRPr>
          </a:p>
          <a:p>
            <a:pPr indent="0" lvl="0" marL="0" rtl="0" algn="l">
              <a:spcBef>
                <a:spcPts val="0"/>
              </a:spcBef>
              <a:spcAft>
                <a:spcPts val="0"/>
              </a:spcAft>
              <a:buClr>
                <a:schemeClr val="dk1"/>
              </a:buClr>
              <a:buSzPct val="47826"/>
              <a:buFont typeface="Arial"/>
              <a:buNone/>
            </a:pPr>
            <a:r>
              <a:rPr lang="en" sz="2300">
                <a:solidFill>
                  <a:schemeClr val="dk1"/>
                </a:solidFill>
              </a:rPr>
              <a:t>let y = 3;</a:t>
            </a:r>
            <a:endParaRPr sz="2300">
              <a:solidFill>
                <a:schemeClr val="dk1"/>
              </a:solidFill>
            </a:endParaRPr>
          </a:p>
          <a:p>
            <a:pPr indent="0" lvl="0" marL="0" rtl="0" algn="l">
              <a:spcBef>
                <a:spcPts val="0"/>
              </a:spcBef>
              <a:spcAft>
                <a:spcPts val="0"/>
              </a:spcAft>
              <a:buClr>
                <a:schemeClr val="dk1"/>
              </a:buClr>
              <a:buSzPct val="47826"/>
              <a:buFont typeface="Arial"/>
              <a:buNone/>
            </a:pPr>
            <a:r>
              <a:t/>
            </a:r>
            <a:endParaRPr sz="2300">
              <a:solidFill>
                <a:schemeClr val="dk1"/>
              </a:solidFill>
            </a:endParaRPr>
          </a:p>
          <a:p>
            <a:pPr indent="0" lvl="0" marL="0" rtl="0" algn="l">
              <a:spcBef>
                <a:spcPts val="0"/>
              </a:spcBef>
              <a:spcAft>
                <a:spcPts val="0"/>
              </a:spcAft>
              <a:buClr>
                <a:schemeClr val="dk1"/>
              </a:buClr>
              <a:buSzPct val="47826"/>
              <a:buFont typeface="Arial"/>
              <a:buNone/>
            </a:pPr>
            <a:r>
              <a:rPr lang="en" sz="2300">
                <a:solidFill>
                  <a:schemeClr val="dk1"/>
                </a:solidFill>
              </a:rPr>
              <a:t>document.getElementById("demo").innerHTML = </a:t>
            </a:r>
            <a:endParaRPr sz="2300">
              <a:solidFill>
                <a:schemeClr val="dk1"/>
              </a:solidFill>
            </a:endParaRPr>
          </a:p>
          <a:p>
            <a:pPr indent="0" lvl="0" marL="0" rtl="0" algn="l">
              <a:spcBef>
                <a:spcPts val="0"/>
              </a:spcBef>
              <a:spcAft>
                <a:spcPts val="0"/>
              </a:spcAft>
              <a:buClr>
                <a:schemeClr val="dk1"/>
              </a:buClr>
              <a:buSzPct val="47826"/>
              <a:buFont typeface="Arial"/>
              <a:buNone/>
            </a:pPr>
            <a:r>
              <a:rPr lang="en" sz="2300">
                <a:solidFill>
                  <a:schemeClr val="dk1"/>
                </a:solidFill>
              </a:rPr>
              <a:t>(x &lt; 10 &amp;&amp; y &gt; 1) + "&lt;br&gt;" + </a:t>
            </a:r>
            <a:endParaRPr sz="2300">
              <a:solidFill>
                <a:schemeClr val="dk1"/>
              </a:solidFill>
            </a:endParaRPr>
          </a:p>
          <a:p>
            <a:pPr indent="0" lvl="0" marL="0" rtl="0" algn="l">
              <a:spcBef>
                <a:spcPts val="0"/>
              </a:spcBef>
              <a:spcAft>
                <a:spcPts val="0"/>
              </a:spcAft>
              <a:buClr>
                <a:schemeClr val="dk1"/>
              </a:buClr>
              <a:buSzPct val="47826"/>
              <a:buFont typeface="Arial"/>
              <a:buNone/>
            </a:pPr>
            <a:r>
              <a:rPr lang="en" sz="2300">
                <a:solidFill>
                  <a:schemeClr val="dk1"/>
                </a:solidFill>
              </a:rPr>
              <a:t>(x &lt; 10 &amp;&amp; y &lt; 1);</a:t>
            </a:r>
            <a:endParaRPr sz="2300">
              <a:solidFill>
                <a:schemeClr val="dk1"/>
              </a:solidFill>
            </a:endParaRPr>
          </a:p>
          <a:p>
            <a:pPr indent="0" lvl="0" marL="0" rtl="0" algn="l">
              <a:spcBef>
                <a:spcPts val="0"/>
              </a:spcBef>
              <a:spcAft>
                <a:spcPts val="0"/>
              </a:spcAft>
              <a:buClr>
                <a:schemeClr val="dk1"/>
              </a:buClr>
              <a:buSzPct val="47826"/>
              <a:buFont typeface="Arial"/>
              <a:buNone/>
            </a:pPr>
            <a:r>
              <a:rPr lang="en" sz="2300">
                <a:solidFill>
                  <a:schemeClr val="dk1"/>
                </a:solidFill>
              </a:rPr>
              <a:t>&lt;/script&gt;</a:t>
            </a:r>
            <a:endParaRPr sz="2300">
              <a:solidFill>
                <a:schemeClr val="dk1"/>
              </a:solidFill>
            </a:endParaRPr>
          </a:p>
          <a:p>
            <a:pPr indent="0" lvl="0" marL="0" rtl="0" algn="l">
              <a:spcBef>
                <a:spcPts val="0"/>
              </a:spcBef>
              <a:spcAft>
                <a:spcPts val="0"/>
              </a:spcAft>
              <a:buClr>
                <a:schemeClr val="dk1"/>
              </a:buClr>
              <a:buSzPct val="47826"/>
              <a:buFont typeface="Arial"/>
              <a:buNone/>
            </a:pPr>
            <a:r>
              <a:t/>
            </a:r>
            <a:endParaRPr sz="2300">
              <a:solidFill>
                <a:schemeClr val="dk1"/>
              </a:solidFill>
            </a:endParaRPr>
          </a:p>
          <a:p>
            <a:pPr indent="0" lvl="0" marL="0" rtl="0" algn="l">
              <a:spcBef>
                <a:spcPts val="0"/>
              </a:spcBef>
              <a:spcAft>
                <a:spcPts val="0"/>
              </a:spcAft>
              <a:buClr>
                <a:schemeClr val="dk1"/>
              </a:buClr>
              <a:buSzPct val="47826"/>
              <a:buFont typeface="Arial"/>
              <a:buNone/>
            </a:pPr>
            <a:r>
              <a:rPr lang="en" sz="2300">
                <a:solidFill>
                  <a:schemeClr val="dk1"/>
                </a:solidFill>
              </a:rPr>
              <a:t>&lt;/body&gt;</a:t>
            </a:r>
            <a:endParaRPr sz="2300">
              <a:solidFill>
                <a:schemeClr val="dk1"/>
              </a:solidFill>
            </a:endParaRPr>
          </a:p>
          <a:p>
            <a:pPr indent="0" lvl="0" marL="0" rtl="0" algn="l">
              <a:spcBef>
                <a:spcPts val="0"/>
              </a:spcBef>
              <a:spcAft>
                <a:spcPts val="0"/>
              </a:spcAft>
              <a:buClr>
                <a:schemeClr val="dk1"/>
              </a:buClr>
              <a:buSzPct val="47826"/>
              <a:buFont typeface="Arial"/>
              <a:buNone/>
            </a:pPr>
            <a:r>
              <a:rPr lang="en" sz="2300">
                <a:solidFill>
                  <a:schemeClr val="dk1"/>
                </a:solidFill>
              </a:rPr>
              <a:t>&lt;/html&gt;</a:t>
            </a:r>
            <a:endParaRPr sz="2300">
              <a:solidFill>
                <a:schemeClr val="dk1"/>
              </a:solidFill>
            </a:endParaRPr>
          </a:p>
          <a:p>
            <a:pPr indent="0" lvl="0" marL="0" rtl="0" algn="l">
              <a:spcBef>
                <a:spcPts val="0"/>
              </a:spcBef>
              <a:spcAft>
                <a:spcPts val="0"/>
              </a:spcAft>
              <a:buClr>
                <a:schemeClr val="dk1"/>
              </a:buClr>
              <a:buSzPct val="47826"/>
              <a:buFont typeface="Arial"/>
              <a:buNone/>
            </a:pPr>
            <a:r>
              <a:t/>
            </a:r>
            <a:endParaRPr sz="2300">
              <a:solidFill>
                <a:schemeClr val="dk1"/>
              </a:solidFill>
            </a:endParaRPr>
          </a:p>
          <a:p>
            <a:pPr indent="0" lvl="0" marL="0" rtl="0" algn="l">
              <a:spcBef>
                <a:spcPts val="0"/>
              </a:spcBef>
              <a:spcAft>
                <a:spcPts val="0"/>
              </a:spcAft>
              <a:buNone/>
            </a:pPr>
            <a:r>
              <a:t/>
            </a:r>
            <a:endParaRPr sz="23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2"/>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None/>
            </a:pPr>
            <a:r>
              <a:rPr b="1" lang="en" sz="2300">
                <a:solidFill>
                  <a:schemeClr val="dk1"/>
                </a:solidFill>
              </a:rPr>
              <a:t>Output</a:t>
            </a:r>
            <a:endParaRPr b="1" sz="2300">
              <a:solidFill>
                <a:schemeClr val="dk1"/>
              </a:solidFill>
            </a:endParaRPr>
          </a:p>
          <a:p>
            <a:pPr indent="0" lvl="0" marL="0" rtl="0" algn="l">
              <a:spcBef>
                <a:spcPts val="2400"/>
              </a:spcBef>
              <a:spcAft>
                <a:spcPts val="0"/>
              </a:spcAft>
              <a:buNone/>
            </a:pPr>
            <a:r>
              <a:rPr b="1" lang="en" sz="2300">
                <a:solidFill>
                  <a:schemeClr val="dk1"/>
                </a:solidFill>
              </a:rPr>
              <a:t>JavaScript Comparison</a:t>
            </a:r>
            <a:endParaRPr b="1" sz="2300">
              <a:solidFill>
                <a:schemeClr val="dk1"/>
              </a:solidFill>
            </a:endParaRPr>
          </a:p>
          <a:p>
            <a:pPr indent="0" lvl="0" marL="0" rtl="0" algn="l">
              <a:spcBef>
                <a:spcPts val="1800"/>
              </a:spcBef>
              <a:spcAft>
                <a:spcPts val="0"/>
              </a:spcAft>
              <a:buNone/>
            </a:pPr>
            <a:r>
              <a:rPr b="1" lang="en" sz="1700">
                <a:solidFill>
                  <a:schemeClr val="dk1"/>
                </a:solidFill>
              </a:rPr>
              <a:t>The &amp;&amp; Operator (Logical AND)</a:t>
            </a:r>
            <a:endParaRPr b="1" sz="1700">
              <a:solidFill>
                <a:schemeClr val="dk1"/>
              </a:solidFill>
            </a:endParaRPr>
          </a:p>
          <a:p>
            <a:pPr indent="0" lvl="0" marL="0" rtl="0" algn="l">
              <a:spcBef>
                <a:spcPts val="1200"/>
              </a:spcBef>
              <a:spcAft>
                <a:spcPts val="0"/>
              </a:spcAft>
              <a:buNone/>
            </a:pPr>
            <a:r>
              <a:rPr lang="en" sz="1100">
                <a:solidFill>
                  <a:schemeClr val="dk1"/>
                </a:solidFill>
              </a:rPr>
              <a:t>The &amp;&amp; operator returns true if both expressions are true, otherwise it returns false.</a:t>
            </a:r>
            <a:endParaRPr sz="1100">
              <a:solidFill>
                <a:schemeClr val="dk1"/>
              </a:solidFill>
            </a:endParaRPr>
          </a:p>
          <a:p>
            <a:pPr indent="0" lvl="0" marL="0" rtl="0" algn="l">
              <a:spcBef>
                <a:spcPts val="1200"/>
              </a:spcBef>
              <a:spcAft>
                <a:spcPts val="0"/>
              </a:spcAft>
              <a:buNone/>
            </a:pPr>
            <a:r>
              <a:rPr lang="en" sz="1100">
                <a:solidFill>
                  <a:schemeClr val="dk1"/>
                </a:solidFill>
              </a:rPr>
              <a:t>true</a:t>
            </a:r>
            <a:br>
              <a:rPr lang="en" sz="1100">
                <a:solidFill>
                  <a:schemeClr val="dk1"/>
                </a:solidFill>
              </a:rPr>
            </a:br>
            <a:r>
              <a:rPr lang="en" sz="1100">
                <a:solidFill>
                  <a:schemeClr val="dk1"/>
                </a:solidFill>
              </a:rPr>
              <a:t>false</a:t>
            </a:r>
            <a:endParaRPr sz="1100">
              <a:solidFill>
                <a:schemeClr val="dk1"/>
              </a:solidFill>
            </a:endParaRPr>
          </a:p>
          <a:p>
            <a:pPr indent="0" lvl="0" marL="0" rtl="0" algn="l">
              <a:spcBef>
                <a:spcPts val="1200"/>
              </a:spcBef>
              <a:spcAft>
                <a:spcPts val="0"/>
              </a:spcAft>
              <a:buNone/>
            </a:pPr>
            <a:r>
              <a:t/>
            </a:r>
            <a:endParaRPr sz="2300">
              <a:solidFill>
                <a:schemeClr val="dk1"/>
              </a:solidFill>
            </a:endParaRPr>
          </a:p>
          <a:p>
            <a:pPr indent="0" lvl="0" marL="0" rtl="0" algn="l">
              <a:spcBef>
                <a:spcPts val="0"/>
              </a:spcBef>
              <a:spcAft>
                <a:spcPts val="0"/>
              </a:spcAft>
              <a:buNone/>
            </a:pPr>
            <a:r>
              <a:t/>
            </a:r>
            <a:endParaRPr sz="2300">
              <a:solidFill>
                <a:schemeClr val="dk1"/>
              </a:solidFill>
            </a:endParaRPr>
          </a:p>
          <a:p>
            <a:pPr indent="0" lvl="0" marL="0" rtl="0" algn="l">
              <a:spcBef>
                <a:spcPts val="0"/>
              </a:spcBef>
              <a:spcAft>
                <a:spcPts val="0"/>
              </a:spcAft>
              <a:buNone/>
            </a:pPr>
            <a:r>
              <a:t/>
            </a:r>
            <a:endParaRPr sz="23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3"/>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47500" lnSpcReduction="20000"/>
          </a:bodyPr>
          <a:lstStyle/>
          <a:p>
            <a:pPr indent="0" lvl="0" marL="0" rtl="0" algn="l">
              <a:spcBef>
                <a:spcPts val="1200"/>
              </a:spcBef>
              <a:spcAft>
                <a:spcPts val="0"/>
              </a:spcAft>
              <a:buNone/>
            </a:pPr>
            <a:r>
              <a:rPr b="1" lang="en" sz="2300">
                <a:solidFill>
                  <a:schemeClr val="dk1"/>
                </a:solidFill>
              </a:rPr>
              <a:t>LOGICAL OR OPERATOR</a:t>
            </a:r>
            <a:endParaRPr b="1" sz="2300">
              <a:solidFill>
                <a:schemeClr val="dk1"/>
              </a:solidFill>
            </a:endParaRPr>
          </a:p>
          <a:p>
            <a:pPr indent="0" lvl="0" marL="0" rtl="0" algn="l">
              <a:spcBef>
                <a:spcPts val="1200"/>
              </a:spcBef>
              <a:spcAft>
                <a:spcPts val="0"/>
              </a:spcAft>
              <a:buClr>
                <a:schemeClr val="dk1"/>
              </a:buClr>
              <a:buSzPct val="47826"/>
              <a:buFont typeface="Arial"/>
              <a:buNone/>
            </a:pPr>
            <a:r>
              <a:rPr b="1" lang="en" sz="2300">
                <a:solidFill>
                  <a:schemeClr val="dk1"/>
                </a:solidFill>
              </a:rPr>
              <a:t>&lt;html&gt;</a:t>
            </a:r>
            <a:endParaRPr b="1" sz="2300">
              <a:solidFill>
                <a:schemeClr val="dk1"/>
              </a:solidFill>
            </a:endParaRPr>
          </a:p>
          <a:p>
            <a:pPr indent="0" lvl="0" marL="0" rtl="0" algn="l">
              <a:spcBef>
                <a:spcPts val="1200"/>
              </a:spcBef>
              <a:spcAft>
                <a:spcPts val="0"/>
              </a:spcAft>
              <a:buClr>
                <a:schemeClr val="dk1"/>
              </a:buClr>
              <a:buSzPct val="47826"/>
              <a:buFont typeface="Arial"/>
              <a:buNone/>
            </a:pPr>
            <a:r>
              <a:rPr b="1" lang="en" sz="2300">
                <a:solidFill>
                  <a:schemeClr val="dk1"/>
                </a:solidFill>
              </a:rPr>
              <a:t>&lt;body&gt;</a:t>
            </a:r>
            <a:endParaRPr b="1" sz="2300">
              <a:solidFill>
                <a:schemeClr val="dk1"/>
              </a:solidFill>
            </a:endParaRPr>
          </a:p>
          <a:p>
            <a:pPr indent="0" lvl="0" marL="0" rtl="0" algn="l">
              <a:spcBef>
                <a:spcPts val="1200"/>
              </a:spcBef>
              <a:spcAft>
                <a:spcPts val="0"/>
              </a:spcAft>
              <a:buClr>
                <a:schemeClr val="dk1"/>
              </a:buClr>
              <a:buSzPct val="47826"/>
              <a:buFont typeface="Arial"/>
              <a:buNone/>
            </a:pPr>
            <a:r>
              <a:rPr b="1" lang="en" sz="2300">
                <a:solidFill>
                  <a:schemeClr val="dk1"/>
                </a:solidFill>
              </a:rPr>
              <a:t>&lt;h1&gt;JavaScript Comparison&lt;/h1&gt;</a:t>
            </a:r>
            <a:endParaRPr b="1" sz="2300">
              <a:solidFill>
                <a:schemeClr val="dk1"/>
              </a:solidFill>
            </a:endParaRPr>
          </a:p>
          <a:p>
            <a:pPr indent="0" lvl="0" marL="0" rtl="0" algn="l">
              <a:spcBef>
                <a:spcPts val="1200"/>
              </a:spcBef>
              <a:spcAft>
                <a:spcPts val="0"/>
              </a:spcAft>
              <a:buClr>
                <a:schemeClr val="dk1"/>
              </a:buClr>
              <a:buSzPct val="47826"/>
              <a:buFont typeface="Arial"/>
              <a:buNone/>
            </a:pPr>
            <a:r>
              <a:rPr b="1" lang="en" sz="2300">
                <a:solidFill>
                  <a:schemeClr val="dk1"/>
                </a:solidFill>
              </a:rPr>
              <a:t>&lt;h2&gt;The || Operator (Logical OR)&lt;/h2&gt;</a:t>
            </a:r>
            <a:endParaRPr b="1" sz="2300">
              <a:solidFill>
                <a:schemeClr val="dk1"/>
              </a:solidFill>
            </a:endParaRPr>
          </a:p>
          <a:p>
            <a:pPr indent="0" lvl="0" marL="0" rtl="0" algn="l">
              <a:spcBef>
                <a:spcPts val="1200"/>
              </a:spcBef>
              <a:spcAft>
                <a:spcPts val="0"/>
              </a:spcAft>
              <a:buClr>
                <a:schemeClr val="dk1"/>
              </a:buClr>
              <a:buSzPct val="47826"/>
              <a:buFont typeface="Arial"/>
              <a:buNone/>
            </a:pPr>
            <a:r>
              <a:rPr b="1" lang="en" sz="2300">
                <a:solidFill>
                  <a:schemeClr val="dk1"/>
                </a:solidFill>
              </a:rPr>
              <a:t>&lt;p&gt;The || returns true if one or both expressions are true, otherwise it returns false.&lt;/p&gt;</a:t>
            </a:r>
            <a:endParaRPr b="1" sz="2300">
              <a:solidFill>
                <a:schemeClr val="dk1"/>
              </a:solidFill>
            </a:endParaRPr>
          </a:p>
          <a:p>
            <a:pPr indent="0" lvl="0" marL="0" rtl="0" algn="l">
              <a:spcBef>
                <a:spcPts val="1200"/>
              </a:spcBef>
              <a:spcAft>
                <a:spcPts val="0"/>
              </a:spcAft>
              <a:buClr>
                <a:schemeClr val="dk1"/>
              </a:buClr>
              <a:buSzPct val="47826"/>
              <a:buFont typeface="Arial"/>
              <a:buNone/>
            </a:pPr>
            <a:r>
              <a:rPr b="1" lang="en" sz="2300">
                <a:solidFill>
                  <a:schemeClr val="dk1"/>
                </a:solidFill>
              </a:rPr>
              <a:t>&lt;p id="demo"&gt;&lt;/p&gt;</a:t>
            </a:r>
            <a:endParaRPr b="1" sz="2300">
              <a:solidFill>
                <a:schemeClr val="dk1"/>
              </a:solidFill>
            </a:endParaRPr>
          </a:p>
          <a:p>
            <a:pPr indent="0" lvl="0" marL="0" rtl="0" algn="l">
              <a:spcBef>
                <a:spcPts val="1200"/>
              </a:spcBef>
              <a:spcAft>
                <a:spcPts val="0"/>
              </a:spcAft>
              <a:buClr>
                <a:schemeClr val="dk1"/>
              </a:buClr>
              <a:buSzPct val="47826"/>
              <a:buFont typeface="Arial"/>
              <a:buNone/>
            </a:pPr>
            <a:r>
              <a:rPr b="1" lang="en" sz="2300">
                <a:solidFill>
                  <a:schemeClr val="dk1"/>
                </a:solidFill>
              </a:rPr>
              <a:t>&lt;script&gt;</a:t>
            </a:r>
            <a:endParaRPr b="1" sz="2300">
              <a:solidFill>
                <a:schemeClr val="dk1"/>
              </a:solidFill>
            </a:endParaRPr>
          </a:p>
          <a:p>
            <a:pPr indent="0" lvl="0" marL="0" rtl="0" algn="l">
              <a:spcBef>
                <a:spcPts val="1200"/>
              </a:spcBef>
              <a:spcAft>
                <a:spcPts val="0"/>
              </a:spcAft>
              <a:buClr>
                <a:schemeClr val="dk1"/>
              </a:buClr>
              <a:buSzPct val="47826"/>
              <a:buFont typeface="Arial"/>
              <a:buNone/>
            </a:pPr>
            <a:r>
              <a:rPr b="1" lang="en" sz="2300">
                <a:solidFill>
                  <a:schemeClr val="dk1"/>
                </a:solidFill>
              </a:rPr>
              <a:t>let x = 6;</a:t>
            </a:r>
            <a:endParaRPr b="1" sz="2300">
              <a:solidFill>
                <a:schemeClr val="dk1"/>
              </a:solidFill>
            </a:endParaRPr>
          </a:p>
          <a:p>
            <a:pPr indent="0" lvl="0" marL="0" rtl="0" algn="l">
              <a:spcBef>
                <a:spcPts val="1200"/>
              </a:spcBef>
              <a:spcAft>
                <a:spcPts val="0"/>
              </a:spcAft>
              <a:buClr>
                <a:schemeClr val="dk1"/>
              </a:buClr>
              <a:buSzPct val="47826"/>
              <a:buFont typeface="Arial"/>
              <a:buNone/>
            </a:pPr>
            <a:r>
              <a:rPr b="1" lang="en" sz="2300">
                <a:solidFill>
                  <a:schemeClr val="dk1"/>
                </a:solidFill>
              </a:rPr>
              <a:t>let y = 3;</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sz="2300">
              <a:solidFill>
                <a:schemeClr val="dk1"/>
              </a:solidFill>
            </a:endParaRPr>
          </a:p>
          <a:p>
            <a:pPr indent="0" lvl="0" marL="0" rtl="0" algn="l">
              <a:spcBef>
                <a:spcPts val="0"/>
              </a:spcBef>
              <a:spcAft>
                <a:spcPts val="0"/>
              </a:spcAft>
              <a:buNone/>
            </a:pPr>
            <a:r>
              <a:t/>
            </a:r>
            <a:endParaRPr sz="2300">
              <a:solidFill>
                <a:schemeClr val="dk1"/>
              </a:solidFill>
            </a:endParaRPr>
          </a:p>
          <a:p>
            <a:pPr indent="0" lvl="0" marL="0" rtl="0" algn="l">
              <a:spcBef>
                <a:spcPts val="0"/>
              </a:spcBef>
              <a:spcAft>
                <a:spcPts val="0"/>
              </a:spcAft>
              <a:buNone/>
            </a:pPr>
            <a:r>
              <a:t/>
            </a:r>
            <a:endParaRPr sz="23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4"/>
          <p:cNvSpPr txBox="1"/>
          <p:nvPr>
            <p:ph idx="1" type="body"/>
          </p:nvPr>
        </p:nvSpPr>
        <p:spPr>
          <a:xfrm>
            <a:off x="311700" y="301200"/>
            <a:ext cx="8520600" cy="4267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n" sz="2300">
                <a:solidFill>
                  <a:schemeClr val="dk1"/>
                </a:solidFill>
              </a:rPr>
              <a:t>document.getElementById("demo").innerHTML = </a:t>
            </a:r>
            <a:endParaRPr b="1" sz="2300">
              <a:solidFill>
                <a:schemeClr val="dk1"/>
              </a:solidFill>
            </a:endParaRPr>
          </a:p>
          <a:p>
            <a:pPr indent="0" lvl="0" marL="0" rtl="0" algn="l">
              <a:spcBef>
                <a:spcPts val="0"/>
              </a:spcBef>
              <a:spcAft>
                <a:spcPts val="0"/>
              </a:spcAft>
              <a:buClr>
                <a:schemeClr val="dk1"/>
              </a:buClr>
              <a:buSzPts val="1100"/>
              <a:buFont typeface="Arial"/>
              <a:buNone/>
            </a:pPr>
            <a:r>
              <a:rPr b="1" lang="en" sz="2300">
                <a:solidFill>
                  <a:schemeClr val="dk1"/>
                </a:solidFill>
              </a:rPr>
              <a:t>(x == 5 || y == 5) + "&lt;br&gt;" + </a:t>
            </a:r>
            <a:endParaRPr b="1" sz="2300">
              <a:solidFill>
                <a:schemeClr val="dk1"/>
              </a:solidFill>
            </a:endParaRPr>
          </a:p>
          <a:p>
            <a:pPr indent="0" lvl="0" marL="0" rtl="0" algn="l">
              <a:spcBef>
                <a:spcPts val="0"/>
              </a:spcBef>
              <a:spcAft>
                <a:spcPts val="0"/>
              </a:spcAft>
              <a:buClr>
                <a:schemeClr val="dk1"/>
              </a:buClr>
              <a:buSzPts val="1100"/>
              <a:buFont typeface="Arial"/>
              <a:buNone/>
            </a:pPr>
            <a:r>
              <a:rPr b="1" lang="en" sz="2300">
                <a:solidFill>
                  <a:schemeClr val="dk1"/>
                </a:solidFill>
              </a:rPr>
              <a:t>(x == 6 || y == 0) + "&lt;br&gt;" + </a:t>
            </a:r>
            <a:endParaRPr b="1" sz="2300">
              <a:solidFill>
                <a:schemeClr val="dk1"/>
              </a:solidFill>
            </a:endParaRPr>
          </a:p>
          <a:p>
            <a:pPr indent="0" lvl="0" marL="0" rtl="0" algn="l">
              <a:spcBef>
                <a:spcPts val="0"/>
              </a:spcBef>
              <a:spcAft>
                <a:spcPts val="0"/>
              </a:spcAft>
              <a:buClr>
                <a:schemeClr val="dk1"/>
              </a:buClr>
              <a:buSzPts val="1100"/>
              <a:buFont typeface="Arial"/>
              <a:buNone/>
            </a:pPr>
            <a:r>
              <a:rPr b="1" lang="en" sz="2300">
                <a:solidFill>
                  <a:schemeClr val="dk1"/>
                </a:solidFill>
              </a:rPr>
              <a:t>(x == 0 || y == 3) + "&lt;br&gt;" + </a:t>
            </a:r>
            <a:endParaRPr b="1" sz="2300">
              <a:solidFill>
                <a:schemeClr val="dk1"/>
              </a:solidFill>
            </a:endParaRPr>
          </a:p>
          <a:p>
            <a:pPr indent="0" lvl="0" marL="0" rtl="0" algn="l">
              <a:spcBef>
                <a:spcPts val="0"/>
              </a:spcBef>
              <a:spcAft>
                <a:spcPts val="0"/>
              </a:spcAft>
              <a:buClr>
                <a:schemeClr val="dk1"/>
              </a:buClr>
              <a:buSzPts val="1100"/>
              <a:buFont typeface="Arial"/>
              <a:buNone/>
            </a:pPr>
            <a:r>
              <a:rPr b="1" lang="en" sz="2300">
                <a:solidFill>
                  <a:schemeClr val="dk1"/>
                </a:solidFill>
              </a:rPr>
              <a:t>(x == 6 || y == 3);</a:t>
            </a:r>
            <a:endParaRPr b="1" sz="2300">
              <a:solidFill>
                <a:schemeClr val="dk1"/>
              </a:solidFill>
            </a:endParaRPr>
          </a:p>
          <a:p>
            <a:pPr indent="0" lvl="0" marL="0" rtl="0" algn="l">
              <a:spcBef>
                <a:spcPts val="0"/>
              </a:spcBef>
              <a:spcAft>
                <a:spcPts val="0"/>
              </a:spcAft>
              <a:buClr>
                <a:schemeClr val="dk1"/>
              </a:buClr>
              <a:buSzPts val="1100"/>
              <a:buFont typeface="Arial"/>
              <a:buNone/>
            </a:pPr>
            <a:r>
              <a:rPr b="1" lang="en" sz="2300">
                <a:solidFill>
                  <a:schemeClr val="dk1"/>
                </a:solidFill>
              </a:rPr>
              <a:t>&lt;/script&gt;</a:t>
            </a:r>
            <a:endParaRPr b="1" sz="2300">
              <a:solidFill>
                <a:schemeClr val="dk1"/>
              </a:solidFill>
            </a:endParaRPr>
          </a:p>
          <a:p>
            <a:pPr indent="0" lvl="0" marL="0" rtl="0" algn="l">
              <a:spcBef>
                <a:spcPts val="0"/>
              </a:spcBef>
              <a:spcAft>
                <a:spcPts val="0"/>
              </a:spcAft>
              <a:buClr>
                <a:schemeClr val="dk1"/>
              </a:buClr>
              <a:buSzPts val="1100"/>
              <a:buFont typeface="Arial"/>
              <a:buNone/>
            </a:pPr>
            <a:r>
              <a:t/>
            </a:r>
            <a:endParaRPr b="1" sz="2300">
              <a:solidFill>
                <a:schemeClr val="dk1"/>
              </a:solidFill>
            </a:endParaRPr>
          </a:p>
          <a:p>
            <a:pPr indent="0" lvl="0" marL="0" rtl="0" algn="l">
              <a:spcBef>
                <a:spcPts val="0"/>
              </a:spcBef>
              <a:spcAft>
                <a:spcPts val="0"/>
              </a:spcAft>
              <a:buClr>
                <a:schemeClr val="dk1"/>
              </a:buClr>
              <a:buSzPts val="1100"/>
              <a:buFont typeface="Arial"/>
              <a:buNone/>
            </a:pPr>
            <a:r>
              <a:rPr b="1" lang="en" sz="2300">
                <a:solidFill>
                  <a:schemeClr val="dk1"/>
                </a:solidFill>
              </a:rPr>
              <a:t>&lt;/body&gt;</a:t>
            </a:r>
            <a:endParaRPr b="1" sz="2300">
              <a:solidFill>
                <a:schemeClr val="dk1"/>
              </a:solidFill>
            </a:endParaRPr>
          </a:p>
          <a:p>
            <a:pPr indent="0" lvl="0" marL="0" rtl="0" algn="l">
              <a:spcBef>
                <a:spcPts val="0"/>
              </a:spcBef>
              <a:spcAft>
                <a:spcPts val="0"/>
              </a:spcAft>
              <a:buClr>
                <a:schemeClr val="dk1"/>
              </a:buClr>
              <a:buSzPts val="1100"/>
              <a:buFont typeface="Arial"/>
              <a:buNone/>
            </a:pPr>
            <a:r>
              <a:rPr b="1" lang="en" sz="2300">
                <a:solidFill>
                  <a:schemeClr val="dk1"/>
                </a:solidFill>
              </a:rPr>
              <a:t>&lt;/html&gt;</a:t>
            </a:r>
            <a:endParaRPr b="1" sz="2300">
              <a:solidFill>
                <a:schemeClr val="dk1"/>
              </a:solidFill>
            </a:endParaRPr>
          </a:p>
          <a:p>
            <a:pPr indent="0" lvl="0" marL="0" rtl="0" algn="l">
              <a:spcBef>
                <a:spcPts val="0"/>
              </a:spcBef>
              <a:spcAft>
                <a:spcPts val="0"/>
              </a:spcAft>
              <a:buClr>
                <a:schemeClr val="dk1"/>
              </a:buClr>
              <a:buSzPts val="1100"/>
              <a:buFont typeface="Arial"/>
              <a:buNone/>
            </a:pPr>
            <a:r>
              <a:t/>
            </a:r>
            <a:endParaRPr b="1" sz="2300">
              <a:solidFill>
                <a:schemeClr val="dk1"/>
              </a:solidFill>
            </a:endParaRPr>
          </a:p>
          <a:p>
            <a:pPr indent="0" lvl="0" marL="0" rtl="0" algn="l">
              <a:spcBef>
                <a:spcPts val="0"/>
              </a:spcBef>
              <a:spcAft>
                <a:spcPts val="0"/>
              </a:spcAft>
              <a:buNone/>
            </a:pPr>
            <a:r>
              <a:t/>
            </a:r>
            <a:endParaRPr b="1" sz="23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5"/>
          <p:cNvSpPr txBox="1"/>
          <p:nvPr>
            <p:ph idx="1" type="body"/>
          </p:nvPr>
        </p:nvSpPr>
        <p:spPr>
          <a:xfrm>
            <a:off x="311700" y="301200"/>
            <a:ext cx="8520600" cy="4267800"/>
          </a:xfrm>
          <a:prstGeom prst="rect">
            <a:avLst/>
          </a:prstGeom>
        </p:spPr>
        <p:txBody>
          <a:bodyPr anchorCtr="0" anchor="t" bIns="91425" lIns="91425" spcFirstLastPara="1" rIns="91425" wrap="square" tIns="91425">
            <a:normAutofit lnSpcReduction="10000"/>
          </a:bodyPr>
          <a:lstStyle/>
          <a:p>
            <a:pPr indent="0" lvl="0" marL="0" rtl="0" algn="l">
              <a:spcBef>
                <a:spcPts val="2400"/>
              </a:spcBef>
              <a:spcAft>
                <a:spcPts val="0"/>
              </a:spcAft>
              <a:buNone/>
            </a:pPr>
            <a:r>
              <a:rPr b="1" lang="en" sz="2300">
                <a:solidFill>
                  <a:schemeClr val="dk1"/>
                </a:solidFill>
              </a:rPr>
              <a:t>OUTPUT</a:t>
            </a:r>
            <a:endParaRPr b="1" sz="2300">
              <a:solidFill>
                <a:schemeClr val="dk1"/>
              </a:solidFill>
            </a:endParaRPr>
          </a:p>
          <a:p>
            <a:pPr indent="0" lvl="0" marL="0" rtl="0" algn="l">
              <a:spcBef>
                <a:spcPts val="2400"/>
              </a:spcBef>
              <a:spcAft>
                <a:spcPts val="0"/>
              </a:spcAft>
              <a:buNone/>
            </a:pPr>
            <a:r>
              <a:rPr b="1" lang="en" sz="2300">
                <a:solidFill>
                  <a:schemeClr val="dk1"/>
                </a:solidFill>
              </a:rPr>
              <a:t>JavaScript Comparison</a:t>
            </a:r>
            <a:endParaRPr b="1" sz="2300">
              <a:solidFill>
                <a:schemeClr val="dk1"/>
              </a:solidFill>
            </a:endParaRPr>
          </a:p>
          <a:p>
            <a:pPr indent="0" lvl="0" marL="0" rtl="0" algn="l">
              <a:spcBef>
                <a:spcPts val="1800"/>
              </a:spcBef>
              <a:spcAft>
                <a:spcPts val="0"/>
              </a:spcAft>
              <a:buNone/>
            </a:pPr>
            <a:r>
              <a:rPr b="1" lang="en" sz="1700">
                <a:solidFill>
                  <a:schemeClr val="dk1"/>
                </a:solidFill>
              </a:rPr>
              <a:t>The || Operator (Logical OR)</a:t>
            </a:r>
            <a:endParaRPr b="1" sz="1700">
              <a:solidFill>
                <a:schemeClr val="dk1"/>
              </a:solidFill>
            </a:endParaRPr>
          </a:p>
          <a:p>
            <a:pPr indent="0" lvl="0" marL="0" rtl="0" algn="l">
              <a:spcBef>
                <a:spcPts val="1200"/>
              </a:spcBef>
              <a:spcAft>
                <a:spcPts val="0"/>
              </a:spcAft>
              <a:buNone/>
            </a:pPr>
            <a:r>
              <a:rPr lang="en" sz="1100">
                <a:solidFill>
                  <a:schemeClr val="dk1"/>
                </a:solidFill>
              </a:rPr>
              <a:t>The || returns true if one or both expressions are true, otherwise it returns false.</a:t>
            </a:r>
            <a:endParaRPr sz="1100">
              <a:solidFill>
                <a:schemeClr val="dk1"/>
              </a:solidFill>
            </a:endParaRPr>
          </a:p>
          <a:p>
            <a:pPr indent="0" lvl="0" marL="0" rtl="0" algn="l">
              <a:spcBef>
                <a:spcPts val="1200"/>
              </a:spcBef>
              <a:spcAft>
                <a:spcPts val="0"/>
              </a:spcAft>
              <a:buNone/>
            </a:pPr>
            <a:r>
              <a:rPr lang="en" sz="1100">
                <a:solidFill>
                  <a:schemeClr val="dk1"/>
                </a:solidFill>
              </a:rPr>
              <a:t>false</a:t>
            </a:r>
            <a:br>
              <a:rPr lang="en" sz="1100">
                <a:solidFill>
                  <a:schemeClr val="dk1"/>
                </a:solidFill>
              </a:rPr>
            </a:br>
            <a:r>
              <a:rPr lang="en" sz="1100">
                <a:solidFill>
                  <a:schemeClr val="dk1"/>
                </a:solidFill>
              </a:rPr>
              <a:t>true</a:t>
            </a:r>
            <a:br>
              <a:rPr lang="en" sz="1100">
                <a:solidFill>
                  <a:schemeClr val="dk1"/>
                </a:solidFill>
              </a:rPr>
            </a:br>
            <a:r>
              <a:rPr lang="en" sz="1100">
                <a:solidFill>
                  <a:schemeClr val="dk1"/>
                </a:solidFill>
              </a:rPr>
              <a:t>true</a:t>
            </a:r>
            <a:br>
              <a:rPr lang="en" sz="1100">
                <a:solidFill>
                  <a:schemeClr val="dk1"/>
                </a:solidFill>
              </a:rPr>
            </a:br>
            <a:r>
              <a:rPr lang="en" sz="1100">
                <a:solidFill>
                  <a:schemeClr val="dk1"/>
                </a:solidFill>
              </a:rPr>
              <a:t>true</a:t>
            </a:r>
            <a:endParaRPr sz="11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0"/>
              </a:spcBef>
              <a:spcAft>
                <a:spcPts val="0"/>
              </a:spcAft>
              <a:buNone/>
            </a:pPr>
            <a:r>
              <a:t/>
            </a:r>
            <a:endParaRPr b="1" sz="2300">
              <a:solidFill>
                <a:schemeClr val="dk1"/>
              </a:solidFill>
            </a:endParaRPr>
          </a:p>
          <a:p>
            <a:pPr indent="0" lvl="0" marL="0" rtl="0" algn="l">
              <a:spcBef>
                <a:spcPts val="0"/>
              </a:spcBef>
              <a:spcAft>
                <a:spcPts val="0"/>
              </a:spcAft>
              <a:buNone/>
            </a:pPr>
            <a:r>
              <a:t/>
            </a:r>
            <a:endParaRPr b="1" sz="23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6"/>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en" sz="2300">
                <a:solidFill>
                  <a:schemeClr val="dk1"/>
                </a:solidFill>
              </a:rPr>
              <a:t>LOGICAL NOT OPERATOR</a:t>
            </a:r>
            <a:endParaRPr b="1" sz="2300">
              <a:solidFill>
                <a:schemeClr val="dk1"/>
              </a:solidFill>
            </a:endParaRPr>
          </a:p>
          <a:p>
            <a:pPr indent="0" lvl="0" marL="0" rtl="0" algn="l">
              <a:spcBef>
                <a:spcPts val="0"/>
              </a:spcBef>
              <a:spcAft>
                <a:spcPts val="0"/>
              </a:spcAft>
              <a:buClr>
                <a:schemeClr val="dk1"/>
              </a:buClr>
              <a:buSzPct val="47826"/>
              <a:buFont typeface="Arial"/>
              <a:buNone/>
            </a:pPr>
            <a:r>
              <a:rPr b="1" lang="en" sz="2300">
                <a:solidFill>
                  <a:schemeClr val="dk1"/>
                </a:solidFill>
              </a:rPr>
              <a:t>&lt;html&gt;</a:t>
            </a:r>
            <a:endParaRPr b="1" sz="2300">
              <a:solidFill>
                <a:schemeClr val="dk1"/>
              </a:solidFill>
            </a:endParaRPr>
          </a:p>
          <a:p>
            <a:pPr indent="0" lvl="0" marL="0" rtl="0" algn="l">
              <a:spcBef>
                <a:spcPts val="0"/>
              </a:spcBef>
              <a:spcAft>
                <a:spcPts val="0"/>
              </a:spcAft>
              <a:buClr>
                <a:schemeClr val="dk1"/>
              </a:buClr>
              <a:buSzPct val="47826"/>
              <a:buFont typeface="Arial"/>
              <a:buNone/>
            </a:pPr>
            <a:r>
              <a:rPr b="1" lang="en" sz="2300">
                <a:solidFill>
                  <a:schemeClr val="dk1"/>
                </a:solidFill>
              </a:rPr>
              <a:t>&lt;body&gt;</a:t>
            </a:r>
            <a:endParaRPr b="1" sz="2300">
              <a:solidFill>
                <a:schemeClr val="dk1"/>
              </a:solidFill>
            </a:endParaRPr>
          </a:p>
          <a:p>
            <a:pPr indent="0" lvl="0" marL="0" rtl="0" algn="l">
              <a:spcBef>
                <a:spcPts val="0"/>
              </a:spcBef>
              <a:spcAft>
                <a:spcPts val="0"/>
              </a:spcAft>
              <a:buClr>
                <a:schemeClr val="dk1"/>
              </a:buClr>
              <a:buSzPct val="47826"/>
              <a:buFont typeface="Arial"/>
              <a:buNone/>
            </a:pPr>
            <a:r>
              <a:t/>
            </a:r>
            <a:endParaRPr b="1" sz="2300">
              <a:solidFill>
                <a:schemeClr val="dk1"/>
              </a:solidFill>
            </a:endParaRPr>
          </a:p>
          <a:p>
            <a:pPr indent="0" lvl="0" marL="0" rtl="0" algn="l">
              <a:spcBef>
                <a:spcPts val="0"/>
              </a:spcBef>
              <a:spcAft>
                <a:spcPts val="0"/>
              </a:spcAft>
              <a:buClr>
                <a:schemeClr val="dk1"/>
              </a:buClr>
              <a:buSzPct val="47826"/>
              <a:buFont typeface="Arial"/>
              <a:buNone/>
            </a:pPr>
            <a:r>
              <a:rPr b="1" lang="en" sz="2300">
                <a:solidFill>
                  <a:schemeClr val="dk1"/>
                </a:solidFill>
              </a:rPr>
              <a:t>&lt;h2&gt;JavaScript Comparison&lt;/h2&gt;</a:t>
            </a:r>
            <a:endParaRPr b="1" sz="2300">
              <a:solidFill>
                <a:schemeClr val="dk1"/>
              </a:solidFill>
            </a:endParaRPr>
          </a:p>
          <a:p>
            <a:pPr indent="0" lvl="0" marL="0" rtl="0" algn="l">
              <a:spcBef>
                <a:spcPts val="0"/>
              </a:spcBef>
              <a:spcAft>
                <a:spcPts val="0"/>
              </a:spcAft>
              <a:buClr>
                <a:schemeClr val="dk1"/>
              </a:buClr>
              <a:buSzPct val="47826"/>
              <a:buFont typeface="Arial"/>
              <a:buNone/>
            </a:pPr>
            <a:r>
              <a:t/>
            </a:r>
            <a:endParaRPr b="1" sz="2300">
              <a:solidFill>
                <a:schemeClr val="dk1"/>
              </a:solidFill>
            </a:endParaRPr>
          </a:p>
          <a:p>
            <a:pPr indent="0" lvl="0" marL="0" rtl="0" algn="l">
              <a:spcBef>
                <a:spcPts val="0"/>
              </a:spcBef>
              <a:spcAft>
                <a:spcPts val="0"/>
              </a:spcAft>
              <a:buClr>
                <a:schemeClr val="dk1"/>
              </a:buClr>
              <a:buSzPct val="47826"/>
              <a:buFont typeface="Arial"/>
              <a:buNone/>
            </a:pPr>
            <a:r>
              <a:rPr b="1" lang="en" sz="2300">
                <a:solidFill>
                  <a:schemeClr val="dk1"/>
                </a:solidFill>
              </a:rPr>
              <a:t>&lt;p&gt;The NOT operator (!) returns true for false statements and false for true statements.&lt;/p&gt;</a:t>
            </a:r>
            <a:endParaRPr b="1" sz="2300">
              <a:solidFill>
                <a:schemeClr val="dk1"/>
              </a:solidFill>
            </a:endParaRPr>
          </a:p>
          <a:p>
            <a:pPr indent="0" lvl="0" marL="0" rtl="0" algn="l">
              <a:spcBef>
                <a:spcPts val="0"/>
              </a:spcBef>
              <a:spcAft>
                <a:spcPts val="0"/>
              </a:spcAft>
              <a:buClr>
                <a:schemeClr val="dk1"/>
              </a:buClr>
              <a:buSzPct val="47826"/>
              <a:buFont typeface="Arial"/>
              <a:buNone/>
            </a:pPr>
            <a:r>
              <a:t/>
            </a:r>
            <a:endParaRPr b="1" sz="2300">
              <a:solidFill>
                <a:schemeClr val="dk1"/>
              </a:solidFill>
            </a:endParaRPr>
          </a:p>
          <a:p>
            <a:pPr indent="0" lvl="0" marL="0" rtl="0" algn="l">
              <a:spcBef>
                <a:spcPts val="0"/>
              </a:spcBef>
              <a:spcAft>
                <a:spcPts val="0"/>
              </a:spcAft>
              <a:buClr>
                <a:schemeClr val="dk1"/>
              </a:buClr>
              <a:buSzPct val="47826"/>
              <a:buFont typeface="Arial"/>
              <a:buNone/>
            </a:pPr>
            <a:r>
              <a:rPr b="1" lang="en" sz="2300">
                <a:solidFill>
                  <a:schemeClr val="dk1"/>
                </a:solidFill>
              </a:rPr>
              <a:t>&lt;p id="demo"&gt;&lt;/p&gt;</a:t>
            </a:r>
            <a:endParaRPr b="1" sz="2300">
              <a:solidFill>
                <a:schemeClr val="dk1"/>
              </a:solidFill>
            </a:endParaRPr>
          </a:p>
          <a:p>
            <a:pPr indent="0" lvl="0" marL="0" rtl="0" algn="l">
              <a:spcBef>
                <a:spcPts val="0"/>
              </a:spcBef>
              <a:spcAft>
                <a:spcPts val="0"/>
              </a:spcAft>
              <a:buClr>
                <a:schemeClr val="dk1"/>
              </a:buClr>
              <a:buSzPct val="47826"/>
              <a:buFont typeface="Arial"/>
              <a:buNone/>
            </a:pPr>
            <a:r>
              <a:t/>
            </a:r>
            <a:endParaRPr b="1" sz="2300">
              <a:solidFill>
                <a:schemeClr val="dk1"/>
              </a:solidFill>
            </a:endParaRPr>
          </a:p>
          <a:p>
            <a:pPr indent="0" lvl="0" marL="0" rtl="0" algn="l">
              <a:spcBef>
                <a:spcPts val="0"/>
              </a:spcBef>
              <a:spcAft>
                <a:spcPts val="0"/>
              </a:spcAft>
              <a:buClr>
                <a:schemeClr val="dk1"/>
              </a:buClr>
              <a:buSzPct val="47826"/>
              <a:buFont typeface="Arial"/>
              <a:buNone/>
            </a:pPr>
            <a:r>
              <a:rPr b="1" lang="en" sz="2300">
                <a:solidFill>
                  <a:schemeClr val="dk1"/>
                </a:solidFill>
              </a:rPr>
              <a:t>&lt;script&gt;</a:t>
            </a:r>
            <a:endParaRPr b="1" sz="2300">
              <a:solidFill>
                <a:schemeClr val="dk1"/>
              </a:solidFill>
            </a:endParaRPr>
          </a:p>
          <a:p>
            <a:pPr indent="0" lvl="0" marL="0" rtl="0" algn="l">
              <a:spcBef>
                <a:spcPts val="0"/>
              </a:spcBef>
              <a:spcAft>
                <a:spcPts val="0"/>
              </a:spcAft>
              <a:buClr>
                <a:schemeClr val="dk1"/>
              </a:buClr>
              <a:buSzPct val="47826"/>
              <a:buFont typeface="Arial"/>
              <a:buNone/>
            </a:pPr>
            <a:r>
              <a:rPr b="1" lang="en" sz="2300">
                <a:solidFill>
                  <a:schemeClr val="dk1"/>
                </a:solidFill>
              </a:rPr>
              <a:t>let x = 6;</a:t>
            </a:r>
            <a:endParaRPr b="1" sz="2300">
              <a:solidFill>
                <a:schemeClr val="dk1"/>
              </a:solidFill>
            </a:endParaRPr>
          </a:p>
          <a:p>
            <a:pPr indent="0" lvl="0" marL="0" rtl="0" algn="l">
              <a:spcBef>
                <a:spcPts val="0"/>
              </a:spcBef>
              <a:spcAft>
                <a:spcPts val="0"/>
              </a:spcAft>
              <a:buClr>
                <a:schemeClr val="dk1"/>
              </a:buClr>
              <a:buSzPct val="47826"/>
              <a:buFont typeface="Arial"/>
              <a:buNone/>
            </a:pPr>
            <a:r>
              <a:rPr b="1" lang="en" sz="2300">
                <a:solidFill>
                  <a:schemeClr val="dk1"/>
                </a:solidFill>
              </a:rPr>
              <a:t>let y = 3;</a:t>
            </a:r>
            <a:endParaRPr b="1" sz="2300">
              <a:solidFill>
                <a:schemeClr val="dk1"/>
              </a:solidFill>
            </a:endParaRPr>
          </a:p>
          <a:p>
            <a:pPr indent="0" lvl="0" marL="0" rtl="0" algn="l">
              <a:spcBef>
                <a:spcPts val="0"/>
              </a:spcBef>
              <a:spcAft>
                <a:spcPts val="0"/>
              </a:spcAft>
              <a:buNone/>
            </a:pPr>
            <a:r>
              <a:t/>
            </a:r>
            <a:endParaRPr b="1" sz="23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7"/>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300">
                <a:solidFill>
                  <a:schemeClr val="dk1"/>
                </a:solidFill>
              </a:rPr>
              <a:t>document.getElementById("demo").innerHTML = </a:t>
            </a:r>
            <a:endParaRPr b="1" sz="2300">
              <a:solidFill>
                <a:schemeClr val="dk1"/>
              </a:solidFill>
            </a:endParaRPr>
          </a:p>
          <a:p>
            <a:pPr indent="0" lvl="0" marL="0" rtl="0" algn="l">
              <a:spcBef>
                <a:spcPts val="0"/>
              </a:spcBef>
              <a:spcAft>
                <a:spcPts val="0"/>
              </a:spcAft>
              <a:buNone/>
            </a:pPr>
            <a:r>
              <a:rPr b="1" lang="en" sz="2300">
                <a:solidFill>
                  <a:schemeClr val="dk1"/>
                </a:solidFill>
              </a:rPr>
              <a:t>!(x === y) + "&lt;br&gt;" + </a:t>
            </a:r>
            <a:endParaRPr b="1" sz="2300">
              <a:solidFill>
                <a:schemeClr val="dk1"/>
              </a:solidFill>
            </a:endParaRPr>
          </a:p>
          <a:p>
            <a:pPr indent="0" lvl="0" marL="0" rtl="0" algn="l">
              <a:spcBef>
                <a:spcPts val="0"/>
              </a:spcBef>
              <a:spcAft>
                <a:spcPts val="0"/>
              </a:spcAft>
              <a:buNone/>
            </a:pPr>
            <a:r>
              <a:rPr b="1" lang="en" sz="2300">
                <a:solidFill>
                  <a:schemeClr val="dk1"/>
                </a:solidFill>
              </a:rPr>
              <a:t>!(x &gt; y);</a:t>
            </a:r>
            <a:endParaRPr b="1" sz="2300">
              <a:solidFill>
                <a:schemeClr val="dk1"/>
              </a:solidFill>
            </a:endParaRPr>
          </a:p>
          <a:p>
            <a:pPr indent="0" lvl="0" marL="0" rtl="0" algn="l">
              <a:spcBef>
                <a:spcPts val="0"/>
              </a:spcBef>
              <a:spcAft>
                <a:spcPts val="0"/>
              </a:spcAft>
              <a:buNone/>
            </a:pPr>
            <a:r>
              <a:rPr b="1" lang="en" sz="2300">
                <a:solidFill>
                  <a:schemeClr val="dk1"/>
                </a:solidFill>
              </a:rPr>
              <a:t>&lt;/script&gt;</a:t>
            </a:r>
            <a:endParaRPr b="1" sz="2300">
              <a:solidFill>
                <a:schemeClr val="dk1"/>
              </a:solidFill>
            </a:endParaRPr>
          </a:p>
          <a:p>
            <a:pPr indent="0" lvl="0" marL="0" rtl="0" algn="l">
              <a:spcBef>
                <a:spcPts val="0"/>
              </a:spcBef>
              <a:spcAft>
                <a:spcPts val="0"/>
              </a:spcAft>
              <a:buNone/>
            </a:pPr>
            <a:r>
              <a:t/>
            </a:r>
            <a:endParaRPr b="1" sz="2300">
              <a:solidFill>
                <a:schemeClr val="dk1"/>
              </a:solidFill>
            </a:endParaRPr>
          </a:p>
          <a:p>
            <a:pPr indent="0" lvl="0" marL="0" rtl="0" algn="l">
              <a:spcBef>
                <a:spcPts val="0"/>
              </a:spcBef>
              <a:spcAft>
                <a:spcPts val="0"/>
              </a:spcAft>
              <a:buNone/>
            </a:pPr>
            <a:r>
              <a:rPr b="1" lang="en" sz="2300">
                <a:solidFill>
                  <a:schemeClr val="dk1"/>
                </a:solidFill>
              </a:rPr>
              <a:t>&lt;/body&gt;</a:t>
            </a:r>
            <a:endParaRPr b="1" sz="2300">
              <a:solidFill>
                <a:schemeClr val="dk1"/>
              </a:solidFill>
            </a:endParaRPr>
          </a:p>
          <a:p>
            <a:pPr indent="0" lvl="0" marL="0" rtl="0" algn="l">
              <a:spcBef>
                <a:spcPts val="0"/>
              </a:spcBef>
              <a:spcAft>
                <a:spcPts val="0"/>
              </a:spcAft>
              <a:buNone/>
            </a:pPr>
            <a:r>
              <a:rPr b="1" lang="en" sz="2300">
                <a:solidFill>
                  <a:schemeClr val="dk1"/>
                </a:solidFill>
              </a:rPr>
              <a:t>&lt;/html&gt;</a:t>
            </a:r>
            <a:endParaRPr b="1" sz="2300">
              <a:solidFill>
                <a:schemeClr val="dk1"/>
              </a:solidFill>
            </a:endParaRPr>
          </a:p>
          <a:p>
            <a:pPr indent="0" lvl="0" marL="0" rtl="0" algn="l">
              <a:spcBef>
                <a:spcPts val="0"/>
              </a:spcBef>
              <a:spcAft>
                <a:spcPts val="0"/>
              </a:spcAft>
              <a:buNone/>
            </a:pPr>
            <a:r>
              <a:t/>
            </a:r>
            <a:endParaRPr b="1" sz="2300">
              <a:solidFill>
                <a:schemeClr val="dk1"/>
              </a:solidFill>
            </a:endParaRPr>
          </a:p>
          <a:p>
            <a:pPr indent="0" lvl="0" marL="0" rtl="0" algn="l">
              <a:spcBef>
                <a:spcPts val="0"/>
              </a:spcBef>
              <a:spcAft>
                <a:spcPts val="0"/>
              </a:spcAft>
              <a:buNone/>
            </a:pPr>
            <a:r>
              <a:t/>
            </a:r>
            <a:endParaRPr b="1" sz="2300">
              <a:solidFill>
                <a:schemeClr val="dk1"/>
              </a:solidFill>
            </a:endParaRPr>
          </a:p>
          <a:p>
            <a:pPr indent="0" lvl="0" marL="0" rtl="0" algn="l">
              <a:spcBef>
                <a:spcPts val="0"/>
              </a:spcBef>
              <a:spcAft>
                <a:spcPts val="0"/>
              </a:spcAft>
              <a:buNone/>
            </a:pPr>
            <a:r>
              <a:t/>
            </a:r>
            <a:endParaRPr b="1" sz="23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8"/>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300">
                <a:solidFill>
                  <a:schemeClr val="dk1"/>
                </a:solidFill>
              </a:rPr>
              <a:t>OUTPUT</a:t>
            </a:r>
            <a:endParaRPr b="1" sz="2300">
              <a:solidFill>
                <a:schemeClr val="dk1"/>
              </a:solidFill>
            </a:endParaRPr>
          </a:p>
          <a:p>
            <a:pPr indent="0" lvl="0" marL="0" rtl="0" algn="l">
              <a:spcBef>
                <a:spcPts val="0"/>
              </a:spcBef>
              <a:spcAft>
                <a:spcPts val="0"/>
              </a:spcAft>
              <a:buNone/>
            </a:pPr>
            <a:r>
              <a:t/>
            </a:r>
            <a:endParaRPr b="1" sz="2300">
              <a:solidFill>
                <a:schemeClr val="dk1"/>
              </a:solidFill>
            </a:endParaRPr>
          </a:p>
          <a:p>
            <a:pPr indent="0" lvl="0" marL="0" rtl="0" algn="l">
              <a:spcBef>
                <a:spcPts val="1800"/>
              </a:spcBef>
              <a:spcAft>
                <a:spcPts val="0"/>
              </a:spcAft>
              <a:buNone/>
            </a:pPr>
            <a:r>
              <a:rPr b="1" lang="en" sz="1700">
                <a:solidFill>
                  <a:schemeClr val="dk1"/>
                </a:solidFill>
              </a:rPr>
              <a:t>JavaScript Comparison</a:t>
            </a:r>
            <a:endParaRPr b="1" sz="1700">
              <a:solidFill>
                <a:schemeClr val="dk1"/>
              </a:solidFill>
            </a:endParaRPr>
          </a:p>
          <a:p>
            <a:pPr indent="0" lvl="0" marL="0" rtl="0" algn="l">
              <a:spcBef>
                <a:spcPts val="1200"/>
              </a:spcBef>
              <a:spcAft>
                <a:spcPts val="0"/>
              </a:spcAft>
              <a:buNone/>
            </a:pPr>
            <a:r>
              <a:rPr lang="en" sz="1100">
                <a:solidFill>
                  <a:schemeClr val="dk1"/>
                </a:solidFill>
              </a:rPr>
              <a:t>The NOT operator (!) returns true for false statements and false for true statements.</a:t>
            </a:r>
            <a:endParaRPr sz="1100">
              <a:solidFill>
                <a:schemeClr val="dk1"/>
              </a:solidFill>
            </a:endParaRPr>
          </a:p>
          <a:p>
            <a:pPr indent="0" lvl="0" marL="0" rtl="0" algn="l">
              <a:spcBef>
                <a:spcPts val="1200"/>
              </a:spcBef>
              <a:spcAft>
                <a:spcPts val="0"/>
              </a:spcAft>
              <a:buNone/>
            </a:pPr>
            <a:r>
              <a:rPr lang="en" sz="1100">
                <a:solidFill>
                  <a:schemeClr val="dk1"/>
                </a:solidFill>
              </a:rPr>
              <a:t>true</a:t>
            </a:r>
            <a:br>
              <a:rPr lang="en" sz="1100">
                <a:solidFill>
                  <a:schemeClr val="dk1"/>
                </a:solidFill>
              </a:rPr>
            </a:br>
            <a:r>
              <a:rPr lang="en" sz="1100">
                <a:solidFill>
                  <a:schemeClr val="dk1"/>
                </a:solidFill>
              </a:rPr>
              <a:t>false</a:t>
            </a:r>
            <a:endParaRPr sz="11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0"/>
              </a:spcBef>
              <a:spcAft>
                <a:spcPts val="0"/>
              </a:spcAft>
              <a:buNone/>
            </a:pPr>
            <a:r>
              <a:t/>
            </a:r>
            <a:endParaRPr b="1" sz="2300">
              <a:solidFill>
                <a:schemeClr val="dk1"/>
              </a:solidFill>
            </a:endParaRPr>
          </a:p>
          <a:p>
            <a:pPr indent="0" lvl="0" marL="0" rtl="0" algn="l">
              <a:spcBef>
                <a:spcPts val="0"/>
              </a:spcBef>
              <a:spcAft>
                <a:spcPts val="0"/>
              </a:spcAft>
              <a:buNone/>
            </a:pPr>
            <a:r>
              <a:t/>
            </a:r>
            <a:endParaRPr b="1" sz="2300">
              <a:solidFill>
                <a:schemeClr val="dk1"/>
              </a:solidFill>
            </a:endParaRPr>
          </a:p>
          <a:p>
            <a:pPr indent="0" lvl="0" marL="0" rtl="0" algn="l">
              <a:spcBef>
                <a:spcPts val="0"/>
              </a:spcBef>
              <a:spcAft>
                <a:spcPts val="0"/>
              </a:spcAft>
              <a:buNone/>
            </a:pPr>
            <a:r>
              <a:t/>
            </a:r>
            <a:endParaRPr b="1" sz="23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9"/>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32500" lnSpcReduction="20000"/>
          </a:bodyPr>
          <a:lstStyle/>
          <a:p>
            <a:pPr indent="0" lvl="0" marL="0" rtl="0" algn="l">
              <a:lnSpc>
                <a:spcPct val="100000"/>
              </a:lnSpc>
              <a:spcBef>
                <a:spcPts val="800"/>
              </a:spcBef>
              <a:spcAft>
                <a:spcPts val="0"/>
              </a:spcAft>
              <a:buClr>
                <a:schemeClr val="dk1"/>
              </a:buClr>
              <a:buSzPct val="34920"/>
              <a:buFont typeface="Arial"/>
              <a:buNone/>
            </a:pPr>
            <a:r>
              <a:rPr lang="en" sz="3150">
                <a:solidFill>
                  <a:schemeClr val="dk1"/>
                </a:solidFill>
                <a:highlight>
                  <a:srgbClr val="FFFFFF"/>
                </a:highlight>
              </a:rPr>
              <a:t>JavaScript Arrays</a:t>
            </a:r>
            <a:endParaRPr sz="3150">
              <a:solidFill>
                <a:schemeClr val="dk1"/>
              </a:solidFill>
              <a:highlight>
                <a:srgbClr val="FFFFFF"/>
              </a:highlight>
            </a:endParaRPr>
          </a:p>
          <a:p>
            <a:pPr indent="0" lvl="0" marL="0" rtl="0" algn="l">
              <a:lnSpc>
                <a:spcPct val="100000"/>
              </a:lnSpc>
              <a:spcBef>
                <a:spcPts val="800"/>
              </a:spcBef>
              <a:spcAft>
                <a:spcPts val="0"/>
              </a:spcAft>
              <a:buNone/>
            </a:pPr>
            <a:r>
              <a:rPr b="1" lang="en" sz="2300" u="sng">
                <a:solidFill>
                  <a:schemeClr val="hlink"/>
                </a:solidFill>
                <a:hlinkClick r:id="rId3"/>
              </a:rPr>
              <a:t>https://www.w3schools.com/js/js_arrays.asp</a:t>
            </a:r>
            <a:endParaRPr b="1" sz="2300">
              <a:solidFill>
                <a:schemeClr val="dk1"/>
              </a:solidFill>
            </a:endParaRPr>
          </a:p>
          <a:p>
            <a:pPr indent="0" lvl="0" marL="0" rtl="0" algn="l">
              <a:lnSpc>
                <a:spcPct val="100000"/>
              </a:lnSpc>
              <a:spcBef>
                <a:spcPts val="800"/>
              </a:spcBef>
              <a:spcAft>
                <a:spcPts val="0"/>
              </a:spcAft>
              <a:buNone/>
            </a:pPr>
            <a:r>
              <a:rPr lang="en" sz="3150">
                <a:solidFill>
                  <a:schemeClr val="dk1"/>
                </a:solidFill>
                <a:highlight>
                  <a:srgbClr val="FFFFFF"/>
                </a:highlight>
              </a:rPr>
              <a:t>An array is a special variable, which can hold more than one value:</a:t>
            </a:r>
            <a:endParaRPr sz="3150">
              <a:solidFill>
                <a:schemeClr val="dk1"/>
              </a:solidFill>
              <a:highlight>
                <a:srgbClr val="FFFFFF"/>
              </a:highlight>
            </a:endParaRPr>
          </a:p>
          <a:p>
            <a:pPr indent="0" lvl="0" marL="0" rtl="0" algn="l">
              <a:lnSpc>
                <a:spcPct val="100000"/>
              </a:lnSpc>
              <a:spcBef>
                <a:spcPts val="800"/>
              </a:spcBef>
              <a:spcAft>
                <a:spcPts val="0"/>
              </a:spcAft>
              <a:buNone/>
            </a:pPr>
            <a:r>
              <a:rPr lang="en" sz="3150">
                <a:solidFill>
                  <a:schemeClr val="dk1"/>
                </a:solidFill>
                <a:highlight>
                  <a:srgbClr val="FFFFFF"/>
                </a:highlight>
              </a:rPr>
              <a:t>&lt;html&gt;</a:t>
            </a:r>
            <a:endParaRPr sz="3150">
              <a:solidFill>
                <a:schemeClr val="dk1"/>
              </a:solidFill>
              <a:highlight>
                <a:srgbClr val="FFFFFF"/>
              </a:highlight>
            </a:endParaRPr>
          </a:p>
          <a:p>
            <a:pPr indent="0" lvl="0" marL="0" rtl="0" algn="l">
              <a:lnSpc>
                <a:spcPct val="100000"/>
              </a:lnSpc>
              <a:spcBef>
                <a:spcPts val="0"/>
              </a:spcBef>
              <a:spcAft>
                <a:spcPts val="0"/>
              </a:spcAft>
              <a:buNone/>
            </a:pPr>
            <a:r>
              <a:rPr lang="en" sz="3150">
                <a:solidFill>
                  <a:schemeClr val="dk1"/>
                </a:solidFill>
                <a:highlight>
                  <a:srgbClr val="FFFFFF"/>
                </a:highlight>
              </a:rPr>
              <a:t>&lt;body&gt;</a:t>
            </a:r>
            <a:endParaRPr sz="3150">
              <a:solidFill>
                <a:schemeClr val="dk1"/>
              </a:solidFill>
              <a:highlight>
                <a:srgbClr val="FFFFFF"/>
              </a:highlight>
            </a:endParaRPr>
          </a:p>
          <a:p>
            <a:pPr indent="0" lvl="0" marL="0" rtl="0" algn="l">
              <a:lnSpc>
                <a:spcPct val="100000"/>
              </a:lnSpc>
              <a:spcBef>
                <a:spcPts val="0"/>
              </a:spcBef>
              <a:spcAft>
                <a:spcPts val="0"/>
              </a:spcAft>
              <a:buNone/>
            </a:pPr>
            <a:r>
              <a:rPr lang="en" sz="3150">
                <a:solidFill>
                  <a:schemeClr val="dk1"/>
                </a:solidFill>
                <a:highlight>
                  <a:srgbClr val="FFFFFF"/>
                </a:highlight>
              </a:rPr>
              <a:t>&lt;h1&gt;JavaScript Arrays&lt;/h1&gt;</a:t>
            </a:r>
            <a:endParaRPr sz="3150">
              <a:solidFill>
                <a:schemeClr val="dk1"/>
              </a:solidFill>
              <a:highlight>
                <a:srgbClr val="FFFFFF"/>
              </a:highlight>
            </a:endParaRPr>
          </a:p>
          <a:p>
            <a:pPr indent="0" lvl="0" marL="0" rtl="0" algn="l">
              <a:lnSpc>
                <a:spcPct val="100000"/>
              </a:lnSpc>
              <a:spcBef>
                <a:spcPts val="0"/>
              </a:spcBef>
              <a:spcAft>
                <a:spcPts val="0"/>
              </a:spcAft>
              <a:buNone/>
            </a:pPr>
            <a:r>
              <a:t/>
            </a:r>
            <a:endParaRPr sz="3150">
              <a:solidFill>
                <a:schemeClr val="dk1"/>
              </a:solidFill>
              <a:highlight>
                <a:srgbClr val="FFFFFF"/>
              </a:highlight>
            </a:endParaRPr>
          </a:p>
          <a:p>
            <a:pPr indent="0" lvl="0" marL="0" rtl="0" algn="l">
              <a:lnSpc>
                <a:spcPct val="100000"/>
              </a:lnSpc>
              <a:spcBef>
                <a:spcPts val="0"/>
              </a:spcBef>
              <a:spcAft>
                <a:spcPts val="0"/>
              </a:spcAft>
              <a:buNone/>
            </a:pPr>
            <a:r>
              <a:rPr lang="en" sz="3150">
                <a:solidFill>
                  <a:schemeClr val="dk1"/>
                </a:solidFill>
                <a:highlight>
                  <a:srgbClr val="FFFFFF"/>
                </a:highlight>
              </a:rPr>
              <a:t>&lt;p id="demo"&gt;&lt;/p&gt;</a:t>
            </a:r>
            <a:endParaRPr sz="3150">
              <a:solidFill>
                <a:schemeClr val="dk1"/>
              </a:solidFill>
              <a:highlight>
                <a:srgbClr val="FFFFFF"/>
              </a:highlight>
            </a:endParaRPr>
          </a:p>
          <a:p>
            <a:pPr indent="0" lvl="0" marL="0" rtl="0" algn="l">
              <a:lnSpc>
                <a:spcPct val="100000"/>
              </a:lnSpc>
              <a:spcBef>
                <a:spcPts val="0"/>
              </a:spcBef>
              <a:spcAft>
                <a:spcPts val="0"/>
              </a:spcAft>
              <a:buNone/>
            </a:pPr>
            <a:r>
              <a:t/>
            </a:r>
            <a:endParaRPr sz="3150">
              <a:solidFill>
                <a:schemeClr val="dk1"/>
              </a:solidFill>
              <a:highlight>
                <a:srgbClr val="FFFFFF"/>
              </a:highlight>
            </a:endParaRPr>
          </a:p>
          <a:p>
            <a:pPr indent="0" lvl="0" marL="0" rtl="0" algn="l">
              <a:lnSpc>
                <a:spcPct val="100000"/>
              </a:lnSpc>
              <a:spcBef>
                <a:spcPts val="0"/>
              </a:spcBef>
              <a:spcAft>
                <a:spcPts val="0"/>
              </a:spcAft>
              <a:buNone/>
            </a:pPr>
            <a:r>
              <a:rPr lang="en" sz="3150">
                <a:solidFill>
                  <a:schemeClr val="dk1"/>
                </a:solidFill>
                <a:highlight>
                  <a:srgbClr val="FFFFFF"/>
                </a:highlight>
              </a:rPr>
              <a:t>&lt;script&gt;</a:t>
            </a:r>
            <a:endParaRPr sz="3150">
              <a:solidFill>
                <a:schemeClr val="dk1"/>
              </a:solidFill>
              <a:highlight>
                <a:srgbClr val="FFFFFF"/>
              </a:highlight>
            </a:endParaRPr>
          </a:p>
          <a:p>
            <a:pPr indent="0" lvl="0" marL="0" rtl="0" algn="l">
              <a:lnSpc>
                <a:spcPct val="100000"/>
              </a:lnSpc>
              <a:spcBef>
                <a:spcPts val="0"/>
              </a:spcBef>
              <a:spcAft>
                <a:spcPts val="0"/>
              </a:spcAft>
              <a:buNone/>
            </a:pPr>
            <a:r>
              <a:rPr lang="en" sz="3150">
                <a:solidFill>
                  <a:schemeClr val="dk1"/>
                </a:solidFill>
                <a:highlight>
                  <a:srgbClr val="FFFFFF"/>
                </a:highlight>
              </a:rPr>
              <a:t>const cars = ["Saab", "Volvo", "BMW"];</a:t>
            </a:r>
            <a:endParaRPr sz="3150">
              <a:solidFill>
                <a:schemeClr val="dk1"/>
              </a:solidFill>
              <a:highlight>
                <a:srgbClr val="FFFFFF"/>
              </a:highlight>
            </a:endParaRPr>
          </a:p>
          <a:p>
            <a:pPr indent="0" lvl="0" marL="0" rtl="0" algn="l">
              <a:lnSpc>
                <a:spcPct val="100000"/>
              </a:lnSpc>
              <a:spcBef>
                <a:spcPts val="0"/>
              </a:spcBef>
              <a:spcAft>
                <a:spcPts val="0"/>
              </a:spcAft>
              <a:buNone/>
            </a:pPr>
            <a:r>
              <a:rPr lang="en" sz="3150">
                <a:solidFill>
                  <a:schemeClr val="dk1"/>
                </a:solidFill>
                <a:highlight>
                  <a:srgbClr val="FFFFFF"/>
                </a:highlight>
              </a:rPr>
              <a:t>document.getElementById("demo").innerHTML = cars;</a:t>
            </a:r>
            <a:endParaRPr sz="3150">
              <a:solidFill>
                <a:schemeClr val="dk1"/>
              </a:solidFill>
              <a:highlight>
                <a:srgbClr val="FFFFFF"/>
              </a:highlight>
            </a:endParaRPr>
          </a:p>
          <a:p>
            <a:pPr indent="0" lvl="0" marL="0" rtl="0" algn="l">
              <a:lnSpc>
                <a:spcPct val="100000"/>
              </a:lnSpc>
              <a:spcBef>
                <a:spcPts val="0"/>
              </a:spcBef>
              <a:spcAft>
                <a:spcPts val="0"/>
              </a:spcAft>
              <a:buNone/>
            </a:pPr>
            <a:r>
              <a:rPr lang="en" sz="3150">
                <a:solidFill>
                  <a:schemeClr val="dk1"/>
                </a:solidFill>
                <a:highlight>
                  <a:srgbClr val="FFFFFF"/>
                </a:highlight>
              </a:rPr>
              <a:t>&lt;/script&gt;</a:t>
            </a:r>
            <a:endParaRPr sz="3150">
              <a:solidFill>
                <a:schemeClr val="dk1"/>
              </a:solidFill>
              <a:highlight>
                <a:srgbClr val="FFFFFF"/>
              </a:highlight>
            </a:endParaRPr>
          </a:p>
          <a:p>
            <a:pPr indent="0" lvl="0" marL="0" rtl="0" algn="l">
              <a:lnSpc>
                <a:spcPct val="100000"/>
              </a:lnSpc>
              <a:spcBef>
                <a:spcPts val="0"/>
              </a:spcBef>
              <a:spcAft>
                <a:spcPts val="0"/>
              </a:spcAft>
              <a:buNone/>
            </a:pPr>
            <a:r>
              <a:t/>
            </a:r>
            <a:endParaRPr sz="3150">
              <a:solidFill>
                <a:schemeClr val="dk1"/>
              </a:solidFill>
              <a:highlight>
                <a:srgbClr val="FFFFFF"/>
              </a:highlight>
            </a:endParaRPr>
          </a:p>
          <a:p>
            <a:pPr indent="0" lvl="0" marL="0" rtl="0" algn="l">
              <a:lnSpc>
                <a:spcPct val="100000"/>
              </a:lnSpc>
              <a:spcBef>
                <a:spcPts val="0"/>
              </a:spcBef>
              <a:spcAft>
                <a:spcPts val="0"/>
              </a:spcAft>
              <a:buNone/>
            </a:pPr>
            <a:r>
              <a:rPr lang="en" sz="3150">
                <a:solidFill>
                  <a:schemeClr val="dk1"/>
                </a:solidFill>
                <a:highlight>
                  <a:srgbClr val="FFFFFF"/>
                </a:highlight>
              </a:rPr>
              <a:t>&lt;/body&gt;</a:t>
            </a:r>
            <a:endParaRPr sz="3150">
              <a:solidFill>
                <a:schemeClr val="dk1"/>
              </a:solidFill>
              <a:highlight>
                <a:srgbClr val="FFFFFF"/>
              </a:highlight>
            </a:endParaRPr>
          </a:p>
          <a:p>
            <a:pPr indent="0" lvl="0" marL="0" rtl="0" algn="l">
              <a:lnSpc>
                <a:spcPct val="100000"/>
              </a:lnSpc>
              <a:spcBef>
                <a:spcPts val="0"/>
              </a:spcBef>
              <a:spcAft>
                <a:spcPts val="0"/>
              </a:spcAft>
              <a:buNone/>
            </a:pPr>
            <a:r>
              <a:rPr lang="en" sz="3150">
                <a:solidFill>
                  <a:schemeClr val="dk1"/>
                </a:solidFill>
                <a:highlight>
                  <a:srgbClr val="FFFFFF"/>
                </a:highlight>
              </a:rPr>
              <a:t>&lt;/html&gt;</a:t>
            </a:r>
            <a:endParaRPr sz="3150">
              <a:solidFill>
                <a:schemeClr val="dk1"/>
              </a:solidFill>
              <a:highlight>
                <a:srgbClr val="FFFFFF"/>
              </a:highlight>
            </a:endParaRPr>
          </a:p>
          <a:p>
            <a:pPr indent="0" lvl="0" marL="0" rtl="0" algn="l">
              <a:lnSpc>
                <a:spcPct val="100000"/>
              </a:lnSpc>
              <a:spcBef>
                <a:spcPts val="800"/>
              </a:spcBef>
              <a:spcAft>
                <a:spcPts val="0"/>
              </a:spcAft>
              <a:buNone/>
            </a:pPr>
            <a:r>
              <a:rPr lang="en" sz="3150">
                <a:solidFill>
                  <a:schemeClr val="dk1"/>
                </a:solidFill>
                <a:highlight>
                  <a:srgbClr val="FFFFFF"/>
                </a:highlight>
              </a:rPr>
              <a:t>OUTPUT</a:t>
            </a:r>
            <a:endParaRPr sz="3150">
              <a:solidFill>
                <a:schemeClr val="dk1"/>
              </a:solidFill>
              <a:highlight>
                <a:srgbClr val="FFFFFF"/>
              </a:highlight>
            </a:endParaRPr>
          </a:p>
          <a:p>
            <a:pPr indent="0" lvl="0" marL="0" rtl="0" algn="l">
              <a:lnSpc>
                <a:spcPct val="100000"/>
              </a:lnSpc>
              <a:spcBef>
                <a:spcPts val="2400"/>
              </a:spcBef>
              <a:spcAft>
                <a:spcPts val="0"/>
              </a:spcAft>
              <a:buNone/>
            </a:pPr>
            <a:r>
              <a:rPr b="1" lang="en" sz="2300">
                <a:solidFill>
                  <a:schemeClr val="dk1"/>
                </a:solidFill>
              </a:rPr>
              <a:t>JavaScript Arrays</a:t>
            </a:r>
            <a:endParaRPr b="1" sz="2300">
              <a:solidFill>
                <a:schemeClr val="dk1"/>
              </a:solidFill>
            </a:endParaRPr>
          </a:p>
          <a:p>
            <a:pPr indent="0" lvl="0" marL="0" rtl="0" algn="l">
              <a:lnSpc>
                <a:spcPct val="100000"/>
              </a:lnSpc>
              <a:spcBef>
                <a:spcPts val="1200"/>
              </a:spcBef>
              <a:spcAft>
                <a:spcPts val="0"/>
              </a:spcAft>
              <a:buNone/>
            </a:pPr>
            <a:r>
              <a:rPr lang="en" sz="5500">
                <a:solidFill>
                  <a:schemeClr val="dk1"/>
                </a:solidFill>
                <a:latin typeface="Times New Roman"/>
                <a:ea typeface="Times New Roman"/>
                <a:cs typeface="Times New Roman"/>
                <a:sym typeface="Times New Roman"/>
              </a:rPr>
              <a:t>Saab,Volvo,BMW</a:t>
            </a:r>
            <a:endParaRPr sz="5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3150">
              <a:solidFill>
                <a:schemeClr val="dk1"/>
              </a:solidFill>
              <a:highlight>
                <a:srgbClr val="FFFFFF"/>
              </a:highlight>
            </a:endParaRPr>
          </a:p>
          <a:p>
            <a:pPr indent="0" lvl="0" marL="0" rtl="0" algn="l">
              <a:spcBef>
                <a:spcPts val="800"/>
              </a:spcBef>
              <a:spcAft>
                <a:spcPts val="0"/>
              </a:spcAft>
              <a:buClr>
                <a:schemeClr val="dk1"/>
              </a:buClr>
              <a:buSzPct val="95652"/>
              <a:buFont typeface="Arial"/>
              <a:buNone/>
            </a:pPr>
            <a:r>
              <a:t/>
            </a:r>
            <a:endParaRPr sz="1150">
              <a:solidFill>
                <a:schemeClr val="dk1"/>
              </a:solidFill>
              <a:highlight>
                <a:srgbClr val="D9EEE1"/>
              </a:highlight>
              <a:latin typeface="Verdana"/>
              <a:ea typeface="Verdana"/>
              <a:cs typeface="Verdana"/>
              <a:sym typeface="Verdana"/>
            </a:endParaRPr>
          </a:p>
          <a:p>
            <a:pPr indent="0" lvl="0" marL="0" rtl="0" algn="l">
              <a:spcBef>
                <a:spcPts val="800"/>
              </a:spcBef>
              <a:spcAft>
                <a:spcPts val="0"/>
              </a:spcAft>
              <a:buNone/>
            </a:pPr>
            <a:r>
              <a:t/>
            </a:r>
            <a:endParaRPr b="1" sz="23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40"/>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77500" lnSpcReduction="20000"/>
          </a:bodyPr>
          <a:lstStyle/>
          <a:p>
            <a:pPr indent="0" lvl="0" marL="0" rtl="0" algn="l">
              <a:lnSpc>
                <a:spcPct val="100000"/>
              </a:lnSpc>
              <a:spcBef>
                <a:spcPts val="800"/>
              </a:spcBef>
              <a:spcAft>
                <a:spcPts val="0"/>
              </a:spcAft>
              <a:buClr>
                <a:schemeClr val="dk1"/>
              </a:buClr>
              <a:buSzPct val="45833"/>
              <a:buFont typeface="Arial"/>
              <a:buNone/>
            </a:pPr>
            <a:r>
              <a:rPr lang="en" sz="2400">
                <a:solidFill>
                  <a:schemeClr val="dk1"/>
                </a:solidFill>
                <a:highlight>
                  <a:srgbClr val="FFFFFF"/>
                </a:highlight>
              </a:rPr>
              <a:t>Creating an Array</a:t>
            </a:r>
            <a:endParaRPr sz="2400">
              <a:solidFill>
                <a:schemeClr val="dk1"/>
              </a:solidFill>
              <a:highlight>
                <a:srgbClr val="FFFFFF"/>
              </a:highlight>
            </a:endParaRPr>
          </a:p>
          <a:p>
            <a:pPr indent="0" lvl="0" marL="0" rtl="0" algn="l">
              <a:lnSpc>
                <a:spcPct val="100000"/>
              </a:lnSpc>
              <a:spcBef>
                <a:spcPts val="140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Using an array literal is the easiest way to create a JavaScript Array.</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140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Syntax:</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1400"/>
              </a:spcBef>
              <a:spcAft>
                <a:spcPts val="0"/>
              </a:spcAft>
              <a:buNone/>
            </a:pPr>
            <a:r>
              <a:rPr lang="en" sz="1150">
                <a:solidFill>
                  <a:srgbClr val="0000CD"/>
                </a:solidFill>
                <a:highlight>
                  <a:srgbClr val="FFFFFF"/>
                </a:highlight>
                <a:latin typeface="Courier New"/>
                <a:ea typeface="Courier New"/>
                <a:cs typeface="Courier New"/>
                <a:sym typeface="Courier New"/>
              </a:rPr>
              <a:t>const</a:t>
            </a:r>
            <a:r>
              <a:rPr lang="en" sz="1150">
                <a:solidFill>
                  <a:schemeClr val="dk1"/>
                </a:solidFill>
                <a:highlight>
                  <a:srgbClr val="FFFFFF"/>
                </a:highlight>
                <a:latin typeface="Courier New"/>
                <a:ea typeface="Courier New"/>
                <a:cs typeface="Courier New"/>
                <a:sym typeface="Courier New"/>
              </a:rPr>
              <a:t> </a:t>
            </a:r>
            <a:r>
              <a:rPr i="1" lang="en" sz="1150">
                <a:solidFill>
                  <a:schemeClr val="dk1"/>
                </a:solidFill>
                <a:highlight>
                  <a:srgbClr val="FFFFFF"/>
                </a:highlight>
                <a:latin typeface="Courier New"/>
                <a:ea typeface="Courier New"/>
                <a:cs typeface="Courier New"/>
                <a:sym typeface="Courier New"/>
              </a:rPr>
              <a:t>array_name</a:t>
            </a:r>
            <a:r>
              <a:rPr lang="en" sz="1150">
                <a:solidFill>
                  <a:schemeClr val="dk1"/>
                </a:solidFill>
                <a:highlight>
                  <a:srgbClr val="FFFFFF"/>
                </a:highlight>
                <a:latin typeface="Courier New"/>
                <a:ea typeface="Courier New"/>
                <a:cs typeface="Courier New"/>
                <a:sym typeface="Courier New"/>
              </a:rPr>
              <a:t> = [</a:t>
            </a:r>
            <a:r>
              <a:rPr i="1" lang="en" sz="1150">
                <a:solidFill>
                  <a:schemeClr val="dk1"/>
                </a:solidFill>
                <a:highlight>
                  <a:srgbClr val="FFFFFF"/>
                </a:highlight>
                <a:latin typeface="Courier New"/>
                <a:ea typeface="Courier New"/>
                <a:cs typeface="Courier New"/>
                <a:sym typeface="Courier New"/>
              </a:rPr>
              <a:t>item1</a:t>
            </a:r>
            <a:r>
              <a:rPr lang="en" sz="1150">
                <a:solidFill>
                  <a:schemeClr val="dk1"/>
                </a:solidFill>
                <a:highlight>
                  <a:srgbClr val="FFFFFF"/>
                </a:highlight>
                <a:latin typeface="Courier New"/>
                <a:ea typeface="Courier New"/>
                <a:cs typeface="Courier New"/>
                <a:sym typeface="Courier New"/>
              </a:rPr>
              <a:t>, </a:t>
            </a:r>
            <a:r>
              <a:rPr i="1" lang="en" sz="1150">
                <a:solidFill>
                  <a:schemeClr val="dk1"/>
                </a:solidFill>
                <a:highlight>
                  <a:srgbClr val="FFFFFF"/>
                </a:highlight>
                <a:latin typeface="Courier New"/>
                <a:ea typeface="Courier New"/>
                <a:cs typeface="Courier New"/>
                <a:sym typeface="Courier New"/>
              </a:rPr>
              <a:t>item2</a:t>
            </a:r>
            <a:r>
              <a:rPr lang="en" sz="1150">
                <a:solidFill>
                  <a:schemeClr val="dk1"/>
                </a:solidFill>
                <a:highlight>
                  <a:srgbClr val="FFFFFF"/>
                </a:highlight>
                <a:latin typeface="Courier New"/>
                <a:ea typeface="Courier New"/>
                <a:cs typeface="Courier New"/>
                <a:sym typeface="Courier New"/>
              </a:rPr>
              <a:t>, ...];     </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ct val="95652"/>
              <a:buFont typeface="Arial"/>
              <a:buNone/>
            </a:pPr>
            <a:r>
              <a:rPr lang="en" sz="1150">
                <a:solidFill>
                  <a:schemeClr val="dk1"/>
                </a:solidFill>
                <a:highlight>
                  <a:srgbClr val="FFFFFF"/>
                </a:highlight>
                <a:latin typeface="Courier New"/>
                <a:ea typeface="Courier New"/>
                <a:cs typeface="Courier New"/>
                <a:sym typeface="Courier New"/>
              </a:rPr>
              <a:t>&lt;html&gt;</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ct val="95652"/>
              <a:buFont typeface="Arial"/>
              <a:buNone/>
            </a:pPr>
            <a:r>
              <a:rPr lang="en" sz="1150">
                <a:solidFill>
                  <a:schemeClr val="dk1"/>
                </a:solidFill>
                <a:highlight>
                  <a:srgbClr val="FFFFFF"/>
                </a:highlight>
                <a:latin typeface="Courier New"/>
                <a:ea typeface="Courier New"/>
                <a:cs typeface="Courier New"/>
                <a:sym typeface="Courier New"/>
              </a:rPr>
              <a:t>&lt;body&gt;</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ct val="95652"/>
              <a:buFont typeface="Arial"/>
              <a:buNone/>
            </a:pPr>
            <a:r>
              <a:rPr lang="en" sz="1150">
                <a:solidFill>
                  <a:schemeClr val="dk1"/>
                </a:solidFill>
                <a:highlight>
                  <a:srgbClr val="FFFFFF"/>
                </a:highlight>
                <a:latin typeface="Courier New"/>
                <a:ea typeface="Courier New"/>
                <a:cs typeface="Courier New"/>
                <a:sym typeface="Courier New"/>
              </a:rPr>
              <a:t>&lt;h1&gt;JavaScript Arrays&lt;/h1&gt;</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ct val="95652"/>
              <a:buFont typeface="Arial"/>
              <a:buNone/>
            </a:pPr>
            <a:r>
              <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ct val="95652"/>
              <a:buFont typeface="Arial"/>
              <a:buNone/>
            </a:pPr>
            <a:r>
              <a:rPr lang="en" sz="1150">
                <a:solidFill>
                  <a:schemeClr val="dk1"/>
                </a:solidFill>
                <a:highlight>
                  <a:srgbClr val="FFFFFF"/>
                </a:highlight>
                <a:latin typeface="Courier New"/>
                <a:ea typeface="Courier New"/>
                <a:cs typeface="Courier New"/>
                <a:sym typeface="Courier New"/>
              </a:rPr>
              <a:t>&lt;p id="demo"&gt;&lt;/p&gt;</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ct val="95652"/>
              <a:buFont typeface="Arial"/>
              <a:buNone/>
            </a:pPr>
            <a:r>
              <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ct val="95652"/>
              <a:buFont typeface="Arial"/>
              <a:buNone/>
            </a:pPr>
            <a:r>
              <a:rPr lang="en" sz="1150">
                <a:solidFill>
                  <a:schemeClr val="dk1"/>
                </a:solidFill>
                <a:highlight>
                  <a:srgbClr val="FFFFFF"/>
                </a:highlight>
                <a:latin typeface="Courier New"/>
                <a:ea typeface="Courier New"/>
                <a:cs typeface="Courier New"/>
                <a:sym typeface="Courier New"/>
              </a:rPr>
              <a:t>&lt;script&gt;</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ct val="95652"/>
              <a:buFont typeface="Arial"/>
              <a:buNone/>
            </a:pPr>
            <a:r>
              <a:rPr lang="en" sz="1150">
                <a:solidFill>
                  <a:schemeClr val="dk1"/>
                </a:solidFill>
                <a:highlight>
                  <a:srgbClr val="FFFFFF"/>
                </a:highlight>
                <a:latin typeface="Courier New"/>
                <a:ea typeface="Courier New"/>
                <a:cs typeface="Courier New"/>
                <a:sym typeface="Courier New"/>
              </a:rPr>
              <a:t>const cars = [</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ct val="95652"/>
              <a:buFont typeface="Arial"/>
              <a:buNone/>
            </a:pPr>
            <a:r>
              <a:rPr lang="en" sz="1150">
                <a:solidFill>
                  <a:schemeClr val="dk1"/>
                </a:solidFill>
                <a:highlight>
                  <a:srgbClr val="FFFFFF"/>
                </a:highlight>
                <a:latin typeface="Courier New"/>
                <a:ea typeface="Courier New"/>
                <a:cs typeface="Courier New"/>
                <a:sym typeface="Courier New"/>
              </a:rPr>
              <a:t>  "Saab",</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ct val="95652"/>
              <a:buFont typeface="Arial"/>
              <a:buNone/>
            </a:pPr>
            <a:r>
              <a:rPr lang="en" sz="1150">
                <a:solidFill>
                  <a:schemeClr val="dk1"/>
                </a:solidFill>
                <a:highlight>
                  <a:srgbClr val="FFFFFF"/>
                </a:highlight>
                <a:latin typeface="Courier New"/>
                <a:ea typeface="Courier New"/>
                <a:cs typeface="Courier New"/>
                <a:sym typeface="Courier New"/>
              </a:rPr>
              <a:t>  "Volvo",</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ct val="95652"/>
              <a:buFont typeface="Arial"/>
              <a:buNone/>
            </a:pPr>
            <a:r>
              <a:rPr lang="en" sz="1150">
                <a:solidFill>
                  <a:schemeClr val="dk1"/>
                </a:solidFill>
                <a:highlight>
                  <a:srgbClr val="FFFFFF"/>
                </a:highlight>
                <a:latin typeface="Courier New"/>
                <a:ea typeface="Courier New"/>
                <a:cs typeface="Courier New"/>
                <a:sym typeface="Courier New"/>
              </a:rPr>
              <a:t>  "BMW"</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ct val="95652"/>
              <a:buFont typeface="Arial"/>
              <a:buNone/>
            </a:pPr>
            <a:r>
              <a:rPr lang="en" sz="1150">
                <a:solidFill>
                  <a:schemeClr val="dk1"/>
                </a:solidFill>
                <a:highlight>
                  <a:srgbClr val="FFFFFF"/>
                </a:highlight>
                <a:latin typeface="Courier New"/>
                <a:ea typeface="Courier New"/>
                <a:cs typeface="Courier New"/>
                <a:sym typeface="Courier New"/>
              </a:rPr>
              <a:t>];</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ct val="95652"/>
              <a:buFont typeface="Arial"/>
              <a:buNone/>
            </a:pPr>
            <a:r>
              <a:rPr lang="en" sz="1150">
                <a:solidFill>
                  <a:schemeClr val="dk1"/>
                </a:solidFill>
                <a:highlight>
                  <a:srgbClr val="FFFFFF"/>
                </a:highlight>
                <a:latin typeface="Courier New"/>
                <a:ea typeface="Courier New"/>
                <a:cs typeface="Courier New"/>
                <a:sym typeface="Courier New"/>
              </a:rPr>
              <a:t>document.getElementById("demo").innerHTML = cars;</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ct val="95652"/>
              <a:buFont typeface="Arial"/>
              <a:buNone/>
            </a:pPr>
            <a:r>
              <a:rPr lang="en" sz="1150">
                <a:solidFill>
                  <a:schemeClr val="dk1"/>
                </a:solidFill>
                <a:highlight>
                  <a:srgbClr val="FFFFFF"/>
                </a:highlight>
                <a:latin typeface="Courier New"/>
                <a:ea typeface="Courier New"/>
                <a:cs typeface="Courier New"/>
                <a:sym typeface="Courier New"/>
              </a:rPr>
              <a:t>&lt;/script&gt;</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ct val="95652"/>
              <a:buFont typeface="Arial"/>
              <a:buNone/>
            </a:pPr>
            <a:r>
              <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ct val="95652"/>
              <a:buFont typeface="Arial"/>
              <a:buNone/>
            </a:pPr>
            <a:r>
              <a:rPr lang="en" sz="1150">
                <a:solidFill>
                  <a:schemeClr val="dk1"/>
                </a:solidFill>
                <a:highlight>
                  <a:srgbClr val="FFFFFF"/>
                </a:highlight>
                <a:latin typeface="Courier New"/>
                <a:ea typeface="Courier New"/>
                <a:cs typeface="Courier New"/>
                <a:sym typeface="Courier New"/>
              </a:rPr>
              <a:t>&lt;/body&gt;</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50">
                <a:solidFill>
                  <a:schemeClr val="dk1"/>
                </a:solidFill>
                <a:highlight>
                  <a:srgbClr val="FFFFFF"/>
                </a:highlight>
                <a:latin typeface="Courier New"/>
                <a:ea typeface="Courier New"/>
                <a:cs typeface="Courier New"/>
                <a:sym typeface="Courier New"/>
              </a:rPr>
              <a:t>&lt;/html&gt;   </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50">
                <a:solidFill>
                  <a:schemeClr val="dk1"/>
                </a:solidFill>
                <a:highlight>
                  <a:srgbClr val="FFFFFF"/>
                </a:highlight>
                <a:latin typeface="Courier New"/>
                <a:ea typeface="Courier New"/>
                <a:cs typeface="Courier New"/>
                <a:sym typeface="Courier New"/>
              </a:rPr>
              <a:t>OUTPUT </a:t>
            </a:r>
            <a:r>
              <a:rPr b="1" lang="en" sz="2300">
                <a:solidFill>
                  <a:schemeClr val="dk1"/>
                </a:solidFill>
              </a:rPr>
              <a:t>JavaScript Arrays</a:t>
            </a:r>
            <a:endParaRPr b="1" sz="2300">
              <a:solidFill>
                <a:schemeClr val="dk1"/>
              </a:solidFill>
            </a:endParaRPr>
          </a:p>
          <a:p>
            <a:pPr indent="0" lvl="0" marL="0" rtl="0" algn="l">
              <a:lnSpc>
                <a:spcPct val="100000"/>
              </a:lnSpc>
              <a:spcBef>
                <a:spcPts val="1200"/>
              </a:spcBef>
              <a:spcAft>
                <a:spcPts val="0"/>
              </a:spcAft>
              <a:buNone/>
            </a:pPr>
            <a:r>
              <a:rPr lang="en" sz="1100">
                <a:solidFill>
                  <a:schemeClr val="dk1"/>
                </a:solidFill>
              </a:rPr>
              <a:t>Saab,Volvo,BMW</a:t>
            </a:r>
            <a:endParaRPr sz="1100">
              <a:solidFill>
                <a:schemeClr val="dk1"/>
              </a:solidFill>
            </a:endParaRPr>
          </a:p>
          <a:p>
            <a:pPr indent="0" lvl="0" marL="0" rtl="0" algn="l">
              <a:spcBef>
                <a:spcPts val="1200"/>
              </a:spcBef>
              <a:spcAft>
                <a:spcPts val="0"/>
              </a:spcAft>
              <a:buClr>
                <a:schemeClr val="dk1"/>
              </a:buClr>
              <a:buSzPct val="95652"/>
              <a:buFont typeface="Arial"/>
              <a:buNone/>
            </a:pPr>
            <a:r>
              <a:t/>
            </a:r>
            <a:endParaRPr sz="115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ct val="95652"/>
              <a:buFont typeface="Arial"/>
              <a:buNone/>
            </a:pPr>
            <a:r>
              <a:t/>
            </a:r>
            <a:endParaRPr sz="115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150">
              <a:solidFill>
                <a:schemeClr val="dk1"/>
              </a:solidFill>
              <a:highlight>
                <a:srgbClr val="FFFFFF"/>
              </a:highlight>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41"/>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1150">
                <a:solidFill>
                  <a:schemeClr val="dk1"/>
                </a:solidFill>
                <a:highlight>
                  <a:srgbClr val="FFFFFF"/>
                </a:highlight>
                <a:latin typeface="Verdana"/>
                <a:ea typeface="Verdana"/>
                <a:cs typeface="Verdana"/>
                <a:sym typeface="Verdana"/>
              </a:rPr>
              <a:t>You can also create an array, and then provide the elements:</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&lt;html&gt;</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&lt;body&gt;</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&lt;h1&gt;JavaScript Arrays&lt;/h1&gt;</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&lt;p id="demo"&gt;&lt;/p&gt;</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&lt;script&gt;</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const cars = [];</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cars[0]= "Saab";</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cars[1]= "Volvo";</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cars[2]= "BMW";</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document.getElementById("demo").innerHTML = cars;</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&lt;/script&gt;</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&lt;/body&gt;</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&lt;/html&gt;</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rPr lang="en" sz="1150">
                <a:solidFill>
                  <a:schemeClr val="dk1"/>
                </a:solidFill>
                <a:highlight>
                  <a:srgbClr val="FFFFFF"/>
                </a:highlight>
                <a:latin typeface="Verdana"/>
                <a:ea typeface="Verdana"/>
                <a:cs typeface="Verdana"/>
                <a:sym typeface="Verdana"/>
              </a:rPr>
              <a:t>OUTPUT</a:t>
            </a:r>
            <a:endParaRPr sz="1150">
              <a:solidFill>
                <a:schemeClr val="dk1"/>
              </a:solidFill>
              <a:highlight>
                <a:srgbClr val="FFFFFF"/>
              </a:highlight>
              <a:latin typeface="Verdana"/>
              <a:ea typeface="Verdana"/>
              <a:cs typeface="Verdana"/>
              <a:sym typeface="Verdana"/>
            </a:endParaRPr>
          </a:p>
          <a:p>
            <a:pPr indent="0" lvl="0" marL="0" rtl="0" algn="l">
              <a:spcBef>
                <a:spcPts val="2400"/>
              </a:spcBef>
              <a:spcAft>
                <a:spcPts val="0"/>
              </a:spcAft>
              <a:buClr>
                <a:schemeClr val="dk1"/>
              </a:buClr>
              <a:buSzPct val="47826"/>
              <a:buFont typeface="Arial"/>
              <a:buNone/>
            </a:pPr>
            <a:r>
              <a:rPr b="1" lang="en" sz="2300">
                <a:solidFill>
                  <a:schemeClr val="dk1"/>
                </a:solidFill>
              </a:rPr>
              <a:t>JavaScript Arrays</a:t>
            </a:r>
            <a:endParaRPr b="1" sz="23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Saab,Volvo,BMW</a:t>
            </a:r>
            <a:endParaRPr sz="1100">
              <a:solidFill>
                <a:schemeClr val="dk1"/>
              </a:solidFill>
            </a:endParaRPr>
          </a:p>
          <a:p>
            <a:pPr indent="0" lvl="0" marL="0" rtl="0" algn="l">
              <a:spcBef>
                <a:spcPts val="1200"/>
              </a:spcBef>
              <a:spcAft>
                <a:spcPts val="0"/>
              </a:spcAft>
              <a:buNone/>
            </a:pPr>
            <a:r>
              <a:t/>
            </a:r>
            <a:endParaRPr sz="1150">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42"/>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85000" lnSpcReduction="20000"/>
          </a:bodyPr>
          <a:lstStyle/>
          <a:p>
            <a:pPr indent="0" lvl="0" marL="0" rtl="0" algn="l">
              <a:spcBef>
                <a:spcPts val="800"/>
              </a:spcBef>
              <a:spcAft>
                <a:spcPts val="0"/>
              </a:spcAft>
              <a:buClr>
                <a:schemeClr val="dk1"/>
              </a:buClr>
              <a:buSzPct val="45833"/>
              <a:buFont typeface="Arial"/>
              <a:buNone/>
            </a:pPr>
            <a:r>
              <a:rPr lang="en" sz="2400">
                <a:solidFill>
                  <a:schemeClr val="dk1"/>
                </a:solidFill>
                <a:highlight>
                  <a:srgbClr val="FFFFFF"/>
                </a:highlight>
              </a:rPr>
              <a:t>Using the JavaScript Keyword new</a:t>
            </a:r>
            <a:endParaRPr sz="2400">
              <a:solidFill>
                <a:schemeClr val="dk1"/>
              </a:solidFill>
              <a:highlight>
                <a:srgbClr val="FFFFFF"/>
              </a:highlight>
            </a:endParaRPr>
          </a:p>
          <a:p>
            <a:pPr indent="0" lvl="0" marL="0" rtl="0" algn="l">
              <a:spcBef>
                <a:spcPts val="140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The following example also creates an Array, and assigns values to it:</a:t>
            </a:r>
            <a:endParaRPr sz="1150">
              <a:solidFill>
                <a:schemeClr val="dk1"/>
              </a:solidFill>
              <a:highlight>
                <a:srgbClr val="FFFFFF"/>
              </a:highlight>
              <a:latin typeface="Verdana"/>
              <a:ea typeface="Verdana"/>
              <a:cs typeface="Verdana"/>
              <a:sym typeface="Verdana"/>
            </a:endParaRPr>
          </a:p>
          <a:p>
            <a:pPr indent="0" lvl="0" marL="0" rtl="0" algn="l">
              <a:spcBef>
                <a:spcPts val="140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&lt;html&gt;</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&lt;body&gt;</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&lt;h1&gt;JavaScript Arrays&lt;/h1&gt;</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&lt;p id="demo"&gt;&lt;/p&gt;</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&lt;script&gt;</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const cars = new Array("Saab", "Volvo", "BMW");</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document.getElementById("demo").innerHTML = cars;</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&lt;/script&gt;</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&lt;/body&gt;</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&lt;/html&gt;</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Clr>
                <a:schemeClr val="dk1"/>
              </a:buClr>
              <a:buSzPct val="95652"/>
              <a:buFont typeface="Arial"/>
              <a:buNone/>
            </a:pPr>
            <a:r>
              <a:t/>
            </a:r>
            <a:endParaRPr sz="1150">
              <a:solidFill>
                <a:schemeClr val="dk1"/>
              </a:solidFill>
              <a:highlight>
                <a:srgbClr val="FFFFFF"/>
              </a:highlight>
              <a:latin typeface="Verdana"/>
              <a:ea typeface="Verdana"/>
              <a:cs typeface="Verdana"/>
              <a:sym typeface="Verdana"/>
            </a:endParaRPr>
          </a:p>
          <a:p>
            <a:pPr indent="0" lvl="0" marL="0" rtl="0" algn="l">
              <a:spcBef>
                <a:spcPts val="0"/>
              </a:spcBef>
              <a:spcAft>
                <a:spcPts val="0"/>
              </a:spcAft>
              <a:buNone/>
            </a:pPr>
            <a:r>
              <a:rPr lang="en" sz="1150">
                <a:solidFill>
                  <a:schemeClr val="dk1"/>
                </a:solidFill>
                <a:highlight>
                  <a:srgbClr val="FFFFFF"/>
                </a:highlight>
                <a:latin typeface="Verdana"/>
                <a:ea typeface="Verdana"/>
                <a:cs typeface="Verdana"/>
                <a:sym typeface="Verdana"/>
              </a:rPr>
              <a:t>OUTPUT</a:t>
            </a:r>
            <a:endParaRPr sz="1150">
              <a:solidFill>
                <a:schemeClr val="dk1"/>
              </a:solidFill>
              <a:highlight>
                <a:srgbClr val="FFFFFF"/>
              </a:highlight>
              <a:latin typeface="Verdana"/>
              <a:ea typeface="Verdana"/>
              <a:cs typeface="Verdana"/>
              <a:sym typeface="Verdana"/>
            </a:endParaRPr>
          </a:p>
          <a:p>
            <a:pPr indent="0" lvl="0" marL="0" rtl="0" algn="l">
              <a:spcBef>
                <a:spcPts val="2400"/>
              </a:spcBef>
              <a:spcAft>
                <a:spcPts val="0"/>
              </a:spcAft>
              <a:buClr>
                <a:schemeClr val="dk1"/>
              </a:buClr>
              <a:buSzPct val="47826"/>
              <a:buFont typeface="Arial"/>
              <a:buNone/>
            </a:pPr>
            <a:r>
              <a:rPr b="1" lang="en" sz="2300">
                <a:solidFill>
                  <a:schemeClr val="dk1"/>
                </a:solidFill>
              </a:rPr>
              <a:t>JavaScript Arrays</a:t>
            </a:r>
            <a:endParaRPr b="1" sz="2300">
              <a:solidFill>
                <a:schemeClr val="dk1"/>
              </a:solidFill>
            </a:endParaRPr>
          </a:p>
          <a:p>
            <a:pPr indent="0" lvl="0" marL="0" rtl="0" algn="l">
              <a:spcBef>
                <a:spcPts val="1200"/>
              </a:spcBef>
              <a:spcAft>
                <a:spcPts val="0"/>
              </a:spcAft>
              <a:buClr>
                <a:schemeClr val="dk1"/>
              </a:buClr>
              <a:buSzPct val="100000"/>
              <a:buFont typeface="Arial"/>
              <a:buNone/>
            </a:pPr>
            <a:r>
              <a:rPr lang="en" sz="1100">
                <a:solidFill>
                  <a:schemeClr val="dk1"/>
                </a:solidFill>
              </a:rPr>
              <a:t>Saab,Volvo,BMW</a:t>
            </a:r>
            <a:endParaRPr sz="1100">
              <a:solidFill>
                <a:schemeClr val="dk1"/>
              </a:solidFill>
            </a:endParaRPr>
          </a:p>
          <a:p>
            <a:pPr indent="0" lvl="0" marL="0" rtl="0" algn="l">
              <a:spcBef>
                <a:spcPts val="1200"/>
              </a:spcBef>
              <a:spcAft>
                <a:spcPts val="0"/>
              </a:spcAft>
              <a:buNone/>
            </a:pPr>
            <a:r>
              <a:t/>
            </a:r>
            <a:endParaRPr sz="1150">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43"/>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55000" lnSpcReduction="20000"/>
          </a:bodyPr>
          <a:lstStyle/>
          <a:p>
            <a:pPr indent="0" lvl="0" marL="0" rtl="0" algn="l">
              <a:spcBef>
                <a:spcPts val="800"/>
              </a:spcBef>
              <a:spcAft>
                <a:spcPts val="0"/>
              </a:spcAft>
              <a:buClr>
                <a:schemeClr val="dk1"/>
              </a:buClr>
              <a:buSzPct val="45833"/>
              <a:buFont typeface="Arial"/>
              <a:buNone/>
            </a:pPr>
            <a:r>
              <a:rPr lang="en" sz="2400">
                <a:solidFill>
                  <a:schemeClr val="dk1"/>
                </a:solidFill>
                <a:highlight>
                  <a:srgbClr val="FFFFFF"/>
                </a:highlight>
              </a:rPr>
              <a:t>Accessing Array Elements</a:t>
            </a:r>
            <a:endParaRPr sz="2400">
              <a:solidFill>
                <a:schemeClr val="dk1"/>
              </a:solidFill>
              <a:highlight>
                <a:srgbClr val="FFFFFF"/>
              </a:highlight>
            </a:endParaRPr>
          </a:p>
          <a:p>
            <a:pPr indent="0" lvl="0" marL="0" rtl="0" algn="l">
              <a:spcBef>
                <a:spcPts val="140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You access an array element by referring to the index number:</a:t>
            </a:r>
            <a:endParaRPr sz="1150">
              <a:solidFill>
                <a:schemeClr val="dk1"/>
              </a:solidFill>
              <a:highlight>
                <a:srgbClr val="FFFFFF"/>
              </a:highlight>
              <a:latin typeface="Verdana"/>
              <a:ea typeface="Verdana"/>
              <a:cs typeface="Verdana"/>
              <a:sym typeface="Verdana"/>
            </a:endParaRPr>
          </a:p>
          <a:p>
            <a:pPr indent="0" lvl="0" marL="0" rtl="0" algn="l">
              <a:spcBef>
                <a:spcPts val="1400"/>
              </a:spcBef>
              <a:spcAft>
                <a:spcPts val="0"/>
              </a:spcAft>
              <a:buClr>
                <a:schemeClr val="dk1"/>
              </a:buClr>
              <a:buSzPct val="45833"/>
              <a:buFont typeface="Arial"/>
              <a:buNone/>
            </a:pPr>
            <a:r>
              <a:rPr lang="en" sz="2400">
                <a:solidFill>
                  <a:schemeClr val="dk1"/>
                </a:solidFill>
                <a:highlight>
                  <a:srgbClr val="FFFFFF"/>
                </a:highlight>
              </a:rPr>
              <a:t>&lt;html&gt;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&lt;body&gt;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&lt;h1&gt;JavaScript Arrays&lt;/h1&gt;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&lt;h2&gt;Bracket Indexing&lt;/h2&gt;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&lt;p&gt;JavaScript array elements are accessed using numeric indexes (starting from 0).&lt;/p&gt;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&lt;p id="demo"&gt;&lt;/p&gt;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&lt;script&gt;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const cars = ["Saab", "Volvo", "BMW"];</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document.getElementById("demo").innerHTML = cars[0];</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&lt;/script&gt;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&lt;/body&gt;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&lt;/html&gt;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spcBef>
                <a:spcPts val="0"/>
              </a:spcBef>
              <a:spcAft>
                <a:spcPts val="0"/>
              </a:spcAft>
              <a:buNone/>
            </a:pPr>
            <a:r>
              <a:t/>
            </a:r>
            <a:endParaRPr sz="2400">
              <a:solidFill>
                <a:schemeClr val="dk1"/>
              </a:solidFill>
              <a:highlight>
                <a:srgbClr val="FFFFFF"/>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44"/>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dk1"/>
                </a:solidFill>
                <a:highlight>
                  <a:srgbClr val="FFFFFF"/>
                </a:highlight>
              </a:rPr>
              <a:t>OUTPUT</a:t>
            </a:r>
            <a:endParaRPr sz="2400">
              <a:solidFill>
                <a:schemeClr val="dk1"/>
              </a:solidFill>
              <a:highlight>
                <a:srgbClr val="FFFFFF"/>
              </a:highlight>
            </a:endParaRPr>
          </a:p>
          <a:p>
            <a:pPr indent="0" lvl="0" marL="0" rtl="0" algn="l">
              <a:spcBef>
                <a:spcPts val="2400"/>
              </a:spcBef>
              <a:spcAft>
                <a:spcPts val="0"/>
              </a:spcAft>
              <a:buClr>
                <a:schemeClr val="dk1"/>
              </a:buClr>
              <a:buSzPts val="1100"/>
              <a:buFont typeface="Arial"/>
              <a:buNone/>
            </a:pPr>
            <a:r>
              <a:rPr b="1" lang="en" sz="2300">
                <a:solidFill>
                  <a:schemeClr val="dk1"/>
                </a:solidFill>
              </a:rPr>
              <a:t>JavaScript Arrays</a:t>
            </a:r>
            <a:endParaRPr b="1" sz="2300">
              <a:solidFill>
                <a:schemeClr val="dk1"/>
              </a:solidFill>
            </a:endParaRPr>
          </a:p>
          <a:p>
            <a:pPr indent="0" lvl="0" marL="0" rtl="0" algn="l">
              <a:spcBef>
                <a:spcPts val="1800"/>
              </a:spcBef>
              <a:spcAft>
                <a:spcPts val="0"/>
              </a:spcAft>
              <a:buClr>
                <a:schemeClr val="dk1"/>
              </a:buClr>
              <a:buSzPts val="1100"/>
              <a:buFont typeface="Arial"/>
              <a:buNone/>
            </a:pPr>
            <a:r>
              <a:rPr b="1" lang="en" sz="1700">
                <a:solidFill>
                  <a:schemeClr val="dk1"/>
                </a:solidFill>
              </a:rPr>
              <a:t>Bracket Indexing</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JavaScript array elements are accessed using numeric indexes (starting from 0).</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Saab</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2400">
                <a:solidFill>
                  <a:schemeClr val="dk1"/>
                </a:solidFill>
                <a:highlight>
                  <a:srgbClr val="FFFFFF"/>
                </a:highlight>
              </a:rPr>
              <a:t>Changing an Array Element</a:t>
            </a:r>
            <a:endParaRPr sz="2400">
              <a:solidFill>
                <a:schemeClr val="dk1"/>
              </a:solidFill>
              <a:highlight>
                <a:srgbClr val="FFFFFF"/>
              </a:highlight>
            </a:endParaRPr>
          </a:p>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This statement changes the value of the first element in </a:t>
            </a:r>
            <a:r>
              <a:rPr lang="en" sz="1200">
                <a:solidFill>
                  <a:srgbClr val="DC143C"/>
                </a:solidFill>
                <a:highlight>
                  <a:srgbClr val="FFFFFF"/>
                </a:highlight>
                <a:latin typeface="Courier New"/>
                <a:ea typeface="Courier New"/>
                <a:cs typeface="Courier New"/>
                <a:sym typeface="Courier New"/>
              </a:rPr>
              <a:t>cars</a:t>
            </a:r>
            <a:r>
              <a:rPr lang="en" sz="1150">
                <a:solidFill>
                  <a:schemeClr val="dk1"/>
                </a:solidFill>
                <a:highlight>
                  <a:srgbClr val="FFFFFF"/>
                </a:highlight>
                <a:latin typeface="Verdana"/>
                <a:ea typeface="Verdana"/>
                <a:cs typeface="Verdana"/>
                <a:sym typeface="Verdana"/>
              </a:rPr>
              <a:t>:</a:t>
            </a:r>
            <a:endParaRPr sz="1150">
              <a:solidFill>
                <a:schemeClr val="dk1"/>
              </a:solidFill>
              <a:highlight>
                <a:srgbClr val="FFFFFF"/>
              </a:highlight>
              <a:latin typeface="Verdana"/>
              <a:ea typeface="Verdana"/>
              <a:cs typeface="Verdana"/>
              <a:sym typeface="Verdana"/>
            </a:endParaRPr>
          </a:p>
          <a:p>
            <a:pPr indent="0" lvl="0" marL="0" rtl="0" algn="l">
              <a:spcBef>
                <a:spcPts val="1400"/>
              </a:spcBef>
              <a:spcAft>
                <a:spcPts val="0"/>
              </a:spcAft>
              <a:buNone/>
            </a:pPr>
            <a:r>
              <a:t/>
            </a:r>
            <a:endParaRPr sz="2400">
              <a:solidFill>
                <a:schemeClr val="dk1"/>
              </a:solidFill>
              <a:highlight>
                <a:srgbClr val="FFFFFF"/>
              </a:high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5"/>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55000" lnSpcReduction="10000"/>
          </a:bodyPr>
          <a:lstStyle/>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&lt;html&gt;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&lt;body&gt;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&lt;h1&gt;JavaScript Arrays&lt;/h1&gt;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&lt;h2&gt;Bracket Indexing&lt;/h2&gt;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&lt;p&gt;JavaScript array elements are accessed using numeric indexes (starting from 0).&lt;/p&gt;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&lt;p id="demo"&gt;&lt;/p&gt;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&lt;script&gt;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const cars = ["Saab", "Volvo", "BMW"];</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cars[0] = "Opel";</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document.getElementById("demo").innerHTML = cars;</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&lt;/script&gt;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&lt;/body&gt;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a:solidFill>
                  <a:schemeClr val="dk1"/>
                </a:solidFill>
                <a:highlight>
                  <a:srgbClr val="FFFFFF"/>
                </a:highlight>
              </a:rPr>
              <a:t>&lt;/html&gt;</a:t>
            </a:r>
            <a:endParaRPr sz="240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spcBef>
                <a:spcPts val="0"/>
              </a:spcBef>
              <a:spcAft>
                <a:spcPts val="0"/>
              </a:spcAft>
              <a:buNone/>
            </a:pPr>
            <a:r>
              <a:t/>
            </a:r>
            <a:endParaRPr sz="2400">
              <a:solidFill>
                <a:schemeClr val="dk1"/>
              </a:solidFill>
              <a:highlight>
                <a:srgbClr val="FFFFFF"/>
              </a:high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6"/>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dk1"/>
                </a:solidFill>
                <a:highlight>
                  <a:srgbClr val="FFFFFF"/>
                </a:highlight>
              </a:rPr>
              <a:t>OUTPUT</a:t>
            </a:r>
            <a:endParaRPr sz="2400">
              <a:solidFill>
                <a:schemeClr val="dk1"/>
              </a:solidFill>
              <a:highlight>
                <a:srgbClr val="FFFFFF"/>
              </a:highlight>
            </a:endParaRPr>
          </a:p>
          <a:p>
            <a:pPr indent="0" lvl="0" marL="0" rtl="0" algn="l">
              <a:spcBef>
                <a:spcPts val="2400"/>
              </a:spcBef>
              <a:spcAft>
                <a:spcPts val="0"/>
              </a:spcAft>
              <a:buClr>
                <a:schemeClr val="dk1"/>
              </a:buClr>
              <a:buSzPts val="1100"/>
              <a:buFont typeface="Arial"/>
              <a:buNone/>
            </a:pPr>
            <a:r>
              <a:rPr b="1" lang="en" sz="2300">
                <a:solidFill>
                  <a:schemeClr val="dk1"/>
                </a:solidFill>
              </a:rPr>
              <a:t>JavaScript Arrays</a:t>
            </a:r>
            <a:endParaRPr b="1" sz="2300">
              <a:solidFill>
                <a:schemeClr val="dk1"/>
              </a:solidFill>
            </a:endParaRPr>
          </a:p>
          <a:p>
            <a:pPr indent="0" lvl="0" marL="0" rtl="0" algn="l">
              <a:spcBef>
                <a:spcPts val="1800"/>
              </a:spcBef>
              <a:spcAft>
                <a:spcPts val="0"/>
              </a:spcAft>
              <a:buClr>
                <a:schemeClr val="dk1"/>
              </a:buClr>
              <a:buSzPts val="1100"/>
              <a:buFont typeface="Arial"/>
              <a:buNone/>
            </a:pPr>
            <a:r>
              <a:rPr b="1" lang="en" sz="1700">
                <a:solidFill>
                  <a:schemeClr val="dk1"/>
                </a:solidFill>
              </a:rPr>
              <a:t>Bracket Indexing</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JavaScript array elements are accessed using numeric indexes (starting from 0).</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Opel,Volvo,BMW</a:t>
            </a:r>
            <a:endParaRPr sz="1100">
              <a:solidFill>
                <a:schemeClr val="dk1"/>
              </a:solidFill>
            </a:endParaRPr>
          </a:p>
          <a:p>
            <a:pPr indent="0" lvl="0" marL="0" rtl="0" algn="l">
              <a:spcBef>
                <a:spcPts val="1200"/>
              </a:spcBef>
              <a:spcAft>
                <a:spcPts val="0"/>
              </a:spcAft>
              <a:buNone/>
            </a:pPr>
            <a:r>
              <a:t/>
            </a:r>
            <a:endParaRPr sz="2400">
              <a:solidFill>
                <a:schemeClr val="dk1"/>
              </a:solidFill>
              <a:highlight>
                <a:srgbClr val="FFFFFF"/>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7"/>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Clr>
                <a:schemeClr val="dk1"/>
              </a:buClr>
              <a:buSzPct val="34920"/>
              <a:buFont typeface="Arial"/>
              <a:buNone/>
            </a:pPr>
            <a:r>
              <a:rPr lang="en" sz="3150">
                <a:solidFill>
                  <a:schemeClr val="dk1"/>
                </a:solidFill>
                <a:highlight>
                  <a:srgbClr val="FFFFFF"/>
                </a:highlight>
              </a:rPr>
              <a:t>JavaScript Array Methods</a:t>
            </a:r>
            <a:endParaRPr sz="3150">
              <a:solidFill>
                <a:schemeClr val="dk1"/>
              </a:solidFill>
              <a:highlight>
                <a:srgbClr val="FFFFFF"/>
              </a:highlight>
            </a:endParaRPr>
          </a:p>
          <a:p>
            <a:pPr indent="0" lvl="0" marL="0" rtl="0" algn="l">
              <a:spcBef>
                <a:spcPts val="0"/>
              </a:spcBef>
              <a:spcAft>
                <a:spcPts val="0"/>
              </a:spcAft>
              <a:buClr>
                <a:schemeClr val="dk1"/>
              </a:buClr>
              <a:buSzPct val="45833"/>
              <a:buFont typeface="Arial"/>
              <a:buNone/>
            </a:pPr>
            <a:r>
              <a:rPr lang="en" sz="2400" u="sng">
                <a:solidFill>
                  <a:schemeClr val="dk1"/>
                </a:solidFill>
                <a:highlight>
                  <a:srgbClr val="FFFFFF"/>
                </a:highlight>
              </a:rPr>
              <a:t>Array length</a:t>
            </a:r>
            <a:endParaRPr sz="2400" u="sng">
              <a:solidFill>
                <a:schemeClr val="dk1"/>
              </a:solidFill>
              <a:highlight>
                <a:srgbClr val="FFFFFF"/>
              </a:highlight>
            </a:endParaRPr>
          </a:p>
          <a:p>
            <a:pPr indent="0" lvl="0" marL="0" marR="0" rtl="0" algn="l">
              <a:lnSpc>
                <a:spcPct val="115000"/>
              </a:lnSpc>
              <a:spcBef>
                <a:spcPts val="0"/>
              </a:spcBef>
              <a:spcAft>
                <a:spcPts val="0"/>
              </a:spcAft>
              <a:buNone/>
            </a:pPr>
            <a:r>
              <a:rPr lang="en" sz="3150">
                <a:solidFill>
                  <a:schemeClr val="dk1"/>
                </a:solidFill>
                <a:highlight>
                  <a:srgbClr val="FFFFFF"/>
                </a:highlight>
              </a:rPr>
              <a:t>The length property returns the length (size) of an array:</a:t>
            </a:r>
            <a:endParaRPr sz="3150">
              <a:solidFill>
                <a:schemeClr val="dk1"/>
              </a:solidFill>
              <a:highlight>
                <a:srgbClr val="FFFFFF"/>
              </a:highlight>
            </a:endParaRPr>
          </a:p>
          <a:p>
            <a:pPr indent="0" lvl="0" marL="0" marR="0" rtl="0" algn="l">
              <a:lnSpc>
                <a:spcPct val="115000"/>
              </a:lnSpc>
              <a:spcBef>
                <a:spcPts val="0"/>
              </a:spcBef>
              <a:spcAft>
                <a:spcPts val="0"/>
              </a:spcAft>
              <a:buNone/>
            </a:pPr>
            <a:r>
              <a:rPr lang="en" sz="3150">
                <a:solidFill>
                  <a:schemeClr val="dk1"/>
                </a:solidFill>
                <a:highlight>
                  <a:srgbClr val="FFFFFF"/>
                </a:highlight>
              </a:rPr>
              <a:t>&lt;html&gt;</a:t>
            </a:r>
            <a:endParaRPr sz="3150">
              <a:solidFill>
                <a:schemeClr val="dk1"/>
              </a:solidFill>
              <a:highlight>
                <a:srgbClr val="FFFFFF"/>
              </a:highlight>
            </a:endParaRPr>
          </a:p>
          <a:p>
            <a:pPr indent="0" lvl="0" marL="0" marR="0" rtl="0" algn="l">
              <a:lnSpc>
                <a:spcPct val="115000"/>
              </a:lnSpc>
              <a:spcBef>
                <a:spcPts val="0"/>
              </a:spcBef>
              <a:spcAft>
                <a:spcPts val="0"/>
              </a:spcAft>
              <a:buNone/>
            </a:pPr>
            <a:r>
              <a:rPr lang="en" sz="3150">
                <a:solidFill>
                  <a:schemeClr val="dk1"/>
                </a:solidFill>
                <a:highlight>
                  <a:srgbClr val="FFFFFF"/>
                </a:highlight>
              </a:rPr>
              <a:t>&lt;body&gt;</a:t>
            </a:r>
            <a:endParaRPr sz="3150">
              <a:solidFill>
                <a:schemeClr val="dk1"/>
              </a:solidFill>
              <a:highlight>
                <a:srgbClr val="FFFFFF"/>
              </a:highlight>
            </a:endParaRPr>
          </a:p>
          <a:p>
            <a:pPr indent="0" lvl="0" marL="0" marR="0" rtl="0" algn="l">
              <a:lnSpc>
                <a:spcPct val="115000"/>
              </a:lnSpc>
              <a:spcBef>
                <a:spcPts val="0"/>
              </a:spcBef>
              <a:spcAft>
                <a:spcPts val="0"/>
              </a:spcAft>
              <a:buNone/>
            </a:pPr>
            <a:r>
              <a:rPr lang="en" sz="3150">
                <a:solidFill>
                  <a:schemeClr val="dk1"/>
                </a:solidFill>
                <a:highlight>
                  <a:srgbClr val="FFFFFF"/>
                </a:highlight>
              </a:rPr>
              <a:t>&lt;h1&gt;JavaScript Arrays&lt;/h1&gt;</a:t>
            </a:r>
            <a:endParaRPr sz="3150">
              <a:solidFill>
                <a:schemeClr val="dk1"/>
              </a:solidFill>
              <a:highlight>
                <a:srgbClr val="FFFFFF"/>
              </a:highlight>
            </a:endParaRPr>
          </a:p>
          <a:p>
            <a:pPr indent="0" lvl="0" marL="0" marR="0" rtl="0" algn="l">
              <a:lnSpc>
                <a:spcPct val="115000"/>
              </a:lnSpc>
              <a:spcBef>
                <a:spcPts val="0"/>
              </a:spcBef>
              <a:spcAft>
                <a:spcPts val="0"/>
              </a:spcAft>
              <a:buNone/>
            </a:pPr>
            <a:r>
              <a:rPr lang="en" sz="3150">
                <a:solidFill>
                  <a:schemeClr val="dk1"/>
                </a:solidFill>
                <a:highlight>
                  <a:srgbClr val="FFFFFF"/>
                </a:highlight>
              </a:rPr>
              <a:t>&lt;h2&gt;The length Property&lt;/h2&gt;</a:t>
            </a:r>
            <a:endParaRPr sz="3150">
              <a:solidFill>
                <a:schemeClr val="dk1"/>
              </a:solidFill>
              <a:highlight>
                <a:srgbClr val="FFFFFF"/>
              </a:highlight>
            </a:endParaRPr>
          </a:p>
          <a:p>
            <a:pPr indent="0" lvl="0" marL="0" marR="0" rtl="0" algn="l">
              <a:lnSpc>
                <a:spcPct val="115000"/>
              </a:lnSpc>
              <a:spcBef>
                <a:spcPts val="0"/>
              </a:spcBef>
              <a:spcAft>
                <a:spcPts val="0"/>
              </a:spcAft>
              <a:buNone/>
            </a:pPr>
            <a:r>
              <a:t/>
            </a:r>
            <a:endParaRPr sz="3150">
              <a:solidFill>
                <a:schemeClr val="dk1"/>
              </a:solidFill>
              <a:highlight>
                <a:srgbClr val="FFFFFF"/>
              </a:highlight>
            </a:endParaRPr>
          </a:p>
          <a:p>
            <a:pPr indent="0" lvl="0" marL="0" marR="0" rtl="0" algn="l">
              <a:lnSpc>
                <a:spcPct val="115000"/>
              </a:lnSpc>
              <a:spcBef>
                <a:spcPts val="0"/>
              </a:spcBef>
              <a:spcAft>
                <a:spcPts val="0"/>
              </a:spcAft>
              <a:buNone/>
            </a:pPr>
            <a:r>
              <a:rPr lang="en" sz="3150">
                <a:solidFill>
                  <a:schemeClr val="dk1"/>
                </a:solidFill>
                <a:highlight>
                  <a:srgbClr val="FFFFFF"/>
                </a:highlight>
              </a:rPr>
              <a:t>&lt;p&gt;The length property returns the length of an array:&lt;/p&gt;</a:t>
            </a:r>
            <a:endParaRPr sz="3150">
              <a:solidFill>
                <a:schemeClr val="dk1"/>
              </a:solidFill>
              <a:highlight>
                <a:srgbClr val="FFFFFF"/>
              </a:highlight>
            </a:endParaRPr>
          </a:p>
          <a:p>
            <a:pPr indent="0" lvl="0" marL="0" marR="0" rtl="0" algn="l">
              <a:lnSpc>
                <a:spcPct val="115000"/>
              </a:lnSpc>
              <a:spcBef>
                <a:spcPts val="0"/>
              </a:spcBef>
              <a:spcAft>
                <a:spcPts val="0"/>
              </a:spcAft>
              <a:buNone/>
            </a:pPr>
            <a:r>
              <a:t/>
            </a:r>
            <a:endParaRPr sz="3150">
              <a:solidFill>
                <a:schemeClr val="dk1"/>
              </a:solidFill>
              <a:highlight>
                <a:srgbClr val="FFFFFF"/>
              </a:highlight>
            </a:endParaRPr>
          </a:p>
          <a:p>
            <a:pPr indent="0" lvl="0" marL="0" marR="0" rtl="0" algn="l">
              <a:lnSpc>
                <a:spcPct val="115000"/>
              </a:lnSpc>
              <a:spcBef>
                <a:spcPts val="0"/>
              </a:spcBef>
              <a:spcAft>
                <a:spcPts val="0"/>
              </a:spcAft>
              <a:buNone/>
            </a:pPr>
            <a:r>
              <a:rPr lang="en" sz="3150">
                <a:solidFill>
                  <a:schemeClr val="dk1"/>
                </a:solidFill>
                <a:highlight>
                  <a:srgbClr val="FFFFFF"/>
                </a:highlight>
              </a:rPr>
              <a:t>&lt;p id="demo"&gt;&lt;/p&gt;</a:t>
            </a:r>
            <a:endParaRPr sz="3150">
              <a:solidFill>
                <a:schemeClr val="dk1"/>
              </a:solidFill>
              <a:highlight>
                <a:srgbClr val="FFFFFF"/>
              </a:highlight>
            </a:endParaRPr>
          </a:p>
          <a:p>
            <a:pPr indent="0" lvl="0" marL="0" marR="0" rtl="0" algn="l">
              <a:lnSpc>
                <a:spcPct val="115000"/>
              </a:lnSpc>
              <a:spcBef>
                <a:spcPts val="0"/>
              </a:spcBef>
              <a:spcAft>
                <a:spcPts val="0"/>
              </a:spcAft>
              <a:buNone/>
            </a:pPr>
            <a:r>
              <a:t/>
            </a:r>
            <a:endParaRPr sz="3150">
              <a:solidFill>
                <a:schemeClr val="dk1"/>
              </a:solidFill>
              <a:highlight>
                <a:srgbClr val="FFFFFF"/>
              </a:highlight>
            </a:endParaRPr>
          </a:p>
          <a:p>
            <a:pPr indent="0" lvl="0" marL="0" marR="0" rtl="0" algn="l">
              <a:lnSpc>
                <a:spcPct val="115000"/>
              </a:lnSpc>
              <a:spcBef>
                <a:spcPts val="0"/>
              </a:spcBef>
              <a:spcAft>
                <a:spcPts val="0"/>
              </a:spcAft>
              <a:buNone/>
            </a:pPr>
            <a:r>
              <a:rPr lang="en" sz="3150">
                <a:solidFill>
                  <a:schemeClr val="dk1"/>
                </a:solidFill>
                <a:highlight>
                  <a:srgbClr val="FFFFFF"/>
                </a:highlight>
              </a:rPr>
              <a:t>&lt;script&gt;</a:t>
            </a:r>
            <a:endParaRPr sz="3150">
              <a:solidFill>
                <a:schemeClr val="dk1"/>
              </a:solidFill>
              <a:highlight>
                <a:srgbClr val="FFFFFF"/>
              </a:highlight>
            </a:endParaRPr>
          </a:p>
          <a:p>
            <a:pPr indent="0" lvl="0" marL="0" marR="0" rtl="0" algn="l">
              <a:lnSpc>
                <a:spcPct val="115000"/>
              </a:lnSpc>
              <a:spcBef>
                <a:spcPts val="0"/>
              </a:spcBef>
              <a:spcAft>
                <a:spcPts val="0"/>
              </a:spcAft>
              <a:buNone/>
            </a:pPr>
            <a:r>
              <a:rPr lang="en" sz="3150">
                <a:solidFill>
                  <a:schemeClr val="dk1"/>
                </a:solidFill>
                <a:highlight>
                  <a:srgbClr val="FFFFFF"/>
                </a:highlight>
              </a:rPr>
              <a:t>const fruits = ["Banana", "Orange", "Apple", "Mango"];</a:t>
            </a:r>
            <a:endParaRPr sz="3150">
              <a:solidFill>
                <a:schemeClr val="dk1"/>
              </a:solidFill>
              <a:highlight>
                <a:srgbClr val="FFFFFF"/>
              </a:highlight>
            </a:endParaRPr>
          </a:p>
          <a:p>
            <a:pPr indent="0" lvl="0" marL="0" marR="0" rtl="0" algn="l">
              <a:lnSpc>
                <a:spcPct val="115000"/>
              </a:lnSpc>
              <a:spcBef>
                <a:spcPts val="0"/>
              </a:spcBef>
              <a:spcAft>
                <a:spcPts val="0"/>
              </a:spcAft>
              <a:buNone/>
            </a:pPr>
            <a:r>
              <a:rPr lang="en" sz="3150">
                <a:solidFill>
                  <a:schemeClr val="dk1"/>
                </a:solidFill>
                <a:highlight>
                  <a:srgbClr val="FFFFFF"/>
                </a:highlight>
              </a:rPr>
              <a:t>let size = fruits.length;</a:t>
            </a:r>
            <a:endParaRPr sz="3150">
              <a:solidFill>
                <a:schemeClr val="dk1"/>
              </a:solidFill>
              <a:highlight>
                <a:srgbClr val="FFFFFF"/>
              </a:highlight>
            </a:endParaRPr>
          </a:p>
          <a:p>
            <a:pPr indent="0" lvl="0" marL="0" marR="0" rtl="0" algn="l">
              <a:lnSpc>
                <a:spcPct val="115000"/>
              </a:lnSpc>
              <a:spcBef>
                <a:spcPts val="0"/>
              </a:spcBef>
              <a:spcAft>
                <a:spcPts val="0"/>
              </a:spcAft>
              <a:buNone/>
            </a:pPr>
            <a:r>
              <a:rPr lang="en" sz="3150">
                <a:solidFill>
                  <a:schemeClr val="dk1"/>
                </a:solidFill>
                <a:highlight>
                  <a:srgbClr val="FFFFFF"/>
                </a:highlight>
              </a:rPr>
              <a:t>document.getElementById("demo").innerHTML = size;</a:t>
            </a:r>
            <a:endParaRPr sz="3150">
              <a:solidFill>
                <a:schemeClr val="dk1"/>
              </a:solidFill>
              <a:highlight>
                <a:srgbClr val="FFFFFF"/>
              </a:highlight>
            </a:endParaRPr>
          </a:p>
          <a:p>
            <a:pPr indent="0" lvl="0" marL="0" marR="0" rtl="0" algn="l">
              <a:lnSpc>
                <a:spcPct val="115000"/>
              </a:lnSpc>
              <a:spcBef>
                <a:spcPts val="0"/>
              </a:spcBef>
              <a:spcAft>
                <a:spcPts val="0"/>
              </a:spcAft>
              <a:buNone/>
            </a:pPr>
            <a:r>
              <a:rPr lang="en" sz="3150">
                <a:solidFill>
                  <a:schemeClr val="dk1"/>
                </a:solidFill>
                <a:highlight>
                  <a:srgbClr val="FFFFFF"/>
                </a:highlight>
              </a:rPr>
              <a:t>&lt;/script&gt;</a:t>
            </a:r>
            <a:endParaRPr sz="3150">
              <a:solidFill>
                <a:schemeClr val="dk1"/>
              </a:solidFill>
              <a:highlight>
                <a:srgbClr val="FFFFFF"/>
              </a:highlight>
            </a:endParaRPr>
          </a:p>
          <a:p>
            <a:pPr indent="0" lvl="0" marL="0" marR="0" rtl="0" algn="l">
              <a:lnSpc>
                <a:spcPct val="115000"/>
              </a:lnSpc>
              <a:spcBef>
                <a:spcPts val="0"/>
              </a:spcBef>
              <a:spcAft>
                <a:spcPts val="0"/>
              </a:spcAft>
              <a:buNone/>
            </a:pPr>
            <a:r>
              <a:t/>
            </a:r>
            <a:endParaRPr sz="3150">
              <a:solidFill>
                <a:schemeClr val="dk1"/>
              </a:solidFill>
              <a:highlight>
                <a:srgbClr val="FFFFFF"/>
              </a:highlight>
            </a:endParaRPr>
          </a:p>
          <a:p>
            <a:pPr indent="0" lvl="0" marL="0" marR="0" rtl="0" algn="l">
              <a:lnSpc>
                <a:spcPct val="115000"/>
              </a:lnSpc>
              <a:spcBef>
                <a:spcPts val="0"/>
              </a:spcBef>
              <a:spcAft>
                <a:spcPts val="0"/>
              </a:spcAft>
              <a:buNone/>
            </a:pPr>
            <a:r>
              <a:rPr lang="en" sz="3150">
                <a:solidFill>
                  <a:schemeClr val="dk1"/>
                </a:solidFill>
                <a:highlight>
                  <a:srgbClr val="FFFFFF"/>
                </a:highlight>
              </a:rPr>
              <a:t>&lt;/body&gt;</a:t>
            </a:r>
            <a:endParaRPr sz="3150">
              <a:solidFill>
                <a:schemeClr val="dk1"/>
              </a:solidFill>
              <a:highlight>
                <a:srgbClr val="FFFFFF"/>
              </a:highlight>
            </a:endParaRPr>
          </a:p>
          <a:p>
            <a:pPr indent="0" lvl="0" marL="0" marR="0" rtl="0" algn="l">
              <a:lnSpc>
                <a:spcPct val="115000"/>
              </a:lnSpc>
              <a:spcBef>
                <a:spcPts val="0"/>
              </a:spcBef>
              <a:spcAft>
                <a:spcPts val="0"/>
              </a:spcAft>
              <a:buNone/>
            </a:pPr>
            <a:r>
              <a:rPr lang="en" sz="3150">
                <a:solidFill>
                  <a:schemeClr val="dk1"/>
                </a:solidFill>
                <a:highlight>
                  <a:srgbClr val="FFFFFF"/>
                </a:highlight>
              </a:rPr>
              <a:t>&lt;/html&gt;</a:t>
            </a:r>
            <a:endParaRPr sz="3150">
              <a:solidFill>
                <a:schemeClr val="dk1"/>
              </a:solidFill>
              <a:highlight>
                <a:srgbClr val="FFFFFF"/>
              </a:highlight>
            </a:endParaRPr>
          </a:p>
          <a:p>
            <a:pPr indent="0" lvl="0" marL="0" rtl="0" algn="l">
              <a:spcBef>
                <a:spcPts val="0"/>
              </a:spcBef>
              <a:spcAft>
                <a:spcPts val="0"/>
              </a:spcAft>
              <a:buClr>
                <a:schemeClr val="dk1"/>
              </a:buClr>
              <a:buSzPct val="44000"/>
              <a:buFont typeface="Arial"/>
              <a:buNone/>
            </a:pPr>
            <a:r>
              <a:t/>
            </a:r>
            <a:endParaRPr sz="25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sz="25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8"/>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OUTPUT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2400"/>
              </a:spcBef>
              <a:spcAft>
                <a:spcPts val="0"/>
              </a:spcAft>
              <a:buClr>
                <a:schemeClr val="dk1"/>
              </a:buClr>
              <a:buSzPts val="1100"/>
              <a:buFont typeface="Arial"/>
              <a:buNone/>
            </a:pPr>
            <a:r>
              <a:rPr b="1" lang="en" sz="1200">
                <a:solidFill>
                  <a:schemeClr val="dk1"/>
                </a:solidFill>
                <a:latin typeface="Times New Roman"/>
                <a:ea typeface="Times New Roman"/>
                <a:cs typeface="Times New Roman"/>
                <a:sym typeface="Times New Roman"/>
              </a:rPr>
              <a:t>JavaScript Arrays</a:t>
            </a:r>
            <a:endParaRPr b="1" sz="1200">
              <a:solidFill>
                <a:schemeClr val="dk1"/>
              </a:solidFill>
              <a:latin typeface="Times New Roman"/>
              <a:ea typeface="Times New Roman"/>
              <a:cs typeface="Times New Roman"/>
              <a:sym typeface="Times New Roman"/>
            </a:endParaRPr>
          </a:p>
          <a:p>
            <a:pPr indent="0" lvl="0" marL="0" rtl="0" algn="l">
              <a:lnSpc>
                <a:spcPct val="100000"/>
              </a:lnSpc>
              <a:spcBef>
                <a:spcPts val="1800"/>
              </a:spcBef>
              <a:spcAft>
                <a:spcPts val="0"/>
              </a:spcAft>
              <a:buClr>
                <a:schemeClr val="dk1"/>
              </a:buClr>
              <a:buSzPts val="1100"/>
              <a:buFont typeface="Arial"/>
              <a:buNone/>
            </a:pPr>
            <a:r>
              <a:rPr b="1" lang="en" sz="1200">
                <a:solidFill>
                  <a:schemeClr val="dk1"/>
                </a:solidFill>
                <a:latin typeface="Times New Roman"/>
                <a:ea typeface="Times New Roman"/>
                <a:cs typeface="Times New Roman"/>
                <a:sym typeface="Times New Roman"/>
              </a:rPr>
              <a:t>The length Property</a:t>
            </a:r>
            <a:endParaRPr b="1"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The length property returns the length of an array:</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4</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9"/>
          <p:cNvSpPr txBox="1"/>
          <p:nvPr>
            <p:ph idx="1" type="body"/>
          </p:nvPr>
        </p:nvSpPr>
        <p:spPr>
          <a:xfrm>
            <a:off x="311700" y="301200"/>
            <a:ext cx="8520600" cy="4267800"/>
          </a:xfrm>
          <a:prstGeom prst="rect">
            <a:avLst/>
          </a:prstGeom>
        </p:spPr>
        <p:txBody>
          <a:bodyPr anchorCtr="0" anchor="t" bIns="91425" lIns="91425" spcFirstLastPara="1" rIns="91425" wrap="square" tIns="91425">
            <a:normAutofit lnSpcReduction="20000"/>
          </a:bodyPr>
          <a:lstStyle/>
          <a:p>
            <a:pPr indent="0" lvl="0" marL="0" rtl="0" algn="l">
              <a:spcBef>
                <a:spcPts val="800"/>
              </a:spcBef>
              <a:spcAft>
                <a:spcPts val="0"/>
              </a:spcAft>
              <a:buClr>
                <a:schemeClr val="dk1"/>
              </a:buClr>
              <a:buSzPts val="1100"/>
              <a:buFont typeface="Arial"/>
              <a:buNone/>
            </a:pPr>
            <a:r>
              <a:rPr lang="en" sz="2400">
                <a:solidFill>
                  <a:schemeClr val="dk1"/>
                </a:solidFill>
                <a:highlight>
                  <a:srgbClr val="FFFFFF"/>
                </a:highlight>
              </a:rPr>
              <a:t>Array toString()</a:t>
            </a:r>
            <a:endParaRPr sz="2400">
              <a:solidFill>
                <a:schemeClr val="dk1"/>
              </a:solidFill>
              <a:highlight>
                <a:srgbClr val="FFFFFF"/>
              </a:highlight>
            </a:endParaRPr>
          </a:p>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The JavaScript method </a:t>
            </a:r>
            <a:r>
              <a:rPr lang="en" sz="1200">
                <a:solidFill>
                  <a:srgbClr val="DC143C"/>
                </a:solidFill>
                <a:highlight>
                  <a:srgbClr val="FFFFFF"/>
                </a:highlight>
                <a:latin typeface="Courier New"/>
                <a:ea typeface="Courier New"/>
                <a:cs typeface="Courier New"/>
                <a:sym typeface="Courier New"/>
              </a:rPr>
              <a:t>toString()</a:t>
            </a:r>
            <a:r>
              <a:rPr lang="en" sz="1150">
                <a:solidFill>
                  <a:schemeClr val="dk1"/>
                </a:solidFill>
                <a:highlight>
                  <a:srgbClr val="FFFFFF"/>
                </a:highlight>
                <a:latin typeface="Verdana"/>
                <a:ea typeface="Verdana"/>
                <a:cs typeface="Verdana"/>
                <a:sym typeface="Verdana"/>
              </a:rPr>
              <a:t> converts an array to a string of (comma separated) array values.</a:t>
            </a:r>
            <a:endParaRPr sz="1150">
              <a:solidFill>
                <a:schemeClr val="dk1"/>
              </a:solidFill>
              <a:highlight>
                <a:srgbClr val="FFFFFF"/>
              </a:highlight>
              <a:latin typeface="Verdana"/>
              <a:ea typeface="Verdana"/>
              <a:cs typeface="Verdana"/>
              <a:sym typeface="Verdana"/>
            </a:endParaRPr>
          </a:p>
          <a:p>
            <a:pPr indent="0" lvl="0" marL="0" rtl="0" algn="l">
              <a:spcBef>
                <a:spcPts val="140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&lt;h1&gt;JavaScript Arrays&lt;/h1&gt; </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&lt;h2&gt;The toString() Method&lt;/h2&gt;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&lt;p&gt;The toString() method returns an array as a comma separated string:&lt;/p&gt;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&lt;p id="demo"&gt;&lt;/p&gt;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&lt;script&gt;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const fruits = ["Banana", "Orange", "Apple", "Mango"];</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document.getElementById("demo").innerHTML = fruits.toString();</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&lt;/script&gt;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50"/>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None/>
            </a:pPr>
            <a:r>
              <a:rPr b="1" lang="en" sz="2300">
                <a:solidFill>
                  <a:schemeClr val="dk1"/>
                </a:solidFill>
              </a:rPr>
              <a:t>OUTPUT</a:t>
            </a:r>
            <a:endParaRPr b="1" sz="2300">
              <a:solidFill>
                <a:schemeClr val="dk1"/>
              </a:solidFill>
            </a:endParaRPr>
          </a:p>
          <a:p>
            <a:pPr indent="0" lvl="0" marL="0" rtl="0" algn="l">
              <a:spcBef>
                <a:spcPts val="2400"/>
              </a:spcBef>
              <a:spcAft>
                <a:spcPts val="0"/>
              </a:spcAft>
              <a:buClr>
                <a:schemeClr val="dk1"/>
              </a:buClr>
              <a:buSzPts val="1100"/>
              <a:buFont typeface="Arial"/>
              <a:buNone/>
            </a:pPr>
            <a:r>
              <a:rPr b="1" lang="en" sz="2300">
                <a:solidFill>
                  <a:schemeClr val="dk1"/>
                </a:solidFill>
              </a:rPr>
              <a:t>JavaScript Arrays</a:t>
            </a:r>
            <a:endParaRPr b="1" sz="2300">
              <a:solidFill>
                <a:schemeClr val="dk1"/>
              </a:solidFill>
            </a:endParaRPr>
          </a:p>
          <a:p>
            <a:pPr indent="0" lvl="0" marL="0" rtl="0" algn="l">
              <a:spcBef>
                <a:spcPts val="1800"/>
              </a:spcBef>
              <a:spcAft>
                <a:spcPts val="0"/>
              </a:spcAft>
              <a:buClr>
                <a:schemeClr val="dk1"/>
              </a:buClr>
              <a:buSzPts val="1100"/>
              <a:buFont typeface="Arial"/>
              <a:buNone/>
            </a:pPr>
            <a:r>
              <a:rPr b="1" lang="en" sz="1700">
                <a:solidFill>
                  <a:schemeClr val="dk1"/>
                </a:solidFill>
              </a:rPr>
              <a:t>The toString() Method</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The toString() method returns an array as a comma separated string:</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Banana,Orange,Apple,Mango</a:t>
            </a:r>
            <a:endParaRPr sz="1100">
              <a:solidFill>
                <a:schemeClr val="dk1"/>
              </a:solidFill>
            </a:endParaRPr>
          </a:p>
          <a:p>
            <a:pPr indent="0" lvl="0" marL="0" rtl="0" algn="l">
              <a:spcBef>
                <a:spcPts val="1200"/>
              </a:spcBef>
              <a:spcAft>
                <a:spcPts val="0"/>
              </a:spcAft>
              <a:buNone/>
            </a:pPr>
            <a:r>
              <a:t/>
            </a:r>
            <a:endParaRPr sz="2400">
              <a:solidFill>
                <a:schemeClr val="dk1"/>
              </a:solidFill>
              <a:highlight>
                <a:srgbClr val="FFFFFF"/>
              </a:highligh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51"/>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77500" lnSpcReduction="20000"/>
          </a:bodyPr>
          <a:lstStyle/>
          <a:p>
            <a:pPr indent="0" lvl="0" marL="0" marR="0" rtl="0" algn="l">
              <a:lnSpc>
                <a:spcPct val="100000"/>
              </a:lnSpc>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join()</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The join() method also joins all array elements into a string.</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It behaves just like toString(), but in addition you can specify the separator:</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&lt;html&gt;</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&lt;body&gt;</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&lt;h1&gt;JavaScript Arrays&lt;/h1&gt;</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&lt;h2&gt;The join() Method&lt;/h2&gt;</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&lt;p&gt;The join() method joins array elements into a string.&lt;/p&gt;</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&lt;p&gt;It this example we have used " * " as a separator between the elements:&lt;/p&gt;</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&lt;p id="demo"&gt;&lt;/p&gt;</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&lt;script&gt;</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const fruits = ["Banana", "Orange", "Apple", "Mango"];</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document.getElementById("demo").innerHTML = fruits.join(" * ");</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&lt;/script&gt;</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&lt;/body&gt;</a:t>
            </a:r>
            <a:endParaRPr sz="1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&lt;/html&gt;</a:t>
            </a:r>
            <a:endParaRPr sz="1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spcBef>
                <a:spcPts val="800"/>
              </a:spcBef>
              <a:spcAft>
                <a:spcPts val="0"/>
              </a:spcAft>
              <a:buNone/>
            </a:pPr>
            <a:r>
              <a:t/>
            </a:r>
            <a:endParaRPr b="1" sz="230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52"/>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OUTPUT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2400"/>
              </a:spcBef>
              <a:spcAft>
                <a:spcPts val="0"/>
              </a:spcAft>
              <a:buClr>
                <a:schemeClr val="dk1"/>
              </a:buClr>
              <a:buSzPts val="1100"/>
              <a:buFont typeface="Arial"/>
              <a:buNone/>
            </a:pPr>
            <a:r>
              <a:rPr b="1" lang="en" sz="2300">
                <a:solidFill>
                  <a:schemeClr val="dk1"/>
                </a:solidFill>
              </a:rPr>
              <a:t>JavaScript Arrays</a:t>
            </a:r>
            <a:endParaRPr b="1" sz="2300">
              <a:solidFill>
                <a:schemeClr val="dk1"/>
              </a:solidFill>
            </a:endParaRPr>
          </a:p>
          <a:p>
            <a:pPr indent="0" lvl="0" marL="0" rtl="0" algn="l">
              <a:spcBef>
                <a:spcPts val="1800"/>
              </a:spcBef>
              <a:spcAft>
                <a:spcPts val="0"/>
              </a:spcAft>
              <a:buClr>
                <a:schemeClr val="dk1"/>
              </a:buClr>
              <a:buSzPts val="1100"/>
              <a:buFont typeface="Arial"/>
              <a:buNone/>
            </a:pPr>
            <a:r>
              <a:rPr b="1" lang="en" sz="1700">
                <a:solidFill>
                  <a:schemeClr val="dk1"/>
                </a:solidFill>
              </a:rPr>
              <a:t>The join() Method</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The join() method joins array elements into a string.</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It this example we have used " * " as a separator between the elements:</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Banana * Orange * Apple * Mango</a:t>
            </a:r>
            <a:endParaRPr sz="1100">
              <a:solidFill>
                <a:schemeClr val="dk1"/>
              </a:solidFill>
            </a:endParaRPr>
          </a:p>
          <a:p>
            <a:pPr indent="0" lvl="0" marL="0" rtl="0" algn="l">
              <a:spcBef>
                <a:spcPts val="1200"/>
              </a:spcBef>
              <a:spcAft>
                <a:spcPts val="0"/>
              </a:spcAft>
              <a:buNone/>
            </a:pPr>
            <a:r>
              <a:t/>
            </a:r>
            <a:endParaRPr sz="1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53"/>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77500" lnSpcReduction="20000"/>
          </a:bodyPr>
          <a:lstStyle/>
          <a:p>
            <a:pPr indent="0" lvl="0" marL="0" rtl="0" algn="l">
              <a:lnSpc>
                <a:spcPct val="100000"/>
              </a:lnSpc>
              <a:spcBef>
                <a:spcPts val="80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pop()</a:t>
            </a:r>
            <a:endParaRPr sz="1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The </a:t>
            </a:r>
            <a:r>
              <a:rPr lang="en" sz="1400">
                <a:solidFill>
                  <a:srgbClr val="DC143C"/>
                </a:solidFill>
                <a:highlight>
                  <a:srgbClr val="FFFFFF"/>
                </a:highlight>
                <a:latin typeface="Times New Roman"/>
                <a:ea typeface="Times New Roman"/>
                <a:cs typeface="Times New Roman"/>
                <a:sym typeface="Times New Roman"/>
              </a:rPr>
              <a:t>pop()</a:t>
            </a:r>
            <a:r>
              <a:rPr lang="en" sz="1400">
                <a:solidFill>
                  <a:schemeClr val="dk1"/>
                </a:solidFill>
                <a:highlight>
                  <a:srgbClr val="FFFFFF"/>
                </a:highlight>
                <a:latin typeface="Times New Roman"/>
                <a:ea typeface="Times New Roman"/>
                <a:cs typeface="Times New Roman"/>
                <a:sym typeface="Times New Roman"/>
              </a:rPr>
              <a:t> method removes the last element from an array:</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&lt;html&gt;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&lt;body&gt;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&lt;h1&gt;JavaScript Arrays&lt;/h1&gt;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&lt;h2&gt;The pop() Method&lt;/h2&gt;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&lt;p&gt;The pop() method removes the last element from an array.&lt;/p&gt;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&lt;p id="demo1"&gt;&lt;/p&gt;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&lt;p id="demo2"&gt;&lt;/p&gt;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&lt;script&gt;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const fruits = ["Banana", "Orange", "Apple", "Mango"];</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document.getElementById("demo1").innerHTML = fruits;</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fruits.pop();</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document.getElementById("demo2").innerHTML = fruits;</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&lt;/script&gt;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&lt;/body&gt;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&lt;/html&gt;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sz="1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54"/>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chemeClr val="dk1"/>
                </a:solidFill>
                <a:highlight>
                  <a:srgbClr val="FFFFFF"/>
                </a:highlight>
                <a:latin typeface="Times New Roman"/>
                <a:ea typeface="Times New Roman"/>
                <a:cs typeface="Times New Roman"/>
                <a:sym typeface="Times New Roman"/>
              </a:rPr>
              <a:t>OUTPUT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2400"/>
              </a:spcBef>
              <a:spcAft>
                <a:spcPts val="0"/>
              </a:spcAft>
              <a:buClr>
                <a:schemeClr val="dk1"/>
              </a:buClr>
              <a:buSzPts val="1100"/>
              <a:buFont typeface="Arial"/>
              <a:buNone/>
            </a:pPr>
            <a:r>
              <a:rPr b="1" lang="en" sz="2300">
                <a:solidFill>
                  <a:schemeClr val="dk1"/>
                </a:solidFill>
              </a:rPr>
              <a:t>JavaScript Arrays</a:t>
            </a:r>
            <a:endParaRPr b="1" sz="2300">
              <a:solidFill>
                <a:schemeClr val="dk1"/>
              </a:solidFill>
            </a:endParaRPr>
          </a:p>
          <a:p>
            <a:pPr indent="0" lvl="0" marL="0" rtl="0" algn="l">
              <a:spcBef>
                <a:spcPts val="1800"/>
              </a:spcBef>
              <a:spcAft>
                <a:spcPts val="0"/>
              </a:spcAft>
              <a:buClr>
                <a:schemeClr val="dk1"/>
              </a:buClr>
              <a:buSzPts val="1100"/>
              <a:buFont typeface="Arial"/>
              <a:buNone/>
            </a:pPr>
            <a:r>
              <a:rPr b="1" lang="en" sz="1700">
                <a:solidFill>
                  <a:schemeClr val="dk1"/>
                </a:solidFill>
              </a:rPr>
              <a:t>The pop() Method</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The pop() method removes the last element from an array.</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Banana,Orange,Apple,Mango</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Banana,Orange,Apple</a:t>
            </a:r>
            <a:endParaRPr sz="1100">
              <a:solidFill>
                <a:schemeClr val="dk1"/>
              </a:solidFill>
            </a:endParaRPr>
          </a:p>
          <a:p>
            <a:pPr indent="0" lvl="0" marL="0" rtl="0" algn="l">
              <a:spcBef>
                <a:spcPts val="1200"/>
              </a:spcBef>
              <a:spcAft>
                <a:spcPts val="0"/>
              </a:spcAft>
              <a:buNone/>
            </a:pPr>
            <a:r>
              <a:t/>
            </a:r>
            <a:endParaRPr sz="1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55"/>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77500" lnSpcReduction="20000"/>
          </a:bodyPr>
          <a:lstStyle/>
          <a:p>
            <a:pPr indent="0" lvl="0" marL="0" rtl="0" algn="l">
              <a:spcBef>
                <a:spcPts val="800"/>
              </a:spcBef>
              <a:spcAft>
                <a:spcPts val="0"/>
              </a:spcAft>
              <a:buClr>
                <a:schemeClr val="dk1"/>
              </a:buClr>
              <a:buSzPct val="45833"/>
              <a:buFont typeface="Arial"/>
              <a:buNone/>
            </a:pPr>
            <a:r>
              <a:rPr lang="en" sz="2400">
                <a:solidFill>
                  <a:schemeClr val="dk1"/>
                </a:solidFill>
                <a:highlight>
                  <a:srgbClr val="FFFFFF"/>
                </a:highlight>
              </a:rPr>
              <a:t>push()</a:t>
            </a:r>
            <a:endParaRPr sz="2400">
              <a:solidFill>
                <a:schemeClr val="dk1"/>
              </a:solidFill>
              <a:highlight>
                <a:srgbClr val="FFFFFF"/>
              </a:highlight>
            </a:endParaRPr>
          </a:p>
          <a:p>
            <a:pPr indent="0" lvl="0" marL="0" rtl="0" algn="l">
              <a:spcBef>
                <a:spcPts val="140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The </a:t>
            </a:r>
            <a:r>
              <a:rPr lang="en" sz="1200">
                <a:solidFill>
                  <a:srgbClr val="DC143C"/>
                </a:solidFill>
                <a:highlight>
                  <a:srgbClr val="FFFFFF"/>
                </a:highlight>
                <a:latin typeface="Courier New"/>
                <a:ea typeface="Courier New"/>
                <a:cs typeface="Courier New"/>
                <a:sym typeface="Courier New"/>
              </a:rPr>
              <a:t>push()</a:t>
            </a:r>
            <a:r>
              <a:rPr lang="en" sz="1150">
                <a:solidFill>
                  <a:schemeClr val="dk1"/>
                </a:solidFill>
                <a:highlight>
                  <a:srgbClr val="FFFFFF"/>
                </a:highlight>
                <a:latin typeface="Verdana"/>
                <a:ea typeface="Verdana"/>
                <a:cs typeface="Verdana"/>
                <a:sym typeface="Verdana"/>
              </a:rPr>
              <a:t> method adds a new element to an array (at the end):</a:t>
            </a:r>
            <a:endParaRPr sz="1150">
              <a:solidFill>
                <a:schemeClr val="dk1"/>
              </a:solidFill>
              <a:highlight>
                <a:srgbClr val="FFFFFF"/>
              </a:highlight>
              <a:latin typeface="Verdana"/>
              <a:ea typeface="Verdana"/>
              <a:cs typeface="Verdana"/>
              <a:sym typeface="Verdana"/>
            </a:endParaRPr>
          </a:p>
          <a:p>
            <a:pPr indent="0" lvl="0" marL="0" rtl="0" algn="l">
              <a:spcBef>
                <a:spcPts val="140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&lt;html&gt;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&lt;body&gt;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&lt;h1&gt;JavaScript Arrays&lt;/h1&gt;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&lt;h2&gt;The push() Method&lt;/h2&gt;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&lt;p&gt;The push() method appends a new element to an array:&lt;/p&gt;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&lt;p id="demo1"&gt;&lt;/p&gt;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&lt;p id="demo2"&gt;&lt;/p&gt;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&lt;script&gt;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const fruits = ["Banana", "Orange", "Apple", "Mango"];</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document.getElementById("demo1").innerHTML = fruits;</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fruits.push("Kiwi");</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document.getElementById("demo2").innerHTML = fruits;</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&lt;/script&gt;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&lt;/body&gt;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rPr lang="en" sz="1400">
                <a:solidFill>
                  <a:schemeClr val="dk1"/>
                </a:solidFill>
                <a:highlight>
                  <a:srgbClr val="FFFFFF"/>
                </a:highlight>
                <a:latin typeface="Times New Roman"/>
                <a:ea typeface="Times New Roman"/>
                <a:cs typeface="Times New Roman"/>
                <a:sym typeface="Times New Roman"/>
              </a:rPr>
              <a:t>&lt;/html&gt;</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ct val="78571"/>
              <a:buFont typeface="Arial"/>
              <a:buNone/>
            </a:pPr>
            <a:r>
              <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sz="1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56"/>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chemeClr val="dk1"/>
                </a:solidFill>
                <a:highlight>
                  <a:srgbClr val="FFFFFF"/>
                </a:highlight>
              </a:rPr>
              <a:t>OUTPUT</a:t>
            </a:r>
            <a:endParaRPr sz="2400">
              <a:solidFill>
                <a:schemeClr val="dk1"/>
              </a:solidFill>
              <a:highlight>
                <a:srgbClr val="FFFFFF"/>
              </a:highlight>
            </a:endParaRPr>
          </a:p>
          <a:p>
            <a:pPr indent="0" lvl="0" marL="0" rtl="0" algn="l">
              <a:spcBef>
                <a:spcPts val="2400"/>
              </a:spcBef>
              <a:spcAft>
                <a:spcPts val="0"/>
              </a:spcAft>
              <a:buClr>
                <a:schemeClr val="dk1"/>
              </a:buClr>
              <a:buSzPts val="1100"/>
              <a:buFont typeface="Arial"/>
              <a:buNone/>
            </a:pPr>
            <a:r>
              <a:rPr b="1" lang="en" sz="2300">
                <a:solidFill>
                  <a:schemeClr val="dk1"/>
                </a:solidFill>
              </a:rPr>
              <a:t>JavaScript Arrays</a:t>
            </a:r>
            <a:endParaRPr b="1" sz="2300">
              <a:solidFill>
                <a:schemeClr val="dk1"/>
              </a:solidFill>
            </a:endParaRPr>
          </a:p>
          <a:p>
            <a:pPr indent="0" lvl="0" marL="0" rtl="0" algn="l">
              <a:spcBef>
                <a:spcPts val="1800"/>
              </a:spcBef>
              <a:spcAft>
                <a:spcPts val="0"/>
              </a:spcAft>
              <a:buClr>
                <a:schemeClr val="dk1"/>
              </a:buClr>
              <a:buSzPts val="1100"/>
              <a:buFont typeface="Arial"/>
              <a:buNone/>
            </a:pPr>
            <a:r>
              <a:rPr b="1" lang="en" sz="1700">
                <a:solidFill>
                  <a:schemeClr val="dk1"/>
                </a:solidFill>
              </a:rPr>
              <a:t>The push() Method</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The push() method appends a new element to an array:</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Banana,Orange,Apple,Mango</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Banana,Orange,Apple,Mango,Kiwi</a:t>
            </a:r>
            <a:endParaRPr sz="1100">
              <a:solidFill>
                <a:schemeClr val="dk1"/>
              </a:solidFill>
            </a:endParaRPr>
          </a:p>
          <a:p>
            <a:pPr indent="0" lvl="0" marL="0" rtl="0" algn="l">
              <a:spcBef>
                <a:spcPts val="1200"/>
              </a:spcBef>
              <a:spcAft>
                <a:spcPts val="0"/>
              </a:spcAft>
              <a:buNone/>
            </a:pPr>
            <a:r>
              <a:t/>
            </a:r>
            <a:endParaRPr sz="2400">
              <a:solidFill>
                <a:schemeClr val="dk1"/>
              </a:solidFill>
              <a:highlight>
                <a:srgbClr val="FFFFFF"/>
              </a:highlight>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57"/>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lnSpc>
                <a:spcPct val="100000"/>
              </a:lnSpc>
              <a:spcBef>
                <a:spcPts val="800"/>
              </a:spcBef>
              <a:spcAft>
                <a:spcPts val="0"/>
              </a:spcAft>
              <a:buClr>
                <a:schemeClr val="dk1"/>
              </a:buClr>
              <a:buSzPts val="1100"/>
              <a:buFont typeface="Arial"/>
              <a:buNone/>
            </a:pPr>
            <a:r>
              <a:rPr b="1" lang="en" sz="1400" u="sng">
                <a:solidFill>
                  <a:schemeClr val="dk1"/>
                </a:solidFill>
                <a:highlight>
                  <a:srgbClr val="FFFFFF"/>
                </a:highlight>
                <a:latin typeface="Times New Roman"/>
                <a:ea typeface="Times New Roman"/>
                <a:cs typeface="Times New Roman"/>
                <a:sym typeface="Times New Roman"/>
              </a:rPr>
              <a:t>Conditional Statements</a:t>
            </a:r>
            <a:endParaRPr b="1" sz="1400" u="sng">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400">
                <a:solidFill>
                  <a:schemeClr val="dk1"/>
                </a:solidFill>
                <a:highlight>
                  <a:srgbClr val="FFFFFF"/>
                </a:highlight>
                <a:latin typeface="Times New Roman"/>
                <a:ea typeface="Times New Roman"/>
                <a:cs typeface="Times New Roman"/>
                <a:sym typeface="Times New Roman"/>
              </a:rPr>
              <a:t>Conditional statements are used to perform different actions based on different conditions.</a:t>
            </a:r>
            <a:endParaRPr sz="1400">
              <a:solidFill>
                <a:schemeClr val="dk1"/>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lang="en" sz="1400">
                <a:solidFill>
                  <a:schemeClr val="dk1"/>
                </a:solidFill>
                <a:highlight>
                  <a:srgbClr val="FFFFFF"/>
                </a:highlight>
                <a:latin typeface="Times New Roman"/>
                <a:ea typeface="Times New Roman"/>
                <a:cs typeface="Times New Roman"/>
                <a:sym typeface="Times New Roman"/>
              </a:rPr>
              <a:t>In JavaScript we have the following conditional statements:</a:t>
            </a:r>
            <a:endParaRPr sz="1400">
              <a:solidFill>
                <a:schemeClr val="dk1"/>
              </a:solidFill>
              <a:highlight>
                <a:srgbClr val="FFFFFF"/>
              </a:highlight>
              <a:latin typeface="Times New Roman"/>
              <a:ea typeface="Times New Roman"/>
              <a:cs typeface="Times New Roman"/>
              <a:sym typeface="Times New Roman"/>
            </a:endParaRPr>
          </a:p>
          <a:p>
            <a:pPr indent="-301625" lvl="0" marL="457200" rtl="0" algn="l">
              <a:spcBef>
                <a:spcPts val="1400"/>
              </a:spcBef>
              <a:spcAft>
                <a:spcPts val="0"/>
              </a:spcAft>
              <a:buClr>
                <a:schemeClr val="dk1"/>
              </a:buClr>
              <a:buSzPts val="1150"/>
              <a:buFont typeface="Verdana"/>
              <a:buChar char="●"/>
            </a:pPr>
            <a:r>
              <a:rPr lang="en" sz="1400">
                <a:solidFill>
                  <a:schemeClr val="dk1"/>
                </a:solidFill>
                <a:highlight>
                  <a:srgbClr val="FFFFFF"/>
                </a:highlight>
                <a:latin typeface="Times New Roman"/>
                <a:ea typeface="Times New Roman"/>
                <a:cs typeface="Times New Roman"/>
                <a:sym typeface="Times New Roman"/>
              </a:rPr>
              <a:t>Use if to specify a block of code to be executed, if a specified condition is true</a:t>
            </a:r>
            <a:endParaRPr sz="1400">
              <a:solidFill>
                <a:schemeClr val="dk1"/>
              </a:solidFill>
              <a:highlight>
                <a:srgbClr val="FFFFFF"/>
              </a:highlight>
              <a:latin typeface="Times New Roman"/>
              <a:ea typeface="Times New Roman"/>
              <a:cs typeface="Times New Roman"/>
              <a:sym typeface="Times New Roman"/>
            </a:endParaRPr>
          </a:p>
          <a:p>
            <a:pPr indent="-301625" lvl="0" marL="457200" rtl="0" algn="l">
              <a:spcBef>
                <a:spcPts val="0"/>
              </a:spcBef>
              <a:spcAft>
                <a:spcPts val="0"/>
              </a:spcAft>
              <a:buClr>
                <a:schemeClr val="dk1"/>
              </a:buClr>
              <a:buSzPts val="1150"/>
              <a:buFont typeface="Verdana"/>
              <a:buChar char="●"/>
            </a:pPr>
            <a:r>
              <a:rPr lang="en" sz="1400">
                <a:solidFill>
                  <a:schemeClr val="dk1"/>
                </a:solidFill>
                <a:highlight>
                  <a:srgbClr val="FFFFFF"/>
                </a:highlight>
                <a:latin typeface="Times New Roman"/>
                <a:ea typeface="Times New Roman"/>
                <a:cs typeface="Times New Roman"/>
                <a:sym typeface="Times New Roman"/>
              </a:rPr>
              <a:t>Use else to specify a block of code to be executed, if the same condition is false</a:t>
            </a:r>
            <a:endParaRPr sz="1400">
              <a:solidFill>
                <a:schemeClr val="dk1"/>
              </a:solidFill>
              <a:highlight>
                <a:srgbClr val="FFFFFF"/>
              </a:highlight>
              <a:latin typeface="Times New Roman"/>
              <a:ea typeface="Times New Roman"/>
              <a:cs typeface="Times New Roman"/>
              <a:sym typeface="Times New Roman"/>
            </a:endParaRPr>
          </a:p>
          <a:p>
            <a:pPr indent="-301625" lvl="0" marL="457200" rtl="0" algn="l">
              <a:spcBef>
                <a:spcPts val="0"/>
              </a:spcBef>
              <a:spcAft>
                <a:spcPts val="0"/>
              </a:spcAft>
              <a:buClr>
                <a:schemeClr val="dk1"/>
              </a:buClr>
              <a:buSzPts val="1150"/>
              <a:buFont typeface="Verdana"/>
              <a:buChar char="●"/>
            </a:pPr>
            <a:r>
              <a:rPr lang="en" sz="1400">
                <a:solidFill>
                  <a:schemeClr val="dk1"/>
                </a:solidFill>
                <a:highlight>
                  <a:srgbClr val="FFFFFF"/>
                </a:highlight>
                <a:latin typeface="Times New Roman"/>
                <a:ea typeface="Times New Roman"/>
                <a:cs typeface="Times New Roman"/>
                <a:sym typeface="Times New Roman"/>
              </a:rPr>
              <a:t>Use else if to specify a new condition to test, if the first condition is false</a:t>
            </a:r>
            <a:endParaRPr sz="1400">
              <a:solidFill>
                <a:schemeClr val="dk1"/>
              </a:solidFill>
              <a:highlight>
                <a:srgbClr val="FFFFFF"/>
              </a:highlight>
              <a:latin typeface="Times New Roman"/>
              <a:ea typeface="Times New Roman"/>
              <a:cs typeface="Times New Roman"/>
              <a:sym typeface="Times New Roman"/>
            </a:endParaRPr>
          </a:p>
          <a:p>
            <a:pPr indent="-301625" lvl="0" marL="457200" rtl="0" algn="l">
              <a:spcBef>
                <a:spcPts val="0"/>
              </a:spcBef>
              <a:spcAft>
                <a:spcPts val="0"/>
              </a:spcAft>
              <a:buClr>
                <a:schemeClr val="dk1"/>
              </a:buClr>
              <a:buSzPts val="1150"/>
              <a:buFont typeface="Verdana"/>
              <a:buChar char="●"/>
            </a:pPr>
            <a:r>
              <a:rPr lang="en" sz="1400">
                <a:solidFill>
                  <a:schemeClr val="dk1"/>
                </a:solidFill>
                <a:highlight>
                  <a:srgbClr val="FFFFFF"/>
                </a:highlight>
                <a:latin typeface="Times New Roman"/>
                <a:ea typeface="Times New Roman"/>
                <a:cs typeface="Times New Roman"/>
                <a:sym typeface="Times New Roman"/>
              </a:rPr>
              <a:t>Use switch to specify many alternative blocks of code to be executed</a:t>
            </a:r>
            <a:endParaRPr sz="1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100"/>
              </a:spcBef>
              <a:spcAft>
                <a:spcPts val="0"/>
              </a:spcAft>
              <a:buNone/>
            </a:pPr>
            <a:r>
              <a:t/>
            </a:r>
            <a:endParaRPr sz="1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58"/>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800"/>
              </a:spcBef>
              <a:spcAft>
                <a:spcPts val="0"/>
              </a:spcAft>
              <a:buClr>
                <a:schemeClr val="dk1"/>
              </a:buClr>
              <a:buSzPts val="1100"/>
              <a:buFont typeface="Arial"/>
              <a:buNone/>
            </a:pPr>
            <a:r>
              <a:rPr lang="en" sz="2400">
                <a:solidFill>
                  <a:schemeClr val="dk1"/>
                </a:solidFill>
                <a:highlight>
                  <a:srgbClr val="FFFFFF"/>
                </a:highlight>
              </a:rPr>
              <a:t>The if Statement</a:t>
            </a:r>
            <a:endParaRPr sz="2400">
              <a:solidFill>
                <a:schemeClr val="dk1"/>
              </a:solidFill>
              <a:highlight>
                <a:srgbClr val="FFFFFF"/>
              </a:highlight>
            </a:endParaRPr>
          </a:p>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Use the </a:t>
            </a:r>
            <a:r>
              <a:rPr lang="en" sz="1200">
                <a:solidFill>
                  <a:srgbClr val="DC143C"/>
                </a:solidFill>
                <a:highlight>
                  <a:srgbClr val="FFFFFF"/>
                </a:highlight>
                <a:latin typeface="Courier New"/>
                <a:ea typeface="Courier New"/>
                <a:cs typeface="Courier New"/>
                <a:sym typeface="Courier New"/>
              </a:rPr>
              <a:t>if</a:t>
            </a:r>
            <a:r>
              <a:rPr lang="en" sz="1150">
                <a:solidFill>
                  <a:schemeClr val="dk1"/>
                </a:solidFill>
                <a:highlight>
                  <a:srgbClr val="FFFFFF"/>
                </a:highlight>
                <a:latin typeface="Verdana"/>
                <a:ea typeface="Verdana"/>
                <a:cs typeface="Verdana"/>
                <a:sym typeface="Verdana"/>
              </a:rPr>
              <a:t> statement to specify a block of JavaScript code to be executed if a condition is true.</a:t>
            </a:r>
            <a:endParaRPr sz="1150">
              <a:solidFill>
                <a:schemeClr val="dk1"/>
              </a:solidFill>
              <a:highlight>
                <a:srgbClr val="FFFFFF"/>
              </a:highlight>
              <a:latin typeface="Verdana"/>
              <a:ea typeface="Verdana"/>
              <a:cs typeface="Verdana"/>
              <a:sym typeface="Verdana"/>
            </a:endParaRPr>
          </a:p>
          <a:p>
            <a:pPr indent="0" lvl="0" marL="0" rtl="0" algn="l">
              <a:spcBef>
                <a:spcPts val="1400"/>
              </a:spcBef>
              <a:spcAft>
                <a:spcPts val="0"/>
              </a:spcAft>
              <a:buClr>
                <a:schemeClr val="dk1"/>
              </a:buClr>
              <a:buSzPts val="1100"/>
              <a:buFont typeface="Arial"/>
              <a:buNone/>
            </a:pPr>
            <a:r>
              <a:rPr lang="en">
                <a:solidFill>
                  <a:schemeClr val="dk1"/>
                </a:solidFill>
                <a:highlight>
                  <a:srgbClr val="FFFFFF"/>
                </a:highlight>
              </a:rPr>
              <a:t>Syntax</a:t>
            </a:r>
            <a:endParaRPr>
              <a:solidFill>
                <a:schemeClr val="dk1"/>
              </a:solidFill>
              <a:highlight>
                <a:srgbClr val="FFFFFF"/>
              </a:highlight>
            </a:endParaRPr>
          </a:p>
          <a:p>
            <a:pPr indent="0" lvl="0" marL="114300" marR="114300" rtl="0" algn="l">
              <a:spcBef>
                <a:spcPts val="1200"/>
              </a:spcBef>
              <a:spcAft>
                <a:spcPts val="0"/>
              </a:spcAft>
              <a:buClr>
                <a:schemeClr val="dk1"/>
              </a:buClr>
              <a:buSzPts val="1100"/>
              <a:buFont typeface="Arial"/>
              <a:buNone/>
            </a:pPr>
            <a:r>
              <a:rPr lang="en" sz="1150">
                <a:solidFill>
                  <a:srgbClr val="0000CD"/>
                </a:solidFill>
                <a:highlight>
                  <a:srgbClr val="FFFFFF"/>
                </a:highlight>
                <a:latin typeface="Courier New"/>
                <a:ea typeface="Courier New"/>
                <a:cs typeface="Courier New"/>
                <a:sym typeface="Courier New"/>
              </a:rPr>
              <a:t>if</a:t>
            </a:r>
            <a:r>
              <a:rPr lang="en" sz="1150">
                <a:solidFill>
                  <a:schemeClr val="dk1"/>
                </a:solidFill>
                <a:highlight>
                  <a:srgbClr val="FFFFFF"/>
                </a:highlight>
                <a:latin typeface="Courier New"/>
                <a:ea typeface="Courier New"/>
                <a:cs typeface="Courier New"/>
                <a:sym typeface="Courier New"/>
              </a:rPr>
              <a:t> (</a:t>
            </a:r>
            <a:r>
              <a:rPr i="1" lang="en" sz="1150">
                <a:solidFill>
                  <a:schemeClr val="dk1"/>
                </a:solidFill>
                <a:highlight>
                  <a:srgbClr val="FFFFFF"/>
                </a:highlight>
                <a:latin typeface="Courier New"/>
                <a:ea typeface="Courier New"/>
                <a:cs typeface="Courier New"/>
                <a:sym typeface="Courier New"/>
              </a:rPr>
              <a:t>condition</a:t>
            </a:r>
            <a:r>
              <a:rPr lang="en" sz="1150">
                <a:solidFill>
                  <a:schemeClr val="dk1"/>
                </a:solidFill>
                <a:highlight>
                  <a:srgbClr val="FFFFFF"/>
                </a:highlight>
                <a:latin typeface="Courier New"/>
                <a:ea typeface="Courier New"/>
                <a:cs typeface="Courier New"/>
                <a:sym typeface="Courier New"/>
              </a:rPr>
              <a:t>) {</a:t>
            </a:r>
            <a:endParaRPr sz="1150">
              <a:solidFill>
                <a:schemeClr val="dk1"/>
              </a:solidFill>
              <a:highlight>
                <a:srgbClr val="FFFFFF"/>
              </a:highlight>
              <a:latin typeface="Courier New"/>
              <a:ea typeface="Courier New"/>
              <a:cs typeface="Courier New"/>
              <a:sym typeface="Courier New"/>
            </a:endParaRPr>
          </a:p>
          <a:p>
            <a:pPr indent="0" lvl="0" marL="114300" marR="114300" rtl="0" algn="l">
              <a:spcBef>
                <a:spcPts val="1200"/>
              </a:spcBef>
              <a:spcAft>
                <a:spcPts val="0"/>
              </a:spcAft>
              <a:buClr>
                <a:schemeClr val="dk1"/>
              </a:buClr>
              <a:buSzPts val="1100"/>
              <a:buFont typeface="Arial"/>
              <a:buNone/>
            </a:pPr>
            <a:r>
              <a:rPr lang="en" sz="1150">
                <a:solidFill>
                  <a:schemeClr val="dk1"/>
                </a:solidFill>
                <a:highlight>
                  <a:srgbClr val="FFFFFF"/>
                </a:highlight>
                <a:latin typeface="Courier New"/>
                <a:ea typeface="Courier New"/>
                <a:cs typeface="Courier New"/>
                <a:sym typeface="Courier New"/>
              </a:rPr>
              <a:t>  </a:t>
            </a:r>
            <a:r>
              <a:rPr lang="en" sz="1150">
                <a:solidFill>
                  <a:srgbClr val="008000"/>
                </a:solidFill>
                <a:highlight>
                  <a:srgbClr val="FFFFFF"/>
                </a:highlight>
                <a:latin typeface="Courier New"/>
                <a:ea typeface="Courier New"/>
                <a:cs typeface="Courier New"/>
                <a:sym typeface="Courier New"/>
              </a:rPr>
              <a:t>//</a:t>
            </a:r>
            <a:r>
              <a:rPr i="1" lang="en" sz="1150">
                <a:solidFill>
                  <a:srgbClr val="008000"/>
                </a:solidFill>
                <a:highlight>
                  <a:srgbClr val="FFFFFF"/>
                </a:highlight>
                <a:latin typeface="Courier New"/>
                <a:ea typeface="Courier New"/>
                <a:cs typeface="Courier New"/>
                <a:sym typeface="Courier New"/>
              </a:rPr>
              <a:t>  block of code to be executed if the condition is true</a:t>
            </a:r>
            <a:endParaRPr i="1" sz="1150">
              <a:solidFill>
                <a:srgbClr val="008000"/>
              </a:solidFill>
              <a:highlight>
                <a:srgbClr val="FFFFFF"/>
              </a:highlight>
              <a:latin typeface="Courier New"/>
              <a:ea typeface="Courier New"/>
              <a:cs typeface="Courier New"/>
              <a:sym typeface="Courier New"/>
            </a:endParaRPr>
          </a:p>
          <a:p>
            <a:pPr indent="0" lvl="0" marL="114300" marR="114300" rtl="0" algn="l">
              <a:spcBef>
                <a:spcPts val="1200"/>
              </a:spcBef>
              <a:spcAft>
                <a:spcPts val="0"/>
              </a:spcAft>
              <a:buClr>
                <a:schemeClr val="dk1"/>
              </a:buClr>
              <a:buSzPts val="1100"/>
              <a:buFont typeface="Arial"/>
              <a:buNone/>
            </a:pPr>
            <a:r>
              <a:rPr lang="en" sz="1150">
                <a:solidFill>
                  <a:schemeClr val="dk1"/>
                </a:solidFill>
                <a:highlight>
                  <a:srgbClr val="FFFFFF"/>
                </a:highlight>
                <a:latin typeface="Courier New"/>
                <a:ea typeface="Courier New"/>
                <a:cs typeface="Courier New"/>
                <a:sym typeface="Courier New"/>
              </a:rPr>
              <a:t>}</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1200"/>
              </a:spcBef>
              <a:spcAft>
                <a:spcPts val="0"/>
              </a:spcAft>
              <a:buNone/>
            </a:pPr>
            <a:r>
              <a:rPr lang="en" sz="1150">
                <a:solidFill>
                  <a:schemeClr val="dk1"/>
                </a:solidFill>
                <a:highlight>
                  <a:srgbClr val="FFFFCC"/>
                </a:highlight>
                <a:latin typeface="Verdana"/>
                <a:ea typeface="Verdana"/>
                <a:cs typeface="Verdana"/>
                <a:sym typeface="Verdana"/>
              </a:rPr>
              <a:t>Note that </a:t>
            </a:r>
            <a:r>
              <a:rPr lang="en" sz="1200">
                <a:solidFill>
                  <a:srgbClr val="DC143C"/>
                </a:solidFill>
                <a:latin typeface="Courier New"/>
                <a:ea typeface="Courier New"/>
                <a:cs typeface="Courier New"/>
                <a:sym typeface="Courier New"/>
              </a:rPr>
              <a:t>if</a:t>
            </a:r>
            <a:r>
              <a:rPr lang="en" sz="1150">
                <a:solidFill>
                  <a:schemeClr val="dk1"/>
                </a:solidFill>
                <a:highlight>
                  <a:srgbClr val="FFFFCC"/>
                </a:highlight>
                <a:latin typeface="Verdana"/>
                <a:ea typeface="Verdana"/>
                <a:cs typeface="Verdana"/>
                <a:sym typeface="Verdana"/>
              </a:rPr>
              <a:t> is in lowercase letters. Uppercase letters (If or IF) will generate a JavaScript error.</a:t>
            </a:r>
            <a:endParaRPr b="1" sz="1400" u="sng">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9"/>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62500" lnSpcReduction="20000"/>
          </a:bodyPr>
          <a:lstStyle/>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&lt;html&gt;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&lt;body&gt;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&lt;h2&gt;JavaScript if&lt;/h2&gt;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&lt;p&gt;Display "Good day!" if the hour is less than 18:00:&lt;/p&gt;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&lt;p id="demo"&gt;Good Evening!&lt;/p&gt;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&lt;script&gt;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let a=18</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if (a &lt; 18)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  document.getElementById("demo").innerHTML = "Good day”</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&lt;/script&gt;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&lt;/body&gt;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&lt;/html&gt;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None/>
            </a:pPr>
            <a:r>
              <a:t/>
            </a:r>
            <a:endParaRPr sz="2400">
              <a:solidFill>
                <a:schemeClr val="dk1"/>
              </a:solidFill>
              <a:highlight>
                <a:srgbClr val="FFFFFF"/>
              </a:highligh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60"/>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2400">
                <a:solidFill>
                  <a:schemeClr val="dk1"/>
                </a:solidFill>
                <a:highlight>
                  <a:srgbClr val="FFFFFF"/>
                </a:highlight>
              </a:rPr>
              <a:t>OUTPUT</a:t>
            </a:r>
            <a:endParaRPr sz="2400">
              <a:solidFill>
                <a:schemeClr val="dk1"/>
              </a:solidFill>
              <a:highlight>
                <a:srgbClr val="FFFFFF"/>
              </a:highlight>
            </a:endParaRPr>
          </a:p>
          <a:p>
            <a:pPr indent="0" lvl="0" marL="0" rtl="0" algn="l">
              <a:spcBef>
                <a:spcPts val="1800"/>
              </a:spcBef>
              <a:spcAft>
                <a:spcPts val="0"/>
              </a:spcAft>
              <a:buClr>
                <a:schemeClr val="dk1"/>
              </a:buClr>
              <a:buSzPts val="1100"/>
              <a:buFont typeface="Arial"/>
              <a:buNone/>
            </a:pPr>
            <a:r>
              <a:rPr b="1" lang="en" sz="1700">
                <a:solidFill>
                  <a:schemeClr val="dk1"/>
                </a:solidFill>
              </a:rPr>
              <a:t>JavaScript if</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Display "Good day!" if the hour is less than 18:00:</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Good day!</a:t>
            </a:r>
            <a:endParaRPr sz="1100">
              <a:solidFill>
                <a:schemeClr val="dk1"/>
              </a:solidFill>
            </a:endParaRPr>
          </a:p>
          <a:p>
            <a:pPr indent="0" lvl="0" marL="0" rtl="0" algn="l">
              <a:lnSpc>
                <a:spcPct val="100000"/>
              </a:lnSpc>
              <a:spcBef>
                <a:spcPts val="1200"/>
              </a:spcBef>
              <a:spcAft>
                <a:spcPts val="0"/>
              </a:spcAft>
              <a:buNone/>
            </a:pPr>
            <a:r>
              <a:t/>
            </a:r>
            <a:endParaRPr sz="2400">
              <a:solidFill>
                <a:schemeClr val="dk1"/>
              </a:solidFill>
              <a:highlight>
                <a:srgbClr val="FFFFFF"/>
              </a:highlight>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61"/>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800"/>
              </a:spcBef>
              <a:spcAft>
                <a:spcPts val="0"/>
              </a:spcAft>
              <a:buClr>
                <a:schemeClr val="dk1"/>
              </a:buClr>
              <a:buSzPts val="1100"/>
              <a:buFont typeface="Arial"/>
              <a:buNone/>
            </a:pPr>
            <a:r>
              <a:rPr lang="en" sz="2400">
                <a:solidFill>
                  <a:schemeClr val="dk1"/>
                </a:solidFill>
                <a:highlight>
                  <a:srgbClr val="FFFFFF"/>
                </a:highlight>
              </a:rPr>
              <a:t>The else Statement</a:t>
            </a:r>
            <a:endParaRPr sz="2400">
              <a:solidFill>
                <a:schemeClr val="dk1"/>
              </a:solidFill>
              <a:highlight>
                <a:srgbClr val="FFFFFF"/>
              </a:highlight>
            </a:endParaRPr>
          </a:p>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Use the </a:t>
            </a:r>
            <a:r>
              <a:rPr lang="en" sz="1200">
                <a:solidFill>
                  <a:srgbClr val="DC143C"/>
                </a:solidFill>
                <a:highlight>
                  <a:srgbClr val="FFFFFF"/>
                </a:highlight>
                <a:latin typeface="Courier New"/>
                <a:ea typeface="Courier New"/>
                <a:cs typeface="Courier New"/>
                <a:sym typeface="Courier New"/>
              </a:rPr>
              <a:t>else</a:t>
            </a:r>
            <a:r>
              <a:rPr lang="en" sz="1150">
                <a:solidFill>
                  <a:schemeClr val="dk1"/>
                </a:solidFill>
                <a:highlight>
                  <a:srgbClr val="FFFFFF"/>
                </a:highlight>
                <a:latin typeface="Verdana"/>
                <a:ea typeface="Verdana"/>
                <a:cs typeface="Verdana"/>
                <a:sym typeface="Verdana"/>
              </a:rPr>
              <a:t> statement to specify a block of code to be executed if the condition is false.</a:t>
            </a:r>
            <a:endParaRPr sz="1150">
              <a:solidFill>
                <a:schemeClr val="dk1"/>
              </a:solidFill>
              <a:highlight>
                <a:srgbClr val="FFFFFF"/>
              </a:highlight>
              <a:latin typeface="Verdana"/>
              <a:ea typeface="Verdana"/>
              <a:cs typeface="Verdana"/>
              <a:sym typeface="Verdana"/>
            </a:endParaRPr>
          </a:p>
          <a:p>
            <a:pPr indent="0" lvl="0" marL="114300" marR="114300" rtl="0" algn="l">
              <a:spcBef>
                <a:spcPts val="1400"/>
              </a:spcBef>
              <a:spcAft>
                <a:spcPts val="0"/>
              </a:spcAft>
              <a:buClr>
                <a:schemeClr val="dk1"/>
              </a:buClr>
              <a:buSzPts val="1100"/>
              <a:buFont typeface="Arial"/>
              <a:buNone/>
            </a:pPr>
            <a:r>
              <a:rPr lang="en" sz="1150">
                <a:solidFill>
                  <a:srgbClr val="0000CD"/>
                </a:solidFill>
                <a:highlight>
                  <a:srgbClr val="FFFFFF"/>
                </a:highlight>
                <a:latin typeface="Courier New"/>
                <a:ea typeface="Courier New"/>
                <a:cs typeface="Courier New"/>
                <a:sym typeface="Courier New"/>
              </a:rPr>
              <a:t>if</a:t>
            </a:r>
            <a:r>
              <a:rPr lang="en" sz="1150">
                <a:solidFill>
                  <a:schemeClr val="dk1"/>
                </a:solidFill>
                <a:highlight>
                  <a:srgbClr val="FFFFFF"/>
                </a:highlight>
                <a:latin typeface="Courier New"/>
                <a:ea typeface="Courier New"/>
                <a:cs typeface="Courier New"/>
                <a:sym typeface="Courier New"/>
              </a:rPr>
              <a:t> (</a:t>
            </a:r>
            <a:r>
              <a:rPr i="1" lang="en" sz="1150">
                <a:solidFill>
                  <a:schemeClr val="dk1"/>
                </a:solidFill>
                <a:highlight>
                  <a:srgbClr val="FFFFFF"/>
                </a:highlight>
                <a:latin typeface="Courier New"/>
                <a:ea typeface="Courier New"/>
                <a:cs typeface="Courier New"/>
                <a:sym typeface="Courier New"/>
              </a:rPr>
              <a:t>condition</a:t>
            </a:r>
            <a:r>
              <a:rPr lang="en" sz="1150">
                <a:solidFill>
                  <a:schemeClr val="dk1"/>
                </a:solidFill>
                <a:highlight>
                  <a:srgbClr val="FFFFFF"/>
                </a:highlight>
                <a:latin typeface="Courier New"/>
                <a:ea typeface="Courier New"/>
                <a:cs typeface="Courier New"/>
                <a:sym typeface="Courier New"/>
              </a:rPr>
              <a:t>) {</a:t>
            </a:r>
            <a:endParaRPr sz="1150">
              <a:solidFill>
                <a:schemeClr val="dk1"/>
              </a:solidFill>
              <a:highlight>
                <a:srgbClr val="FFFFFF"/>
              </a:highlight>
              <a:latin typeface="Courier New"/>
              <a:ea typeface="Courier New"/>
              <a:cs typeface="Courier New"/>
              <a:sym typeface="Courier New"/>
            </a:endParaRPr>
          </a:p>
          <a:p>
            <a:pPr indent="0" lvl="0" marL="114300" marR="114300" rtl="0" algn="l">
              <a:spcBef>
                <a:spcPts val="1200"/>
              </a:spcBef>
              <a:spcAft>
                <a:spcPts val="0"/>
              </a:spcAft>
              <a:buClr>
                <a:schemeClr val="dk1"/>
              </a:buClr>
              <a:buSzPts val="1100"/>
              <a:buFont typeface="Arial"/>
              <a:buNone/>
            </a:pPr>
            <a:r>
              <a:rPr lang="en" sz="1150">
                <a:solidFill>
                  <a:schemeClr val="dk1"/>
                </a:solidFill>
                <a:highlight>
                  <a:srgbClr val="FFFFFF"/>
                </a:highlight>
                <a:latin typeface="Courier New"/>
                <a:ea typeface="Courier New"/>
                <a:cs typeface="Courier New"/>
                <a:sym typeface="Courier New"/>
              </a:rPr>
              <a:t>  </a:t>
            </a:r>
            <a:r>
              <a:rPr lang="en" sz="1150">
                <a:solidFill>
                  <a:srgbClr val="008000"/>
                </a:solidFill>
                <a:highlight>
                  <a:srgbClr val="FFFFFF"/>
                </a:highlight>
                <a:latin typeface="Courier New"/>
                <a:ea typeface="Courier New"/>
                <a:cs typeface="Courier New"/>
                <a:sym typeface="Courier New"/>
              </a:rPr>
              <a:t>//</a:t>
            </a:r>
            <a:r>
              <a:rPr i="1" lang="en" sz="1150">
                <a:solidFill>
                  <a:srgbClr val="008000"/>
                </a:solidFill>
                <a:highlight>
                  <a:srgbClr val="FFFFFF"/>
                </a:highlight>
                <a:latin typeface="Courier New"/>
                <a:ea typeface="Courier New"/>
                <a:cs typeface="Courier New"/>
                <a:sym typeface="Courier New"/>
              </a:rPr>
              <a:t>  block of code to be executed if the condition is true</a:t>
            </a:r>
            <a:endParaRPr i="1" sz="1150">
              <a:solidFill>
                <a:srgbClr val="008000"/>
              </a:solidFill>
              <a:highlight>
                <a:srgbClr val="FFFFFF"/>
              </a:highlight>
              <a:latin typeface="Courier New"/>
              <a:ea typeface="Courier New"/>
              <a:cs typeface="Courier New"/>
              <a:sym typeface="Courier New"/>
            </a:endParaRPr>
          </a:p>
          <a:p>
            <a:pPr indent="0" lvl="0" marL="114300" marR="114300" rtl="0" algn="l">
              <a:spcBef>
                <a:spcPts val="1200"/>
              </a:spcBef>
              <a:spcAft>
                <a:spcPts val="0"/>
              </a:spcAft>
              <a:buClr>
                <a:schemeClr val="dk1"/>
              </a:buClr>
              <a:buSzPts val="1100"/>
              <a:buFont typeface="Arial"/>
              <a:buNone/>
            </a:pPr>
            <a:r>
              <a:rPr lang="en" sz="1150">
                <a:solidFill>
                  <a:schemeClr val="dk1"/>
                </a:solidFill>
                <a:highlight>
                  <a:srgbClr val="FFFFFF"/>
                </a:highlight>
                <a:latin typeface="Courier New"/>
                <a:ea typeface="Courier New"/>
                <a:cs typeface="Courier New"/>
                <a:sym typeface="Courier New"/>
              </a:rPr>
              <a:t>} </a:t>
            </a:r>
            <a:r>
              <a:rPr lang="en" sz="1150">
                <a:solidFill>
                  <a:srgbClr val="0000CD"/>
                </a:solidFill>
                <a:highlight>
                  <a:srgbClr val="FFFFFF"/>
                </a:highlight>
                <a:latin typeface="Courier New"/>
                <a:ea typeface="Courier New"/>
                <a:cs typeface="Courier New"/>
                <a:sym typeface="Courier New"/>
              </a:rPr>
              <a:t>else</a:t>
            </a:r>
            <a:r>
              <a:rPr lang="en" sz="1150">
                <a:solidFill>
                  <a:schemeClr val="dk1"/>
                </a:solidFill>
                <a:highlight>
                  <a:srgbClr val="FFFFFF"/>
                </a:highlight>
                <a:latin typeface="Courier New"/>
                <a:ea typeface="Courier New"/>
                <a:cs typeface="Courier New"/>
                <a:sym typeface="Courier New"/>
              </a:rPr>
              <a:t> {</a:t>
            </a:r>
            <a:endParaRPr sz="1150">
              <a:solidFill>
                <a:schemeClr val="dk1"/>
              </a:solidFill>
              <a:highlight>
                <a:srgbClr val="FFFFFF"/>
              </a:highlight>
              <a:latin typeface="Courier New"/>
              <a:ea typeface="Courier New"/>
              <a:cs typeface="Courier New"/>
              <a:sym typeface="Courier New"/>
            </a:endParaRPr>
          </a:p>
          <a:p>
            <a:pPr indent="0" lvl="0" marL="114300" marR="114300" rtl="0" algn="l">
              <a:spcBef>
                <a:spcPts val="1200"/>
              </a:spcBef>
              <a:spcAft>
                <a:spcPts val="0"/>
              </a:spcAft>
              <a:buClr>
                <a:schemeClr val="dk1"/>
              </a:buClr>
              <a:buSzPts val="1100"/>
              <a:buFont typeface="Arial"/>
              <a:buNone/>
            </a:pPr>
            <a:r>
              <a:rPr lang="en" sz="1150">
                <a:solidFill>
                  <a:schemeClr val="dk1"/>
                </a:solidFill>
                <a:highlight>
                  <a:srgbClr val="FFFFFF"/>
                </a:highlight>
                <a:latin typeface="Courier New"/>
                <a:ea typeface="Courier New"/>
                <a:cs typeface="Courier New"/>
                <a:sym typeface="Courier New"/>
              </a:rPr>
              <a:t>  </a:t>
            </a:r>
            <a:r>
              <a:rPr lang="en" sz="1150">
                <a:solidFill>
                  <a:srgbClr val="008000"/>
                </a:solidFill>
                <a:highlight>
                  <a:srgbClr val="FFFFFF"/>
                </a:highlight>
                <a:latin typeface="Courier New"/>
                <a:ea typeface="Courier New"/>
                <a:cs typeface="Courier New"/>
                <a:sym typeface="Courier New"/>
              </a:rPr>
              <a:t>//</a:t>
            </a:r>
            <a:r>
              <a:rPr i="1" lang="en" sz="1150">
                <a:solidFill>
                  <a:srgbClr val="008000"/>
                </a:solidFill>
                <a:highlight>
                  <a:srgbClr val="FFFFFF"/>
                </a:highlight>
                <a:latin typeface="Courier New"/>
                <a:ea typeface="Courier New"/>
                <a:cs typeface="Courier New"/>
                <a:sym typeface="Courier New"/>
              </a:rPr>
              <a:t>  block of code to be executed if the condition is false</a:t>
            </a:r>
            <a:endParaRPr i="1" sz="1150">
              <a:solidFill>
                <a:srgbClr val="008000"/>
              </a:solidFill>
              <a:highlight>
                <a:srgbClr val="FFFFFF"/>
              </a:highlight>
              <a:latin typeface="Courier New"/>
              <a:ea typeface="Courier New"/>
              <a:cs typeface="Courier New"/>
              <a:sym typeface="Courier New"/>
            </a:endParaRPr>
          </a:p>
          <a:p>
            <a:pPr indent="0" lvl="0" marL="114300" marR="114300" rtl="0" algn="l">
              <a:spcBef>
                <a:spcPts val="1200"/>
              </a:spcBef>
              <a:spcAft>
                <a:spcPts val="0"/>
              </a:spcAft>
              <a:buClr>
                <a:schemeClr val="dk1"/>
              </a:buClr>
              <a:buSzPts val="1100"/>
              <a:buFont typeface="Arial"/>
              <a:buNone/>
            </a:pPr>
            <a:r>
              <a:rPr lang="en" sz="1150">
                <a:solidFill>
                  <a:schemeClr val="dk1"/>
                </a:solidFill>
                <a:highlight>
                  <a:srgbClr val="FFFFFF"/>
                </a:highlight>
                <a:latin typeface="Courier New"/>
                <a:ea typeface="Courier New"/>
                <a:cs typeface="Courier New"/>
                <a:sym typeface="Courier New"/>
              </a:rPr>
              <a:t>}</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1200"/>
              </a:spcBef>
              <a:spcAft>
                <a:spcPts val="0"/>
              </a:spcAft>
              <a:buNone/>
            </a:pPr>
            <a:r>
              <a:t/>
            </a:r>
            <a:endParaRPr sz="2400">
              <a:solidFill>
                <a:schemeClr val="dk1"/>
              </a:solidFill>
              <a:highlight>
                <a:srgbClr val="FFFFFF"/>
              </a:highligh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62"/>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47500" lnSpcReduction="10000"/>
          </a:bodyPr>
          <a:lstStyle/>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&lt;html&gt;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&lt;body&gt;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&lt;h2&gt;JavaScript if .. else&lt;/h2&gt;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&lt;p&gt;A time-based greeting:&lt;/p&gt;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&lt;p id="demo"&gt;&lt;/p&gt;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&lt;script&gt;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const hour = new Date().getHours();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let greeting;</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if (hour &lt; 18)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  greeting = "Good day";</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 else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  greeting = "Good evening";</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document.getElementById("demo").innerHTML = greeting;</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&lt;/script&gt;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&lt;/body&gt;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&lt;/html&gt;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None/>
            </a:pPr>
            <a:r>
              <a:t/>
            </a:r>
            <a:endParaRPr sz="2400">
              <a:solidFill>
                <a:schemeClr val="dk1"/>
              </a:solidFill>
              <a:highlight>
                <a:srgbClr val="FFFFFF"/>
              </a:highligh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63"/>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 sz="1700">
                <a:solidFill>
                  <a:schemeClr val="dk1"/>
                </a:solidFill>
              </a:rPr>
              <a:t>JavaScript if .. else</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A time-based greeting:</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Good day</a:t>
            </a:r>
            <a:endParaRPr sz="1100">
              <a:solidFill>
                <a:schemeClr val="dk1"/>
              </a:solidFill>
            </a:endParaRPr>
          </a:p>
          <a:p>
            <a:pPr indent="0" lvl="0" marL="0" rtl="0" algn="l">
              <a:lnSpc>
                <a:spcPct val="100000"/>
              </a:lnSpc>
              <a:spcBef>
                <a:spcPts val="1200"/>
              </a:spcBef>
              <a:spcAft>
                <a:spcPts val="0"/>
              </a:spcAft>
              <a:buNone/>
            </a:pPr>
            <a:r>
              <a:t/>
            </a:r>
            <a:endParaRPr sz="2400">
              <a:solidFill>
                <a:schemeClr val="dk1"/>
              </a:solidFill>
              <a:highlight>
                <a:srgbClr val="FFFFFF"/>
              </a:highlight>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64"/>
          <p:cNvSpPr txBox="1"/>
          <p:nvPr>
            <p:ph idx="1" type="body"/>
          </p:nvPr>
        </p:nvSpPr>
        <p:spPr>
          <a:xfrm>
            <a:off x="311700" y="301200"/>
            <a:ext cx="8520600" cy="4267800"/>
          </a:xfrm>
          <a:prstGeom prst="rect">
            <a:avLst/>
          </a:prstGeom>
        </p:spPr>
        <p:txBody>
          <a:bodyPr anchorCtr="0" anchor="t" bIns="91425" lIns="91425" spcFirstLastPara="1" rIns="91425" wrap="square" tIns="91425">
            <a:normAutofit lnSpcReduction="10000"/>
          </a:bodyPr>
          <a:lstStyle/>
          <a:p>
            <a:pPr indent="0" lvl="0" marL="0" rtl="0" algn="l">
              <a:spcBef>
                <a:spcPts val="800"/>
              </a:spcBef>
              <a:spcAft>
                <a:spcPts val="0"/>
              </a:spcAft>
              <a:buClr>
                <a:schemeClr val="dk1"/>
              </a:buClr>
              <a:buSzPts val="1100"/>
              <a:buFont typeface="Arial"/>
              <a:buNone/>
            </a:pPr>
            <a:r>
              <a:rPr lang="en" sz="2400">
                <a:solidFill>
                  <a:schemeClr val="dk1"/>
                </a:solidFill>
                <a:highlight>
                  <a:srgbClr val="FFFFFF"/>
                </a:highlight>
              </a:rPr>
              <a:t>The else if Statement</a:t>
            </a:r>
            <a:endParaRPr sz="2400">
              <a:solidFill>
                <a:schemeClr val="dk1"/>
              </a:solidFill>
              <a:highlight>
                <a:srgbClr val="FFFFFF"/>
              </a:highlight>
            </a:endParaRPr>
          </a:p>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Use the </a:t>
            </a:r>
            <a:r>
              <a:rPr lang="en" sz="1200">
                <a:solidFill>
                  <a:srgbClr val="DC143C"/>
                </a:solidFill>
                <a:highlight>
                  <a:srgbClr val="FFFFFF"/>
                </a:highlight>
                <a:latin typeface="Courier New"/>
                <a:ea typeface="Courier New"/>
                <a:cs typeface="Courier New"/>
                <a:sym typeface="Courier New"/>
              </a:rPr>
              <a:t>else if</a:t>
            </a:r>
            <a:r>
              <a:rPr lang="en" sz="1150">
                <a:solidFill>
                  <a:schemeClr val="dk1"/>
                </a:solidFill>
                <a:highlight>
                  <a:srgbClr val="FFFFFF"/>
                </a:highlight>
                <a:latin typeface="Verdana"/>
                <a:ea typeface="Verdana"/>
                <a:cs typeface="Verdana"/>
                <a:sym typeface="Verdana"/>
              </a:rPr>
              <a:t> statement to specify a new condition if the first condition is false.</a:t>
            </a:r>
            <a:endParaRPr sz="1150">
              <a:solidFill>
                <a:schemeClr val="dk1"/>
              </a:solidFill>
              <a:highlight>
                <a:srgbClr val="FFFFFF"/>
              </a:highlight>
              <a:latin typeface="Verdana"/>
              <a:ea typeface="Verdana"/>
              <a:cs typeface="Verdana"/>
              <a:sym typeface="Verdana"/>
            </a:endParaRPr>
          </a:p>
          <a:p>
            <a:pPr indent="0" lvl="0" marL="0" rtl="0" algn="l">
              <a:spcBef>
                <a:spcPts val="1400"/>
              </a:spcBef>
              <a:spcAft>
                <a:spcPts val="0"/>
              </a:spcAft>
              <a:buClr>
                <a:schemeClr val="dk1"/>
              </a:buClr>
              <a:buSzPts val="1100"/>
              <a:buFont typeface="Arial"/>
              <a:buNone/>
            </a:pPr>
            <a:r>
              <a:rPr lang="en">
                <a:solidFill>
                  <a:schemeClr val="dk1"/>
                </a:solidFill>
                <a:highlight>
                  <a:srgbClr val="FFFFFF"/>
                </a:highlight>
              </a:rPr>
              <a:t>Syntax</a:t>
            </a:r>
            <a:endParaRPr>
              <a:solidFill>
                <a:schemeClr val="dk1"/>
              </a:solidFill>
              <a:highlight>
                <a:srgbClr val="FFFFFF"/>
              </a:highlight>
            </a:endParaRPr>
          </a:p>
          <a:p>
            <a:pPr indent="0" lvl="0" marL="114300" marR="114300" rtl="0" algn="l">
              <a:spcBef>
                <a:spcPts val="1200"/>
              </a:spcBef>
              <a:spcAft>
                <a:spcPts val="0"/>
              </a:spcAft>
              <a:buClr>
                <a:schemeClr val="dk1"/>
              </a:buClr>
              <a:buSzPts val="1100"/>
              <a:buFont typeface="Arial"/>
              <a:buNone/>
            </a:pPr>
            <a:r>
              <a:rPr lang="en" sz="1150">
                <a:solidFill>
                  <a:srgbClr val="0000CD"/>
                </a:solidFill>
                <a:highlight>
                  <a:srgbClr val="FFFFFF"/>
                </a:highlight>
                <a:latin typeface="Courier New"/>
                <a:ea typeface="Courier New"/>
                <a:cs typeface="Courier New"/>
                <a:sym typeface="Courier New"/>
              </a:rPr>
              <a:t>if</a:t>
            </a:r>
            <a:r>
              <a:rPr lang="en" sz="1150">
                <a:solidFill>
                  <a:schemeClr val="dk1"/>
                </a:solidFill>
                <a:highlight>
                  <a:srgbClr val="FFFFFF"/>
                </a:highlight>
                <a:latin typeface="Courier New"/>
                <a:ea typeface="Courier New"/>
                <a:cs typeface="Courier New"/>
                <a:sym typeface="Courier New"/>
              </a:rPr>
              <a:t> (</a:t>
            </a:r>
            <a:r>
              <a:rPr i="1" lang="en" sz="1150">
                <a:solidFill>
                  <a:schemeClr val="dk1"/>
                </a:solidFill>
                <a:highlight>
                  <a:srgbClr val="FFFFFF"/>
                </a:highlight>
                <a:latin typeface="Courier New"/>
                <a:ea typeface="Courier New"/>
                <a:cs typeface="Courier New"/>
                <a:sym typeface="Courier New"/>
              </a:rPr>
              <a:t>condition1</a:t>
            </a:r>
            <a:r>
              <a:rPr lang="en" sz="1150">
                <a:solidFill>
                  <a:schemeClr val="dk1"/>
                </a:solidFill>
                <a:highlight>
                  <a:srgbClr val="FFFFFF"/>
                </a:highlight>
                <a:latin typeface="Courier New"/>
                <a:ea typeface="Courier New"/>
                <a:cs typeface="Courier New"/>
                <a:sym typeface="Courier New"/>
              </a:rPr>
              <a:t>) {</a:t>
            </a:r>
            <a:endParaRPr sz="1150">
              <a:solidFill>
                <a:schemeClr val="dk1"/>
              </a:solidFill>
              <a:highlight>
                <a:srgbClr val="FFFFFF"/>
              </a:highlight>
              <a:latin typeface="Courier New"/>
              <a:ea typeface="Courier New"/>
              <a:cs typeface="Courier New"/>
              <a:sym typeface="Courier New"/>
            </a:endParaRPr>
          </a:p>
          <a:p>
            <a:pPr indent="0" lvl="0" marL="114300" marR="114300" rtl="0" algn="l">
              <a:spcBef>
                <a:spcPts val="1200"/>
              </a:spcBef>
              <a:spcAft>
                <a:spcPts val="0"/>
              </a:spcAft>
              <a:buClr>
                <a:schemeClr val="dk1"/>
              </a:buClr>
              <a:buSzPts val="1100"/>
              <a:buFont typeface="Arial"/>
              <a:buNone/>
            </a:pPr>
            <a:r>
              <a:rPr lang="en" sz="1150">
                <a:solidFill>
                  <a:schemeClr val="dk1"/>
                </a:solidFill>
                <a:highlight>
                  <a:srgbClr val="FFFFFF"/>
                </a:highlight>
                <a:latin typeface="Courier New"/>
                <a:ea typeface="Courier New"/>
                <a:cs typeface="Courier New"/>
                <a:sym typeface="Courier New"/>
              </a:rPr>
              <a:t>  </a:t>
            </a:r>
            <a:r>
              <a:rPr lang="en" sz="1150">
                <a:solidFill>
                  <a:srgbClr val="008000"/>
                </a:solidFill>
                <a:highlight>
                  <a:srgbClr val="FFFFFF"/>
                </a:highlight>
                <a:latin typeface="Courier New"/>
                <a:ea typeface="Courier New"/>
                <a:cs typeface="Courier New"/>
                <a:sym typeface="Courier New"/>
              </a:rPr>
              <a:t>//</a:t>
            </a:r>
            <a:r>
              <a:rPr i="1" lang="en" sz="1150">
                <a:solidFill>
                  <a:srgbClr val="008000"/>
                </a:solidFill>
                <a:highlight>
                  <a:srgbClr val="FFFFFF"/>
                </a:highlight>
                <a:latin typeface="Courier New"/>
                <a:ea typeface="Courier New"/>
                <a:cs typeface="Courier New"/>
                <a:sym typeface="Courier New"/>
              </a:rPr>
              <a:t>  block of code to be executed if condition1 is true</a:t>
            </a:r>
            <a:endParaRPr i="1" sz="1150">
              <a:solidFill>
                <a:srgbClr val="008000"/>
              </a:solidFill>
              <a:highlight>
                <a:srgbClr val="FFFFFF"/>
              </a:highlight>
              <a:latin typeface="Courier New"/>
              <a:ea typeface="Courier New"/>
              <a:cs typeface="Courier New"/>
              <a:sym typeface="Courier New"/>
            </a:endParaRPr>
          </a:p>
          <a:p>
            <a:pPr indent="0" lvl="0" marL="114300" marR="114300" rtl="0" algn="l">
              <a:spcBef>
                <a:spcPts val="1200"/>
              </a:spcBef>
              <a:spcAft>
                <a:spcPts val="0"/>
              </a:spcAft>
              <a:buClr>
                <a:schemeClr val="dk1"/>
              </a:buClr>
              <a:buSzPts val="1100"/>
              <a:buFont typeface="Arial"/>
              <a:buNone/>
            </a:pPr>
            <a:r>
              <a:rPr lang="en" sz="1150">
                <a:solidFill>
                  <a:schemeClr val="dk1"/>
                </a:solidFill>
                <a:highlight>
                  <a:srgbClr val="FFFFFF"/>
                </a:highlight>
                <a:latin typeface="Courier New"/>
                <a:ea typeface="Courier New"/>
                <a:cs typeface="Courier New"/>
                <a:sym typeface="Courier New"/>
              </a:rPr>
              <a:t>} </a:t>
            </a:r>
            <a:r>
              <a:rPr lang="en" sz="1150">
                <a:solidFill>
                  <a:srgbClr val="0000CD"/>
                </a:solidFill>
                <a:highlight>
                  <a:srgbClr val="FFFFFF"/>
                </a:highlight>
                <a:latin typeface="Courier New"/>
                <a:ea typeface="Courier New"/>
                <a:cs typeface="Courier New"/>
                <a:sym typeface="Courier New"/>
              </a:rPr>
              <a:t>else</a:t>
            </a:r>
            <a:r>
              <a:rPr lang="en" sz="1150">
                <a:solidFill>
                  <a:schemeClr val="dk1"/>
                </a:solidFill>
                <a:highlight>
                  <a:srgbClr val="FFFFFF"/>
                </a:highlight>
                <a:latin typeface="Courier New"/>
                <a:ea typeface="Courier New"/>
                <a:cs typeface="Courier New"/>
                <a:sym typeface="Courier New"/>
              </a:rPr>
              <a:t> </a:t>
            </a:r>
            <a:r>
              <a:rPr lang="en" sz="1150">
                <a:solidFill>
                  <a:srgbClr val="0000CD"/>
                </a:solidFill>
                <a:highlight>
                  <a:srgbClr val="FFFFFF"/>
                </a:highlight>
                <a:latin typeface="Courier New"/>
                <a:ea typeface="Courier New"/>
                <a:cs typeface="Courier New"/>
                <a:sym typeface="Courier New"/>
              </a:rPr>
              <a:t>if</a:t>
            </a:r>
            <a:r>
              <a:rPr lang="en" sz="1150">
                <a:solidFill>
                  <a:schemeClr val="dk1"/>
                </a:solidFill>
                <a:highlight>
                  <a:srgbClr val="FFFFFF"/>
                </a:highlight>
                <a:latin typeface="Courier New"/>
                <a:ea typeface="Courier New"/>
                <a:cs typeface="Courier New"/>
                <a:sym typeface="Courier New"/>
              </a:rPr>
              <a:t> (</a:t>
            </a:r>
            <a:r>
              <a:rPr i="1" lang="en" sz="1150">
                <a:solidFill>
                  <a:schemeClr val="dk1"/>
                </a:solidFill>
                <a:highlight>
                  <a:srgbClr val="FFFFFF"/>
                </a:highlight>
                <a:latin typeface="Courier New"/>
                <a:ea typeface="Courier New"/>
                <a:cs typeface="Courier New"/>
                <a:sym typeface="Courier New"/>
              </a:rPr>
              <a:t>condition2</a:t>
            </a:r>
            <a:r>
              <a:rPr lang="en" sz="1150">
                <a:solidFill>
                  <a:schemeClr val="dk1"/>
                </a:solidFill>
                <a:highlight>
                  <a:srgbClr val="FFFFFF"/>
                </a:highlight>
                <a:latin typeface="Courier New"/>
                <a:ea typeface="Courier New"/>
                <a:cs typeface="Courier New"/>
                <a:sym typeface="Courier New"/>
              </a:rPr>
              <a:t>) {</a:t>
            </a:r>
            <a:endParaRPr sz="1150">
              <a:solidFill>
                <a:schemeClr val="dk1"/>
              </a:solidFill>
              <a:highlight>
                <a:srgbClr val="FFFFFF"/>
              </a:highlight>
              <a:latin typeface="Courier New"/>
              <a:ea typeface="Courier New"/>
              <a:cs typeface="Courier New"/>
              <a:sym typeface="Courier New"/>
            </a:endParaRPr>
          </a:p>
          <a:p>
            <a:pPr indent="0" lvl="0" marL="114300" marR="114300" rtl="0" algn="l">
              <a:spcBef>
                <a:spcPts val="1200"/>
              </a:spcBef>
              <a:spcAft>
                <a:spcPts val="0"/>
              </a:spcAft>
              <a:buClr>
                <a:schemeClr val="dk1"/>
              </a:buClr>
              <a:buSzPts val="1100"/>
              <a:buFont typeface="Arial"/>
              <a:buNone/>
            </a:pPr>
            <a:r>
              <a:rPr lang="en" sz="1150">
                <a:solidFill>
                  <a:schemeClr val="dk1"/>
                </a:solidFill>
                <a:highlight>
                  <a:srgbClr val="FFFFFF"/>
                </a:highlight>
                <a:latin typeface="Courier New"/>
                <a:ea typeface="Courier New"/>
                <a:cs typeface="Courier New"/>
                <a:sym typeface="Courier New"/>
              </a:rPr>
              <a:t>  </a:t>
            </a:r>
            <a:r>
              <a:rPr lang="en" sz="1150">
                <a:solidFill>
                  <a:srgbClr val="008000"/>
                </a:solidFill>
                <a:highlight>
                  <a:srgbClr val="FFFFFF"/>
                </a:highlight>
                <a:latin typeface="Courier New"/>
                <a:ea typeface="Courier New"/>
                <a:cs typeface="Courier New"/>
                <a:sym typeface="Courier New"/>
              </a:rPr>
              <a:t>//</a:t>
            </a:r>
            <a:r>
              <a:rPr i="1" lang="en" sz="1150">
                <a:solidFill>
                  <a:srgbClr val="008000"/>
                </a:solidFill>
                <a:highlight>
                  <a:srgbClr val="FFFFFF"/>
                </a:highlight>
                <a:latin typeface="Courier New"/>
                <a:ea typeface="Courier New"/>
                <a:cs typeface="Courier New"/>
                <a:sym typeface="Courier New"/>
              </a:rPr>
              <a:t>  block of code to be executed if the condition1 is false and condition2 is true</a:t>
            </a:r>
            <a:endParaRPr i="1" sz="1150">
              <a:solidFill>
                <a:srgbClr val="008000"/>
              </a:solidFill>
              <a:highlight>
                <a:srgbClr val="FFFFFF"/>
              </a:highlight>
              <a:latin typeface="Courier New"/>
              <a:ea typeface="Courier New"/>
              <a:cs typeface="Courier New"/>
              <a:sym typeface="Courier New"/>
            </a:endParaRPr>
          </a:p>
          <a:p>
            <a:pPr indent="0" lvl="0" marL="114300" marR="114300" rtl="0" algn="l">
              <a:spcBef>
                <a:spcPts val="1200"/>
              </a:spcBef>
              <a:spcAft>
                <a:spcPts val="0"/>
              </a:spcAft>
              <a:buClr>
                <a:schemeClr val="dk1"/>
              </a:buClr>
              <a:buSzPts val="1100"/>
              <a:buFont typeface="Arial"/>
              <a:buNone/>
            </a:pPr>
            <a:r>
              <a:rPr lang="en" sz="1150">
                <a:solidFill>
                  <a:schemeClr val="dk1"/>
                </a:solidFill>
                <a:highlight>
                  <a:srgbClr val="FFFFFF"/>
                </a:highlight>
                <a:latin typeface="Courier New"/>
                <a:ea typeface="Courier New"/>
                <a:cs typeface="Courier New"/>
                <a:sym typeface="Courier New"/>
              </a:rPr>
              <a:t>} </a:t>
            </a:r>
            <a:r>
              <a:rPr lang="en" sz="1150">
                <a:solidFill>
                  <a:srgbClr val="0000CD"/>
                </a:solidFill>
                <a:highlight>
                  <a:srgbClr val="FFFFFF"/>
                </a:highlight>
                <a:latin typeface="Courier New"/>
                <a:ea typeface="Courier New"/>
                <a:cs typeface="Courier New"/>
                <a:sym typeface="Courier New"/>
              </a:rPr>
              <a:t>else</a:t>
            </a:r>
            <a:r>
              <a:rPr lang="en" sz="1150">
                <a:solidFill>
                  <a:schemeClr val="dk1"/>
                </a:solidFill>
                <a:highlight>
                  <a:srgbClr val="FFFFFF"/>
                </a:highlight>
                <a:latin typeface="Courier New"/>
                <a:ea typeface="Courier New"/>
                <a:cs typeface="Courier New"/>
                <a:sym typeface="Courier New"/>
              </a:rPr>
              <a:t> {</a:t>
            </a:r>
            <a:endParaRPr sz="1150">
              <a:solidFill>
                <a:schemeClr val="dk1"/>
              </a:solidFill>
              <a:highlight>
                <a:srgbClr val="FFFFFF"/>
              </a:highlight>
              <a:latin typeface="Courier New"/>
              <a:ea typeface="Courier New"/>
              <a:cs typeface="Courier New"/>
              <a:sym typeface="Courier New"/>
            </a:endParaRPr>
          </a:p>
          <a:p>
            <a:pPr indent="0" lvl="0" marL="114300" marR="114300" rtl="0" algn="l">
              <a:spcBef>
                <a:spcPts val="1200"/>
              </a:spcBef>
              <a:spcAft>
                <a:spcPts val="0"/>
              </a:spcAft>
              <a:buClr>
                <a:schemeClr val="dk1"/>
              </a:buClr>
              <a:buSzPts val="1100"/>
              <a:buFont typeface="Arial"/>
              <a:buNone/>
            </a:pPr>
            <a:r>
              <a:rPr lang="en" sz="1150">
                <a:solidFill>
                  <a:schemeClr val="dk1"/>
                </a:solidFill>
                <a:highlight>
                  <a:srgbClr val="FFFFFF"/>
                </a:highlight>
                <a:latin typeface="Courier New"/>
                <a:ea typeface="Courier New"/>
                <a:cs typeface="Courier New"/>
                <a:sym typeface="Courier New"/>
              </a:rPr>
              <a:t>  </a:t>
            </a:r>
            <a:r>
              <a:rPr lang="en" sz="1150">
                <a:solidFill>
                  <a:srgbClr val="008000"/>
                </a:solidFill>
                <a:highlight>
                  <a:srgbClr val="FFFFFF"/>
                </a:highlight>
                <a:latin typeface="Courier New"/>
                <a:ea typeface="Courier New"/>
                <a:cs typeface="Courier New"/>
                <a:sym typeface="Courier New"/>
              </a:rPr>
              <a:t>//</a:t>
            </a:r>
            <a:r>
              <a:rPr i="1" lang="en" sz="1150">
                <a:solidFill>
                  <a:srgbClr val="008000"/>
                </a:solidFill>
                <a:highlight>
                  <a:srgbClr val="FFFFFF"/>
                </a:highlight>
                <a:latin typeface="Courier New"/>
                <a:ea typeface="Courier New"/>
                <a:cs typeface="Courier New"/>
                <a:sym typeface="Courier New"/>
              </a:rPr>
              <a:t>  block of code to be executed if the condition1 is false and condition2 is false</a:t>
            </a:r>
            <a:endParaRPr i="1" sz="1150">
              <a:solidFill>
                <a:srgbClr val="008000"/>
              </a:solidFill>
              <a:highlight>
                <a:srgbClr val="FFFFFF"/>
              </a:highlight>
              <a:latin typeface="Courier New"/>
              <a:ea typeface="Courier New"/>
              <a:cs typeface="Courier New"/>
              <a:sym typeface="Courier New"/>
            </a:endParaRPr>
          </a:p>
          <a:p>
            <a:pPr indent="0" lvl="0" marL="114300" marR="114300" rtl="0" algn="l">
              <a:spcBef>
                <a:spcPts val="1200"/>
              </a:spcBef>
              <a:spcAft>
                <a:spcPts val="0"/>
              </a:spcAft>
              <a:buClr>
                <a:schemeClr val="dk1"/>
              </a:buClr>
              <a:buSzPts val="1100"/>
              <a:buFont typeface="Arial"/>
              <a:buNone/>
            </a:pPr>
            <a:r>
              <a:rPr lang="en" sz="1150">
                <a:solidFill>
                  <a:schemeClr val="dk1"/>
                </a:solidFill>
                <a:highlight>
                  <a:srgbClr val="FFFFFF"/>
                </a:highlight>
                <a:latin typeface="Courier New"/>
                <a:ea typeface="Courier New"/>
                <a:cs typeface="Courier New"/>
                <a:sym typeface="Courier New"/>
              </a:rPr>
              <a:t>}</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1200"/>
              </a:spcBef>
              <a:spcAft>
                <a:spcPts val="0"/>
              </a:spcAft>
              <a:buNone/>
            </a:pPr>
            <a:r>
              <a:t/>
            </a:r>
            <a:endParaRPr b="1" sz="1700">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65"/>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47500" lnSpcReduction="10000"/>
          </a:bodyPr>
          <a:lstStyle/>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&lt;html&gt;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&lt;body&gt;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&lt;h2&gt;JavaScript if .. else&lt;/h2&gt;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&lt;p&gt;A time-based greeting:&lt;/p&gt;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&lt;p id="demo"&gt;&lt;/p&gt;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&lt;script&gt;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const time = new Date().getHours();</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let greeting;</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if (time &lt; 10)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  greeting = "Good morning";</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 else if (time &lt; 20)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  greeting = "Good day";</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 else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  greeting = "Good evening";</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document.getElementById("demo").innerHTML = greeting;</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&lt;/script&gt;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&lt;/body&gt;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rPr lang="en" sz="2400">
                <a:solidFill>
                  <a:schemeClr val="dk1"/>
                </a:solidFill>
                <a:highlight>
                  <a:srgbClr val="FFFFFF"/>
                </a:highlight>
              </a:rPr>
              <a:t>&lt;/html&gt;</a:t>
            </a:r>
            <a:endParaRPr sz="2400">
              <a:solidFill>
                <a:schemeClr val="dk1"/>
              </a:solidFill>
              <a:highlight>
                <a:srgbClr val="FFFFFF"/>
              </a:highlight>
            </a:endParaRPr>
          </a:p>
          <a:p>
            <a:pPr indent="0" lvl="0" marL="0" rtl="0" algn="l">
              <a:lnSpc>
                <a:spcPct val="100000"/>
              </a:lnSpc>
              <a:spcBef>
                <a:spcPts val="0"/>
              </a:spcBef>
              <a:spcAft>
                <a:spcPts val="0"/>
              </a:spcAft>
              <a:buClr>
                <a:schemeClr val="dk1"/>
              </a:buClr>
              <a:buSzPct val="45833"/>
              <a:buFont typeface="Arial"/>
              <a:buNone/>
            </a:pPr>
            <a:r>
              <a:t/>
            </a:r>
            <a:endParaRPr sz="2400">
              <a:solidFill>
                <a:schemeClr val="dk1"/>
              </a:solidFill>
              <a:highlight>
                <a:srgbClr val="FFFFFF"/>
              </a:highlight>
            </a:endParaRPr>
          </a:p>
          <a:p>
            <a:pPr indent="0" lvl="0" marL="0" rtl="0" algn="l">
              <a:lnSpc>
                <a:spcPct val="100000"/>
              </a:lnSpc>
              <a:spcBef>
                <a:spcPts val="0"/>
              </a:spcBef>
              <a:spcAft>
                <a:spcPts val="0"/>
              </a:spcAft>
              <a:buNone/>
            </a:pPr>
            <a:r>
              <a:t/>
            </a:r>
            <a:endParaRPr sz="2400">
              <a:solidFill>
                <a:schemeClr val="dk1"/>
              </a:solidFill>
              <a:highlight>
                <a:srgbClr val="FFFFFF"/>
              </a:highlight>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66"/>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 sz="1700">
                <a:solidFill>
                  <a:schemeClr val="dk1"/>
                </a:solidFill>
              </a:rPr>
              <a:t>OUTPUT</a:t>
            </a:r>
            <a:endParaRPr b="1" sz="1700">
              <a:solidFill>
                <a:schemeClr val="dk1"/>
              </a:solidFill>
            </a:endParaRPr>
          </a:p>
          <a:p>
            <a:pPr indent="0" lvl="0" marL="0" rtl="0" algn="l">
              <a:spcBef>
                <a:spcPts val="1800"/>
              </a:spcBef>
              <a:spcAft>
                <a:spcPts val="0"/>
              </a:spcAft>
              <a:buClr>
                <a:schemeClr val="dk1"/>
              </a:buClr>
              <a:buSzPts val="1100"/>
              <a:buFont typeface="Arial"/>
              <a:buNone/>
            </a:pPr>
            <a:r>
              <a:rPr b="1" lang="en" sz="1700">
                <a:solidFill>
                  <a:schemeClr val="dk1"/>
                </a:solidFill>
              </a:rPr>
              <a:t>JavaScript if .. else</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A time-based greeting:</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Good day</a:t>
            </a:r>
            <a:endParaRPr sz="1100">
              <a:solidFill>
                <a:schemeClr val="dk1"/>
              </a:solidFill>
            </a:endParaRPr>
          </a:p>
          <a:p>
            <a:pPr indent="0" lvl="0" marL="0" rtl="0" algn="l">
              <a:lnSpc>
                <a:spcPct val="100000"/>
              </a:lnSpc>
              <a:spcBef>
                <a:spcPts val="1200"/>
              </a:spcBef>
              <a:spcAft>
                <a:spcPts val="0"/>
              </a:spcAft>
              <a:buNone/>
            </a:pPr>
            <a:r>
              <a:t/>
            </a:r>
            <a:endParaRPr sz="2400">
              <a:solidFill>
                <a:schemeClr val="dk1"/>
              </a:solidFill>
              <a:highlight>
                <a:srgbClr val="FFFFFF"/>
              </a:highligh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67"/>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40000" lnSpcReduction="20000"/>
          </a:bodyPr>
          <a:lstStyle/>
          <a:p>
            <a:pPr indent="0" lvl="0" marL="0" rtl="0" algn="l">
              <a:spcBef>
                <a:spcPts val="800"/>
              </a:spcBef>
              <a:spcAft>
                <a:spcPts val="0"/>
              </a:spcAft>
              <a:buClr>
                <a:schemeClr val="dk1"/>
              </a:buClr>
              <a:buSzPct val="34920"/>
              <a:buFont typeface="Arial"/>
              <a:buNone/>
            </a:pPr>
            <a:r>
              <a:rPr lang="en" sz="3150">
                <a:solidFill>
                  <a:schemeClr val="dk1"/>
                </a:solidFill>
                <a:highlight>
                  <a:srgbClr val="FFFFFF"/>
                </a:highlight>
              </a:rPr>
              <a:t>Switch Statement</a:t>
            </a:r>
            <a:endParaRPr sz="3150">
              <a:solidFill>
                <a:schemeClr val="dk1"/>
              </a:solidFill>
              <a:highlight>
                <a:srgbClr val="FFFFFF"/>
              </a:highlight>
            </a:endParaRPr>
          </a:p>
          <a:p>
            <a:pPr indent="0" lvl="0" marL="0" rtl="0" algn="l">
              <a:spcBef>
                <a:spcPts val="1400"/>
              </a:spcBef>
              <a:spcAft>
                <a:spcPts val="0"/>
              </a:spcAft>
              <a:buClr>
                <a:schemeClr val="dk1"/>
              </a:buClr>
              <a:buSzPct val="95652"/>
              <a:buFont typeface="Arial"/>
              <a:buNone/>
            </a:pPr>
            <a:r>
              <a:rPr lang="en" sz="1150">
                <a:solidFill>
                  <a:schemeClr val="dk1"/>
                </a:solidFill>
                <a:highlight>
                  <a:srgbClr val="FFFFFF"/>
                </a:highlight>
                <a:latin typeface="Verdana"/>
                <a:ea typeface="Verdana"/>
                <a:cs typeface="Verdana"/>
                <a:sym typeface="Verdana"/>
              </a:rPr>
              <a:t>Use the </a:t>
            </a:r>
            <a:r>
              <a:rPr lang="en" sz="1200">
                <a:solidFill>
                  <a:srgbClr val="DC143C"/>
                </a:solidFill>
                <a:highlight>
                  <a:srgbClr val="FFFFFF"/>
                </a:highlight>
                <a:latin typeface="Courier New"/>
                <a:ea typeface="Courier New"/>
                <a:cs typeface="Courier New"/>
                <a:sym typeface="Courier New"/>
              </a:rPr>
              <a:t>switch</a:t>
            </a:r>
            <a:r>
              <a:rPr lang="en" sz="1150">
                <a:solidFill>
                  <a:schemeClr val="dk1"/>
                </a:solidFill>
                <a:highlight>
                  <a:srgbClr val="FFFFFF"/>
                </a:highlight>
                <a:latin typeface="Verdana"/>
                <a:ea typeface="Verdana"/>
                <a:cs typeface="Verdana"/>
                <a:sym typeface="Verdana"/>
              </a:rPr>
              <a:t> statement to select one of many code blocks to be executed.</a:t>
            </a:r>
            <a:endParaRPr sz="1150">
              <a:solidFill>
                <a:schemeClr val="dk1"/>
              </a:solidFill>
              <a:highlight>
                <a:srgbClr val="FFFFFF"/>
              </a:highlight>
              <a:latin typeface="Verdana"/>
              <a:ea typeface="Verdana"/>
              <a:cs typeface="Verdana"/>
              <a:sym typeface="Verdana"/>
            </a:endParaRPr>
          </a:p>
          <a:p>
            <a:pPr indent="0" lvl="0" marL="0" rtl="0" algn="l">
              <a:spcBef>
                <a:spcPts val="1400"/>
              </a:spcBef>
              <a:spcAft>
                <a:spcPts val="0"/>
              </a:spcAft>
              <a:buClr>
                <a:schemeClr val="dk1"/>
              </a:buClr>
              <a:buSzPct val="43137"/>
              <a:buFont typeface="Arial"/>
              <a:buNone/>
            </a:pPr>
            <a:r>
              <a:rPr lang="en" sz="2550">
                <a:solidFill>
                  <a:schemeClr val="dk1"/>
                </a:solidFill>
                <a:highlight>
                  <a:srgbClr val="FFFFFF"/>
                </a:highlight>
                <a:latin typeface="Times New Roman"/>
                <a:ea typeface="Times New Roman"/>
                <a:cs typeface="Times New Roman"/>
                <a:sym typeface="Times New Roman"/>
              </a:rPr>
              <a:t>Syntax</a:t>
            </a:r>
            <a:endParaRPr sz="255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Clr>
                <a:schemeClr val="dk1"/>
              </a:buClr>
              <a:buSzPct val="43137"/>
              <a:buFont typeface="Arial"/>
              <a:buNone/>
            </a:pPr>
            <a:r>
              <a:rPr lang="en" sz="2550">
                <a:solidFill>
                  <a:srgbClr val="0000CD"/>
                </a:solidFill>
                <a:highlight>
                  <a:srgbClr val="FFFFFF"/>
                </a:highlight>
                <a:latin typeface="Times New Roman"/>
                <a:ea typeface="Times New Roman"/>
                <a:cs typeface="Times New Roman"/>
                <a:sym typeface="Times New Roman"/>
              </a:rPr>
              <a:t>switch</a:t>
            </a:r>
            <a:r>
              <a:rPr lang="en" sz="2550">
                <a:solidFill>
                  <a:schemeClr val="dk1"/>
                </a:solidFill>
                <a:highlight>
                  <a:srgbClr val="FFFFFF"/>
                </a:highlight>
                <a:latin typeface="Times New Roman"/>
                <a:ea typeface="Times New Roman"/>
                <a:cs typeface="Times New Roman"/>
                <a:sym typeface="Times New Roman"/>
              </a:rPr>
              <a:t>(</a:t>
            </a:r>
            <a:r>
              <a:rPr i="1" lang="en" sz="2550">
                <a:solidFill>
                  <a:schemeClr val="dk1"/>
                </a:solidFill>
                <a:highlight>
                  <a:srgbClr val="FFFFFF"/>
                </a:highlight>
                <a:latin typeface="Times New Roman"/>
                <a:ea typeface="Times New Roman"/>
                <a:cs typeface="Times New Roman"/>
                <a:sym typeface="Times New Roman"/>
              </a:rPr>
              <a:t>expression</a:t>
            </a:r>
            <a:r>
              <a:rPr lang="en" sz="2550">
                <a:solidFill>
                  <a:schemeClr val="dk1"/>
                </a:solidFill>
                <a:highlight>
                  <a:srgbClr val="FFFFFF"/>
                </a:highlight>
                <a:latin typeface="Times New Roman"/>
                <a:ea typeface="Times New Roman"/>
                <a:cs typeface="Times New Roman"/>
                <a:sym typeface="Times New Roman"/>
              </a:rPr>
              <a:t>) {</a:t>
            </a:r>
            <a:endParaRPr sz="255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Clr>
                <a:schemeClr val="dk1"/>
              </a:buClr>
              <a:buSzPct val="43137"/>
              <a:buFont typeface="Arial"/>
              <a:buNone/>
            </a:pPr>
            <a:r>
              <a:rPr lang="en" sz="2550">
                <a:solidFill>
                  <a:schemeClr val="dk1"/>
                </a:solidFill>
                <a:highlight>
                  <a:srgbClr val="FFFFFF"/>
                </a:highlight>
                <a:latin typeface="Times New Roman"/>
                <a:ea typeface="Times New Roman"/>
                <a:cs typeface="Times New Roman"/>
                <a:sym typeface="Times New Roman"/>
              </a:rPr>
              <a:t>  </a:t>
            </a:r>
            <a:r>
              <a:rPr lang="en" sz="2550">
                <a:solidFill>
                  <a:srgbClr val="0000CD"/>
                </a:solidFill>
                <a:highlight>
                  <a:srgbClr val="FFFFFF"/>
                </a:highlight>
                <a:latin typeface="Times New Roman"/>
                <a:ea typeface="Times New Roman"/>
                <a:cs typeface="Times New Roman"/>
                <a:sym typeface="Times New Roman"/>
              </a:rPr>
              <a:t>case</a:t>
            </a:r>
            <a:r>
              <a:rPr lang="en" sz="2550">
                <a:solidFill>
                  <a:schemeClr val="dk1"/>
                </a:solidFill>
                <a:highlight>
                  <a:srgbClr val="FFFFFF"/>
                </a:highlight>
                <a:latin typeface="Times New Roman"/>
                <a:ea typeface="Times New Roman"/>
                <a:cs typeface="Times New Roman"/>
                <a:sym typeface="Times New Roman"/>
              </a:rPr>
              <a:t> </a:t>
            </a:r>
            <a:r>
              <a:rPr i="1" lang="en" sz="2550">
                <a:solidFill>
                  <a:schemeClr val="dk1"/>
                </a:solidFill>
                <a:highlight>
                  <a:srgbClr val="FFFFFF"/>
                </a:highlight>
                <a:latin typeface="Times New Roman"/>
                <a:ea typeface="Times New Roman"/>
                <a:cs typeface="Times New Roman"/>
                <a:sym typeface="Times New Roman"/>
              </a:rPr>
              <a:t>x</a:t>
            </a:r>
            <a:r>
              <a:rPr lang="en" sz="2550">
                <a:solidFill>
                  <a:schemeClr val="dk1"/>
                </a:solidFill>
                <a:highlight>
                  <a:srgbClr val="FFFFFF"/>
                </a:highlight>
                <a:latin typeface="Times New Roman"/>
                <a:ea typeface="Times New Roman"/>
                <a:cs typeface="Times New Roman"/>
                <a:sym typeface="Times New Roman"/>
              </a:rPr>
              <a:t>:</a:t>
            </a:r>
            <a:endParaRPr sz="255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Clr>
                <a:schemeClr val="dk1"/>
              </a:buClr>
              <a:buSzPct val="43137"/>
              <a:buFont typeface="Arial"/>
              <a:buNone/>
            </a:pPr>
            <a:r>
              <a:rPr i="1" lang="en" sz="2550">
                <a:solidFill>
                  <a:schemeClr val="dk1"/>
                </a:solidFill>
                <a:highlight>
                  <a:srgbClr val="FFFFFF"/>
                </a:highlight>
                <a:latin typeface="Times New Roman"/>
                <a:ea typeface="Times New Roman"/>
                <a:cs typeface="Times New Roman"/>
                <a:sym typeface="Times New Roman"/>
              </a:rPr>
              <a:t>    </a:t>
            </a:r>
            <a:r>
              <a:rPr i="1" lang="en" sz="2550">
                <a:solidFill>
                  <a:srgbClr val="008000"/>
                </a:solidFill>
                <a:highlight>
                  <a:srgbClr val="FFFFFF"/>
                </a:highlight>
                <a:latin typeface="Times New Roman"/>
                <a:ea typeface="Times New Roman"/>
                <a:cs typeface="Times New Roman"/>
                <a:sym typeface="Times New Roman"/>
              </a:rPr>
              <a:t>// code block</a:t>
            </a:r>
            <a:endParaRPr i="1" sz="2550">
              <a:solidFill>
                <a:srgbClr val="008000"/>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Clr>
                <a:schemeClr val="dk1"/>
              </a:buClr>
              <a:buSzPct val="43137"/>
              <a:buFont typeface="Arial"/>
              <a:buNone/>
            </a:pPr>
            <a:r>
              <a:rPr lang="en" sz="2550">
                <a:solidFill>
                  <a:schemeClr val="dk1"/>
                </a:solidFill>
                <a:highlight>
                  <a:srgbClr val="FFFFFF"/>
                </a:highlight>
                <a:latin typeface="Times New Roman"/>
                <a:ea typeface="Times New Roman"/>
                <a:cs typeface="Times New Roman"/>
                <a:sym typeface="Times New Roman"/>
              </a:rPr>
              <a:t>    </a:t>
            </a:r>
            <a:r>
              <a:rPr lang="en" sz="2550">
                <a:solidFill>
                  <a:srgbClr val="0000CD"/>
                </a:solidFill>
                <a:highlight>
                  <a:srgbClr val="FFFFFF"/>
                </a:highlight>
                <a:latin typeface="Times New Roman"/>
                <a:ea typeface="Times New Roman"/>
                <a:cs typeface="Times New Roman"/>
                <a:sym typeface="Times New Roman"/>
              </a:rPr>
              <a:t>break</a:t>
            </a:r>
            <a:r>
              <a:rPr lang="en" sz="2550">
                <a:solidFill>
                  <a:schemeClr val="dk1"/>
                </a:solidFill>
                <a:highlight>
                  <a:srgbClr val="FFFFFF"/>
                </a:highlight>
                <a:latin typeface="Times New Roman"/>
                <a:ea typeface="Times New Roman"/>
                <a:cs typeface="Times New Roman"/>
                <a:sym typeface="Times New Roman"/>
              </a:rPr>
              <a:t>;</a:t>
            </a:r>
            <a:endParaRPr sz="255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Clr>
                <a:schemeClr val="dk1"/>
              </a:buClr>
              <a:buSzPct val="43137"/>
              <a:buFont typeface="Arial"/>
              <a:buNone/>
            </a:pPr>
            <a:r>
              <a:rPr lang="en" sz="2550">
                <a:solidFill>
                  <a:schemeClr val="dk1"/>
                </a:solidFill>
                <a:highlight>
                  <a:srgbClr val="FFFFFF"/>
                </a:highlight>
                <a:latin typeface="Times New Roman"/>
                <a:ea typeface="Times New Roman"/>
                <a:cs typeface="Times New Roman"/>
                <a:sym typeface="Times New Roman"/>
              </a:rPr>
              <a:t>  </a:t>
            </a:r>
            <a:r>
              <a:rPr lang="en" sz="2550">
                <a:solidFill>
                  <a:srgbClr val="0000CD"/>
                </a:solidFill>
                <a:highlight>
                  <a:srgbClr val="FFFFFF"/>
                </a:highlight>
                <a:latin typeface="Times New Roman"/>
                <a:ea typeface="Times New Roman"/>
                <a:cs typeface="Times New Roman"/>
                <a:sym typeface="Times New Roman"/>
              </a:rPr>
              <a:t>case</a:t>
            </a:r>
            <a:r>
              <a:rPr lang="en" sz="2550">
                <a:solidFill>
                  <a:schemeClr val="dk1"/>
                </a:solidFill>
                <a:highlight>
                  <a:srgbClr val="FFFFFF"/>
                </a:highlight>
                <a:latin typeface="Times New Roman"/>
                <a:ea typeface="Times New Roman"/>
                <a:cs typeface="Times New Roman"/>
                <a:sym typeface="Times New Roman"/>
              </a:rPr>
              <a:t> </a:t>
            </a:r>
            <a:r>
              <a:rPr i="1" lang="en" sz="2550">
                <a:solidFill>
                  <a:schemeClr val="dk1"/>
                </a:solidFill>
                <a:highlight>
                  <a:srgbClr val="FFFFFF"/>
                </a:highlight>
                <a:latin typeface="Times New Roman"/>
                <a:ea typeface="Times New Roman"/>
                <a:cs typeface="Times New Roman"/>
                <a:sym typeface="Times New Roman"/>
              </a:rPr>
              <a:t>y</a:t>
            </a:r>
            <a:r>
              <a:rPr lang="en" sz="2550">
                <a:solidFill>
                  <a:schemeClr val="dk1"/>
                </a:solidFill>
                <a:highlight>
                  <a:srgbClr val="FFFFFF"/>
                </a:highlight>
                <a:latin typeface="Times New Roman"/>
                <a:ea typeface="Times New Roman"/>
                <a:cs typeface="Times New Roman"/>
                <a:sym typeface="Times New Roman"/>
              </a:rPr>
              <a:t>:</a:t>
            </a:r>
            <a:endParaRPr sz="255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Clr>
                <a:schemeClr val="dk1"/>
              </a:buClr>
              <a:buSzPct val="43137"/>
              <a:buFont typeface="Arial"/>
              <a:buNone/>
            </a:pPr>
            <a:r>
              <a:rPr i="1" lang="en" sz="2550">
                <a:solidFill>
                  <a:schemeClr val="dk1"/>
                </a:solidFill>
                <a:highlight>
                  <a:srgbClr val="FFFFFF"/>
                </a:highlight>
                <a:latin typeface="Times New Roman"/>
                <a:ea typeface="Times New Roman"/>
                <a:cs typeface="Times New Roman"/>
                <a:sym typeface="Times New Roman"/>
              </a:rPr>
              <a:t>    </a:t>
            </a:r>
            <a:r>
              <a:rPr i="1" lang="en" sz="2550">
                <a:solidFill>
                  <a:srgbClr val="008000"/>
                </a:solidFill>
                <a:highlight>
                  <a:srgbClr val="FFFFFF"/>
                </a:highlight>
                <a:latin typeface="Times New Roman"/>
                <a:ea typeface="Times New Roman"/>
                <a:cs typeface="Times New Roman"/>
                <a:sym typeface="Times New Roman"/>
              </a:rPr>
              <a:t>// code block</a:t>
            </a:r>
            <a:endParaRPr i="1" sz="2550">
              <a:solidFill>
                <a:srgbClr val="008000"/>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Clr>
                <a:schemeClr val="dk1"/>
              </a:buClr>
              <a:buSzPct val="43137"/>
              <a:buFont typeface="Arial"/>
              <a:buNone/>
            </a:pPr>
            <a:r>
              <a:rPr lang="en" sz="2550">
                <a:solidFill>
                  <a:schemeClr val="dk1"/>
                </a:solidFill>
                <a:highlight>
                  <a:srgbClr val="FFFFFF"/>
                </a:highlight>
                <a:latin typeface="Times New Roman"/>
                <a:ea typeface="Times New Roman"/>
                <a:cs typeface="Times New Roman"/>
                <a:sym typeface="Times New Roman"/>
              </a:rPr>
              <a:t>    </a:t>
            </a:r>
            <a:r>
              <a:rPr lang="en" sz="2550">
                <a:solidFill>
                  <a:srgbClr val="0000CD"/>
                </a:solidFill>
                <a:highlight>
                  <a:srgbClr val="FFFFFF"/>
                </a:highlight>
                <a:latin typeface="Times New Roman"/>
                <a:ea typeface="Times New Roman"/>
                <a:cs typeface="Times New Roman"/>
                <a:sym typeface="Times New Roman"/>
              </a:rPr>
              <a:t>break</a:t>
            </a:r>
            <a:r>
              <a:rPr lang="en" sz="2550">
                <a:solidFill>
                  <a:schemeClr val="dk1"/>
                </a:solidFill>
                <a:highlight>
                  <a:srgbClr val="FFFFFF"/>
                </a:highlight>
                <a:latin typeface="Times New Roman"/>
                <a:ea typeface="Times New Roman"/>
                <a:cs typeface="Times New Roman"/>
                <a:sym typeface="Times New Roman"/>
              </a:rPr>
              <a:t>;</a:t>
            </a:r>
            <a:endParaRPr sz="255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Clr>
                <a:schemeClr val="dk1"/>
              </a:buClr>
              <a:buSzPct val="43137"/>
              <a:buFont typeface="Arial"/>
              <a:buNone/>
            </a:pPr>
            <a:r>
              <a:rPr lang="en" sz="2550">
                <a:solidFill>
                  <a:schemeClr val="dk1"/>
                </a:solidFill>
                <a:highlight>
                  <a:srgbClr val="FFFFFF"/>
                </a:highlight>
                <a:latin typeface="Times New Roman"/>
                <a:ea typeface="Times New Roman"/>
                <a:cs typeface="Times New Roman"/>
                <a:sym typeface="Times New Roman"/>
              </a:rPr>
              <a:t>  </a:t>
            </a:r>
            <a:r>
              <a:rPr lang="en" sz="2550">
                <a:solidFill>
                  <a:srgbClr val="0000CD"/>
                </a:solidFill>
                <a:highlight>
                  <a:srgbClr val="FFFFFF"/>
                </a:highlight>
                <a:latin typeface="Times New Roman"/>
                <a:ea typeface="Times New Roman"/>
                <a:cs typeface="Times New Roman"/>
                <a:sym typeface="Times New Roman"/>
              </a:rPr>
              <a:t>default</a:t>
            </a:r>
            <a:r>
              <a:rPr lang="en" sz="2550">
                <a:solidFill>
                  <a:schemeClr val="dk1"/>
                </a:solidFill>
                <a:highlight>
                  <a:srgbClr val="FFFFFF"/>
                </a:highlight>
                <a:latin typeface="Times New Roman"/>
                <a:ea typeface="Times New Roman"/>
                <a:cs typeface="Times New Roman"/>
                <a:sym typeface="Times New Roman"/>
              </a:rPr>
              <a:t>:</a:t>
            </a:r>
            <a:endParaRPr sz="255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Clr>
                <a:schemeClr val="dk1"/>
              </a:buClr>
              <a:buSzPct val="43137"/>
              <a:buFont typeface="Arial"/>
              <a:buNone/>
            </a:pPr>
            <a:r>
              <a:rPr lang="en" sz="2550">
                <a:solidFill>
                  <a:schemeClr val="dk1"/>
                </a:solidFill>
                <a:highlight>
                  <a:srgbClr val="FFFFFF"/>
                </a:highlight>
                <a:latin typeface="Times New Roman"/>
                <a:ea typeface="Times New Roman"/>
                <a:cs typeface="Times New Roman"/>
                <a:sym typeface="Times New Roman"/>
              </a:rPr>
              <a:t>    </a:t>
            </a:r>
            <a:r>
              <a:rPr lang="en" sz="2550">
                <a:solidFill>
                  <a:srgbClr val="008000"/>
                </a:solidFill>
                <a:highlight>
                  <a:srgbClr val="FFFFFF"/>
                </a:highlight>
                <a:latin typeface="Times New Roman"/>
                <a:ea typeface="Times New Roman"/>
                <a:cs typeface="Times New Roman"/>
                <a:sym typeface="Times New Roman"/>
              </a:rPr>
              <a:t>// </a:t>
            </a:r>
            <a:r>
              <a:rPr i="1" lang="en" sz="2550">
                <a:solidFill>
                  <a:srgbClr val="008000"/>
                </a:solidFill>
                <a:highlight>
                  <a:srgbClr val="FFFFFF"/>
                </a:highlight>
                <a:latin typeface="Times New Roman"/>
                <a:ea typeface="Times New Roman"/>
                <a:cs typeface="Times New Roman"/>
                <a:sym typeface="Times New Roman"/>
              </a:rPr>
              <a:t>code block</a:t>
            </a:r>
            <a:endParaRPr i="1" sz="2550">
              <a:solidFill>
                <a:srgbClr val="008000"/>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Clr>
                <a:schemeClr val="dk1"/>
              </a:buClr>
              <a:buSzPct val="43137"/>
              <a:buFont typeface="Arial"/>
              <a:buNone/>
            </a:pPr>
            <a:r>
              <a:rPr lang="en" sz="2550">
                <a:solidFill>
                  <a:schemeClr val="dk1"/>
                </a:solidFill>
                <a:highlight>
                  <a:srgbClr val="FFFFFF"/>
                </a:highlight>
                <a:latin typeface="Times New Roman"/>
                <a:ea typeface="Times New Roman"/>
                <a:cs typeface="Times New Roman"/>
                <a:sym typeface="Times New Roman"/>
              </a:rPr>
              <a:t>}</a:t>
            </a:r>
            <a:endParaRPr sz="255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t/>
            </a:r>
            <a:endParaRPr b="1" sz="2550">
              <a:solidFill>
                <a:schemeClr val="dk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68"/>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This is how it works:</a:t>
            </a:r>
            <a:endParaRPr sz="1150">
              <a:solidFill>
                <a:schemeClr val="dk1"/>
              </a:solidFill>
              <a:highlight>
                <a:srgbClr val="FFFFFF"/>
              </a:highlight>
              <a:latin typeface="Verdana"/>
              <a:ea typeface="Verdana"/>
              <a:cs typeface="Verdana"/>
              <a:sym typeface="Verdana"/>
            </a:endParaRPr>
          </a:p>
          <a:p>
            <a:pPr indent="-301625" lvl="0" marL="457200" rtl="0" algn="l">
              <a:spcBef>
                <a:spcPts val="140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The switch expression is evaluated once.</a:t>
            </a:r>
            <a:endParaRPr sz="1150">
              <a:solidFill>
                <a:schemeClr val="dk1"/>
              </a:solidFill>
              <a:highlight>
                <a:srgbClr val="FFFFFF"/>
              </a:highlight>
              <a:latin typeface="Verdana"/>
              <a:ea typeface="Verdana"/>
              <a:cs typeface="Verdana"/>
              <a:sym typeface="Verdana"/>
            </a:endParaRPr>
          </a:p>
          <a:p>
            <a:pPr indent="-301625" lvl="0" marL="457200" rtl="0" algn="l">
              <a:spcBef>
                <a:spcPts val="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The value of the expression is compared with the values of each case.</a:t>
            </a:r>
            <a:endParaRPr sz="1150">
              <a:solidFill>
                <a:schemeClr val="dk1"/>
              </a:solidFill>
              <a:highlight>
                <a:srgbClr val="FFFFFF"/>
              </a:highlight>
              <a:latin typeface="Verdana"/>
              <a:ea typeface="Verdana"/>
              <a:cs typeface="Verdana"/>
              <a:sym typeface="Verdana"/>
            </a:endParaRPr>
          </a:p>
          <a:p>
            <a:pPr indent="-301625" lvl="0" marL="457200" rtl="0" algn="l">
              <a:spcBef>
                <a:spcPts val="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If there is a match, the associated block of code is executed.</a:t>
            </a:r>
            <a:endParaRPr sz="1150">
              <a:solidFill>
                <a:schemeClr val="dk1"/>
              </a:solidFill>
              <a:highlight>
                <a:srgbClr val="FFFFFF"/>
              </a:highlight>
              <a:latin typeface="Verdana"/>
              <a:ea typeface="Verdana"/>
              <a:cs typeface="Verdana"/>
              <a:sym typeface="Verdana"/>
            </a:endParaRPr>
          </a:p>
          <a:p>
            <a:pPr indent="-301625" lvl="0" marL="457200" rtl="0" algn="l">
              <a:spcBef>
                <a:spcPts val="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If there is no match, the default code block is executed.</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1100"/>
              </a:spcBef>
              <a:spcAft>
                <a:spcPts val="0"/>
              </a:spcAft>
              <a:buNone/>
            </a:pPr>
            <a:r>
              <a:t/>
            </a:r>
            <a:endParaRPr sz="3150">
              <a:solidFill>
                <a:schemeClr val="dk1"/>
              </a:solidFill>
              <a:highlight>
                <a:srgbClr val="FFFFFF"/>
              </a:highligh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69"/>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&lt;html&gt;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&lt;body&gt;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&lt;h2&gt;JavaScript switch&lt;/h2&gt;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&lt;p id="demo"&gt;&lt;/p&gt;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&lt;script&gt;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let day;</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switch (new Date().getDay()) {</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case 0:</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day = "Sunday";</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break;</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case 1:</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day = "Monday";</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break;</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case 2:</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day = "Tuesday";</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break;</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case 3:</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day = "Wednesday";</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break;</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70"/>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case 4:</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day = "Thursday";</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break;</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case 5:</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day = "Friday";</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break;</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case  6:</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    day = "Saturday";</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document.getElementById("demo").innerHTML = "Today is " + day;</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&lt;/script&gt;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&lt;/body&gt;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&lt;/html&gt;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71"/>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 sz="1700">
                <a:solidFill>
                  <a:schemeClr val="dk1"/>
                </a:solidFill>
              </a:rPr>
              <a:t>OUTPUT</a:t>
            </a:r>
            <a:endParaRPr b="1" sz="1700">
              <a:solidFill>
                <a:schemeClr val="dk1"/>
              </a:solidFill>
            </a:endParaRPr>
          </a:p>
          <a:p>
            <a:pPr indent="0" lvl="0" marL="0" rtl="0" algn="l">
              <a:spcBef>
                <a:spcPts val="1800"/>
              </a:spcBef>
              <a:spcAft>
                <a:spcPts val="0"/>
              </a:spcAft>
              <a:buClr>
                <a:schemeClr val="dk1"/>
              </a:buClr>
              <a:buSzPts val="1100"/>
              <a:buFont typeface="Arial"/>
              <a:buNone/>
            </a:pPr>
            <a:r>
              <a:rPr b="1" lang="en" sz="1700">
                <a:solidFill>
                  <a:schemeClr val="dk1"/>
                </a:solidFill>
              </a:rPr>
              <a:t>JavaScript switch</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Today is Monday</a:t>
            </a:r>
            <a:endParaRPr sz="1100">
              <a:solidFill>
                <a:schemeClr val="dk1"/>
              </a:solidFill>
            </a:endParaRPr>
          </a:p>
          <a:p>
            <a:pPr indent="0" lvl="0" marL="0" rtl="0" algn="l">
              <a:lnSpc>
                <a:spcPct val="100000"/>
              </a:lnSpc>
              <a:spcBef>
                <a:spcPts val="1200"/>
              </a:spcBef>
              <a:spcAft>
                <a:spcPts val="0"/>
              </a:spcAft>
              <a:buNone/>
            </a:pPr>
            <a:r>
              <a:t/>
            </a:r>
            <a:endParaRPr sz="1150">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72"/>
          <p:cNvSpPr txBox="1"/>
          <p:nvPr>
            <p:ph idx="1" type="body"/>
          </p:nvPr>
        </p:nvSpPr>
        <p:spPr>
          <a:xfrm>
            <a:off x="311700" y="301200"/>
            <a:ext cx="8520600" cy="42678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 sz="1700">
                <a:solidFill>
                  <a:schemeClr val="dk1"/>
                </a:solidFill>
              </a:rPr>
              <a:t>OUTPUT</a:t>
            </a:r>
            <a:endParaRPr b="1" sz="1700">
              <a:solidFill>
                <a:schemeClr val="dk1"/>
              </a:solidFill>
            </a:endParaRPr>
          </a:p>
          <a:p>
            <a:pPr indent="0" lvl="0" marL="0" rtl="0" algn="l">
              <a:spcBef>
                <a:spcPts val="1800"/>
              </a:spcBef>
              <a:spcAft>
                <a:spcPts val="0"/>
              </a:spcAft>
              <a:buNone/>
            </a:pPr>
            <a:r>
              <a:rPr b="1" lang="en" sz="1700">
                <a:solidFill>
                  <a:schemeClr val="dk1"/>
                </a:solidFill>
              </a:rPr>
              <a:t>JavaScript switch</a:t>
            </a:r>
            <a:endParaRPr b="1" sz="1700">
              <a:solidFill>
                <a:schemeClr val="dk1"/>
              </a:solidFill>
            </a:endParaRPr>
          </a:p>
          <a:p>
            <a:pPr indent="0" lvl="0" marL="0" rtl="0" algn="l">
              <a:spcBef>
                <a:spcPts val="1200"/>
              </a:spcBef>
              <a:spcAft>
                <a:spcPts val="0"/>
              </a:spcAft>
              <a:buNone/>
            </a:pPr>
            <a:r>
              <a:rPr lang="en" sz="1100">
                <a:solidFill>
                  <a:schemeClr val="dk1"/>
                </a:solidFill>
              </a:rPr>
              <a:t>Today is Monday</a:t>
            </a:r>
            <a:endParaRPr sz="1100">
              <a:solidFill>
                <a:schemeClr val="dk1"/>
              </a:solidFill>
            </a:endParaRPr>
          </a:p>
          <a:p>
            <a:pPr indent="0" lvl="0" marL="0" rtl="0" algn="l">
              <a:lnSpc>
                <a:spcPct val="100000"/>
              </a:lnSpc>
              <a:spcBef>
                <a:spcPts val="1200"/>
              </a:spcBef>
              <a:spcAft>
                <a:spcPts val="0"/>
              </a:spcAft>
              <a:buNone/>
            </a:pPr>
            <a:r>
              <a:t/>
            </a:r>
            <a:endParaRPr sz="1150">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73"/>
          <p:cNvSpPr txBox="1"/>
          <p:nvPr>
            <p:ph idx="1" type="body"/>
          </p:nvPr>
        </p:nvSpPr>
        <p:spPr>
          <a:xfrm>
            <a:off x="311700" y="301200"/>
            <a:ext cx="8520600" cy="4267800"/>
          </a:xfrm>
          <a:prstGeom prst="rect">
            <a:avLst/>
          </a:prstGeom>
        </p:spPr>
        <p:txBody>
          <a:bodyPr anchorCtr="0" anchor="t" bIns="91425" lIns="91425" spcFirstLastPara="1" rIns="91425" wrap="square" tIns="91425">
            <a:normAutofit fontScale="92500" lnSpcReduction="20000"/>
          </a:bodyPr>
          <a:lstStyle/>
          <a:p>
            <a:pPr indent="0" lvl="0" marL="0" rtl="0" algn="l">
              <a:spcBef>
                <a:spcPts val="800"/>
              </a:spcBef>
              <a:spcAft>
                <a:spcPts val="0"/>
              </a:spcAft>
              <a:buNone/>
            </a:pPr>
            <a:r>
              <a:rPr lang="en" sz="3150">
                <a:solidFill>
                  <a:schemeClr val="dk1"/>
                </a:solidFill>
                <a:highlight>
                  <a:srgbClr val="FFFFFF"/>
                </a:highlight>
              </a:rPr>
              <a:t>Loops</a:t>
            </a:r>
            <a:endParaRPr sz="3150">
              <a:solidFill>
                <a:schemeClr val="dk1"/>
              </a:solidFill>
              <a:highlight>
                <a:srgbClr val="FFFFFF"/>
              </a:highlight>
            </a:endParaRPr>
          </a:p>
          <a:p>
            <a:pPr indent="0" lvl="0" marL="0" rtl="0" algn="l">
              <a:spcBef>
                <a:spcPts val="1400"/>
              </a:spcBef>
              <a:spcAft>
                <a:spcPts val="0"/>
              </a:spcAft>
              <a:buNone/>
            </a:pPr>
            <a:r>
              <a:rPr lang="en">
                <a:solidFill>
                  <a:schemeClr val="dk1"/>
                </a:solidFill>
                <a:highlight>
                  <a:srgbClr val="FFFFFF"/>
                </a:highlight>
                <a:latin typeface="Times New Roman"/>
                <a:ea typeface="Times New Roman"/>
                <a:cs typeface="Times New Roman"/>
                <a:sym typeface="Times New Roman"/>
              </a:rPr>
              <a:t>Loops can execute a block of code a number of times.</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None/>
            </a:pPr>
            <a:r>
              <a:rPr lang="en">
                <a:solidFill>
                  <a:schemeClr val="dk1"/>
                </a:solidFill>
                <a:highlight>
                  <a:srgbClr val="FFFFFF"/>
                </a:highlight>
                <a:latin typeface="Times New Roman"/>
                <a:ea typeface="Times New Roman"/>
                <a:cs typeface="Times New Roman"/>
                <a:sym typeface="Times New Roman"/>
              </a:rPr>
              <a:t>JavaScript supports different kinds of loops:</a:t>
            </a:r>
            <a:endParaRPr>
              <a:solidFill>
                <a:schemeClr val="dk1"/>
              </a:solidFill>
              <a:highlight>
                <a:srgbClr val="FFFFFF"/>
              </a:highlight>
              <a:latin typeface="Times New Roman"/>
              <a:ea typeface="Times New Roman"/>
              <a:cs typeface="Times New Roman"/>
              <a:sym typeface="Times New Roman"/>
            </a:endParaRPr>
          </a:p>
          <a:p>
            <a:pPr indent="-334327" lvl="0" marL="457200" rtl="0" algn="l">
              <a:spcBef>
                <a:spcPts val="1400"/>
              </a:spcBef>
              <a:spcAft>
                <a:spcPts val="0"/>
              </a:spcAft>
              <a:buClr>
                <a:schemeClr val="dk1"/>
              </a:buClr>
              <a:buSzPct val="100000"/>
              <a:buFont typeface="Verdana"/>
              <a:buChar char="●"/>
            </a:pPr>
            <a:r>
              <a:rPr lang="en">
                <a:solidFill>
                  <a:srgbClr val="DC143C"/>
                </a:solidFill>
                <a:highlight>
                  <a:srgbClr val="FFFFFF"/>
                </a:highlight>
                <a:latin typeface="Times New Roman"/>
                <a:ea typeface="Times New Roman"/>
                <a:cs typeface="Times New Roman"/>
                <a:sym typeface="Times New Roman"/>
              </a:rPr>
              <a:t>for</a:t>
            </a:r>
            <a:r>
              <a:rPr lang="en">
                <a:solidFill>
                  <a:schemeClr val="dk1"/>
                </a:solidFill>
                <a:highlight>
                  <a:srgbClr val="FFFFFF"/>
                </a:highlight>
                <a:latin typeface="Times New Roman"/>
                <a:ea typeface="Times New Roman"/>
                <a:cs typeface="Times New Roman"/>
                <a:sym typeface="Times New Roman"/>
              </a:rPr>
              <a:t> - loops through a block of code a number of times</a:t>
            </a:r>
            <a:endParaRPr>
              <a:solidFill>
                <a:schemeClr val="dk1"/>
              </a:solidFill>
              <a:highlight>
                <a:srgbClr val="FFFFFF"/>
              </a:highlight>
              <a:latin typeface="Times New Roman"/>
              <a:ea typeface="Times New Roman"/>
              <a:cs typeface="Times New Roman"/>
              <a:sym typeface="Times New Roman"/>
            </a:endParaRPr>
          </a:p>
          <a:p>
            <a:pPr indent="-334327" lvl="0" marL="457200" rtl="0" algn="l">
              <a:spcBef>
                <a:spcPts val="0"/>
              </a:spcBef>
              <a:spcAft>
                <a:spcPts val="0"/>
              </a:spcAft>
              <a:buClr>
                <a:schemeClr val="dk1"/>
              </a:buClr>
              <a:buSzPct val="100000"/>
              <a:buFont typeface="Verdana"/>
              <a:buChar char="●"/>
            </a:pPr>
            <a:r>
              <a:rPr lang="en">
                <a:solidFill>
                  <a:srgbClr val="DC143C"/>
                </a:solidFill>
                <a:highlight>
                  <a:srgbClr val="FFFFFF"/>
                </a:highlight>
                <a:latin typeface="Times New Roman"/>
                <a:ea typeface="Times New Roman"/>
                <a:cs typeface="Times New Roman"/>
                <a:sym typeface="Times New Roman"/>
              </a:rPr>
              <a:t>for/in</a:t>
            </a:r>
            <a:r>
              <a:rPr lang="en">
                <a:solidFill>
                  <a:schemeClr val="dk1"/>
                </a:solidFill>
                <a:highlight>
                  <a:srgbClr val="FFFFFF"/>
                </a:highlight>
                <a:latin typeface="Times New Roman"/>
                <a:ea typeface="Times New Roman"/>
                <a:cs typeface="Times New Roman"/>
                <a:sym typeface="Times New Roman"/>
              </a:rPr>
              <a:t> - loops through the properties of an object</a:t>
            </a:r>
            <a:endParaRPr>
              <a:solidFill>
                <a:schemeClr val="dk1"/>
              </a:solidFill>
              <a:highlight>
                <a:srgbClr val="FFFFFF"/>
              </a:highlight>
              <a:latin typeface="Times New Roman"/>
              <a:ea typeface="Times New Roman"/>
              <a:cs typeface="Times New Roman"/>
              <a:sym typeface="Times New Roman"/>
            </a:endParaRPr>
          </a:p>
          <a:p>
            <a:pPr indent="-334327" lvl="0" marL="457200" rtl="0" algn="l">
              <a:spcBef>
                <a:spcPts val="0"/>
              </a:spcBef>
              <a:spcAft>
                <a:spcPts val="0"/>
              </a:spcAft>
              <a:buClr>
                <a:schemeClr val="dk1"/>
              </a:buClr>
              <a:buSzPct val="100000"/>
              <a:buFont typeface="Verdana"/>
              <a:buChar char="●"/>
            </a:pPr>
            <a:r>
              <a:rPr lang="en">
                <a:solidFill>
                  <a:srgbClr val="DC143C"/>
                </a:solidFill>
                <a:highlight>
                  <a:srgbClr val="FFFFFF"/>
                </a:highlight>
                <a:latin typeface="Times New Roman"/>
                <a:ea typeface="Times New Roman"/>
                <a:cs typeface="Times New Roman"/>
                <a:sym typeface="Times New Roman"/>
              </a:rPr>
              <a:t>for/of</a:t>
            </a:r>
            <a:r>
              <a:rPr lang="en">
                <a:solidFill>
                  <a:schemeClr val="dk1"/>
                </a:solidFill>
                <a:highlight>
                  <a:srgbClr val="FFFFFF"/>
                </a:highlight>
                <a:latin typeface="Times New Roman"/>
                <a:ea typeface="Times New Roman"/>
                <a:cs typeface="Times New Roman"/>
                <a:sym typeface="Times New Roman"/>
              </a:rPr>
              <a:t> - loops through the values of an iterable object</a:t>
            </a:r>
            <a:endParaRPr>
              <a:solidFill>
                <a:schemeClr val="dk1"/>
              </a:solidFill>
              <a:highlight>
                <a:srgbClr val="FFFFFF"/>
              </a:highlight>
              <a:latin typeface="Times New Roman"/>
              <a:ea typeface="Times New Roman"/>
              <a:cs typeface="Times New Roman"/>
              <a:sym typeface="Times New Roman"/>
            </a:endParaRPr>
          </a:p>
          <a:p>
            <a:pPr indent="-334327" lvl="0" marL="457200" rtl="0" algn="l">
              <a:spcBef>
                <a:spcPts val="0"/>
              </a:spcBef>
              <a:spcAft>
                <a:spcPts val="0"/>
              </a:spcAft>
              <a:buClr>
                <a:schemeClr val="dk1"/>
              </a:buClr>
              <a:buSzPct val="100000"/>
              <a:buFont typeface="Verdana"/>
              <a:buChar char="●"/>
            </a:pPr>
            <a:r>
              <a:rPr lang="en">
                <a:solidFill>
                  <a:srgbClr val="DC143C"/>
                </a:solidFill>
                <a:highlight>
                  <a:srgbClr val="FFFFFF"/>
                </a:highlight>
                <a:latin typeface="Times New Roman"/>
                <a:ea typeface="Times New Roman"/>
                <a:cs typeface="Times New Roman"/>
                <a:sym typeface="Times New Roman"/>
              </a:rPr>
              <a:t>while</a:t>
            </a:r>
            <a:r>
              <a:rPr lang="en">
                <a:solidFill>
                  <a:schemeClr val="dk1"/>
                </a:solidFill>
                <a:highlight>
                  <a:srgbClr val="FFFFFF"/>
                </a:highlight>
                <a:latin typeface="Times New Roman"/>
                <a:ea typeface="Times New Roman"/>
                <a:cs typeface="Times New Roman"/>
                <a:sym typeface="Times New Roman"/>
              </a:rPr>
              <a:t> - loops through a block of code while a specified condition is true</a:t>
            </a:r>
            <a:endParaRPr>
              <a:solidFill>
                <a:schemeClr val="dk1"/>
              </a:solidFill>
              <a:highlight>
                <a:srgbClr val="FFFFFF"/>
              </a:highlight>
              <a:latin typeface="Times New Roman"/>
              <a:ea typeface="Times New Roman"/>
              <a:cs typeface="Times New Roman"/>
              <a:sym typeface="Times New Roman"/>
            </a:endParaRPr>
          </a:p>
          <a:p>
            <a:pPr indent="-334327" lvl="0" marL="457200" rtl="0" algn="l">
              <a:spcBef>
                <a:spcPts val="0"/>
              </a:spcBef>
              <a:spcAft>
                <a:spcPts val="0"/>
              </a:spcAft>
              <a:buClr>
                <a:schemeClr val="dk1"/>
              </a:buClr>
              <a:buSzPct val="100000"/>
              <a:buFont typeface="Verdana"/>
              <a:buChar char="●"/>
            </a:pPr>
            <a:r>
              <a:rPr lang="en">
                <a:solidFill>
                  <a:srgbClr val="DC143C"/>
                </a:solidFill>
                <a:highlight>
                  <a:srgbClr val="FFFFFF"/>
                </a:highlight>
                <a:latin typeface="Times New Roman"/>
                <a:ea typeface="Times New Roman"/>
                <a:cs typeface="Times New Roman"/>
                <a:sym typeface="Times New Roman"/>
              </a:rPr>
              <a:t>do/while</a:t>
            </a:r>
            <a:r>
              <a:rPr lang="en">
                <a:solidFill>
                  <a:schemeClr val="dk1"/>
                </a:solidFill>
                <a:highlight>
                  <a:srgbClr val="FFFFFF"/>
                </a:highlight>
                <a:latin typeface="Times New Roman"/>
                <a:ea typeface="Times New Roman"/>
                <a:cs typeface="Times New Roman"/>
                <a:sym typeface="Times New Roman"/>
              </a:rPr>
              <a:t> - also loops through a block of code while a specified condition is true</a:t>
            </a:r>
            <a:endParaRPr>
              <a:solidFill>
                <a:schemeClr val="dk1"/>
              </a:solidFill>
              <a:highlight>
                <a:srgbClr val="FFFFFF"/>
              </a:highlight>
              <a:latin typeface="Times New Roman"/>
              <a:ea typeface="Times New Roman"/>
              <a:cs typeface="Times New Roman"/>
              <a:sym typeface="Times New Roman"/>
            </a:endParaRPr>
          </a:p>
          <a:p>
            <a:pPr indent="-296148" lvl="0" marL="457200" rtl="0" algn="l">
              <a:spcBef>
                <a:spcPts val="0"/>
              </a:spcBef>
              <a:spcAft>
                <a:spcPts val="0"/>
              </a:spcAft>
              <a:buClr>
                <a:schemeClr val="dk1"/>
              </a:buClr>
              <a:buSzPct val="100000"/>
              <a:buFont typeface="Verdana"/>
              <a:buChar char="●"/>
            </a:pPr>
            <a:r>
              <a:t/>
            </a:r>
            <a:endParaRPr sz="1150">
              <a:solidFill>
                <a:schemeClr val="dk1"/>
              </a:solidFill>
              <a:highlight>
                <a:srgbClr val="FFFFFF"/>
              </a:highlight>
              <a:latin typeface="Verdana"/>
              <a:ea typeface="Verdana"/>
              <a:cs typeface="Verdana"/>
              <a:sym typeface="Verdana"/>
            </a:endParaRPr>
          </a:p>
          <a:p>
            <a:pPr indent="0" lvl="0" marL="0" rtl="0" algn="l">
              <a:spcBef>
                <a:spcPts val="1100"/>
              </a:spcBef>
              <a:spcAft>
                <a:spcPts val="0"/>
              </a:spcAft>
              <a:buClr>
                <a:schemeClr val="dk1"/>
              </a:buClr>
              <a:buSzPct val="34920"/>
              <a:buFont typeface="Arial"/>
              <a:buNone/>
            </a:pPr>
            <a:r>
              <a:t/>
            </a:r>
            <a:endParaRPr sz="3150">
              <a:solidFill>
                <a:schemeClr val="dk1"/>
              </a:solidFill>
              <a:highlight>
                <a:srgbClr val="FFFFFF"/>
              </a:highlight>
            </a:endParaRPr>
          </a:p>
          <a:p>
            <a:pPr indent="0" lvl="0" marL="0" rtl="0" algn="l">
              <a:spcBef>
                <a:spcPts val="1200"/>
              </a:spcBef>
              <a:spcAft>
                <a:spcPts val="0"/>
              </a:spcAft>
              <a:buNone/>
            </a:pPr>
            <a:r>
              <a:t/>
            </a:r>
            <a:endParaRPr b="1" sz="1700">
              <a:solidFill>
                <a:schemeClr val="dk1"/>
              </a:solidFill>
            </a:endParaRPr>
          </a:p>
          <a:p>
            <a:pPr indent="0" lvl="0" marL="0" rtl="0" algn="l">
              <a:lnSpc>
                <a:spcPct val="100000"/>
              </a:lnSpc>
              <a:spcBef>
                <a:spcPts val="1200"/>
              </a:spcBef>
              <a:spcAft>
                <a:spcPts val="0"/>
              </a:spcAft>
              <a:buNone/>
            </a:pPr>
            <a:r>
              <a:t/>
            </a:r>
            <a:endParaRPr sz="1150">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74"/>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lnSpc>
                <a:spcPct val="100000"/>
              </a:lnSpc>
              <a:spcBef>
                <a:spcPts val="80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The For Loop</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The </a:t>
            </a:r>
            <a:r>
              <a:rPr lang="en" sz="2000">
                <a:solidFill>
                  <a:srgbClr val="DC143C"/>
                </a:solidFill>
                <a:highlight>
                  <a:srgbClr val="FFFFFF"/>
                </a:highlight>
                <a:latin typeface="Times New Roman"/>
                <a:ea typeface="Times New Roman"/>
                <a:cs typeface="Times New Roman"/>
                <a:sym typeface="Times New Roman"/>
              </a:rPr>
              <a:t>for</a:t>
            </a:r>
            <a:r>
              <a:rPr lang="en" sz="2000">
                <a:solidFill>
                  <a:schemeClr val="dk1"/>
                </a:solidFill>
                <a:highlight>
                  <a:srgbClr val="FFFFFF"/>
                </a:highlight>
                <a:latin typeface="Times New Roman"/>
                <a:ea typeface="Times New Roman"/>
                <a:cs typeface="Times New Roman"/>
                <a:sym typeface="Times New Roman"/>
              </a:rPr>
              <a:t> statement creates a loop with 3 optional expressions:</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1400"/>
              </a:spcBef>
              <a:spcAft>
                <a:spcPts val="0"/>
              </a:spcAft>
              <a:buClr>
                <a:schemeClr val="dk1"/>
              </a:buClr>
              <a:buSzPts val="1100"/>
              <a:buFont typeface="Arial"/>
              <a:buNone/>
            </a:pPr>
            <a:r>
              <a:rPr lang="en" sz="2000">
                <a:solidFill>
                  <a:srgbClr val="0000CD"/>
                </a:solidFill>
                <a:highlight>
                  <a:srgbClr val="FFFFFF"/>
                </a:highlight>
                <a:latin typeface="Times New Roman"/>
                <a:ea typeface="Times New Roman"/>
                <a:cs typeface="Times New Roman"/>
                <a:sym typeface="Times New Roman"/>
              </a:rPr>
              <a:t>for</a:t>
            </a:r>
            <a:r>
              <a:rPr lang="en" sz="2000">
                <a:solidFill>
                  <a:schemeClr val="dk1"/>
                </a:solidFill>
                <a:highlight>
                  <a:srgbClr val="FFFFFF"/>
                </a:highlight>
                <a:latin typeface="Times New Roman"/>
                <a:ea typeface="Times New Roman"/>
                <a:cs typeface="Times New Roman"/>
                <a:sym typeface="Times New Roman"/>
              </a:rPr>
              <a:t> (</a:t>
            </a:r>
            <a:r>
              <a:rPr i="1" lang="en" sz="2000">
                <a:solidFill>
                  <a:schemeClr val="dk1"/>
                </a:solidFill>
                <a:highlight>
                  <a:srgbClr val="FFFFFF"/>
                </a:highlight>
                <a:latin typeface="Times New Roman"/>
                <a:ea typeface="Times New Roman"/>
                <a:cs typeface="Times New Roman"/>
                <a:sym typeface="Times New Roman"/>
              </a:rPr>
              <a:t>expression 1</a:t>
            </a:r>
            <a:r>
              <a:rPr lang="en" sz="2000">
                <a:solidFill>
                  <a:schemeClr val="dk1"/>
                </a:solidFill>
                <a:highlight>
                  <a:srgbClr val="FFFFFF"/>
                </a:highlight>
                <a:latin typeface="Times New Roman"/>
                <a:ea typeface="Times New Roman"/>
                <a:cs typeface="Times New Roman"/>
                <a:sym typeface="Times New Roman"/>
              </a:rPr>
              <a:t>;</a:t>
            </a:r>
            <a:r>
              <a:rPr i="1" lang="en" sz="2000">
                <a:solidFill>
                  <a:schemeClr val="dk1"/>
                </a:solidFill>
                <a:highlight>
                  <a:srgbClr val="FFFFFF"/>
                </a:highlight>
                <a:latin typeface="Times New Roman"/>
                <a:ea typeface="Times New Roman"/>
                <a:cs typeface="Times New Roman"/>
                <a:sym typeface="Times New Roman"/>
              </a:rPr>
              <a:t> expression 2</a:t>
            </a:r>
            <a:r>
              <a:rPr lang="en" sz="2000">
                <a:solidFill>
                  <a:schemeClr val="dk1"/>
                </a:solidFill>
                <a:highlight>
                  <a:srgbClr val="FFFFFF"/>
                </a:highlight>
                <a:latin typeface="Times New Roman"/>
                <a:ea typeface="Times New Roman"/>
                <a:cs typeface="Times New Roman"/>
                <a:sym typeface="Times New Roman"/>
              </a:rPr>
              <a:t>;</a:t>
            </a:r>
            <a:r>
              <a:rPr i="1" lang="en" sz="2000">
                <a:solidFill>
                  <a:schemeClr val="dk1"/>
                </a:solidFill>
                <a:highlight>
                  <a:srgbClr val="FFFFFF"/>
                </a:highlight>
                <a:latin typeface="Times New Roman"/>
                <a:ea typeface="Times New Roman"/>
                <a:cs typeface="Times New Roman"/>
                <a:sym typeface="Times New Roman"/>
              </a:rPr>
              <a:t> expression 3</a:t>
            </a:r>
            <a:r>
              <a:rPr lang="en" sz="2000">
                <a:solidFill>
                  <a:schemeClr val="dk1"/>
                </a:solidFill>
                <a:highlight>
                  <a:srgbClr val="FFFFFF"/>
                </a:highlight>
                <a:latin typeface="Times New Roman"/>
                <a:ea typeface="Times New Roman"/>
                <a:cs typeface="Times New Roman"/>
                <a:sym typeface="Times New Roman"/>
              </a:rPr>
              <a:t>)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120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  </a:t>
            </a:r>
            <a:r>
              <a:rPr lang="en" sz="2000">
                <a:solidFill>
                  <a:srgbClr val="008000"/>
                </a:solidFill>
                <a:highlight>
                  <a:srgbClr val="FFFFFF"/>
                </a:highlight>
                <a:latin typeface="Times New Roman"/>
                <a:ea typeface="Times New Roman"/>
                <a:cs typeface="Times New Roman"/>
                <a:sym typeface="Times New Roman"/>
              </a:rPr>
              <a:t>// </a:t>
            </a:r>
            <a:r>
              <a:rPr i="1" lang="en" sz="2000">
                <a:solidFill>
                  <a:srgbClr val="008000"/>
                </a:solidFill>
                <a:highlight>
                  <a:srgbClr val="FFFFFF"/>
                </a:highlight>
                <a:latin typeface="Times New Roman"/>
                <a:ea typeface="Times New Roman"/>
                <a:cs typeface="Times New Roman"/>
                <a:sym typeface="Times New Roman"/>
              </a:rPr>
              <a:t>code block to be executed</a:t>
            </a:r>
            <a:endParaRPr i="1" sz="2000">
              <a:solidFill>
                <a:srgbClr val="008000"/>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120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Expression 1 is executed (one time) before the execution of the code block.</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Expression 2 defines the condition for executing the code block.</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Expression 3 is executed (every time) after the code block has been executed.</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t/>
            </a:r>
            <a:endParaRPr sz="3150">
              <a:solidFill>
                <a:schemeClr val="dk1"/>
              </a:solidFill>
              <a:highlight>
                <a:srgbClr val="FFFFFF"/>
              </a:highlight>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75"/>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&lt;html&gt;</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&lt;body&gt;</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&lt;h2&gt;JavaScript For Loop&lt;/h2&gt;</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&lt;p id="demo"&gt;&lt;/p&gt;</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&lt;script&gt;</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let text = "";</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for (let i = 0; i &lt; 5; i++) {</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  text += "The number is " + i + "&lt;br&gt;";</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document.getElementById("demo").innerHTML = text;</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&lt;/script&gt;</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&lt;/body&gt;</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&lt;/html&gt;</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3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76"/>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None/>
            </a:pPr>
            <a:r>
              <a:rPr b="1" lang="en" sz="1700">
                <a:solidFill>
                  <a:schemeClr val="dk1"/>
                </a:solidFill>
              </a:rPr>
              <a:t>JavaScript For Loop</a:t>
            </a:r>
            <a:endParaRPr b="1" sz="1700">
              <a:solidFill>
                <a:schemeClr val="dk1"/>
              </a:solidFill>
            </a:endParaRPr>
          </a:p>
          <a:p>
            <a:pPr indent="0" lvl="0" marL="0" rtl="0" algn="l">
              <a:spcBef>
                <a:spcPts val="1200"/>
              </a:spcBef>
              <a:spcAft>
                <a:spcPts val="0"/>
              </a:spcAft>
              <a:buNone/>
            </a:pPr>
            <a:r>
              <a:rPr lang="en" sz="1100">
                <a:solidFill>
                  <a:schemeClr val="dk1"/>
                </a:solidFill>
              </a:rPr>
              <a:t>The number is 0</a:t>
            </a:r>
            <a:br>
              <a:rPr lang="en" sz="1100">
                <a:solidFill>
                  <a:schemeClr val="dk1"/>
                </a:solidFill>
              </a:rPr>
            </a:br>
            <a:r>
              <a:rPr lang="en" sz="1100">
                <a:solidFill>
                  <a:schemeClr val="dk1"/>
                </a:solidFill>
              </a:rPr>
              <a:t>The number is 1</a:t>
            </a:r>
            <a:br>
              <a:rPr lang="en" sz="1100">
                <a:solidFill>
                  <a:schemeClr val="dk1"/>
                </a:solidFill>
              </a:rPr>
            </a:br>
            <a:r>
              <a:rPr lang="en" sz="1100">
                <a:solidFill>
                  <a:schemeClr val="dk1"/>
                </a:solidFill>
              </a:rPr>
              <a:t>The number is 2</a:t>
            </a:r>
            <a:br>
              <a:rPr lang="en" sz="1100">
                <a:solidFill>
                  <a:schemeClr val="dk1"/>
                </a:solidFill>
              </a:rPr>
            </a:br>
            <a:r>
              <a:rPr lang="en" sz="1100">
                <a:solidFill>
                  <a:schemeClr val="dk1"/>
                </a:solidFill>
              </a:rPr>
              <a:t>The number is 3</a:t>
            </a:r>
            <a:br>
              <a:rPr lang="en" sz="1100">
                <a:solidFill>
                  <a:schemeClr val="dk1"/>
                </a:solidFill>
              </a:rPr>
            </a:br>
            <a:r>
              <a:rPr lang="en" sz="1100">
                <a:solidFill>
                  <a:schemeClr val="dk1"/>
                </a:solidFill>
              </a:rPr>
              <a:t>The number is 4</a:t>
            </a:r>
            <a:endParaRPr sz="1100">
              <a:solidFill>
                <a:schemeClr val="dk1"/>
              </a:solidFill>
            </a:endParaRPr>
          </a:p>
          <a:p>
            <a:pPr indent="0" lvl="0" marL="0" rtl="0" algn="l">
              <a:lnSpc>
                <a:spcPct val="100000"/>
              </a:lnSpc>
              <a:spcBef>
                <a:spcPts val="1200"/>
              </a:spcBef>
              <a:spcAft>
                <a:spcPts val="0"/>
              </a:spcAft>
              <a:buNone/>
            </a:pPr>
            <a:r>
              <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3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77"/>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None/>
            </a:pPr>
            <a:r>
              <a:rPr lang="en" sz="2400">
                <a:solidFill>
                  <a:schemeClr val="dk1"/>
                </a:solidFill>
                <a:highlight>
                  <a:srgbClr val="FFFFFF"/>
                </a:highlight>
              </a:rPr>
              <a:t>For In Loop</a:t>
            </a:r>
            <a:endParaRPr sz="2400">
              <a:solidFill>
                <a:schemeClr val="dk1"/>
              </a:solidFill>
              <a:highlight>
                <a:srgbClr val="FFFFFF"/>
              </a:highlight>
            </a:endParaRPr>
          </a:p>
          <a:p>
            <a:pPr indent="0" lvl="0" marL="0" rtl="0" algn="l">
              <a:spcBef>
                <a:spcPts val="1400"/>
              </a:spcBef>
              <a:spcAft>
                <a:spcPts val="0"/>
              </a:spcAft>
              <a:buNone/>
            </a:pPr>
            <a:r>
              <a:rPr lang="en" sz="1150">
                <a:solidFill>
                  <a:schemeClr val="dk1"/>
                </a:solidFill>
                <a:highlight>
                  <a:srgbClr val="FFFFFF"/>
                </a:highlight>
                <a:latin typeface="Verdana"/>
                <a:ea typeface="Verdana"/>
                <a:cs typeface="Verdana"/>
                <a:sym typeface="Verdana"/>
              </a:rPr>
              <a:t>The JavaScript </a:t>
            </a:r>
            <a:r>
              <a:rPr lang="en" sz="1200">
                <a:solidFill>
                  <a:srgbClr val="DC143C"/>
                </a:solidFill>
                <a:highlight>
                  <a:srgbClr val="FFFFFF"/>
                </a:highlight>
                <a:latin typeface="Courier New"/>
                <a:ea typeface="Courier New"/>
                <a:cs typeface="Courier New"/>
                <a:sym typeface="Courier New"/>
              </a:rPr>
              <a:t>for in</a:t>
            </a:r>
            <a:r>
              <a:rPr lang="en" sz="1150">
                <a:solidFill>
                  <a:schemeClr val="dk1"/>
                </a:solidFill>
                <a:highlight>
                  <a:srgbClr val="FFFFFF"/>
                </a:highlight>
                <a:latin typeface="Verdana"/>
                <a:ea typeface="Verdana"/>
                <a:cs typeface="Verdana"/>
                <a:sym typeface="Verdana"/>
              </a:rPr>
              <a:t> statement loops through the properties of an Object:</a:t>
            </a:r>
            <a:endParaRPr sz="1150">
              <a:solidFill>
                <a:schemeClr val="dk1"/>
              </a:solidFill>
              <a:highlight>
                <a:srgbClr val="FFFFFF"/>
              </a:highlight>
              <a:latin typeface="Verdana"/>
              <a:ea typeface="Verdana"/>
              <a:cs typeface="Verdana"/>
              <a:sym typeface="Verdana"/>
            </a:endParaRPr>
          </a:p>
          <a:p>
            <a:pPr indent="0" lvl="0" marL="0" rtl="0" algn="l">
              <a:spcBef>
                <a:spcPts val="2600"/>
              </a:spcBef>
              <a:spcAft>
                <a:spcPts val="0"/>
              </a:spcAft>
              <a:buNone/>
            </a:pPr>
            <a:r>
              <a:rPr lang="en">
                <a:solidFill>
                  <a:schemeClr val="dk1"/>
                </a:solidFill>
                <a:highlight>
                  <a:srgbClr val="E7E9EB"/>
                </a:highlight>
              </a:rPr>
              <a:t>Syntax</a:t>
            </a:r>
            <a:endParaRPr>
              <a:solidFill>
                <a:schemeClr val="dk1"/>
              </a:solidFill>
              <a:highlight>
                <a:srgbClr val="E7E9EB"/>
              </a:highlight>
            </a:endParaRPr>
          </a:p>
          <a:p>
            <a:pPr indent="0" lvl="0" marL="114300" marR="114300" rtl="0" algn="l">
              <a:spcBef>
                <a:spcPts val="3000"/>
              </a:spcBef>
              <a:spcAft>
                <a:spcPts val="0"/>
              </a:spcAft>
              <a:buNone/>
            </a:pPr>
            <a:r>
              <a:rPr lang="en" sz="1150">
                <a:solidFill>
                  <a:srgbClr val="0000CD"/>
                </a:solidFill>
                <a:highlight>
                  <a:srgbClr val="FFFFFF"/>
                </a:highlight>
                <a:latin typeface="Courier New"/>
                <a:ea typeface="Courier New"/>
                <a:cs typeface="Courier New"/>
                <a:sym typeface="Courier New"/>
              </a:rPr>
              <a:t>for</a:t>
            </a:r>
            <a:r>
              <a:rPr lang="en" sz="1150">
                <a:solidFill>
                  <a:schemeClr val="dk1"/>
                </a:solidFill>
                <a:highlight>
                  <a:srgbClr val="FFFFFF"/>
                </a:highlight>
                <a:latin typeface="Courier New"/>
                <a:ea typeface="Courier New"/>
                <a:cs typeface="Courier New"/>
                <a:sym typeface="Courier New"/>
              </a:rPr>
              <a:t> (key </a:t>
            </a:r>
            <a:r>
              <a:rPr lang="en" sz="1150">
                <a:solidFill>
                  <a:srgbClr val="0000CD"/>
                </a:solidFill>
                <a:highlight>
                  <a:srgbClr val="FFFFFF"/>
                </a:highlight>
                <a:latin typeface="Courier New"/>
                <a:ea typeface="Courier New"/>
                <a:cs typeface="Courier New"/>
                <a:sym typeface="Courier New"/>
              </a:rPr>
              <a:t>in</a:t>
            </a:r>
            <a:r>
              <a:rPr lang="en" sz="1150">
                <a:solidFill>
                  <a:schemeClr val="dk1"/>
                </a:solidFill>
                <a:highlight>
                  <a:srgbClr val="FFFFFF"/>
                </a:highlight>
                <a:latin typeface="Courier New"/>
                <a:ea typeface="Courier New"/>
                <a:cs typeface="Courier New"/>
                <a:sym typeface="Courier New"/>
              </a:rPr>
              <a:t> object) {</a:t>
            </a:r>
            <a:endParaRPr sz="1150">
              <a:solidFill>
                <a:schemeClr val="dk1"/>
              </a:solidFill>
              <a:highlight>
                <a:srgbClr val="FFFFFF"/>
              </a:highlight>
              <a:latin typeface="Courier New"/>
              <a:ea typeface="Courier New"/>
              <a:cs typeface="Courier New"/>
              <a:sym typeface="Courier New"/>
            </a:endParaRPr>
          </a:p>
          <a:p>
            <a:pPr indent="0" lvl="0" marL="114300" marR="114300" rtl="0" algn="l">
              <a:spcBef>
                <a:spcPts val="3000"/>
              </a:spcBef>
              <a:spcAft>
                <a:spcPts val="0"/>
              </a:spcAft>
              <a:buNone/>
            </a:pPr>
            <a:r>
              <a:rPr lang="en" sz="1150">
                <a:solidFill>
                  <a:schemeClr val="dk1"/>
                </a:solidFill>
                <a:highlight>
                  <a:srgbClr val="FFFFFF"/>
                </a:highlight>
                <a:latin typeface="Courier New"/>
                <a:ea typeface="Courier New"/>
                <a:cs typeface="Courier New"/>
                <a:sym typeface="Courier New"/>
              </a:rPr>
              <a:t>  </a:t>
            </a:r>
            <a:r>
              <a:rPr lang="en" sz="1150">
                <a:solidFill>
                  <a:srgbClr val="008000"/>
                </a:solidFill>
                <a:highlight>
                  <a:srgbClr val="FFFFFF"/>
                </a:highlight>
                <a:latin typeface="Courier New"/>
                <a:ea typeface="Courier New"/>
                <a:cs typeface="Courier New"/>
                <a:sym typeface="Courier New"/>
              </a:rPr>
              <a:t>// </a:t>
            </a:r>
            <a:r>
              <a:rPr i="1" lang="en" sz="1150">
                <a:solidFill>
                  <a:srgbClr val="008000"/>
                </a:solidFill>
                <a:highlight>
                  <a:srgbClr val="FFFFFF"/>
                </a:highlight>
                <a:latin typeface="Courier New"/>
                <a:ea typeface="Courier New"/>
                <a:cs typeface="Courier New"/>
                <a:sym typeface="Courier New"/>
              </a:rPr>
              <a:t>code block to be executed</a:t>
            </a:r>
            <a:endParaRPr i="1" sz="1150">
              <a:solidFill>
                <a:srgbClr val="008000"/>
              </a:solidFill>
              <a:highlight>
                <a:srgbClr val="FFFFFF"/>
              </a:highlight>
              <a:latin typeface="Courier New"/>
              <a:ea typeface="Courier New"/>
              <a:cs typeface="Courier New"/>
              <a:sym typeface="Courier New"/>
            </a:endParaRPr>
          </a:p>
          <a:p>
            <a:pPr indent="0" lvl="0" marL="114300" marR="114300" rtl="0" algn="l">
              <a:spcBef>
                <a:spcPts val="3000"/>
              </a:spcBef>
              <a:spcAft>
                <a:spcPts val="0"/>
              </a:spcAft>
              <a:buNone/>
            </a:pPr>
            <a:r>
              <a:rPr lang="en" sz="1150">
                <a:solidFill>
                  <a:schemeClr val="dk1"/>
                </a:solidFill>
                <a:highlight>
                  <a:srgbClr val="FFFFFF"/>
                </a:highlight>
                <a:latin typeface="Courier New"/>
                <a:ea typeface="Courier New"/>
                <a:cs typeface="Courier New"/>
                <a:sym typeface="Courier New"/>
              </a:rPr>
              <a:t>}</a:t>
            </a:r>
            <a:endParaRPr sz="1150">
              <a:solidFill>
                <a:schemeClr val="dk1"/>
              </a:solidFill>
              <a:highlight>
                <a:srgbClr val="FFFFFF"/>
              </a:highlight>
              <a:latin typeface="Courier New"/>
              <a:ea typeface="Courier New"/>
              <a:cs typeface="Courier New"/>
              <a:sym typeface="Courier New"/>
            </a:endParaRPr>
          </a:p>
          <a:p>
            <a:pPr indent="0" lvl="0" marL="0" rtl="0" algn="l">
              <a:spcBef>
                <a:spcPts val="3000"/>
              </a:spcBef>
              <a:spcAft>
                <a:spcPts val="0"/>
              </a:spcAft>
              <a:buNone/>
            </a:pPr>
            <a:r>
              <a:t/>
            </a:r>
            <a:endParaRPr b="1" sz="1700">
              <a:solidFill>
                <a:schemeClr val="dk1"/>
              </a:solidFill>
            </a:endParaRPr>
          </a:p>
          <a:p>
            <a:pPr indent="0" lvl="0" marL="0" rtl="0" algn="l">
              <a:lnSpc>
                <a:spcPct val="100000"/>
              </a:lnSpc>
              <a:spcBef>
                <a:spcPts val="1200"/>
              </a:spcBef>
              <a:spcAft>
                <a:spcPts val="0"/>
              </a:spcAft>
              <a:buNone/>
            </a:pPr>
            <a:r>
              <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3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3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78"/>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&lt;h2&gt;JavaScript For In Loop&lt;/h2&gt;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&lt;p&gt;The for in statement loops through the properties of an object:&lt;/p&gt;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&lt;p id="demo"&gt;&lt;/p&gt;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&lt;script&gt;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const person = {fname:"John", lname:"Doe", age:25};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let txt =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for (let x in person)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  txt += person[x] + "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document.getElementById("demo").innerHTML = txt;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&lt;/script&gt;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79"/>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Clr>
                <a:schemeClr val="dk1"/>
              </a:buClr>
              <a:buSzPts val="1100"/>
              <a:buFont typeface="Arial"/>
              <a:buNone/>
            </a:pPr>
            <a:r>
              <a:rPr b="1" lang="en" sz="1700">
                <a:solidFill>
                  <a:schemeClr val="dk1"/>
                </a:solidFill>
              </a:rPr>
              <a:t>JavaScript For In Loop</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The for in statement loops through the properties of an object:</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John Doe 25</a:t>
            </a:r>
            <a:endParaRPr sz="1100">
              <a:solidFill>
                <a:schemeClr val="dk1"/>
              </a:solidFill>
            </a:endParaRPr>
          </a:p>
          <a:p>
            <a:pPr indent="0" lvl="0" marL="114300" marR="114300" rtl="0" algn="l">
              <a:lnSpc>
                <a:spcPct val="100000"/>
              </a:lnSpc>
              <a:spcBef>
                <a:spcPts val="120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80"/>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None/>
            </a:pPr>
            <a:r>
              <a:rPr lang="en" sz="2000">
                <a:solidFill>
                  <a:schemeClr val="dk1"/>
                </a:solidFill>
                <a:highlight>
                  <a:srgbClr val="FFFFFF"/>
                </a:highlight>
                <a:latin typeface="Times New Roman"/>
                <a:ea typeface="Times New Roman"/>
                <a:cs typeface="Times New Roman"/>
                <a:sym typeface="Times New Roman"/>
              </a:rPr>
              <a:t>For Of Loop</a:t>
            </a:r>
            <a:endParaRPr sz="20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2000">
                <a:solidFill>
                  <a:schemeClr val="dk1"/>
                </a:solidFill>
                <a:highlight>
                  <a:srgbClr val="FFFFFF"/>
                </a:highlight>
                <a:latin typeface="Times New Roman"/>
                <a:ea typeface="Times New Roman"/>
                <a:cs typeface="Times New Roman"/>
                <a:sym typeface="Times New Roman"/>
              </a:rPr>
              <a:t>The JavaScript </a:t>
            </a:r>
            <a:r>
              <a:rPr lang="en" sz="2000">
                <a:solidFill>
                  <a:srgbClr val="DC143C"/>
                </a:solidFill>
                <a:highlight>
                  <a:srgbClr val="FFFFFF"/>
                </a:highlight>
                <a:latin typeface="Times New Roman"/>
                <a:ea typeface="Times New Roman"/>
                <a:cs typeface="Times New Roman"/>
                <a:sym typeface="Times New Roman"/>
              </a:rPr>
              <a:t>for of</a:t>
            </a:r>
            <a:r>
              <a:rPr lang="en" sz="2000">
                <a:solidFill>
                  <a:schemeClr val="dk1"/>
                </a:solidFill>
                <a:highlight>
                  <a:srgbClr val="FFFFFF"/>
                </a:highlight>
                <a:latin typeface="Times New Roman"/>
                <a:ea typeface="Times New Roman"/>
                <a:cs typeface="Times New Roman"/>
                <a:sym typeface="Times New Roman"/>
              </a:rPr>
              <a:t> statement loops through the values of an iterable object.</a:t>
            </a:r>
            <a:endParaRPr sz="20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It lets you loop over iterable data structures such as Arrays, Strings, Maps, NodeLists, and more:</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Syntax</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for (variable of iterable)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  // code block to be executed</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variable - For every iteration the value of the next property is assigned to the variable. Variable can be declared with const, let, or var.</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iterable - An object that has iterable properties.</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a:p>
            <a:pPr indent="0" lvl="0" marL="0" marR="0" rtl="0" algn="l">
              <a:lnSpc>
                <a:spcPct val="115000"/>
              </a:lnSpc>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a:p>
            <a:pPr indent="0" lvl="0" marL="0" marR="0" rtl="0" algn="l">
              <a:lnSpc>
                <a:spcPct val="115000"/>
              </a:lnSpc>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a:p>
            <a:pPr indent="0" lvl="0" marL="0" marR="0" rtl="0" algn="l">
              <a:lnSpc>
                <a:spcPct val="115000"/>
              </a:lnSpc>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a:p>
            <a:pPr indent="0" lvl="0" marL="0" marR="0" rtl="0" algn="l">
              <a:lnSpc>
                <a:spcPct val="115000"/>
              </a:lnSpc>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a:p>
            <a:pPr indent="0" lvl="0" marL="0" marR="0" rtl="0" algn="l">
              <a:lnSpc>
                <a:spcPct val="115000"/>
              </a:lnSpc>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a:p>
            <a:pPr indent="0" lvl="0" marL="0" marR="0" rtl="0" algn="l">
              <a:lnSpc>
                <a:spcPct val="115000"/>
              </a:lnSpc>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81"/>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&lt;html&gt;</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&lt;body&gt;</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&lt;h2&gt;JavaScript For Of Loop&lt;/h2&gt;</a:t>
            </a:r>
            <a:endParaRPr sz="20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&lt;p&gt;The for of statement loops through the values of any iterable object:&lt;/p&gt;</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&lt;p id="demo"&gt;&lt;/p&gt;</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&lt;script&gt;</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const cars = ["BMW", "Volvo", "Mini"];</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let text =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for (let x of cars)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  text += x + "&lt;br&gt;";</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document.getElementById("demo").innerHTML = text;</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&lt;/script&gt;</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82"/>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&lt;/body&gt;</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&lt;/html&gt;</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Output</a:t>
            </a:r>
            <a:endParaRPr sz="2000">
              <a:solidFill>
                <a:schemeClr val="dk1"/>
              </a:solidFill>
              <a:highlight>
                <a:srgbClr val="FFFFFF"/>
              </a:highlight>
              <a:latin typeface="Times New Roman"/>
              <a:ea typeface="Times New Roman"/>
              <a:cs typeface="Times New Roman"/>
              <a:sym typeface="Times New Roman"/>
            </a:endParaRPr>
          </a:p>
          <a:p>
            <a:pPr indent="0" lvl="0" marL="0" rtl="0" algn="l">
              <a:spcBef>
                <a:spcPts val="1800"/>
              </a:spcBef>
              <a:spcAft>
                <a:spcPts val="0"/>
              </a:spcAft>
              <a:buNone/>
            </a:pPr>
            <a:r>
              <a:rPr b="1" lang="en" sz="1700">
                <a:solidFill>
                  <a:schemeClr val="dk1"/>
                </a:solidFill>
              </a:rPr>
              <a:t>JavaScript For Of Loop</a:t>
            </a:r>
            <a:endParaRPr b="1" sz="1700">
              <a:solidFill>
                <a:schemeClr val="dk1"/>
              </a:solidFill>
            </a:endParaRPr>
          </a:p>
          <a:p>
            <a:pPr indent="0" lvl="0" marL="0" rtl="0" algn="l">
              <a:spcBef>
                <a:spcPts val="1200"/>
              </a:spcBef>
              <a:spcAft>
                <a:spcPts val="0"/>
              </a:spcAft>
              <a:buNone/>
            </a:pPr>
            <a:r>
              <a:rPr lang="en" sz="1100">
                <a:solidFill>
                  <a:schemeClr val="dk1"/>
                </a:solidFill>
              </a:rPr>
              <a:t>The for of statement loops through the values of any iterable object:</a:t>
            </a:r>
            <a:endParaRPr sz="1100">
              <a:solidFill>
                <a:schemeClr val="dk1"/>
              </a:solidFill>
            </a:endParaRPr>
          </a:p>
          <a:p>
            <a:pPr indent="0" lvl="0" marL="0" rtl="0" algn="l">
              <a:spcBef>
                <a:spcPts val="1200"/>
              </a:spcBef>
              <a:spcAft>
                <a:spcPts val="0"/>
              </a:spcAft>
              <a:buNone/>
            </a:pPr>
            <a:r>
              <a:rPr lang="en" sz="1100">
                <a:solidFill>
                  <a:schemeClr val="dk1"/>
                </a:solidFill>
              </a:rPr>
              <a:t>BMW</a:t>
            </a:r>
            <a:br>
              <a:rPr lang="en" sz="1100">
                <a:solidFill>
                  <a:schemeClr val="dk1"/>
                </a:solidFill>
              </a:rPr>
            </a:br>
            <a:r>
              <a:rPr lang="en" sz="1100">
                <a:solidFill>
                  <a:schemeClr val="dk1"/>
                </a:solidFill>
              </a:rPr>
              <a:t>Volvo</a:t>
            </a:r>
            <a:br>
              <a:rPr lang="en" sz="1100">
                <a:solidFill>
                  <a:schemeClr val="dk1"/>
                </a:solidFill>
              </a:rPr>
            </a:br>
            <a:r>
              <a:rPr lang="en" sz="1100">
                <a:solidFill>
                  <a:schemeClr val="dk1"/>
                </a:solidFill>
              </a:rPr>
              <a:t>Mini</a:t>
            </a:r>
            <a:endParaRPr sz="1100">
              <a:solidFill>
                <a:schemeClr val="dk1"/>
              </a:solidFill>
            </a:endParaRPr>
          </a:p>
          <a:p>
            <a:pPr indent="0" lvl="0" marL="0" rtl="0" algn="l">
              <a:lnSpc>
                <a:spcPct val="100000"/>
              </a:lnSpc>
              <a:spcBef>
                <a:spcPts val="1200"/>
              </a:spcBef>
              <a:spcAft>
                <a:spcPts val="0"/>
              </a:spcAft>
              <a:buClr>
                <a:schemeClr val="dk1"/>
              </a:buClr>
              <a:buSzPts val="1100"/>
              <a:buFont typeface="Arial"/>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83"/>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None/>
            </a:pPr>
            <a:r>
              <a:rPr lang="en" sz="2400">
                <a:solidFill>
                  <a:schemeClr val="dk1"/>
                </a:solidFill>
                <a:highlight>
                  <a:srgbClr val="FFFFFF"/>
                </a:highlight>
                <a:latin typeface="Times New Roman"/>
                <a:ea typeface="Times New Roman"/>
                <a:cs typeface="Times New Roman"/>
                <a:sym typeface="Times New Roman"/>
              </a:rPr>
              <a:t>While Loop</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None/>
            </a:pPr>
            <a:r>
              <a:rPr lang="en" sz="2400">
                <a:solidFill>
                  <a:schemeClr val="dk1"/>
                </a:solidFill>
                <a:highlight>
                  <a:srgbClr val="FFFFFF"/>
                </a:highlight>
                <a:latin typeface="Times New Roman"/>
                <a:ea typeface="Times New Roman"/>
                <a:cs typeface="Times New Roman"/>
                <a:sym typeface="Times New Roman"/>
              </a:rPr>
              <a:t>The </a:t>
            </a:r>
            <a:r>
              <a:rPr lang="en" sz="2400">
                <a:solidFill>
                  <a:srgbClr val="DC143C"/>
                </a:solidFill>
                <a:highlight>
                  <a:srgbClr val="FFFFFF"/>
                </a:highlight>
                <a:latin typeface="Times New Roman"/>
                <a:ea typeface="Times New Roman"/>
                <a:cs typeface="Times New Roman"/>
                <a:sym typeface="Times New Roman"/>
              </a:rPr>
              <a:t>while</a:t>
            </a:r>
            <a:r>
              <a:rPr lang="en" sz="2400">
                <a:solidFill>
                  <a:schemeClr val="dk1"/>
                </a:solidFill>
                <a:highlight>
                  <a:srgbClr val="FFFFFF"/>
                </a:highlight>
                <a:latin typeface="Times New Roman"/>
                <a:ea typeface="Times New Roman"/>
                <a:cs typeface="Times New Roman"/>
                <a:sym typeface="Times New Roman"/>
              </a:rPr>
              <a:t> loop loops through a block of code as long as a specified condition is true.</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None/>
            </a:pPr>
            <a:r>
              <a:rPr lang="en" sz="2400">
                <a:solidFill>
                  <a:schemeClr val="dk1"/>
                </a:solidFill>
                <a:highlight>
                  <a:srgbClr val="FFFFFF"/>
                </a:highlight>
                <a:latin typeface="Times New Roman"/>
                <a:ea typeface="Times New Roman"/>
                <a:cs typeface="Times New Roman"/>
                <a:sym typeface="Times New Roman"/>
              </a:rPr>
              <a:t>Syntax</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rPr lang="en" sz="2400">
                <a:solidFill>
                  <a:srgbClr val="0000CD"/>
                </a:solidFill>
                <a:highlight>
                  <a:srgbClr val="FFFFFF"/>
                </a:highlight>
                <a:latin typeface="Times New Roman"/>
                <a:ea typeface="Times New Roman"/>
                <a:cs typeface="Times New Roman"/>
                <a:sym typeface="Times New Roman"/>
              </a:rPr>
              <a:t>while</a:t>
            </a:r>
            <a:r>
              <a:rPr lang="en" sz="2400">
                <a:solidFill>
                  <a:schemeClr val="dk1"/>
                </a:solidFill>
                <a:highlight>
                  <a:srgbClr val="FFFFFF"/>
                </a:highlight>
                <a:latin typeface="Times New Roman"/>
                <a:ea typeface="Times New Roman"/>
                <a:cs typeface="Times New Roman"/>
                <a:sym typeface="Times New Roman"/>
              </a:rPr>
              <a:t> (</a:t>
            </a:r>
            <a:r>
              <a:rPr i="1" lang="en" sz="2400">
                <a:solidFill>
                  <a:schemeClr val="dk1"/>
                </a:solidFill>
                <a:highlight>
                  <a:srgbClr val="FFFFFF"/>
                </a:highlight>
                <a:latin typeface="Times New Roman"/>
                <a:ea typeface="Times New Roman"/>
                <a:cs typeface="Times New Roman"/>
                <a:sym typeface="Times New Roman"/>
              </a:rPr>
              <a:t>condition</a:t>
            </a:r>
            <a:r>
              <a:rPr lang="en" sz="2400">
                <a:solidFill>
                  <a:schemeClr val="dk1"/>
                </a:solidFill>
                <a:highlight>
                  <a:srgbClr val="FFFFFF"/>
                </a:highlight>
                <a:latin typeface="Times New Roman"/>
                <a:ea typeface="Times New Roman"/>
                <a:cs typeface="Times New Roman"/>
                <a:sym typeface="Times New Roman"/>
              </a:rPr>
              <a:t>) {</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rPr i="1" lang="en" sz="2400">
                <a:solidFill>
                  <a:schemeClr val="dk1"/>
                </a:solidFill>
                <a:highlight>
                  <a:srgbClr val="FFFFFF"/>
                </a:highlight>
                <a:latin typeface="Times New Roman"/>
                <a:ea typeface="Times New Roman"/>
                <a:cs typeface="Times New Roman"/>
                <a:sym typeface="Times New Roman"/>
              </a:rPr>
              <a:t>  </a:t>
            </a:r>
            <a:r>
              <a:rPr i="1" lang="en" sz="2400">
                <a:solidFill>
                  <a:srgbClr val="008000"/>
                </a:solidFill>
                <a:highlight>
                  <a:srgbClr val="FFFFFF"/>
                </a:highlight>
                <a:latin typeface="Times New Roman"/>
                <a:ea typeface="Times New Roman"/>
                <a:cs typeface="Times New Roman"/>
                <a:sym typeface="Times New Roman"/>
              </a:rPr>
              <a:t>// code block to be executed</a:t>
            </a:r>
            <a:endParaRPr i="1" sz="2400">
              <a:solidFill>
                <a:srgbClr val="008000"/>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rPr lang="en" sz="2400">
                <a:solidFill>
                  <a:schemeClr val="dk1"/>
                </a:solidFill>
                <a:highlight>
                  <a:srgbClr val="FFFFFF"/>
                </a:highlight>
                <a:latin typeface="Times New Roman"/>
                <a:ea typeface="Times New Roman"/>
                <a:cs typeface="Times New Roman"/>
                <a:sym typeface="Times New Roman"/>
              </a:rPr>
              <a:t>}</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84"/>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&lt;html&gt;</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&lt;body&gt;</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&lt;h2&gt;JavaScript While Loop&lt;/h2&gt;</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&lt;p id="demo"&gt;&lt;/p&gt;</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&lt;script&gt;</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2400">
                <a:solidFill>
                  <a:schemeClr val="dk1"/>
                </a:solidFill>
                <a:highlight>
                  <a:srgbClr val="FFFFFF"/>
                </a:highlight>
                <a:latin typeface="Times New Roman"/>
                <a:ea typeface="Times New Roman"/>
                <a:cs typeface="Times New Roman"/>
                <a:sym typeface="Times New Roman"/>
              </a:rPr>
              <a:t>let text = "";</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rPr lang="en" sz="2400">
                <a:solidFill>
                  <a:schemeClr val="dk1"/>
                </a:solidFill>
                <a:highlight>
                  <a:srgbClr val="FFFFFF"/>
                </a:highlight>
                <a:latin typeface="Times New Roman"/>
                <a:ea typeface="Times New Roman"/>
                <a:cs typeface="Times New Roman"/>
                <a:sym typeface="Times New Roman"/>
              </a:rPr>
              <a:t>let i = 0;</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rPr lang="en" sz="2400">
                <a:solidFill>
                  <a:schemeClr val="dk1"/>
                </a:solidFill>
                <a:highlight>
                  <a:srgbClr val="FFFFFF"/>
                </a:highlight>
                <a:latin typeface="Times New Roman"/>
                <a:ea typeface="Times New Roman"/>
                <a:cs typeface="Times New Roman"/>
                <a:sym typeface="Times New Roman"/>
              </a:rPr>
              <a:t>while (i &lt; 10) {</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rPr lang="en" sz="2400">
                <a:solidFill>
                  <a:schemeClr val="dk1"/>
                </a:solidFill>
                <a:highlight>
                  <a:srgbClr val="FFFFFF"/>
                </a:highlight>
                <a:latin typeface="Times New Roman"/>
                <a:ea typeface="Times New Roman"/>
                <a:cs typeface="Times New Roman"/>
                <a:sym typeface="Times New Roman"/>
              </a:rPr>
              <a:t>  text += "&lt;br&gt;The number is " + i;</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1200"/>
              </a:spcAft>
              <a:buNone/>
            </a:pPr>
            <a:r>
              <a:rPr lang="en" sz="2400">
                <a:solidFill>
                  <a:schemeClr val="dk1"/>
                </a:solidFill>
                <a:highlight>
                  <a:srgbClr val="FFFFFF"/>
                </a:highlight>
                <a:latin typeface="Times New Roman"/>
                <a:ea typeface="Times New Roman"/>
                <a:cs typeface="Times New Roman"/>
                <a:sym typeface="Times New Roman"/>
              </a:rPr>
              <a:t> </a:t>
            </a:r>
            <a:endParaRPr sz="20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85"/>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spcBef>
                <a:spcPts val="1200"/>
              </a:spcBef>
              <a:spcAft>
                <a:spcPts val="0"/>
              </a:spcAft>
              <a:buNone/>
            </a:pPr>
            <a:r>
              <a:rPr lang="en" sz="2400">
                <a:solidFill>
                  <a:schemeClr val="dk1"/>
                </a:solidFill>
                <a:highlight>
                  <a:srgbClr val="FFFFFF"/>
                </a:highlight>
                <a:latin typeface="Times New Roman"/>
                <a:ea typeface="Times New Roman"/>
                <a:cs typeface="Times New Roman"/>
                <a:sym typeface="Times New Roman"/>
              </a:rPr>
              <a:t> i++;</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rPr lang="en" sz="2400">
                <a:solidFill>
                  <a:schemeClr val="dk1"/>
                </a:solidFill>
                <a:highlight>
                  <a:srgbClr val="FFFFFF"/>
                </a:highlight>
                <a:latin typeface="Times New Roman"/>
                <a:ea typeface="Times New Roman"/>
                <a:cs typeface="Times New Roman"/>
                <a:sym typeface="Times New Roman"/>
              </a:rPr>
              <a:t>}</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rPr lang="en" sz="2400">
                <a:solidFill>
                  <a:schemeClr val="dk1"/>
                </a:solidFill>
                <a:highlight>
                  <a:srgbClr val="FFFFFF"/>
                </a:highlight>
                <a:latin typeface="Times New Roman"/>
                <a:ea typeface="Times New Roman"/>
                <a:cs typeface="Times New Roman"/>
                <a:sym typeface="Times New Roman"/>
              </a:rPr>
              <a:t>document.getElementById("demo").innerHTML = text;</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rPr lang="en" sz="2400">
                <a:solidFill>
                  <a:schemeClr val="dk1"/>
                </a:solidFill>
                <a:highlight>
                  <a:srgbClr val="FFFFFF"/>
                </a:highlight>
                <a:latin typeface="Times New Roman"/>
                <a:ea typeface="Times New Roman"/>
                <a:cs typeface="Times New Roman"/>
                <a:sym typeface="Times New Roman"/>
              </a:rPr>
              <a:t>&lt;/script&gt;</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rPr lang="en" sz="2400">
                <a:solidFill>
                  <a:schemeClr val="dk1"/>
                </a:solidFill>
                <a:highlight>
                  <a:srgbClr val="FFFFFF"/>
                </a:highlight>
                <a:latin typeface="Times New Roman"/>
                <a:ea typeface="Times New Roman"/>
                <a:cs typeface="Times New Roman"/>
                <a:sym typeface="Times New Roman"/>
              </a:rPr>
              <a:t>&lt;/body&gt;</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rPr lang="en" sz="2400">
                <a:solidFill>
                  <a:schemeClr val="dk1"/>
                </a:solidFill>
                <a:highlight>
                  <a:srgbClr val="FFFFFF"/>
                </a:highlight>
                <a:latin typeface="Times New Roman"/>
                <a:ea typeface="Times New Roman"/>
                <a:cs typeface="Times New Roman"/>
                <a:sym typeface="Times New Roman"/>
              </a:rPr>
              <a:t>&lt;/html&gt;</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1200"/>
              </a:spcAft>
              <a:buNone/>
            </a:pPr>
            <a:r>
              <a:rPr lang="en" sz="2400">
                <a:solidFill>
                  <a:schemeClr val="dk1"/>
                </a:solidFill>
                <a:highlight>
                  <a:srgbClr val="FFFFFF"/>
                </a:highlight>
                <a:latin typeface="Times New Roman"/>
                <a:ea typeface="Times New Roman"/>
                <a:cs typeface="Times New Roman"/>
                <a:sym typeface="Times New Roman"/>
              </a:rPr>
              <a:t> </a:t>
            </a:r>
            <a:endParaRPr sz="20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86"/>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None/>
            </a:pPr>
            <a:r>
              <a:rPr b="1" lang="en" sz="1700">
                <a:solidFill>
                  <a:schemeClr val="dk1"/>
                </a:solidFill>
              </a:rPr>
              <a:t>JavaScript While Loop</a:t>
            </a:r>
            <a:endParaRPr b="1" sz="1700">
              <a:solidFill>
                <a:schemeClr val="dk1"/>
              </a:solidFill>
            </a:endParaRPr>
          </a:p>
          <a:p>
            <a:pPr indent="0" lvl="0" marL="0" rtl="0" algn="l">
              <a:spcBef>
                <a:spcPts val="1200"/>
              </a:spcBef>
              <a:spcAft>
                <a:spcPts val="0"/>
              </a:spcAft>
              <a:buNone/>
            </a:pPr>
            <a:br>
              <a:rPr b="1" lang="en" sz="1700">
                <a:solidFill>
                  <a:schemeClr val="dk1"/>
                </a:solidFill>
              </a:rPr>
            </a:br>
            <a:r>
              <a:rPr lang="en" sz="1100">
                <a:solidFill>
                  <a:schemeClr val="dk1"/>
                </a:solidFill>
              </a:rPr>
              <a:t>The number is 0</a:t>
            </a:r>
            <a:br>
              <a:rPr lang="en" sz="1100">
                <a:solidFill>
                  <a:schemeClr val="dk1"/>
                </a:solidFill>
              </a:rPr>
            </a:br>
            <a:r>
              <a:rPr lang="en" sz="1100">
                <a:solidFill>
                  <a:schemeClr val="dk1"/>
                </a:solidFill>
              </a:rPr>
              <a:t>The number is 1</a:t>
            </a:r>
            <a:br>
              <a:rPr lang="en" sz="1100">
                <a:solidFill>
                  <a:schemeClr val="dk1"/>
                </a:solidFill>
              </a:rPr>
            </a:br>
            <a:r>
              <a:rPr lang="en" sz="1100">
                <a:solidFill>
                  <a:schemeClr val="dk1"/>
                </a:solidFill>
              </a:rPr>
              <a:t>The number is 2</a:t>
            </a:r>
            <a:br>
              <a:rPr lang="en" sz="1100">
                <a:solidFill>
                  <a:schemeClr val="dk1"/>
                </a:solidFill>
              </a:rPr>
            </a:br>
            <a:r>
              <a:rPr lang="en" sz="1100">
                <a:solidFill>
                  <a:schemeClr val="dk1"/>
                </a:solidFill>
              </a:rPr>
              <a:t>The number is 3</a:t>
            </a:r>
            <a:br>
              <a:rPr lang="en" sz="1100">
                <a:solidFill>
                  <a:schemeClr val="dk1"/>
                </a:solidFill>
              </a:rPr>
            </a:br>
            <a:r>
              <a:rPr lang="en" sz="1100">
                <a:solidFill>
                  <a:schemeClr val="dk1"/>
                </a:solidFill>
              </a:rPr>
              <a:t>The number is 4</a:t>
            </a:r>
            <a:br>
              <a:rPr lang="en" sz="1100">
                <a:solidFill>
                  <a:schemeClr val="dk1"/>
                </a:solidFill>
              </a:rPr>
            </a:br>
            <a:r>
              <a:rPr lang="en" sz="1100">
                <a:solidFill>
                  <a:schemeClr val="dk1"/>
                </a:solidFill>
              </a:rPr>
              <a:t>The number is 5</a:t>
            </a:r>
            <a:br>
              <a:rPr lang="en" sz="1100">
                <a:solidFill>
                  <a:schemeClr val="dk1"/>
                </a:solidFill>
              </a:rPr>
            </a:br>
            <a:r>
              <a:rPr lang="en" sz="1100">
                <a:solidFill>
                  <a:schemeClr val="dk1"/>
                </a:solidFill>
              </a:rPr>
              <a:t>The number is 6</a:t>
            </a:r>
            <a:br>
              <a:rPr lang="en" sz="1100">
                <a:solidFill>
                  <a:schemeClr val="dk1"/>
                </a:solidFill>
              </a:rPr>
            </a:br>
            <a:r>
              <a:rPr lang="en" sz="1100">
                <a:solidFill>
                  <a:schemeClr val="dk1"/>
                </a:solidFill>
              </a:rPr>
              <a:t>The number is 7</a:t>
            </a:r>
            <a:br>
              <a:rPr lang="en" sz="1100">
                <a:solidFill>
                  <a:schemeClr val="dk1"/>
                </a:solidFill>
              </a:rPr>
            </a:br>
            <a:r>
              <a:rPr lang="en" sz="1100">
                <a:solidFill>
                  <a:schemeClr val="dk1"/>
                </a:solidFill>
              </a:rPr>
              <a:t>The number is 8</a:t>
            </a:r>
            <a:br>
              <a:rPr lang="en" sz="1100">
                <a:solidFill>
                  <a:schemeClr val="dk1"/>
                </a:solidFill>
              </a:rPr>
            </a:br>
            <a:r>
              <a:rPr lang="en" sz="1100">
                <a:solidFill>
                  <a:schemeClr val="dk1"/>
                </a:solidFill>
              </a:rPr>
              <a:t>The number is 9</a:t>
            </a:r>
            <a:endParaRPr sz="1100">
              <a:solidFill>
                <a:schemeClr val="dk1"/>
              </a:solidFill>
            </a:endParaRPr>
          </a:p>
          <a:p>
            <a:pPr indent="0" lvl="0" marL="114300" marR="114300" rtl="0" algn="l">
              <a:spcBef>
                <a:spcPts val="12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1200"/>
              </a:spcAft>
              <a:buNone/>
            </a:pPr>
            <a:r>
              <a:rPr lang="en" sz="2400">
                <a:solidFill>
                  <a:schemeClr val="dk1"/>
                </a:solidFill>
                <a:highlight>
                  <a:srgbClr val="FFFFFF"/>
                </a:highlight>
                <a:latin typeface="Times New Roman"/>
                <a:ea typeface="Times New Roman"/>
                <a:cs typeface="Times New Roman"/>
                <a:sym typeface="Times New Roman"/>
              </a:rPr>
              <a:t> </a:t>
            </a:r>
            <a:endParaRPr sz="20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87"/>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None/>
            </a:pPr>
            <a:r>
              <a:rPr lang="en" sz="2000">
                <a:solidFill>
                  <a:schemeClr val="dk1"/>
                </a:solidFill>
                <a:highlight>
                  <a:srgbClr val="FFFFFF"/>
                </a:highlight>
                <a:latin typeface="Times New Roman"/>
                <a:ea typeface="Times New Roman"/>
                <a:cs typeface="Times New Roman"/>
                <a:sym typeface="Times New Roman"/>
              </a:rPr>
              <a:t>Do While Loop</a:t>
            </a:r>
            <a:endParaRPr sz="2000">
              <a:solidFill>
                <a:schemeClr val="dk1"/>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None/>
            </a:pPr>
            <a:r>
              <a:rPr lang="en" sz="2000">
                <a:solidFill>
                  <a:schemeClr val="dk1"/>
                </a:solidFill>
                <a:highlight>
                  <a:srgbClr val="FFFFFF"/>
                </a:highlight>
                <a:latin typeface="Times New Roman"/>
                <a:ea typeface="Times New Roman"/>
                <a:cs typeface="Times New Roman"/>
                <a:sym typeface="Times New Roman"/>
              </a:rPr>
              <a:t>The </a:t>
            </a:r>
            <a:r>
              <a:rPr lang="en" sz="2000">
                <a:solidFill>
                  <a:srgbClr val="DC143C"/>
                </a:solidFill>
                <a:highlight>
                  <a:srgbClr val="FFFFFF"/>
                </a:highlight>
                <a:latin typeface="Times New Roman"/>
                <a:ea typeface="Times New Roman"/>
                <a:cs typeface="Times New Roman"/>
                <a:sym typeface="Times New Roman"/>
              </a:rPr>
              <a:t>do while</a:t>
            </a:r>
            <a:r>
              <a:rPr lang="en" sz="2000">
                <a:solidFill>
                  <a:schemeClr val="dk1"/>
                </a:solidFill>
                <a:highlight>
                  <a:srgbClr val="FFFFFF"/>
                </a:highlight>
                <a:latin typeface="Times New Roman"/>
                <a:ea typeface="Times New Roman"/>
                <a:cs typeface="Times New Roman"/>
                <a:sym typeface="Times New Roman"/>
              </a:rPr>
              <a:t> loop is a variant of the while loop. This loop will execute the code block once, before checking if the condition is true, then it will repeat the loop as long as the condition is true.</a:t>
            </a:r>
            <a:endParaRPr sz="2000">
              <a:solidFill>
                <a:schemeClr val="dk1"/>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None/>
            </a:pPr>
            <a:r>
              <a:rPr lang="en" sz="2000">
                <a:solidFill>
                  <a:schemeClr val="dk1"/>
                </a:solidFill>
                <a:highlight>
                  <a:srgbClr val="FFFFFF"/>
                </a:highlight>
                <a:latin typeface="Times New Roman"/>
                <a:ea typeface="Times New Roman"/>
                <a:cs typeface="Times New Roman"/>
                <a:sym typeface="Times New Roman"/>
              </a:rPr>
              <a:t>Syntax</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rPr lang="en" sz="2000">
                <a:solidFill>
                  <a:srgbClr val="0000CD"/>
                </a:solidFill>
                <a:highlight>
                  <a:srgbClr val="FFFFFF"/>
                </a:highlight>
                <a:latin typeface="Times New Roman"/>
                <a:ea typeface="Times New Roman"/>
                <a:cs typeface="Times New Roman"/>
                <a:sym typeface="Times New Roman"/>
              </a:rPr>
              <a:t>do</a:t>
            </a:r>
            <a:r>
              <a:rPr lang="en" sz="2000">
                <a:solidFill>
                  <a:schemeClr val="dk1"/>
                </a:solidFill>
                <a:highlight>
                  <a:srgbClr val="FFFFFF"/>
                </a:highlight>
                <a:latin typeface="Times New Roman"/>
                <a:ea typeface="Times New Roman"/>
                <a:cs typeface="Times New Roman"/>
                <a:sym typeface="Times New Roman"/>
              </a:rPr>
              <a:t>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rPr i="1" lang="en" sz="2000">
                <a:solidFill>
                  <a:schemeClr val="dk1"/>
                </a:solidFill>
                <a:highlight>
                  <a:srgbClr val="FFFFFF"/>
                </a:highlight>
                <a:latin typeface="Times New Roman"/>
                <a:ea typeface="Times New Roman"/>
                <a:cs typeface="Times New Roman"/>
                <a:sym typeface="Times New Roman"/>
              </a:rPr>
              <a:t>  </a:t>
            </a:r>
            <a:r>
              <a:rPr i="1" lang="en" sz="2000">
                <a:solidFill>
                  <a:srgbClr val="008000"/>
                </a:solidFill>
                <a:highlight>
                  <a:srgbClr val="FFFFFF"/>
                </a:highlight>
                <a:latin typeface="Times New Roman"/>
                <a:ea typeface="Times New Roman"/>
                <a:cs typeface="Times New Roman"/>
                <a:sym typeface="Times New Roman"/>
              </a:rPr>
              <a:t>// code block to be executed</a:t>
            </a:r>
            <a:endParaRPr i="1" sz="2000">
              <a:solidFill>
                <a:srgbClr val="008000"/>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rPr lang="en" sz="2000">
                <a:solidFill>
                  <a:schemeClr val="dk1"/>
                </a:solidFill>
                <a:highlight>
                  <a:srgbClr val="FFFFFF"/>
                </a:highlight>
                <a:latin typeface="Times New Roman"/>
                <a:ea typeface="Times New Roman"/>
                <a:cs typeface="Times New Roman"/>
                <a:sym typeface="Times New Roman"/>
              </a:rPr>
              <a:t>}</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rPr lang="en" sz="2000">
                <a:solidFill>
                  <a:srgbClr val="0000CD"/>
                </a:solidFill>
                <a:highlight>
                  <a:srgbClr val="FFFFFF"/>
                </a:highlight>
                <a:latin typeface="Times New Roman"/>
                <a:ea typeface="Times New Roman"/>
                <a:cs typeface="Times New Roman"/>
                <a:sym typeface="Times New Roman"/>
              </a:rPr>
              <a:t>while</a:t>
            </a:r>
            <a:r>
              <a:rPr lang="en" sz="2000">
                <a:solidFill>
                  <a:schemeClr val="dk1"/>
                </a:solidFill>
                <a:highlight>
                  <a:srgbClr val="FFFFFF"/>
                </a:highlight>
                <a:latin typeface="Times New Roman"/>
                <a:ea typeface="Times New Roman"/>
                <a:cs typeface="Times New Roman"/>
                <a:sym typeface="Times New Roman"/>
              </a:rPr>
              <a:t> (</a:t>
            </a:r>
            <a:r>
              <a:rPr i="1" lang="en" sz="2000">
                <a:solidFill>
                  <a:schemeClr val="dk1"/>
                </a:solidFill>
                <a:highlight>
                  <a:srgbClr val="FFFFFF"/>
                </a:highlight>
                <a:latin typeface="Times New Roman"/>
                <a:ea typeface="Times New Roman"/>
                <a:cs typeface="Times New Roman"/>
                <a:sym typeface="Times New Roman"/>
              </a:rPr>
              <a:t>condition</a:t>
            </a:r>
            <a:r>
              <a:rPr lang="en" sz="2000">
                <a:solidFill>
                  <a:schemeClr val="dk1"/>
                </a:solidFill>
                <a:highlight>
                  <a:srgbClr val="FFFFFF"/>
                </a:highlight>
                <a:latin typeface="Times New Roman"/>
                <a:ea typeface="Times New Roman"/>
                <a:cs typeface="Times New Roman"/>
                <a:sym typeface="Times New Roman"/>
              </a:rPr>
              <a:t>);</a:t>
            </a:r>
            <a:endParaRPr sz="2000">
              <a:solidFill>
                <a:schemeClr val="dk1"/>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t/>
            </a:r>
            <a:endParaRPr b="1" sz="2000">
              <a:solidFill>
                <a:schemeClr val="dk1"/>
              </a:solidFill>
              <a:latin typeface="Times New Roman"/>
              <a:ea typeface="Times New Roman"/>
              <a:cs typeface="Times New Roman"/>
              <a:sym typeface="Times New Roman"/>
            </a:endParaRPr>
          </a:p>
          <a:p>
            <a:pPr indent="0" lvl="0" marL="114300" marR="114300" rtl="0" algn="l">
              <a:spcBef>
                <a:spcPts val="120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1200"/>
              </a:spcAft>
              <a:buNone/>
            </a:pPr>
            <a:r>
              <a:rPr lang="en" sz="2000">
                <a:solidFill>
                  <a:schemeClr val="dk1"/>
                </a:solidFill>
                <a:highlight>
                  <a:srgbClr val="FFFFFF"/>
                </a:highlight>
                <a:latin typeface="Times New Roman"/>
                <a:ea typeface="Times New Roman"/>
                <a:cs typeface="Times New Roman"/>
                <a:sym typeface="Times New Roman"/>
              </a:rPr>
              <a:t> </a:t>
            </a:r>
            <a:endParaRPr sz="16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88"/>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&lt;html&gt;</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&lt;body&gt;</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&lt;h2&gt;JavaScript Do While Loop&lt;/h2&gt;</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&lt;p id="demo"&gt;&lt;/p&gt;</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&lt;script&gt;</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let text =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let i = 0;</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do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  text += "&lt;br&gt;The number is " + i;</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1200"/>
              </a:spcAft>
              <a:buNone/>
            </a:pPr>
            <a:r>
              <a:rPr lang="en" sz="2000">
                <a:solidFill>
                  <a:schemeClr val="dk1"/>
                </a:solidFill>
                <a:highlight>
                  <a:srgbClr val="FFFFFF"/>
                </a:highlight>
                <a:latin typeface="Times New Roman"/>
                <a:ea typeface="Times New Roman"/>
                <a:cs typeface="Times New Roman"/>
                <a:sym typeface="Times New Roman"/>
              </a:rPr>
              <a:t> </a:t>
            </a:r>
            <a:endParaRPr sz="16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89"/>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 i++;</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while (i &lt; 10);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document.getElementById("demo").innerHTML = text;</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&lt;/script&gt;</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&lt;/body&gt;</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2000">
                <a:solidFill>
                  <a:schemeClr val="dk1"/>
                </a:solidFill>
                <a:highlight>
                  <a:srgbClr val="FFFFFF"/>
                </a:highlight>
                <a:latin typeface="Times New Roman"/>
                <a:ea typeface="Times New Roman"/>
                <a:cs typeface="Times New Roman"/>
                <a:sym typeface="Times New Roman"/>
              </a:rPr>
              <a:t>&lt;/html&gt;</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1200"/>
              </a:spcAft>
              <a:buNone/>
            </a:pPr>
            <a:r>
              <a:rPr lang="en" sz="2000">
                <a:solidFill>
                  <a:schemeClr val="dk1"/>
                </a:solidFill>
                <a:highlight>
                  <a:srgbClr val="FFFFFF"/>
                </a:highlight>
                <a:latin typeface="Times New Roman"/>
                <a:ea typeface="Times New Roman"/>
                <a:cs typeface="Times New Roman"/>
                <a:sym typeface="Times New Roman"/>
              </a:rPr>
              <a:t> </a:t>
            </a:r>
            <a:endParaRPr sz="16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90"/>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None/>
            </a:pPr>
            <a:r>
              <a:rPr b="1" lang="en" sz="1700">
                <a:solidFill>
                  <a:schemeClr val="dk1"/>
                </a:solidFill>
              </a:rPr>
              <a:t>JavaScript Do While Loop</a:t>
            </a:r>
            <a:endParaRPr b="1" sz="1700">
              <a:solidFill>
                <a:schemeClr val="dk1"/>
              </a:solidFill>
            </a:endParaRPr>
          </a:p>
          <a:p>
            <a:pPr indent="0" lvl="0" marL="0" rtl="0" algn="l">
              <a:spcBef>
                <a:spcPts val="1200"/>
              </a:spcBef>
              <a:spcAft>
                <a:spcPts val="0"/>
              </a:spcAft>
              <a:buNone/>
            </a:pPr>
            <a:br>
              <a:rPr b="1" lang="en" sz="1700">
                <a:solidFill>
                  <a:schemeClr val="dk1"/>
                </a:solidFill>
              </a:rPr>
            </a:br>
            <a:r>
              <a:rPr lang="en" sz="1100">
                <a:solidFill>
                  <a:schemeClr val="dk1"/>
                </a:solidFill>
              </a:rPr>
              <a:t>The number is 0</a:t>
            </a:r>
            <a:br>
              <a:rPr lang="en" sz="1100">
                <a:solidFill>
                  <a:schemeClr val="dk1"/>
                </a:solidFill>
              </a:rPr>
            </a:br>
            <a:r>
              <a:rPr lang="en" sz="1100">
                <a:solidFill>
                  <a:schemeClr val="dk1"/>
                </a:solidFill>
              </a:rPr>
              <a:t>The number is 1</a:t>
            </a:r>
            <a:br>
              <a:rPr lang="en" sz="1100">
                <a:solidFill>
                  <a:schemeClr val="dk1"/>
                </a:solidFill>
              </a:rPr>
            </a:br>
            <a:r>
              <a:rPr lang="en" sz="1100">
                <a:solidFill>
                  <a:schemeClr val="dk1"/>
                </a:solidFill>
              </a:rPr>
              <a:t>The number is 2</a:t>
            </a:r>
            <a:br>
              <a:rPr lang="en" sz="1100">
                <a:solidFill>
                  <a:schemeClr val="dk1"/>
                </a:solidFill>
              </a:rPr>
            </a:br>
            <a:r>
              <a:rPr lang="en" sz="1100">
                <a:solidFill>
                  <a:schemeClr val="dk1"/>
                </a:solidFill>
              </a:rPr>
              <a:t>The number is 3</a:t>
            </a:r>
            <a:br>
              <a:rPr lang="en" sz="1100">
                <a:solidFill>
                  <a:schemeClr val="dk1"/>
                </a:solidFill>
              </a:rPr>
            </a:br>
            <a:r>
              <a:rPr lang="en" sz="1100">
                <a:solidFill>
                  <a:schemeClr val="dk1"/>
                </a:solidFill>
              </a:rPr>
              <a:t>The number is 4</a:t>
            </a:r>
            <a:br>
              <a:rPr lang="en" sz="1100">
                <a:solidFill>
                  <a:schemeClr val="dk1"/>
                </a:solidFill>
              </a:rPr>
            </a:br>
            <a:r>
              <a:rPr lang="en" sz="1100">
                <a:solidFill>
                  <a:schemeClr val="dk1"/>
                </a:solidFill>
              </a:rPr>
              <a:t>The number is 5</a:t>
            </a:r>
            <a:br>
              <a:rPr lang="en" sz="1100">
                <a:solidFill>
                  <a:schemeClr val="dk1"/>
                </a:solidFill>
              </a:rPr>
            </a:br>
            <a:r>
              <a:rPr lang="en" sz="1100">
                <a:solidFill>
                  <a:schemeClr val="dk1"/>
                </a:solidFill>
              </a:rPr>
              <a:t>The number is 6</a:t>
            </a:r>
            <a:br>
              <a:rPr lang="en" sz="1100">
                <a:solidFill>
                  <a:schemeClr val="dk1"/>
                </a:solidFill>
              </a:rPr>
            </a:br>
            <a:r>
              <a:rPr lang="en" sz="1100">
                <a:solidFill>
                  <a:schemeClr val="dk1"/>
                </a:solidFill>
              </a:rPr>
              <a:t>The number is 7</a:t>
            </a:r>
            <a:br>
              <a:rPr lang="en" sz="1100">
                <a:solidFill>
                  <a:schemeClr val="dk1"/>
                </a:solidFill>
              </a:rPr>
            </a:br>
            <a:r>
              <a:rPr lang="en" sz="1100">
                <a:solidFill>
                  <a:schemeClr val="dk1"/>
                </a:solidFill>
              </a:rPr>
              <a:t>The number is 8</a:t>
            </a:r>
            <a:br>
              <a:rPr lang="en" sz="1100">
                <a:solidFill>
                  <a:schemeClr val="dk1"/>
                </a:solidFill>
              </a:rPr>
            </a:br>
            <a:r>
              <a:rPr lang="en" sz="1100">
                <a:solidFill>
                  <a:schemeClr val="dk1"/>
                </a:solidFill>
              </a:rPr>
              <a:t>The number is 9</a:t>
            </a:r>
            <a:endParaRPr sz="1100">
              <a:solidFill>
                <a:schemeClr val="dk1"/>
              </a:solidFill>
            </a:endParaRPr>
          </a:p>
          <a:p>
            <a:pPr indent="0" lvl="0" marL="114300" marR="114300" rtl="0" algn="l">
              <a:lnSpc>
                <a:spcPct val="100000"/>
              </a:lnSpc>
              <a:spcBef>
                <a:spcPts val="120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rPr lang="en" sz="2000">
                <a:solidFill>
                  <a:schemeClr val="dk1"/>
                </a:solidFill>
                <a:highlight>
                  <a:srgbClr val="FFFFFF"/>
                </a:highlight>
                <a:latin typeface="Times New Roman"/>
                <a:ea typeface="Times New Roman"/>
                <a:cs typeface="Times New Roman"/>
                <a:sym typeface="Times New Roman"/>
              </a:rPr>
              <a:t>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1200"/>
              </a:spcAft>
              <a:buNone/>
            </a:pPr>
            <a:r>
              <a:rPr lang="en" sz="2000">
                <a:solidFill>
                  <a:schemeClr val="dk1"/>
                </a:solidFill>
                <a:highlight>
                  <a:srgbClr val="FFFFFF"/>
                </a:highlight>
                <a:latin typeface="Times New Roman"/>
                <a:ea typeface="Times New Roman"/>
                <a:cs typeface="Times New Roman"/>
                <a:sym typeface="Times New Roman"/>
              </a:rPr>
              <a:t> </a:t>
            </a:r>
            <a:endParaRPr sz="16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91"/>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b="1" lang="en" sz="2300">
                <a:solidFill>
                  <a:schemeClr val="dk1"/>
                </a:solidFill>
              </a:rPr>
              <a:t>JavaScript User Defined Functions</a:t>
            </a:r>
            <a:endParaRPr b="1" sz="2300">
              <a:solidFill>
                <a:schemeClr val="dk1"/>
              </a:solidFill>
            </a:endParaRPr>
          </a:p>
          <a:p>
            <a:pPr indent="0" lvl="0" marL="0" rtl="0" algn="l">
              <a:lnSpc>
                <a:spcPct val="100000"/>
              </a:lnSpc>
              <a:spcBef>
                <a:spcPts val="800"/>
              </a:spcBef>
              <a:spcAft>
                <a:spcPts val="0"/>
              </a:spcAft>
              <a:buClr>
                <a:schemeClr val="dk1"/>
              </a:buClr>
              <a:buSzPts val="1100"/>
              <a:buFont typeface="Arial"/>
              <a:buNone/>
            </a:pPr>
            <a:r>
              <a:rPr lang="en" sz="3150">
                <a:solidFill>
                  <a:schemeClr val="dk1"/>
                </a:solidFill>
                <a:highlight>
                  <a:srgbClr val="FFFFFF"/>
                </a:highlight>
              </a:rPr>
              <a:t>JavaScript Function Definitions</a:t>
            </a:r>
            <a:endParaRPr sz="3150">
              <a:solidFill>
                <a:schemeClr val="dk1"/>
              </a:solidFill>
              <a:highlight>
                <a:srgbClr val="FFFFFF"/>
              </a:highlight>
            </a:endParaRPr>
          </a:p>
          <a:p>
            <a:pPr indent="0" lvl="0" marL="0" rtl="0" algn="l">
              <a:lnSpc>
                <a:spcPct val="100000"/>
              </a:lnSpc>
              <a:spcBef>
                <a:spcPts val="1400"/>
              </a:spcBef>
              <a:spcAft>
                <a:spcPts val="0"/>
              </a:spcAft>
              <a:buClr>
                <a:schemeClr val="dk1"/>
              </a:buClr>
              <a:buSzPts val="1100"/>
              <a:buFont typeface="Arial"/>
              <a:buNone/>
            </a:pPr>
            <a:r>
              <a:rPr lang="en" sz="1200">
                <a:solidFill>
                  <a:schemeClr val="dk1"/>
                </a:solidFill>
                <a:highlight>
                  <a:srgbClr val="FFFFFF"/>
                </a:highlight>
                <a:latin typeface="Verdana"/>
                <a:ea typeface="Verdana"/>
                <a:cs typeface="Verdana"/>
                <a:sym typeface="Verdana"/>
              </a:rPr>
              <a:t>JavaScript functions are defined with the </a:t>
            </a:r>
            <a:r>
              <a:rPr lang="en" sz="1250">
                <a:solidFill>
                  <a:srgbClr val="DC143C"/>
                </a:solidFill>
                <a:highlight>
                  <a:srgbClr val="FFFFFF"/>
                </a:highlight>
                <a:latin typeface="Courier New"/>
                <a:ea typeface="Courier New"/>
                <a:cs typeface="Courier New"/>
                <a:sym typeface="Courier New"/>
              </a:rPr>
              <a:t>function</a:t>
            </a:r>
            <a:r>
              <a:rPr lang="en" sz="1200">
                <a:solidFill>
                  <a:schemeClr val="dk1"/>
                </a:solidFill>
                <a:highlight>
                  <a:srgbClr val="FFFFFF"/>
                </a:highlight>
                <a:latin typeface="Verdana"/>
                <a:ea typeface="Verdana"/>
                <a:cs typeface="Verdana"/>
                <a:sym typeface="Verdana"/>
              </a:rPr>
              <a:t> keyword.</a:t>
            </a:r>
            <a:endParaRPr sz="1200">
              <a:solidFill>
                <a:schemeClr val="dk1"/>
              </a:solidFill>
              <a:highlight>
                <a:srgbClr val="FFFFFF"/>
              </a:highlight>
              <a:latin typeface="Verdana"/>
              <a:ea typeface="Verdana"/>
              <a:cs typeface="Verdana"/>
              <a:sym typeface="Verdana"/>
            </a:endParaRPr>
          </a:p>
          <a:p>
            <a:pPr indent="0" lvl="0" marL="0" rtl="0" algn="l">
              <a:lnSpc>
                <a:spcPct val="100000"/>
              </a:lnSpc>
              <a:spcBef>
                <a:spcPts val="1400"/>
              </a:spcBef>
              <a:spcAft>
                <a:spcPts val="0"/>
              </a:spcAft>
              <a:buClr>
                <a:schemeClr val="dk1"/>
              </a:buClr>
              <a:buSzPts val="1100"/>
              <a:buFont typeface="Arial"/>
              <a:buNone/>
            </a:pPr>
            <a:r>
              <a:rPr lang="en" sz="1200">
                <a:solidFill>
                  <a:schemeClr val="dk1"/>
                </a:solidFill>
                <a:highlight>
                  <a:srgbClr val="FFFFFF"/>
                </a:highlight>
                <a:latin typeface="Verdana"/>
                <a:ea typeface="Verdana"/>
                <a:cs typeface="Verdana"/>
                <a:sym typeface="Verdana"/>
              </a:rPr>
              <a:t>You can use a function declaration or a function expression.</a:t>
            </a:r>
            <a:endParaRPr sz="1200">
              <a:solidFill>
                <a:schemeClr val="dk1"/>
              </a:solidFill>
              <a:highlight>
                <a:srgbClr val="FFFFFF"/>
              </a:highlight>
              <a:latin typeface="Verdana"/>
              <a:ea typeface="Verdana"/>
              <a:cs typeface="Verdana"/>
              <a:sym typeface="Verdana"/>
            </a:endParaRPr>
          </a:p>
          <a:p>
            <a:pPr indent="0" lvl="0" marL="0" rtl="0" algn="l">
              <a:lnSpc>
                <a:spcPct val="100000"/>
              </a:lnSpc>
              <a:spcBef>
                <a:spcPts val="1400"/>
              </a:spcBef>
              <a:spcAft>
                <a:spcPts val="0"/>
              </a:spcAft>
              <a:buClr>
                <a:schemeClr val="dk1"/>
              </a:buClr>
              <a:buSzPts val="1100"/>
              <a:buFont typeface="Arial"/>
              <a:buNone/>
            </a:pPr>
            <a:r>
              <a:rPr lang="en" sz="2400">
                <a:solidFill>
                  <a:schemeClr val="dk1"/>
                </a:solidFill>
                <a:highlight>
                  <a:srgbClr val="FFFFFF"/>
                </a:highlight>
              </a:rPr>
              <a:t>Function Declarations</a:t>
            </a:r>
            <a:endParaRPr sz="2400">
              <a:solidFill>
                <a:schemeClr val="dk1"/>
              </a:solidFill>
              <a:highlight>
                <a:srgbClr val="FFFFFF"/>
              </a:highlight>
            </a:endParaRPr>
          </a:p>
          <a:p>
            <a:pPr indent="0" lvl="0" marL="0" rtl="0" algn="l">
              <a:lnSpc>
                <a:spcPct val="100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Earlier in this tutorial, you learned that functions are declared with the following syntax:</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1400"/>
              </a:spcBef>
              <a:spcAft>
                <a:spcPts val="0"/>
              </a:spcAft>
              <a:buClr>
                <a:schemeClr val="dk1"/>
              </a:buClr>
              <a:buSzPts val="1100"/>
              <a:buFont typeface="Arial"/>
              <a:buNone/>
            </a:pPr>
            <a:r>
              <a:rPr lang="en" sz="1150">
                <a:solidFill>
                  <a:srgbClr val="0000CD"/>
                </a:solidFill>
                <a:highlight>
                  <a:srgbClr val="FFFFFF"/>
                </a:highlight>
                <a:latin typeface="Courier New"/>
                <a:ea typeface="Courier New"/>
                <a:cs typeface="Courier New"/>
                <a:sym typeface="Courier New"/>
              </a:rPr>
              <a:t>function</a:t>
            </a:r>
            <a:r>
              <a:rPr lang="en" sz="1150">
                <a:solidFill>
                  <a:schemeClr val="dk1"/>
                </a:solidFill>
                <a:highlight>
                  <a:srgbClr val="FFFFFF"/>
                </a:highlight>
                <a:latin typeface="Courier New"/>
                <a:ea typeface="Courier New"/>
                <a:cs typeface="Courier New"/>
                <a:sym typeface="Courier New"/>
              </a:rPr>
              <a:t> </a:t>
            </a:r>
            <a:r>
              <a:rPr i="1" lang="en" sz="1150">
                <a:solidFill>
                  <a:schemeClr val="dk1"/>
                </a:solidFill>
                <a:highlight>
                  <a:srgbClr val="FFFFFF"/>
                </a:highlight>
                <a:latin typeface="Courier New"/>
                <a:ea typeface="Courier New"/>
                <a:cs typeface="Courier New"/>
                <a:sym typeface="Courier New"/>
              </a:rPr>
              <a:t>functionName</a:t>
            </a:r>
            <a:r>
              <a:rPr lang="en" sz="1150">
                <a:solidFill>
                  <a:schemeClr val="dk1"/>
                </a:solidFill>
                <a:highlight>
                  <a:srgbClr val="FFFFFF"/>
                </a:highlight>
                <a:latin typeface="Courier New"/>
                <a:ea typeface="Courier New"/>
                <a:cs typeface="Courier New"/>
                <a:sym typeface="Courier New"/>
              </a:rPr>
              <a:t>(</a:t>
            </a:r>
            <a:r>
              <a:rPr i="1" lang="en" sz="1150">
                <a:solidFill>
                  <a:schemeClr val="dk1"/>
                </a:solidFill>
                <a:highlight>
                  <a:srgbClr val="FFFFFF"/>
                </a:highlight>
                <a:latin typeface="Courier New"/>
                <a:ea typeface="Courier New"/>
                <a:cs typeface="Courier New"/>
                <a:sym typeface="Courier New"/>
              </a:rPr>
              <a:t>parameters</a:t>
            </a:r>
            <a:r>
              <a:rPr lang="en" sz="1150">
                <a:solidFill>
                  <a:schemeClr val="dk1"/>
                </a:solidFill>
                <a:highlight>
                  <a:srgbClr val="FFFFFF"/>
                </a:highlight>
                <a:latin typeface="Courier New"/>
                <a:ea typeface="Courier New"/>
                <a:cs typeface="Courier New"/>
                <a:sym typeface="Courier New"/>
              </a:rPr>
              <a:t>) {</a:t>
            </a:r>
            <a:endParaRPr sz="1150">
              <a:solidFill>
                <a:schemeClr val="dk1"/>
              </a:solidFill>
              <a:highlight>
                <a:srgbClr val="FFFFFF"/>
              </a:highlight>
              <a:latin typeface="Courier New"/>
              <a:ea typeface="Courier New"/>
              <a:cs typeface="Courier New"/>
              <a:sym typeface="Courier New"/>
            </a:endParaRPr>
          </a:p>
          <a:p>
            <a:pPr indent="0" lvl="0" marL="114300" marR="114300" rtl="0" algn="l">
              <a:lnSpc>
                <a:spcPct val="100000"/>
              </a:lnSpc>
              <a:spcBef>
                <a:spcPts val="1200"/>
              </a:spcBef>
              <a:spcAft>
                <a:spcPts val="0"/>
              </a:spcAft>
              <a:buClr>
                <a:schemeClr val="dk1"/>
              </a:buClr>
              <a:buSzPts val="1100"/>
              <a:buFont typeface="Arial"/>
              <a:buNone/>
            </a:pPr>
            <a:r>
              <a:rPr lang="en" sz="1150">
                <a:solidFill>
                  <a:schemeClr val="dk1"/>
                </a:solidFill>
                <a:highlight>
                  <a:srgbClr val="FFFFFF"/>
                </a:highlight>
                <a:latin typeface="Courier New"/>
                <a:ea typeface="Courier New"/>
                <a:cs typeface="Courier New"/>
                <a:sym typeface="Courier New"/>
              </a:rPr>
              <a:t>  </a:t>
            </a:r>
            <a:r>
              <a:rPr lang="en" sz="1150">
                <a:solidFill>
                  <a:srgbClr val="008000"/>
                </a:solidFill>
                <a:highlight>
                  <a:srgbClr val="FFFFFF"/>
                </a:highlight>
                <a:latin typeface="Courier New"/>
                <a:ea typeface="Courier New"/>
                <a:cs typeface="Courier New"/>
                <a:sym typeface="Courier New"/>
              </a:rPr>
              <a:t>// </a:t>
            </a:r>
            <a:r>
              <a:rPr i="1" lang="en" sz="1150">
                <a:solidFill>
                  <a:srgbClr val="008000"/>
                </a:solidFill>
                <a:highlight>
                  <a:srgbClr val="FFFFFF"/>
                </a:highlight>
                <a:latin typeface="Courier New"/>
                <a:ea typeface="Courier New"/>
                <a:cs typeface="Courier New"/>
                <a:sym typeface="Courier New"/>
              </a:rPr>
              <a:t>code to be executed</a:t>
            </a:r>
            <a:endParaRPr i="1" sz="1150">
              <a:solidFill>
                <a:srgbClr val="008000"/>
              </a:solidFill>
              <a:highlight>
                <a:srgbClr val="FFFFFF"/>
              </a:highlight>
              <a:latin typeface="Courier New"/>
              <a:ea typeface="Courier New"/>
              <a:cs typeface="Courier New"/>
              <a:sym typeface="Courier New"/>
            </a:endParaRPr>
          </a:p>
          <a:p>
            <a:pPr indent="0" lvl="0" marL="114300" marR="114300" rtl="0" algn="l">
              <a:lnSpc>
                <a:spcPct val="100000"/>
              </a:lnSpc>
              <a:spcBef>
                <a:spcPts val="1200"/>
              </a:spcBef>
              <a:spcAft>
                <a:spcPts val="0"/>
              </a:spcAft>
              <a:buClr>
                <a:schemeClr val="dk1"/>
              </a:buClr>
              <a:buSzPts val="1100"/>
              <a:buFont typeface="Arial"/>
              <a:buNone/>
            </a:pPr>
            <a:r>
              <a:rPr lang="en" sz="1150">
                <a:solidFill>
                  <a:schemeClr val="dk1"/>
                </a:solidFill>
                <a:highlight>
                  <a:srgbClr val="FFFFFF"/>
                </a:highlight>
                <a:latin typeface="Courier New"/>
                <a:ea typeface="Courier New"/>
                <a:cs typeface="Courier New"/>
                <a:sym typeface="Courier New"/>
              </a:rPr>
              <a:t>}</a:t>
            </a:r>
            <a:endParaRPr sz="115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Declared functions are not executed immediately. They are "saved for later use", and will be executed later, when they are invoked (called upon).</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1400"/>
              </a:spcBef>
              <a:spcAft>
                <a:spcPts val="0"/>
              </a:spcAft>
              <a:buClr>
                <a:schemeClr val="dk1"/>
              </a:buClr>
              <a:buSzPts val="1100"/>
              <a:buFont typeface="Arial"/>
              <a:buNone/>
            </a:pPr>
            <a:r>
              <a:t/>
            </a:r>
            <a:endParaRPr sz="1100">
              <a:solidFill>
                <a:schemeClr val="dk1"/>
              </a:solidFill>
            </a:endParaRPr>
          </a:p>
          <a:p>
            <a:pPr indent="0" lvl="0" marL="114300" marR="114300" rtl="0" algn="l">
              <a:lnSpc>
                <a:spcPct val="100000"/>
              </a:lnSpc>
              <a:spcBef>
                <a:spcPts val="1200"/>
              </a:spcBef>
              <a:spcAft>
                <a:spcPts val="1200"/>
              </a:spcAft>
              <a:buNone/>
            </a:pPr>
            <a:r>
              <a:t/>
            </a:r>
            <a:endParaRPr b="1" sz="1700">
              <a:solidFill>
                <a:schemeClr val="dk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92"/>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&lt;!DOCTYPE html&gt;</a:t>
            </a:r>
            <a:endParaRPr sz="1400">
              <a:solidFill>
                <a:schemeClr val="dk1"/>
              </a:solidFill>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&lt;html&gt;</a:t>
            </a:r>
            <a:endParaRPr sz="1400">
              <a:solidFill>
                <a:schemeClr val="dk1"/>
              </a:solidFill>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&lt;body&gt;</a:t>
            </a:r>
            <a:endParaRPr sz="1400">
              <a:solidFill>
                <a:schemeClr val="dk1"/>
              </a:solidFill>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&lt;h1&gt;JavaScript Functions&lt;/h1&gt;</a:t>
            </a:r>
            <a:endParaRPr sz="1400">
              <a:solidFill>
                <a:schemeClr val="dk1"/>
              </a:solidFill>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&lt;p&gt;Call a function which performs a calculation and returns the result:&lt;/p&gt;</a:t>
            </a:r>
            <a:endParaRPr sz="1400">
              <a:solidFill>
                <a:schemeClr val="dk1"/>
              </a:solidFill>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&lt;p id="demo"&gt;&lt;/p&gt;</a:t>
            </a:r>
            <a:endParaRPr sz="1400">
              <a:solidFill>
                <a:schemeClr val="dk1"/>
              </a:solidFill>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&lt;script&gt;</a:t>
            </a:r>
            <a:endParaRPr sz="1400">
              <a:solidFill>
                <a:schemeClr val="dk1"/>
              </a:solidFill>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let x = myFunction(4, 3);</a:t>
            </a:r>
            <a:endParaRPr sz="1400">
              <a:solidFill>
                <a:schemeClr val="dk1"/>
              </a:solidFill>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document.getElementById("demo").innerHTML = x;</a:t>
            </a:r>
            <a:endParaRPr sz="1400">
              <a:solidFill>
                <a:schemeClr val="dk1"/>
              </a:solidFill>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function myFunction(a, b) {</a:t>
            </a:r>
            <a:endParaRPr sz="1400">
              <a:solidFill>
                <a:schemeClr val="dk1"/>
              </a:solidFill>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  return a * b;</a:t>
            </a:r>
            <a:endParaRPr sz="1400">
              <a:solidFill>
                <a:schemeClr val="dk1"/>
              </a:solidFill>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a:t>
            </a:r>
            <a:endParaRPr sz="1400">
              <a:solidFill>
                <a:schemeClr val="dk1"/>
              </a:solidFill>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&lt;/script&gt;</a:t>
            </a:r>
            <a:endParaRPr sz="1400">
              <a:solidFill>
                <a:schemeClr val="dk1"/>
              </a:solidFill>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&lt;/body&gt;</a:t>
            </a:r>
            <a:endParaRPr sz="1400">
              <a:solidFill>
                <a:schemeClr val="dk1"/>
              </a:solidFill>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&lt;/html&gt;</a:t>
            </a:r>
            <a:endParaRPr sz="1400">
              <a:solidFill>
                <a:schemeClr val="dk1"/>
              </a:solidFill>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b="1" sz="1400">
              <a:solidFill>
                <a:schemeClr val="dk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93"/>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2400"/>
              </a:spcBef>
              <a:spcAft>
                <a:spcPts val="0"/>
              </a:spcAft>
              <a:buNone/>
            </a:pPr>
            <a:r>
              <a:rPr b="1" lang="en" sz="2300">
                <a:solidFill>
                  <a:schemeClr val="dk1"/>
                </a:solidFill>
              </a:rPr>
              <a:t>output</a:t>
            </a:r>
            <a:endParaRPr b="1" sz="2300">
              <a:solidFill>
                <a:schemeClr val="dk1"/>
              </a:solidFill>
            </a:endParaRPr>
          </a:p>
          <a:p>
            <a:pPr indent="0" lvl="0" marL="0" rtl="0" algn="l">
              <a:spcBef>
                <a:spcPts val="2400"/>
              </a:spcBef>
              <a:spcAft>
                <a:spcPts val="0"/>
              </a:spcAft>
              <a:buClr>
                <a:schemeClr val="dk1"/>
              </a:buClr>
              <a:buSzPts val="1100"/>
              <a:buFont typeface="Arial"/>
              <a:buNone/>
            </a:pPr>
            <a:r>
              <a:rPr b="1" lang="en" sz="2300">
                <a:solidFill>
                  <a:schemeClr val="dk1"/>
                </a:solidFill>
              </a:rPr>
              <a:t>JavaScript Functions</a:t>
            </a:r>
            <a:endParaRPr b="1" sz="23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Call a function which performs a calculation and returns the result:</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12</a:t>
            </a:r>
            <a:endParaRPr sz="1100">
              <a:solidFill>
                <a:schemeClr val="dk1"/>
              </a:solidFill>
            </a:endParaRPr>
          </a:p>
          <a:p>
            <a:pPr indent="0" lvl="0" marL="114300" marR="114300" rtl="0" algn="l">
              <a:lnSpc>
                <a:spcPct val="100000"/>
              </a:lnSpc>
              <a:spcBef>
                <a:spcPts val="1200"/>
              </a:spcBef>
              <a:spcAft>
                <a:spcPts val="0"/>
              </a:spcAft>
              <a:buNone/>
            </a:pPr>
            <a:r>
              <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94"/>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Clr>
                <a:schemeClr val="dk1"/>
              </a:buClr>
              <a:buSzPts val="1100"/>
              <a:buFont typeface="Arial"/>
              <a:buNone/>
            </a:pPr>
            <a:r>
              <a:rPr lang="en" sz="2400">
                <a:solidFill>
                  <a:schemeClr val="dk1"/>
                </a:solidFill>
                <a:highlight>
                  <a:srgbClr val="FFFFFF"/>
                </a:highlight>
              </a:rPr>
              <a:t>Function Expressions</a:t>
            </a:r>
            <a:endParaRPr sz="2400">
              <a:solidFill>
                <a:schemeClr val="dk1"/>
              </a:solidFill>
              <a:highlight>
                <a:srgbClr val="FFFFFF"/>
              </a:highlight>
            </a:endParaRPr>
          </a:p>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A JavaScript function can also be defined using an expression.</a:t>
            </a:r>
            <a:endParaRPr sz="1150">
              <a:solidFill>
                <a:schemeClr val="dk1"/>
              </a:solidFill>
              <a:highlight>
                <a:srgbClr val="FFFFFF"/>
              </a:highlight>
              <a:latin typeface="Verdana"/>
              <a:ea typeface="Verdana"/>
              <a:cs typeface="Verdana"/>
              <a:sym typeface="Verdana"/>
            </a:endParaRPr>
          </a:p>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A function expression can be stored in a variable:</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1400"/>
              </a:spcBef>
              <a:spcAft>
                <a:spcPts val="0"/>
              </a:spcAft>
              <a:buNone/>
            </a:pPr>
            <a:r>
              <a:t/>
            </a:r>
            <a:endParaRPr b="1" sz="2300">
              <a:solidFill>
                <a:schemeClr val="dk1"/>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95"/>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&lt;!DOCTYPE html&gt;</a:t>
            </a:r>
            <a:endParaRPr>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&lt;html&gt;</a:t>
            </a:r>
            <a:endParaRPr>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&lt;body&gt;</a:t>
            </a:r>
            <a:endParaRPr>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t/>
            </a:r>
            <a:endParaRPr>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&lt;h2&gt;JavaScript Functions&lt;/h2&gt;</a:t>
            </a:r>
            <a:endParaRPr>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&lt;p&gt;A function can be stored in a variable:&lt;/p&gt;</a:t>
            </a:r>
            <a:endParaRPr>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&lt;p id="demo"&gt;&lt;/p&gt;</a:t>
            </a:r>
            <a:endParaRPr>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&lt;script&gt;</a:t>
            </a:r>
            <a:endParaRPr>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const x = function (a, b) {return a * b};</a:t>
            </a:r>
            <a:endParaRPr>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document.getElementById("demo").innerHTML = x;</a:t>
            </a:r>
            <a:endParaRPr>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&lt;/script&gt;</a:t>
            </a:r>
            <a:endParaRPr>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&lt;/body&gt;</a:t>
            </a:r>
            <a:endParaRPr>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&lt;/html&gt;</a:t>
            </a:r>
            <a:endParaRPr>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Clr>
                <a:schemeClr val="dk1"/>
              </a:buClr>
              <a:buSzPts val="1100"/>
              <a:buFont typeface="Arial"/>
              <a:buNone/>
            </a:pPr>
            <a:r>
              <a:t/>
            </a:r>
            <a:endParaRPr>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0"/>
              </a:spcBef>
              <a:spcAft>
                <a:spcPts val="0"/>
              </a:spcAft>
              <a:buNone/>
            </a:pPr>
            <a:r>
              <a:t/>
            </a:r>
            <a:endParaRPr>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96"/>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None/>
            </a:pPr>
            <a:r>
              <a:rPr b="1" lang="en" sz="1700">
                <a:solidFill>
                  <a:schemeClr val="dk1"/>
                </a:solidFill>
              </a:rPr>
              <a:t>output</a:t>
            </a:r>
            <a:endParaRPr b="1" sz="1700">
              <a:solidFill>
                <a:schemeClr val="dk1"/>
              </a:solidFill>
            </a:endParaRPr>
          </a:p>
          <a:p>
            <a:pPr indent="0" lvl="0" marL="0" rtl="0" algn="l">
              <a:spcBef>
                <a:spcPts val="1800"/>
              </a:spcBef>
              <a:spcAft>
                <a:spcPts val="0"/>
              </a:spcAft>
              <a:buClr>
                <a:schemeClr val="dk1"/>
              </a:buClr>
              <a:buSzPts val="1100"/>
              <a:buFont typeface="Arial"/>
              <a:buNone/>
            </a:pPr>
            <a:r>
              <a:rPr b="1" lang="en" sz="1700">
                <a:solidFill>
                  <a:schemeClr val="dk1"/>
                </a:solidFill>
              </a:rPr>
              <a:t>JavaScript Functions</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A function can be stored in a variable:</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function (a, b) {return a * b}</a:t>
            </a:r>
            <a:endParaRPr sz="1100">
              <a:solidFill>
                <a:schemeClr val="dk1"/>
              </a:solidFill>
            </a:endParaRPr>
          </a:p>
          <a:p>
            <a:pPr indent="0" lvl="0" marL="114300" marR="114300" rtl="0" algn="l">
              <a:lnSpc>
                <a:spcPct val="100000"/>
              </a:lnSpc>
              <a:spcBef>
                <a:spcPts val="1200"/>
              </a:spcBef>
              <a:spcAft>
                <a:spcPts val="0"/>
              </a:spcAft>
              <a:buNone/>
            </a:pPr>
            <a:r>
              <a:t/>
            </a:r>
            <a:endParaRPr>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97"/>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None/>
            </a:pPr>
            <a:r>
              <a:rPr lang="en" sz="1150">
                <a:solidFill>
                  <a:schemeClr val="dk1"/>
                </a:solidFill>
                <a:highlight>
                  <a:srgbClr val="FFFFFF"/>
                </a:highlight>
                <a:latin typeface="Verdana"/>
                <a:ea typeface="Verdana"/>
                <a:cs typeface="Verdana"/>
                <a:sym typeface="Verdana"/>
              </a:rPr>
              <a:t>After a function expression has been stored in a variable, the variable can be used as a function:</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&lt;!DOCTYPE html&gt;</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&lt;html&gt;</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&lt;body&gt;</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&lt;h2&gt;JavaScript Functions&lt;/h2&gt;</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&lt;p&gt;After a function has been stored in a variable,</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the variable can be used as a function:&lt;/p&gt;</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&lt;p id="demo"&gt;&lt;/p&gt;</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&lt;script&gt;</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const x = function (a, b) {return a * b};</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document.getElementById("demo").innerHTML = x(4, 3);</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&lt;/script&gt;</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&lt;/body&gt;</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&lt;/html&gt;</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Clr>
                <a:schemeClr val="dk1"/>
              </a:buClr>
              <a:buSzPts val="1100"/>
              <a:buFont typeface="Arial"/>
              <a:buNone/>
            </a:pPr>
            <a:r>
              <a:t/>
            </a:r>
            <a:endParaRPr sz="1150">
              <a:solidFill>
                <a:schemeClr val="dk1"/>
              </a:solidFill>
              <a:highlight>
                <a:srgbClr val="FFFFFF"/>
              </a:highlight>
              <a:latin typeface="Verdana"/>
              <a:ea typeface="Verdana"/>
              <a:cs typeface="Verdana"/>
              <a:sym typeface="Verdana"/>
            </a:endParaRPr>
          </a:p>
          <a:p>
            <a:pPr indent="0" lvl="0" marL="114300" marR="114300" rtl="0" algn="l">
              <a:lnSpc>
                <a:spcPct val="100000"/>
              </a:lnSpc>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98"/>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None/>
            </a:pPr>
            <a:r>
              <a:rPr b="1" lang="en" sz="1700">
                <a:solidFill>
                  <a:schemeClr val="dk1"/>
                </a:solidFill>
              </a:rPr>
              <a:t>output</a:t>
            </a:r>
            <a:endParaRPr b="1" sz="1700">
              <a:solidFill>
                <a:schemeClr val="dk1"/>
              </a:solidFill>
            </a:endParaRPr>
          </a:p>
          <a:p>
            <a:pPr indent="0" lvl="0" marL="0" rtl="0" algn="l">
              <a:spcBef>
                <a:spcPts val="1800"/>
              </a:spcBef>
              <a:spcAft>
                <a:spcPts val="0"/>
              </a:spcAft>
              <a:buClr>
                <a:schemeClr val="dk1"/>
              </a:buClr>
              <a:buSzPts val="1100"/>
              <a:buFont typeface="Arial"/>
              <a:buNone/>
            </a:pPr>
            <a:r>
              <a:rPr b="1" lang="en" sz="1700">
                <a:solidFill>
                  <a:schemeClr val="dk1"/>
                </a:solidFill>
              </a:rPr>
              <a:t>JavaScript Functions</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After a function has been stored in a variable, the variable can be used as a function:</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12</a:t>
            </a:r>
            <a:endParaRPr sz="1100">
              <a:solidFill>
                <a:schemeClr val="dk1"/>
              </a:solidFill>
            </a:endParaRPr>
          </a:p>
          <a:p>
            <a:pPr indent="0" lvl="0" marL="114300" marR="114300" rtl="0" algn="l">
              <a:lnSpc>
                <a:spcPct val="100000"/>
              </a:lnSpc>
              <a:spcBef>
                <a:spcPts val="1200"/>
              </a:spcBef>
              <a:spcAft>
                <a:spcPts val="0"/>
              </a:spcAft>
              <a:buNone/>
            </a:pPr>
            <a:r>
              <a:t/>
            </a:r>
            <a:endParaRPr sz="1150">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99"/>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None/>
            </a:pPr>
            <a:r>
              <a:rPr b="1" lang="en" sz="1700">
                <a:solidFill>
                  <a:schemeClr val="dk1"/>
                </a:solidFill>
              </a:rPr>
              <a:t>output</a:t>
            </a:r>
            <a:endParaRPr b="1" sz="1700">
              <a:solidFill>
                <a:schemeClr val="dk1"/>
              </a:solidFill>
            </a:endParaRPr>
          </a:p>
          <a:p>
            <a:pPr indent="0" lvl="0" marL="0" rtl="0" algn="l">
              <a:spcBef>
                <a:spcPts val="1800"/>
              </a:spcBef>
              <a:spcAft>
                <a:spcPts val="0"/>
              </a:spcAft>
              <a:buNone/>
            </a:pPr>
            <a:r>
              <a:rPr b="1" lang="en" sz="1700">
                <a:solidFill>
                  <a:schemeClr val="dk1"/>
                </a:solidFill>
              </a:rPr>
              <a:t>JavaScript Functions</a:t>
            </a:r>
            <a:endParaRPr b="1" sz="1700">
              <a:solidFill>
                <a:schemeClr val="dk1"/>
              </a:solidFill>
            </a:endParaRPr>
          </a:p>
          <a:p>
            <a:pPr indent="0" lvl="0" marL="0" rtl="0" algn="l">
              <a:spcBef>
                <a:spcPts val="1200"/>
              </a:spcBef>
              <a:spcAft>
                <a:spcPts val="0"/>
              </a:spcAft>
              <a:buNone/>
            </a:pPr>
            <a:r>
              <a:rPr lang="en" sz="1100">
                <a:solidFill>
                  <a:schemeClr val="dk1"/>
                </a:solidFill>
              </a:rPr>
              <a:t>After a function has been stored in a variable, the variable can be used as a function:</a:t>
            </a:r>
            <a:endParaRPr sz="1100">
              <a:solidFill>
                <a:schemeClr val="dk1"/>
              </a:solidFill>
            </a:endParaRPr>
          </a:p>
          <a:p>
            <a:pPr indent="0" lvl="0" marL="0" rtl="0" algn="l">
              <a:spcBef>
                <a:spcPts val="1200"/>
              </a:spcBef>
              <a:spcAft>
                <a:spcPts val="0"/>
              </a:spcAft>
              <a:buNone/>
            </a:pPr>
            <a:r>
              <a:rPr lang="en" sz="1100">
                <a:solidFill>
                  <a:schemeClr val="dk1"/>
                </a:solidFill>
              </a:rPr>
              <a:t>12</a:t>
            </a:r>
            <a:endParaRPr sz="1100">
              <a:solidFill>
                <a:schemeClr val="dk1"/>
              </a:solidFill>
            </a:endParaRPr>
          </a:p>
          <a:p>
            <a:pPr indent="0" lvl="0" marL="114300" marR="114300" rtl="0" algn="l">
              <a:lnSpc>
                <a:spcPct val="100000"/>
              </a:lnSpc>
              <a:spcBef>
                <a:spcPts val="1200"/>
              </a:spcBef>
              <a:spcAft>
                <a:spcPts val="0"/>
              </a:spcAft>
              <a:buNone/>
            </a:pPr>
            <a:r>
              <a:t/>
            </a:r>
            <a:endParaRPr sz="1150">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100"/>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None/>
            </a:pPr>
            <a:r>
              <a:rPr b="1" lang="en" sz="1100" u="sng">
                <a:solidFill>
                  <a:schemeClr val="dk1"/>
                </a:solidFill>
              </a:rPr>
              <a:t>BUILT-IN FUNCTIONS</a:t>
            </a:r>
            <a:endParaRPr b="1" sz="1100" u="sng">
              <a:solidFill>
                <a:schemeClr val="dk1"/>
              </a:solidFill>
            </a:endParaRPr>
          </a:p>
          <a:p>
            <a:pPr indent="0" lvl="0" marL="114300" marR="114300" rtl="0" algn="l">
              <a:lnSpc>
                <a:spcPct val="100000"/>
              </a:lnSpc>
              <a:spcBef>
                <a:spcPts val="0"/>
              </a:spcBef>
              <a:spcAft>
                <a:spcPts val="0"/>
              </a:spcAft>
              <a:buNone/>
            </a:pPr>
            <a:r>
              <a:t/>
            </a:r>
            <a:endParaRPr b="1" sz="1100" u="sng">
              <a:solidFill>
                <a:schemeClr val="dk1"/>
              </a:solidFill>
            </a:endParaRPr>
          </a:p>
          <a:p>
            <a:pPr indent="0" lvl="0" marL="114300" marR="114300" rtl="0" algn="l">
              <a:lnSpc>
                <a:spcPct val="100000"/>
              </a:lnSpc>
              <a:spcBef>
                <a:spcPts val="0"/>
              </a:spcBef>
              <a:spcAft>
                <a:spcPts val="0"/>
              </a:spcAft>
              <a:buNone/>
            </a:pPr>
            <a:r>
              <a:rPr lang="en" sz="1100">
                <a:solidFill>
                  <a:schemeClr val="dk1"/>
                </a:solidFill>
              </a:rPr>
              <a:t>JavaScript has a variety of </a:t>
            </a:r>
            <a:r>
              <a:rPr b="1" lang="en" sz="1100">
                <a:solidFill>
                  <a:schemeClr val="dk1"/>
                </a:solidFill>
              </a:rPr>
              <a:t>built-in functions</a:t>
            </a:r>
            <a:r>
              <a:rPr lang="en" sz="1100">
                <a:solidFill>
                  <a:schemeClr val="dk1"/>
                </a:solidFill>
              </a:rPr>
              <a:t> that help developers perform common tasks efficiently.</a:t>
            </a:r>
            <a:endParaRPr sz="1100">
              <a:solidFill>
                <a:schemeClr val="dk1"/>
              </a:solidFill>
            </a:endParaRPr>
          </a:p>
          <a:p>
            <a:pPr indent="0" lvl="0" marL="114300" marR="114300" rtl="0" algn="l">
              <a:lnSpc>
                <a:spcPct val="100000"/>
              </a:lnSpc>
              <a:spcBef>
                <a:spcPts val="0"/>
              </a:spcBef>
              <a:spcAft>
                <a:spcPts val="0"/>
              </a:spcAft>
              <a:buNone/>
            </a:pPr>
            <a:r>
              <a:t/>
            </a:r>
            <a:endParaRPr sz="1100">
              <a:solidFill>
                <a:schemeClr val="dk1"/>
              </a:solidFill>
            </a:endParaRPr>
          </a:p>
        </p:txBody>
      </p:sp>
      <p:pic>
        <p:nvPicPr>
          <p:cNvPr id="492" name="Google Shape;492;p100"/>
          <p:cNvPicPr preferRelativeResize="0"/>
          <p:nvPr/>
        </p:nvPicPr>
        <p:blipFill rotWithShape="1">
          <a:blip r:embed="rId3">
            <a:alphaModFix/>
          </a:blip>
          <a:srcRect b="20423" l="38457" r="23164" t="25673"/>
          <a:stretch/>
        </p:blipFill>
        <p:spPr>
          <a:xfrm>
            <a:off x="590950" y="1108950"/>
            <a:ext cx="7660526" cy="346005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101"/>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Clr>
                <a:schemeClr val="dk1"/>
              </a:buClr>
              <a:buSzPts val="1100"/>
              <a:buFont typeface="Arial"/>
              <a:buNone/>
            </a:pPr>
            <a:r>
              <a:rPr lang="en" sz="1100">
                <a:solidFill>
                  <a:schemeClr val="dk1"/>
                </a:solidFill>
              </a:rPr>
              <a:t>&lt;html&gt;</a:t>
            </a:r>
            <a:endParaRPr sz="1100">
              <a:solidFill>
                <a:schemeClr val="dk1"/>
              </a:solidFill>
            </a:endParaRPr>
          </a:p>
          <a:p>
            <a:pPr indent="0" lvl="0" marL="114300" marR="114300" rtl="0" algn="l">
              <a:lnSpc>
                <a:spcPct val="100000"/>
              </a:lnSpc>
              <a:spcBef>
                <a:spcPts val="0"/>
              </a:spcBef>
              <a:spcAft>
                <a:spcPts val="0"/>
              </a:spcAft>
              <a:buClr>
                <a:schemeClr val="dk1"/>
              </a:buClr>
              <a:buSzPts val="1100"/>
              <a:buFont typeface="Arial"/>
              <a:buNone/>
            </a:pPr>
            <a:r>
              <a:rPr lang="en" sz="1100">
                <a:solidFill>
                  <a:schemeClr val="dk1"/>
                </a:solidFill>
              </a:rPr>
              <a:t>&lt;body&gt;</a:t>
            </a:r>
            <a:endParaRPr sz="1100">
              <a:solidFill>
                <a:schemeClr val="dk1"/>
              </a:solidFill>
            </a:endParaRPr>
          </a:p>
          <a:p>
            <a:pPr indent="0" lvl="0" marL="114300" marR="114300" rtl="0" algn="l">
              <a:lnSpc>
                <a:spcPct val="100000"/>
              </a:lnSpc>
              <a:spcBef>
                <a:spcPts val="0"/>
              </a:spcBef>
              <a:spcAft>
                <a:spcPts val="0"/>
              </a:spcAft>
              <a:buClr>
                <a:schemeClr val="dk1"/>
              </a:buClr>
              <a:buSzPts val="1100"/>
              <a:buFont typeface="Arial"/>
              <a:buNone/>
            </a:pPr>
            <a:r>
              <a:t/>
            </a:r>
            <a:endParaRPr sz="1100">
              <a:solidFill>
                <a:schemeClr val="dk1"/>
              </a:solidFill>
            </a:endParaRPr>
          </a:p>
          <a:p>
            <a:pPr indent="0" lvl="0" marL="114300" marR="114300" rtl="0" algn="l">
              <a:lnSpc>
                <a:spcPct val="100000"/>
              </a:lnSpc>
              <a:spcBef>
                <a:spcPts val="0"/>
              </a:spcBef>
              <a:spcAft>
                <a:spcPts val="0"/>
              </a:spcAft>
              <a:buClr>
                <a:schemeClr val="dk1"/>
              </a:buClr>
              <a:buSzPts val="1100"/>
              <a:buFont typeface="Arial"/>
              <a:buNone/>
            </a:pPr>
            <a:r>
              <a:rPr lang="en" sz="1100">
                <a:solidFill>
                  <a:schemeClr val="dk1"/>
                </a:solidFill>
              </a:rPr>
              <a:t>&lt;h2&gt;JavaScript Functions&lt;/h2&gt;</a:t>
            </a:r>
            <a:endParaRPr sz="1100">
              <a:solidFill>
                <a:schemeClr val="dk1"/>
              </a:solidFill>
            </a:endParaRPr>
          </a:p>
          <a:p>
            <a:pPr indent="0" lvl="0" marL="114300" marR="114300" rtl="0" algn="l">
              <a:lnSpc>
                <a:spcPct val="100000"/>
              </a:lnSpc>
              <a:spcBef>
                <a:spcPts val="0"/>
              </a:spcBef>
              <a:spcAft>
                <a:spcPts val="0"/>
              </a:spcAft>
              <a:buClr>
                <a:schemeClr val="dk1"/>
              </a:buClr>
              <a:buSzPts val="1100"/>
              <a:buFont typeface="Arial"/>
              <a:buNone/>
            </a:pPr>
            <a:r>
              <a:rPr lang="en" sz="1100">
                <a:solidFill>
                  <a:schemeClr val="dk1"/>
                </a:solidFill>
              </a:rPr>
              <a:t>&lt;p&gt;After a function has been stored in a variable,</a:t>
            </a:r>
            <a:endParaRPr sz="1100">
              <a:solidFill>
                <a:schemeClr val="dk1"/>
              </a:solidFill>
            </a:endParaRPr>
          </a:p>
          <a:p>
            <a:pPr indent="0" lvl="0" marL="114300" marR="114300" rtl="0" algn="l">
              <a:lnSpc>
                <a:spcPct val="100000"/>
              </a:lnSpc>
              <a:spcBef>
                <a:spcPts val="0"/>
              </a:spcBef>
              <a:spcAft>
                <a:spcPts val="0"/>
              </a:spcAft>
              <a:buClr>
                <a:schemeClr val="dk1"/>
              </a:buClr>
              <a:buSzPts val="1100"/>
              <a:buFont typeface="Arial"/>
              <a:buNone/>
            </a:pPr>
            <a:r>
              <a:rPr lang="en" sz="1100">
                <a:solidFill>
                  <a:schemeClr val="dk1"/>
                </a:solidFill>
              </a:rPr>
              <a:t>the variable can be used as a function:&lt;/p&gt;</a:t>
            </a:r>
            <a:endParaRPr sz="1100">
              <a:solidFill>
                <a:schemeClr val="dk1"/>
              </a:solidFill>
            </a:endParaRPr>
          </a:p>
          <a:p>
            <a:pPr indent="0" lvl="0" marL="114300" marR="114300" rtl="0" algn="l">
              <a:lnSpc>
                <a:spcPct val="100000"/>
              </a:lnSpc>
              <a:spcBef>
                <a:spcPts val="0"/>
              </a:spcBef>
              <a:spcAft>
                <a:spcPts val="0"/>
              </a:spcAft>
              <a:buClr>
                <a:schemeClr val="dk1"/>
              </a:buClr>
              <a:buSzPts val="1100"/>
              <a:buFont typeface="Arial"/>
              <a:buNone/>
            </a:pPr>
            <a:r>
              <a:t/>
            </a:r>
            <a:endParaRPr sz="1100">
              <a:solidFill>
                <a:schemeClr val="dk1"/>
              </a:solidFill>
            </a:endParaRPr>
          </a:p>
          <a:p>
            <a:pPr indent="0" lvl="0" marL="114300" marR="114300" rtl="0" algn="l">
              <a:lnSpc>
                <a:spcPct val="100000"/>
              </a:lnSpc>
              <a:spcBef>
                <a:spcPts val="0"/>
              </a:spcBef>
              <a:spcAft>
                <a:spcPts val="0"/>
              </a:spcAft>
              <a:buClr>
                <a:schemeClr val="dk1"/>
              </a:buClr>
              <a:buSzPts val="1100"/>
              <a:buFont typeface="Arial"/>
              <a:buNone/>
            </a:pPr>
            <a:r>
              <a:rPr lang="en" sz="1100">
                <a:solidFill>
                  <a:schemeClr val="dk1"/>
                </a:solidFill>
              </a:rPr>
              <a:t>&lt;p id="demo"&gt;&lt;/p&gt;</a:t>
            </a:r>
            <a:endParaRPr sz="1100">
              <a:solidFill>
                <a:schemeClr val="dk1"/>
              </a:solidFill>
            </a:endParaRPr>
          </a:p>
          <a:p>
            <a:pPr indent="0" lvl="0" marL="114300" marR="114300" rtl="0" algn="l">
              <a:lnSpc>
                <a:spcPct val="100000"/>
              </a:lnSpc>
              <a:spcBef>
                <a:spcPts val="0"/>
              </a:spcBef>
              <a:spcAft>
                <a:spcPts val="0"/>
              </a:spcAft>
              <a:buClr>
                <a:schemeClr val="dk1"/>
              </a:buClr>
              <a:buSzPts val="1100"/>
              <a:buFont typeface="Arial"/>
              <a:buNone/>
            </a:pPr>
            <a:r>
              <a:t/>
            </a:r>
            <a:endParaRPr sz="1100">
              <a:solidFill>
                <a:schemeClr val="dk1"/>
              </a:solidFill>
            </a:endParaRPr>
          </a:p>
          <a:p>
            <a:pPr indent="0" lvl="0" marL="114300" marR="114300" rtl="0" algn="l">
              <a:lnSpc>
                <a:spcPct val="100000"/>
              </a:lnSpc>
              <a:spcBef>
                <a:spcPts val="0"/>
              </a:spcBef>
              <a:spcAft>
                <a:spcPts val="0"/>
              </a:spcAft>
              <a:buClr>
                <a:schemeClr val="dk1"/>
              </a:buClr>
              <a:buSzPts val="1100"/>
              <a:buFont typeface="Arial"/>
              <a:buNone/>
            </a:pPr>
            <a:r>
              <a:rPr lang="en" sz="1100">
                <a:solidFill>
                  <a:schemeClr val="dk1"/>
                </a:solidFill>
              </a:rPr>
              <a:t>&lt;script&gt;</a:t>
            </a:r>
            <a:endParaRPr sz="1100">
              <a:solidFill>
                <a:schemeClr val="dk1"/>
              </a:solidFill>
            </a:endParaRPr>
          </a:p>
          <a:p>
            <a:pPr indent="0" lvl="0" marL="114300" marR="114300" rtl="0" algn="l">
              <a:lnSpc>
                <a:spcPct val="100000"/>
              </a:lnSpc>
              <a:spcBef>
                <a:spcPts val="0"/>
              </a:spcBef>
              <a:spcAft>
                <a:spcPts val="0"/>
              </a:spcAft>
              <a:buClr>
                <a:schemeClr val="dk1"/>
              </a:buClr>
              <a:buSzPts val="1100"/>
              <a:buFont typeface="Arial"/>
              <a:buNone/>
            </a:pPr>
            <a:r>
              <a:rPr lang="en" sz="1100">
                <a:solidFill>
                  <a:schemeClr val="dk1"/>
                </a:solidFill>
              </a:rPr>
              <a:t>document.getElementById("demo").innerHTML = "hello".charAt(1)</a:t>
            </a:r>
            <a:endParaRPr sz="1100">
              <a:solidFill>
                <a:schemeClr val="dk1"/>
              </a:solidFill>
            </a:endParaRPr>
          </a:p>
          <a:p>
            <a:pPr indent="0" lvl="0" marL="114300" marR="114300" rtl="0" algn="l">
              <a:lnSpc>
                <a:spcPct val="100000"/>
              </a:lnSpc>
              <a:spcBef>
                <a:spcPts val="0"/>
              </a:spcBef>
              <a:spcAft>
                <a:spcPts val="0"/>
              </a:spcAft>
              <a:buClr>
                <a:schemeClr val="dk1"/>
              </a:buClr>
              <a:buSzPts val="1100"/>
              <a:buFont typeface="Arial"/>
              <a:buNone/>
            </a:pPr>
            <a:r>
              <a:rPr lang="en" sz="1100">
                <a:solidFill>
                  <a:schemeClr val="dk1"/>
                </a:solidFill>
              </a:rPr>
              <a:t>&lt;/script&gt;</a:t>
            </a:r>
            <a:endParaRPr sz="1100">
              <a:solidFill>
                <a:schemeClr val="dk1"/>
              </a:solidFill>
            </a:endParaRPr>
          </a:p>
          <a:p>
            <a:pPr indent="0" lvl="0" marL="114300" marR="114300" rtl="0" algn="l">
              <a:lnSpc>
                <a:spcPct val="100000"/>
              </a:lnSpc>
              <a:spcBef>
                <a:spcPts val="0"/>
              </a:spcBef>
              <a:spcAft>
                <a:spcPts val="0"/>
              </a:spcAft>
              <a:buClr>
                <a:schemeClr val="dk1"/>
              </a:buClr>
              <a:buSzPts val="1100"/>
              <a:buFont typeface="Arial"/>
              <a:buNone/>
            </a:pPr>
            <a:r>
              <a:t/>
            </a:r>
            <a:endParaRPr sz="1100">
              <a:solidFill>
                <a:schemeClr val="dk1"/>
              </a:solidFill>
            </a:endParaRPr>
          </a:p>
          <a:p>
            <a:pPr indent="0" lvl="0" marL="114300" marR="114300" rtl="0" algn="l">
              <a:lnSpc>
                <a:spcPct val="100000"/>
              </a:lnSpc>
              <a:spcBef>
                <a:spcPts val="0"/>
              </a:spcBef>
              <a:spcAft>
                <a:spcPts val="0"/>
              </a:spcAft>
              <a:buClr>
                <a:schemeClr val="dk1"/>
              </a:buClr>
              <a:buSzPts val="1100"/>
              <a:buFont typeface="Arial"/>
              <a:buNone/>
            </a:pPr>
            <a:r>
              <a:rPr lang="en" sz="1100">
                <a:solidFill>
                  <a:schemeClr val="dk1"/>
                </a:solidFill>
              </a:rPr>
              <a:t>&lt;/body&gt;</a:t>
            </a:r>
            <a:endParaRPr sz="1100">
              <a:solidFill>
                <a:schemeClr val="dk1"/>
              </a:solidFill>
            </a:endParaRPr>
          </a:p>
          <a:p>
            <a:pPr indent="0" lvl="0" marL="114300" marR="114300" rtl="0" algn="l">
              <a:lnSpc>
                <a:spcPct val="100000"/>
              </a:lnSpc>
              <a:spcBef>
                <a:spcPts val="0"/>
              </a:spcBef>
              <a:spcAft>
                <a:spcPts val="0"/>
              </a:spcAft>
              <a:buClr>
                <a:schemeClr val="dk1"/>
              </a:buClr>
              <a:buSzPts val="1100"/>
              <a:buFont typeface="Arial"/>
              <a:buNone/>
            </a:pPr>
            <a:r>
              <a:rPr lang="en" sz="1100">
                <a:solidFill>
                  <a:schemeClr val="dk1"/>
                </a:solidFill>
              </a:rPr>
              <a:t>&lt;/html&gt;</a:t>
            </a:r>
            <a:endParaRPr sz="1100">
              <a:solidFill>
                <a:schemeClr val="dk1"/>
              </a:solidFill>
            </a:endParaRPr>
          </a:p>
          <a:p>
            <a:pPr indent="0" lvl="0" marL="114300" marR="114300" rtl="0" algn="l">
              <a:lnSpc>
                <a:spcPct val="100000"/>
              </a:lnSpc>
              <a:spcBef>
                <a:spcPts val="0"/>
              </a:spcBef>
              <a:spcAft>
                <a:spcPts val="0"/>
              </a:spcAft>
              <a:buClr>
                <a:schemeClr val="dk1"/>
              </a:buClr>
              <a:buSzPts val="1100"/>
              <a:buFont typeface="Arial"/>
              <a:buNone/>
            </a:pPr>
            <a:r>
              <a:t/>
            </a:r>
            <a:endParaRPr sz="1100">
              <a:solidFill>
                <a:schemeClr val="dk1"/>
              </a:solidFill>
            </a:endParaRPr>
          </a:p>
          <a:p>
            <a:pPr indent="0" lvl="0" marL="114300" marR="114300" rtl="0" algn="l">
              <a:lnSpc>
                <a:spcPct val="100000"/>
              </a:lnSpc>
              <a:spcBef>
                <a:spcPts val="0"/>
              </a:spcBef>
              <a:spcAft>
                <a:spcPts val="0"/>
              </a:spcAft>
              <a:buNone/>
            </a:pPr>
            <a:r>
              <a:rPr lang="en" sz="1100">
                <a:solidFill>
                  <a:schemeClr val="dk1"/>
                </a:solidFill>
              </a:rPr>
              <a:t>Output: e</a:t>
            </a:r>
            <a:endParaRPr sz="1100">
              <a:solidFill>
                <a:schemeClr val="dk1"/>
              </a:solidFill>
            </a:endParaRPr>
          </a:p>
          <a:p>
            <a:pPr indent="0" lvl="0" marL="114300" marR="114300" rtl="0" algn="l">
              <a:lnSpc>
                <a:spcPct val="100000"/>
              </a:lnSpc>
              <a:spcBef>
                <a:spcPts val="0"/>
              </a:spcBef>
              <a:spcAft>
                <a:spcPts val="0"/>
              </a:spcAft>
              <a:buNone/>
            </a:pPr>
            <a:r>
              <a:t/>
            </a:r>
            <a:endParaRPr sz="1100">
              <a:solidFill>
                <a:schemeClr val="dk1"/>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02"/>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None/>
            </a:pPr>
            <a:r>
              <a:t/>
            </a:r>
            <a:endParaRPr sz="1100">
              <a:solidFill>
                <a:schemeClr val="dk1"/>
              </a:solidFill>
            </a:endParaRPr>
          </a:p>
        </p:txBody>
      </p:sp>
      <p:pic>
        <p:nvPicPr>
          <p:cNvPr id="503" name="Google Shape;503;p102"/>
          <p:cNvPicPr preferRelativeResize="0"/>
          <p:nvPr/>
        </p:nvPicPr>
        <p:blipFill rotWithShape="1">
          <a:blip r:embed="rId3">
            <a:alphaModFix/>
          </a:blip>
          <a:srcRect b="22127" l="38139" r="23163" t="50000"/>
          <a:stretch/>
        </p:blipFill>
        <p:spPr>
          <a:xfrm>
            <a:off x="1033575" y="572725"/>
            <a:ext cx="6357024" cy="2812501"/>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03"/>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None/>
            </a:pPr>
            <a:r>
              <a:t/>
            </a:r>
            <a:endParaRPr sz="1100">
              <a:solidFill>
                <a:schemeClr val="dk1"/>
              </a:solidFill>
            </a:endParaRPr>
          </a:p>
        </p:txBody>
      </p:sp>
      <p:pic>
        <p:nvPicPr>
          <p:cNvPr id="509" name="Google Shape;509;p103"/>
          <p:cNvPicPr preferRelativeResize="0"/>
          <p:nvPr/>
        </p:nvPicPr>
        <p:blipFill rotWithShape="1">
          <a:blip r:embed="rId3">
            <a:alphaModFix/>
          </a:blip>
          <a:srcRect b="34326" l="38617" r="22606" t="30212"/>
          <a:stretch/>
        </p:blipFill>
        <p:spPr>
          <a:xfrm>
            <a:off x="685800" y="620150"/>
            <a:ext cx="6449448" cy="3317601"/>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104"/>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None/>
            </a:pPr>
            <a:r>
              <a:t/>
            </a:r>
            <a:endParaRPr sz="1100">
              <a:solidFill>
                <a:schemeClr val="dk1"/>
              </a:solidFill>
            </a:endParaRPr>
          </a:p>
        </p:txBody>
      </p:sp>
      <p:pic>
        <p:nvPicPr>
          <p:cNvPr id="515" name="Google Shape;515;p104"/>
          <p:cNvPicPr preferRelativeResize="0"/>
          <p:nvPr/>
        </p:nvPicPr>
        <p:blipFill rotWithShape="1">
          <a:blip r:embed="rId3">
            <a:alphaModFix/>
          </a:blip>
          <a:srcRect b="21415" l="38057" r="23324" t="17026"/>
          <a:stretch/>
        </p:blipFill>
        <p:spPr>
          <a:xfrm>
            <a:off x="795250" y="452550"/>
            <a:ext cx="4231526" cy="3794151"/>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105"/>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None/>
            </a:pPr>
            <a:r>
              <a:t/>
            </a:r>
            <a:endParaRPr sz="1100">
              <a:solidFill>
                <a:schemeClr val="dk1"/>
              </a:solidFill>
            </a:endParaRPr>
          </a:p>
        </p:txBody>
      </p:sp>
      <p:pic>
        <p:nvPicPr>
          <p:cNvPr id="521" name="Google Shape;521;p105"/>
          <p:cNvPicPr preferRelativeResize="0"/>
          <p:nvPr/>
        </p:nvPicPr>
        <p:blipFill rotWithShape="1">
          <a:blip r:embed="rId3">
            <a:alphaModFix/>
          </a:blip>
          <a:srcRect b="41986" l="36545" r="22843" t="20566"/>
          <a:stretch/>
        </p:blipFill>
        <p:spPr>
          <a:xfrm>
            <a:off x="858475" y="758750"/>
            <a:ext cx="5542176" cy="2874525"/>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106"/>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100">
                <a:solidFill>
                  <a:srgbClr val="273239"/>
                </a:solidFill>
                <a:highlight>
                  <a:srgbClr val="FFFFFF"/>
                </a:highlight>
              </a:rPr>
              <a:t>JavaScript Dialogue Boxes</a:t>
            </a:r>
            <a:endParaRPr b="1" sz="2100">
              <a:solidFill>
                <a:srgbClr val="273239"/>
              </a:solidFill>
              <a:highlight>
                <a:srgbClr val="FFFFFF"/>
              </a:highlight>
            </a:endParaRPr>
          </a:p>
          <a:p>
            <a:pPr indent="0" lvl="0" marL="0" rtl="0" algn="l">
              <a:spcBef>
                <a:spcPts val="0"/>
              </a:spcBef>
              <a:spcAft>
                <a:spcPts val="0"/>
              </a:spcAft>
              <a:buClr>
                <a:schemeClr val="dk1"/>
              </a:buClr>
              <a:buSzPts val="1100"/>
              <a:buFont typeface="Arial"/>
              <a:buNone/>
            </a:pPr>
            <a:r>
              <a:rPr lang="en" sz="1350">
                <a:solidFill>
                  <a:srgbClr val="273239"/>
                </a:solidFill>
                <a:highlight>
                  <a:srgbClr val="FFFFFF"/>
                </a:highlight>
                <a:latin typeface="Nunito"/>
                <a:ea typeface="Nunito"/>
                <a:cs typeface="Nunito"/>
                <a:sym typeface="Nunito"/>
              </a:rPr>
              <a:t>Dialogue boxes are a kind of popup notification, this kind of informative functionality is used to show success, failure, or any particular/important notification to the user.</a:t>
            </a:r>
            <a:endParaRPr sz="1350">
              <a:solidFill>
                <a:srgbClr val="273239"/>
              </a:solidFill>
              <a:highlight>
                <a:srgbClr val="FFFFFF"/>
              </a:highlight>
              <a:latin typeface="Nunito"/>
              <a:ea typeface="Nunito"/>
              <a:cs typeface="Nunito"/>
              <a:sym typeface="Nunito"/>
            </a:endParaRPr>
          </a:p>
          <a:p>
            <a:pPr indent="0" lvl="0" marL="0" rtl="0" algn="l">
              <a:spcBef>
                <a:spcPts val="80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JavaScript uses 3 kinds of dialog boxes: </a:t>
            </a:r>
            <a:endParaRPr b="1"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80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Alert</a:t>
            </a:r>
            <a:endParaRPr b="1"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Prompt</a:t>
            </a:r>
            <a:endParaRPr b="1"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Confirm</a:t>
            </a:r>
            <a:endParaRPr b="1" sz="1350">
              <a:solidFill>
                <a:srgbClr val="273239"/>
              </a:solidFill>
              <a:highlight>
                <a:srgbClr val="FFFFFF"/>
              </a:highlight>
              <a:latin typeface="Nunito"/>
              <a:ea typeface="Nunito"/>
              <a:cs typeface="Nunito"/>
              <a:sym typeface="Nunito"/>
            </a:endParaRPr>
          </a:p>
          <a:p>
            <a:pPr indent="0" lvl="0" marL="0" rtl="0" algn="l">
              <a:spcBef>
                <a:spcPts val="1800"/>
              </a:spcBef>
              <a:spcAft>
                <a:spcPts val="0"/>
              </a:spcAft>
              <a:buNone/>
            </a:pPr>
            <a:r>
              <a:rPr lang="en" sz="1350">
                <a:solidFill>
                  <a:srgbClr val="273239"/>
                </a:solidFill>
                <a:highlight>
                  <a:srgbClr val="FFFFFF"/>
                </a:highlight>
                <a:latin typeface="Nunito"/>
                <a:ea typeface="Nunito"/>
                <a:cs typeface="Nunito"/>
                <a:sym typeface="Nunito"/>
              </a:rPr>
              <a:t>These dialog boxes can be of very much help in making our website look more attractive. </a:t>
            </a:r>
            <a:endParaRPr sz="1350">
              <a:solidFill>
                <a:srgbClr val="273239"/>
              </a:solidFill>
              <a:highlight>
                <a:srgbClr val="FFFFFF"/>
              </a:highlight>
              <a:latin typeface="Nunito"/>
              <a:ea typeface="Nunito"/>
              <a:cs typeface="Nunito"/>
              <a:sym typeface="Nunito"/>
            </a:endParaRPr>
          </a:p>
          <a:p>
            <a:pPr indent="0" lvl="0" marL="0" rtl="0" algn="l">
              <a:spcBef>
                <a:spcPts val="800"/>
              </a:spcBef>
              <a:spcAft>
                <a:spcPts val="0"/>
              </a:spcAft>
              <a:buNone/>
            </a:pPr>
            <a:r>
              <a:rPr b="1" lang="en" sz="1350">
                <a:solidFill>
                  <a:srgbClr val="273239"/>
                </a:solidFill>
                <a:highlight>
                  <a:srgbClr val="FFFFFF"/>
                </a:highlight>
                <a:latin typeface="Nunito"/>
                <a:ea typeface="Nunito"/>
                <a:cs typeface="Nunito"/>
                <a:sym typeface="Nunito"/>
              </a:rPr>
              <a:t>Alert Box: </a:t>
            </a:r>
            <a:r>
              <a:rPr lang="en" sz="1350">
                <a:solidFill>
                  <a:srgbClr val="273239"/>
                </a:solidFill>
                <a:highlight>
                  <a:srgbClr val="FFFFFF"/>
                </a:highlight>
                <a:latin typeface="Nunito"/>
                <a:ea typeface="Nunito"/>
                <a:cs typeface="Nunito"/>
                <a:sym typeface="Nunito"/>
              </a:rPr>
              <a:t>An alert box is used on the website to show a warning message to the user that they have entered the wrong value other than what is required to fill in that position. Nonetheless, an alert box can still be used for friendlier messages. The alert box gives only one button “OK” to select and proceed.</a:t>
            </a:r>
            <a:endParaRPr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800"/>
              </a:spcBef>
              <a:spcAft>
                <a:spcPts val="0"/>
              </a:spcAft>
              <a:buNone/>
            </a:pPr>
            <a:r>
              <a:t/>
            </a:r>
            <a:endParaRPr b="1" sz="1700">
              <a:solidFill>
                <a:schemeClr val="dk1"/>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107"/>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Clr>
                <a:schemeClr val="dk1"/>
              </a:buClr>
              <a:buSzPts val="1100"/>
              <a:buFont typeface="Arial"/>
              <a:buNone/>
            </a:pPr>
            <a:r>
              <a:rPr b="1" lang="en" sz="2100">
                <a:solidFill>
                  <a:srgbClr val="273239"/>
                </a:solidFill>
                <a:highlight>
                  <a:srgbClr val="FFFFFF"/>
                </a:highlight>
              </a:rPr>
              <a:t>&lt;script type="text/javascript"&gt; </a:t>
            </a:r>
            <a:endParaRPr b="1" sz="2100">
              <a:solidFill>
                <a:srgbClr val="273239"/>
              </a:solidFill>
              <a:highlight>
                <a:srgbClr val="FFFFFF"/>
              </a:highlight>
            </a:endParaRPr>
          </a:p>
          <a:p>
            <a:pPr indent="0" lvl="0" marL="114300" marR="114300" rtl="0" algn="l">
              <a:lnSpc>
                <a:spcPct val="100000"/>
              </a:lnSpc>
              <a:spcBef>
                <a:spcPts val="0"/>
              </a:spcBef>
              <a:spcAft>
                <a:spcPts val="0"/>
              </a:spcAft>
              <a:buClr>
                <a:schemeClr val="dk1"/>
              </a:buClr>
              <a:buSzPts val="1100"/>
              <a:buFont typeface="Arial"/>
              <a:buNone/>
            </a:pPr>
            <a:r>
              <a:rPr b="1" lang="en" sz="2100">
                <a:solidFill>
                  <a:srgbClr val="273239"/>
                </a:solidFill>
                <a:highlight>
                  <a:srgbClr val="FFFFFF"/>
                </a:highlight>
              </a:rPr>
              <a:t>	function Warning() { </a:t>
            </a:r>
            <a:endParaRPr b="1" sz="2100">
              <a:solidFill>
                <a:srgbClr val="273239"/>
              </a:solidFill>
              <a:highlight>
                <a:srgbClr val="FFFFFF"/>
              </a:highlight>
            </a:endParaRPr>
          </a:p>
          <a:p>
            <a:pPr indent="0" lvl="0" marL="114300" marR="114300" rtl="0" algn="l">
              <a:lnSpc>
                <a:spcPct val="100000"/>
              </a:lnSpc>
              <a:spcBef>
                <a:spcPts val="0"/>
              </a:spcBef>
              <a:spcAft>
                <a:spcPts val="0"/>
              </a:spcAft>
              <a:buClr>
                <a:schemeClr val="dk1"/>
              </a:buClr>
              <a:buSzPts val="1100"/>
              <a:buFont typeface="Arial"/>
              <a:buNone/>
            </a:pPr>
            <a:r>
              <a:rPr b="1" lang="en" sz="2100">
                <a:solidFill>
                  <a:srgbClr val="273239"/>
                </a:solidFill>
                <a:highlight>
                  <a:srgbClr val="FFFFFF"/>
                </a:highlight>
              </a:rPr>
              <a:t>		alert ("Warning danger you have not filled everything"); </a:t>
            </a:r>
            <a:endParaRPr b="1" sz="2100">
              <a:solidFill>
                <a:srgbClr val="273239"/>
              </a:solidFill>
              <a:highlight>
                <a:srgbClr val="FFFFFF"/>
              </a:highlight>
            </a:endParaRPr>
          </a:p>
          <a:p>
            <a:pPr indent="0" lvl="0" marL="114300" marR="114300" rtl="0" algn="l">
              <a:lnSpc>
                <a:spcPct val="100000"/>
              </a:lnSpc>
              <a:spcBef>
                <a:spcPts val="0"/>
              </a:spcBef>
              <a:spcAft>
                <a:spcPts val="0"/>
              </a:spcAft>
              <a:buClr>
                <a:schemeClr val="dk1"/>
              </a:buClr>
              <a:buSzPts val="1100"/>
              <a:buFont typeface="Arial"/>
              <a:buNone/>
            </a:pPr>
            <a:r>
              <a:rPr b="1" lang="en" sz="2100">
                <a:solidFill>
                  <a:srgbClr val="273239"/>
                </a:solidFill>
                <a:highlight>
                  <a:srgbClr val="FFFFFF"/>
                </a:highlight>
              </a:rPr>
              <a:t>	} </a:t>
            </a:r>
            <a:endParaRPr b="1" sz="2100">
              <a:solidFill>
                <a:srgbClr val="273239"/>
              </a:solidFill>
              <a:highlight>
                <a:srgbClr val="FFFFFF"/>
              </a:highlight>
            </a:endParaRPr>
          </a:p>
          <a:p>
            <a:pPr indent="0" lvl="0" marL="114300" marR="114300" rtl="0" algn="l">
              <a:lnSpc>
                <a:spcPct val="100000"/>
              </a:lnSpc>
              <a:spcBef>
                <a:spcPts val="0"/>
              </a:spcBef>
              <a:spcAft>
                <a:spcPts val="0"/>
              </a:spcAft>
              <a:buClr>
                <a:schemeClr val="dk1"/>
              </a:buClr>
              <a:buSzPts val="1100"/>
              <a:buFont typeface="Arial"/>
              <a:buNone/>
            </a:pPr>
            <a:r>
              <a:rPr b="1" lang="en" sz="2100">
                <a:solidFill>
                  <a:srgbClr val="273239"/>
                </a:solidFill>
                <a:highlight>
                  <a:srgbClr val="FFFFFF"/>
                </a:highlight>
              </a:rPr>
              <a:t>&lt;/script&gt; </a:t>
            </a:r>
            <a:endParaRPr b="1" sz="2100">
              <a:solidFill>
                <a:srgbClr val="273239"/>
              </a:solidFill>
              <a:highlight>
                <a:srgbClr val="FFFFFF"/>
              </a:highlight>
            </a:endParaRPr>
          </a:p>
          <a:p>
            <a:pPr indent="0" lvl="0" marL="114300" marR="114300" rtl="0" algn="l">
              <a:lnSpc>
                <a:spcPct val="100000"/>
              </a:lnSpc>
              <a:spcBef>
                <a:spcPts val="0"/>
              </a:spcBef>
              <a:spcAft>
                <a:spcPts val="0"/>
              </a:spcAft>
              <a:buClr>
                <a:schemeClr val="dk1"/>
              </a:buClr>
              <a:buSzPts val="1100"/>
              <a:buFont typeface="Arial"/>
              <a:buNone/>
            </a:pPr>
            <a:r>
              <a:t/>
            </a:r>
            <a:endParaRPr b="1" sz="2100">
              <a:solidFill>
                <a:srgbClr val="273239"/>
              </a:solidFill>
              <a:highlight>
                <a:srgbClr val="FFFFFF"/>
              </a:highlight>
            </a:endParaRPr>
          </a:p>
          <a:p>
            <a:pPr indent="0" lvl="0" marL="114300" marR="114300" rtl="0" algn="l">
              <a:lnSpc>
                <a:spcPct val="100000"/>
              </a:lnSpc>
              <a:spcBef>
                <a:spcPts val="0"/>
              </a:spcBef>
              <a:spcAft>
                <a:spcPts val="0"/>
              </a:spcAft>
              <a:buClr>
                <a:schemeClr val="dk1"/>
              </a:buClr>
              <a:buSzPts val="1100"/>
              <a:buFont typeface="Arial"/>
              <a:buNone/>
            </a:pPr>
            <a:r>
              <a:rPr b="1" lang="en" sz="2100">
                <a:solidFill>
                  <a:srgbClr val="273239"/>
                </a:solidFill>
                <a:highlight>
                  <a:srgbClr val="FFFFFF"/>
                </a:highlight>
              </a:rPr>
              <a:t>&lt;p&gt;Click the button to check the Alert Box functionality&lt;/p&gt; </a:t>
            </a:r>
            <a:endParaRPr b="1" sz="2100">
              <a:solidFill>
                <a:srgbClr val="273239"/>
              </a:solidFill>
              <a:highlight>
                <a:srgbClr val="FFFFFF"/>
              </a:highlight>
            </a:endParaRPr>
          </a:p>
          <a:p>
            <a:pPr indent="0" lvl="0" marL="114300" marR="114300" rtl="0" algn="l">
              <a:lnSpc>
                <a:spcPct val="100000"/>
              </a:lnSpc>
              <a:spcBef>
                <a:spcPts val="0"/>
              </a:spcBef>
              <a:spcAft>
                <a:spcPts val="0"/>
              </a:spcAft>
              <a:buClr>
                <a:schemeClr val="dk1"/>
              </a:buClr>
              <a:buSzPts val="1100"/>
              <a:buFont typeface="Arial"/>
              <a:buNone/>
            </a:pPr>
            <a:r>
              <a:rPr b="1" lang="en" sz="2100">
                <a:solidFill>
                  <a:srgbClr val="273239"/>
                </a:solidFill>
                <a:highlight>
                  <a:srgbClr val="FFFFFF"/>
                </a:highlight>
              </a:rPr>
              <a:t>&lt;form&gt; </a:t>
            </a:r>
            <a:endParaRPr b="1" sz="2100">
              <a:solidFill>
                <a:srgbClr val="273239"/>
              </a:solidFill>
              <a:highlight>
                <a:srgbClr val="FFFFFF"/>
              </a:highlight>
            </a:endParaRPr>
          </a:p>
          <a:p>
            <a:pPr indent="0" lvl="0" marL="114300" marR="114300" rtl="0" algn="l">
              <a:lnSpc>
                <a:spcPct val="100000"/>
              </a:lnSpc>
              <a:spcBef>
                <a:spcPts val="0"/>
              </a:spcBef>
              <a:spcAft>
                <a:spcPts val="0"/>
              </a:spcAft>
              <a:buClr>
                <a:schemeClr val="dk1"/>
              </a:buClr>
              <a:buSzPts val="1100"/>
              <a:buFont typeface="Arial"/>
              <a:buNone/>
            </a:pPr>
            <a:r>
              <a:rPr b="1" lang="en" sz="2100">
                <a:solidFill>
                  <a:srgbClr val="273239"/>
                </a:solidFill>
                <a:highlight>
                  <a:srgbClr val="FFFFFF"/>
                </a:highlight>
              </a:rPr>
              <a:t>	&lt;input type="button" value="Click Me" onclick="Warning();" /&gt; </a:t>
            </a:r>
            <a:endParaRPr b="1" sz="2100">
              <a:solidFill>
                <a:srgbClr val="273239"/>
              </a:solidFill>
              <a:highlight>
                <a:srgbClr val="FFFFFF"/>
              </a:highlight>
            </a:endParaRPr>
          </a:p>
          <a:p>
            <a:pPr indent="0" lvl="0" marL="114300" marR="114300" rtl="0" algn="l">
              <a:lnSpc>
                <a:spcPct val="100000"/>
              </a:lnSpc>
              <a:spcBef>
                <a:spcPts val="0"/>
              </a:spcBef>
              <a:spcAft>
                <a:spcPts val="0"/>
              </a:spcAft>
              <a:buClr>
                <a:schemeClr val="dk1"/>
              </a:buClr>
              <a:buSzPts val="1100"/>
              <a:buFont typeface="Arial"/>
              <a:buNone/>
            </a:pPr>
            <a:r>
              <a:rPr b="1" lang="en" sz="2100">
                <a:solidFill>
                  <a:srgbClr val="273239"/>
                </a:solidFill>
                <a:highlight>
                  <a:srgbClr val="FFFFFF"/>
                </a:highlight>
              </a:rPr>
              <a:t>&lt;/form&gt;</a:t>
            </a:r>
            <a:endParaRPr b="1" sz="2100">
              <a:solidFill>
                <a:srgbClr val="273239"/>
              </a:solidFill>
              <a:highlight>
                <a:srgbClr val="FFFFFF"/>
              </a:highlight>
            </a:endParaRPr>
          </a:p>
          <a:p>
            <a:pPr indent="0" lvl="0" marL="114300" marR="114300" rtl="0" algn="l">
              <a:lnSpc>
                <a:spcPct val="100000"/>
              </a:lnSpc>
              <a:spcBef>
                <a:spcPts val="0"/>
              </a:spcBef>
              <a:spcAft>
                <a:spcPts val="0"/>
              </a:spcAft>
              <a:buClr>
                <a:schemeClr val="dk1"/>
              </a:buClr>
              <a:buSzPts val="1100"/>
              <a:buFont typeface="Arial"/>
              <a:buNone/>
            </a:pPr>
            <a:r>
              <a:t/>
            </a:r>
            <a:endParaRPr b="1" sz="2100">
              <a:solidFill>
                <a:srgbClr val="273239"/>
              </a:solidFill>
              <a:highlight>
                <a:srgbClr val="FFFFFF"/>
              </a:highlight>
            </a:endParaRPr>
          </a:p>
          <a:p>
            <a:pPr indent="0" lvl="0" marL="114300" marR="114300" rtl="0" algn="l">
              <a:lnSpc>
                <a:spcPct val="100000"/>
              </a:lnSpc>
              <a:spcBef>
                <a:spcPts val="0"/>
              </a:spcBef>
              <a:spcAft>
                <a:spcPts val="0"/>
              </a:spcAft>
              <a:buNone/>
            </a:pPr>
            <a:r>
              <a:t/>
            </a:r>
            <a:endParaRPr b="1" sz="2100">
              <a:solidFill>
                <a:srgbClr val="273239"/>
              </a:solidFill>
              <a:highlight>
                <a:srgbClr val="FFFFFF"/>
              </a:highlight>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108"/>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None/>
            </a:pPr>
            <a:r>
              <a:t/>
            </a:r>
            <a:endParaRPr b="1" sz="2100">
              <a:solidFill>
                <a:srgbClr val="273239"/>
              </a:solidFill>
              <a:highlight>
                <a:srgbClr val="FFFFFF"/>
              </a:highlight>
            </a:endParaRPr>
          </a:p>
        </p:txBody>
      </p:sp>
      <p:pic>
        <p:nvPicPr>
          <p:cNvPr id="537" name="Google Shape;537;p108"/>
          <p:cNvPicPr preferRelativeResize="0"/>
          <p:nvPr/>
        </p:nvPicPr>
        <p:blipFill rotWithShape="1">
          <a:blip r:embed="rId3">
            <a:alphaModFix/>
          </a:blip>
          <a:srcRect b="79715" l="37101" r="37127" t="5856"/>
          <a:stretch/>
        </p:blipFill>
        <p:spPr>
          <a:xfrm>
            <a:off x="1692625" y="1198575"/>
            <a:ext cx="4669277" cy="1296575"/>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109"/>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None/>
            </a:pPr>
            <a:r>
              <a:rPr b="1" lang="en" sz="1350">
                <a:solidFill>
                  <a:srgbClr val="273239"/>
                </a:solidFill>
                <a:highlight>
                  <a:srgbClr val="FFFFFF"/>
                </a:highlight>
                <a:latin typeface="Nunito"/>
                <a:ea typeface="Nunito"/>
                <a:cs typeface="Nunito"/>
                <a:sym typeface="Nunito"/>
              </a:rPr>
              <a:t>Confirm box: </a:t>
            </a:r>
            <a:r>
              <a:rPr lang="en" sz="1350">
                <a:solidFill>
                  <a:srgbClr val="273239"/>
                </a:solidFill>
                <a:highlight>
                  <a:srgbClr val="FFFFFF"/>
                </a:highlight>
                <a:latin typeface="Nunito"/>
                <a:ea typeface="Nunito"/>
                <a:cs typeface="Nunito"/>
                <a:sym typeface="Nunito"/>
              </a:rPr>
              <a:t>A confirm box is often used if you want the user to verify or accept something. When a confirm box pops up, the user will have to click either “OK” or “Cancel” to proceed. If the user clicks on the OK button, the window method </a:t>
            </a:r>
            <a:r>
              <a:rPr lang="en" sz="1350" u="sng">
                <a:solidFill>
                  <a:schemeClr val="hlink"/>
                </a:solidFill>
                <a:highlight>
                  <a:srgbClr val="FFFFFF"/>
                </a:highlight>
                <a:latin typeface="Nunito"/>
                <a:ea typeface="Nunito"/>
                <a:cs typeface="Nunito"/>
                <a:sym typeface="Nunito"/>
                <a:hlinkClick r:id="rId3"/>
              </a:rPr>
              <a:t>confirm()</a:t>
            </a:r>
            <a:r>
              <a:rPr lang="en" sz="1350">
                <a:solidFill>
                  <a:srgbClr val="273239"/>
                </a:solidFill>
                <a:highlight>
                  <a:srgbClr val="FFFFFF"/>
                </a:highlight>
                <a:latin typeface="Nunito"/>
                <a:ea typeface="Nunito"/>
                <a:cs typeface="Nunito"/>
                <a:sym typeface="Nunito"/>
              </a:rPr>
              <a:t> will return true. If the user clicks on the Cancel button, then confirm() returns false and will show null.</a:t>
            </a:r>
            <a:endParaRPr b="1" sz="2100">
              <a:solidFill>
                <a:srgbClr val="273239"/>
              </a:solidFill>
              <a:highlight>
                <a:srgbClr val="FFFFFF"/>
              </a:highlight>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110"/>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&lt;script type="text/javascript"&gt;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	function Confirmation() {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		var Val = confirm("Do you want to continue ?");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		if (Val == true) {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			return true;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		} else {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			return false;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		}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	}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&lt;/script&gt;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&lt;p&gt;Click the button to check the Confirm Box functionality&lt;/p&gt;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&lt;form&gt;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	&lt;input type="button" value="Click Me" onclick="Confirmation();" /&gt;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&lt;/form&gt;</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None/>
            </a:pPr>
            <a:r>
              <a:t/>
            </a:r>
            <a:endParaRPr b="1" sz="1350">
              <a:solidFill>
                <a:srgbClr val="273239"/>
              </a:solidFill>
              <a:highlight>
                <a:srgbClr val="FFFFFF"/>
              </a:highlight>
              <a:latin typeface="Nunito"/>
              <a:ea typeface="Nunito"/>
              <a:cs typeface="Nunito"/>
              <a:sym typeface="Nunito"/>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111"/>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None/>
            </a:pPr>
            <a:r>
              <a:t/>
            </a:r>
            <a:endParaRPr b="1" sz="1350">
              <a:solidFill>
                <a:srgbClr val="273239"/>
              </a:solidFill>
              <a:highlight>
                <a:srgbClr val="FFFFFF"/>
              </a:highlight>
              <a:latin typeface="Nunito"/>
              <a:ea typeface="Nunito"/>
              <a:cs typeface="Nunito"/>
              <a:sym typeface="Nunito"/>
            </a:endParaRPr>
          </a:p>
        </p:txBody>
      </p:sp>
      <p:pic>
        <p:nvPicPr>
          <p:cNvPr id="553" name="Google Shape;553;p111"/>
          <p:cNvPicPr preferRelativeResize="0"/>
          <p:nvPr/>
        </p:nvPicPr>
        <p:blipFill rotWithShape="1">
          <a:blip r:embed="rId3">
            <a:alphaModFix/>
          </a:blip>
          <a:srcRect b="78581" l="36782" r="36488" t="5856"/>
          <a:stretch/>
        </p:blipFill>
        <p:spPr>
          <a:xfrm>
            <a:off x="1918800" y="1132925"/>
            <a:ext cx="3523824" cy="1391399"/>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112"/>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None/>
            </a:pPr>
            <a:r>
              <a:rPr b="1" lang="en" sz="1350">
                <a:solidFill>
                  <a:srgbClr val="273239"/>
                </a:solidFill>
                <a:highlight>
                  <a:srgbClr val="FFFFFF"/>
                </a:highlight>
                <a:latin typeface="Nunito"/>
                <a:ea typeface="Nunito"/>
                <a:cs typeface="Nunito"/>
                <a:sym typeface="Nunito"/>
              </a:rPr>
              <a:t>Prompt Box: </a:t>
            </a:r>
            <a:r>
              <a:rPr lang="en" sz="1350">
                <a:solidFill>
                  <a:srgbClr val="273239"/>
                </a:solidFill>
                <a:highlight>
                  <a:srgbClr val="FFFFFF"/>
                </a:highlight>
                <a:latin typeface="Nunito"/>
                <a:ea typeface="Nunito"/>
                <a:cs typeface="Nunito"/>
                <a:sym typeface="Nunito"/>
              </a:rPr>
              <a:t>A prompt box is often used if you want the user to input a value before entering a page. When a prompt box pops up, the user will have to click either “OK” or “Cancel” to proceed after entering an input value. If the user clicks the OK button, the window method prompt() will return the entered value from the text box. If the user clicks the Cancel button, the window method </a:t>
            </a:r>
            <a:r>
              <a:rPr lang="en" sz="1350" u="sng">
                <a:solidFill>
                  <a:schemeClr val="hlink"/>
                </a:solidFill>
                <a:highlight>
                  <a:srgbClr val="FFFFFF"/>
                </a:highlight>
                <a:latin typeface="Nunito"/>
                <a:ea typeface="Nunito"/>
                <a:cs typeface="Nunito"/>
                <a:sym typeface="Nunito"/>
                <a:hlinkClick r:id="rId3"/>
              </a:rPr>
              <a:t>prompt()</a:t>
            </a:r>
            <a:r>
              <a:rPr lang="en" sz="1350">
                <a:solidFill>
                  <a:srgbClr val="273239"/>
                </a:solidFill>
                <a:highlight>
                  <a:srgbClr val="FFFFFF"/>
                </a:highlight>
                <a:latin typeface="Nunito"/>
                <a:ea typeface="Nunito"/>
                <a:cs typeface="Nunito"/>
                <a:sym typeface="Nunito"/>
              </a:rPr>
              <a:t> returns null.</a:t>
            </a:r>
            <a:endParaRPr b="1" sz="1350">
              <a:solidFill>
                <a:srgbClr val="273239"/>
              </a:solidFill>
              <a:highlight>
                <a:srgbClr val="FFFFFF"/>
              </a:highlight>
              <a:latin typeface="Nunito"/>
              <a:ea typeface="Nunito"/>
              <a:cs typeface="Nunito"/>
              <a:sym typeface="Nunito"/>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113"/>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&lt;script type="text/javascript"&gt;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	function Value(){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	var Val = prompt("Enter your name : ", "Please enter your name");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	document.getElementById(Val)</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	}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&lt;/script&gt;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&lt;p&gt;Click the button to check the Prompt Box functionality&lt;/p&gt;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&lt;form&gt;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	&lt;input type="button" value="Click Me" onclick="Value();" /&gt;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rPr b="1" lang="en" sz="1350">
                <a:solidFill>
                  <a:srgbClr val="273239"/>
                </a:solidFill>
                <a:highlight>
                  <a:srgbClr val="FFFFFF"/>
                </a:highlight>
                <a:latin typeface="Nunito"/>
                <a:ea typeface="Nunito"/>
                <a:cs typeface="Nunito"/>
                <a:sym typeface="Nunito"/>
              </a:rPr>
              <a:t>&lt;/form&gt;</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Clr>
                <a:schemeClr val="dk1"/>
              </a:buClr>
              <a:buSzPts val="1100"/>
              <a:buFont typeface="Arial"/>
              <a:buNone/>
            </a:pPr>
            <a:r>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None/>
            </a:pPr>
            <a:r>
              <a:t/>
            </a:r>
            <a:endParaRPr b="1" sz="1350">
              <a:solidFill>
                <a:srgbClr val="273239"/>
              </a:solidFill>
              <a:highlight>
                <a:srgbClr val="FFFFFF"/>
              </a:highlight>
              <a:latin typeface="Nunito"/>
              <a:ea typeface="Nunito"/>
              <a:cs typeface="Nunito"/>
              <a:sym typeface="Nunito"/>
            </a:endParaRPr>
          </a:p>
        </p:txBody>
      </p:sp>
      <p:pic>
        <p:nvPicPr>
          <p:cNvPr id="564" name="Google Shape;564;p113"/>
          <p:cNvPicPr preferRelativeResize="0"/>
          <p:nvPr/>
        </p:nvPicPr>
        <p:blipFill rotWithShape="1">
          <a:blip r:embed="rId3">
            <a:alphaModFix/>
          </a:blip>
          <a:srcRect b="76880" l="37020" r="34574" t="6523"/>
          <a:stretch/>
        </p:blipFill>
        <p:spPr>
          <a:xfrm>
            <a:off x="5770925" y="1254875"/>
            <a:ext cx="2597275" cy="853600"/>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114"/>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114300" marR="114300" rtl="0" algn="l">
              <a:lnSpc>
                <a:spcPct val="100000"/>
              </a:lnSpc>
              <a:spcBef>
                <a:spcPts val="0"/>
              </a:spcBef>
              <a:spcAft>
                <a:spcPts val="0"/>
              </a:spcAft>
              <a:buNone/>
            </a:pPr>
            <a:r>
              <a:rPr b="1" lang="en" sz="1350">
                <a:solidFill>
                  <a:srgbClr val="273239"/>
                </a:solidFill>
                <a:highlight>
                  <a:srgbClr val="FFFFFF"/>
                </a:highlight>
                <a:latin typeface="Nunito"/>
                <a:ea typeface="Nunito"/>
                <a:cs typeface="Nunito"/>
                <a:sym typeface="Nunito"/>
              </a:rPr>
              <a:t>&lt;script type="text/javascript"&gt;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None/>
            </a:pPr>
            <a:r>
              <a:rPr b="1" lang="en" sz="1350">
                <a:solidFill>
                  <a:srgbClr val="273239"/>
                </a:solidFill>
                <a:highlight>
                  <a:srgbClr val="FFFFFF"/>
                </a:highlight>
                <a:latin typeface="Nunito"/>
                <a:ea typeface="Nunito"/>
                <a:cs typeface="Nunito"/>
                <a:sym typeface="Nunito"/>
              </a:rPr>
              <a:t>	function Value(){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None/>
            </a:pPr>
            <a:r>
              <a:rPr b="1" lang="en" sz="1350">
                <a:solidFill>
                  <a:srgbClr val="273239"/>
                </a:solidFill>
                <a:highlight>
                  <a:srgbClr val="FFFFFF"/>
                </a:highlight>
                <a:latin typeface="Nunito"/>
                <a:ea typeface="Nunito"/>
                <a:cs typeface="Nunito"/>
                <a:sym typeface="Nunito"/>
              </a:rPr>
              <a:t>	var Val = prompt("Enter your name : ", "Please enter your name");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None/>
            </a:pPr>
            <a:r>
              <a:rPr b="1" lang="en" sz="1350">
                <a:solidFill>
                  <a:srgbClr val="273239"/>
                </a:solidFill>
                <a:highlight>
                  <a:srgbClr val="FFFFFF"/>
                </a:highlight>
                <a:latin typeface="Nunito"/>
                <a:ea typeface="Nunito"/>
                <a:cs typeface="Nunito"/>
                <a:sym typeface="Nunito"/>
              </a:rPr>
              <a:t>	document.getElementById(Val)</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None/>
            </a:pPr>
            <a:r>
              <a:rPr b="1" lang="en" sz="1350">
                <a:solidFill>
                  <a:srgbClr val="273239"/>
                </a:solidFill>
                <a:highlight>
                  <a:srgbClr val="FFFFFF"/>
                </a:highlight>
                <a:latin typeface="Nunito"/>
                <a:ea typeface="Nunito"/>
                <a:cs typeface="Nunito"/>
                <a:sym typeface="Nunito"/>
              </a:rPr>
              <a:t>	}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None/>
            </a:pPr>
            <a:r>
              <a:rPr b="1" lang="en" sz="1350">
                <a:solidFill>
                  <a:srgbClr val="273239"/>
                </a:solidFill>
                <a:highlight>
                  <a:srgbClr val="FFFFFF"/>
                </a:highlight>
                <a:latin typeface="Nunito"/>
                <a:ea typeface="Nunito"/>
                <a:cs typeface="Nunito"/>
                <a:sym typeface="Nunito"/>
              </a:rPr>
              <a: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None/>
            </a:pPr>
            <a:r>
              <a:rPr b="1" lang="en" sz="1350">
                <a:solidFill>
                  <a:srgbClr val="273239"/>
                </a:solidFill>
                <a:highlight>
                  <a:srgbClr val="FFFFFF"/>
                </a:highlight>
                <a:latin typeface="Nunito"/>
                <a:ea typeface="Nunito"/>
                <a:cs typeface="Nunito"/>
                <a:sym typeface="Nunito"/>
              </a:rPr>
              <a:t>&lt;/script&gt;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None/>
            </a:pPr>
            <a:r>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None/>
            </a:pPr>
            <a:r>
              <a:rPr b="1" lang="en" sz="1350">
                <a:solidFill>
                  <a:srgbClr val="273239"/>
                </a:solidFill>
                <a:highlight>
                  <a:srgbClr val="FFFFFF"/>
                </a:highlight>
                <a:latin typeface="Nunito"/>
                <a:ea typeface="Nunito"/>
                <a:cs typeface="Nunito"/>
                <a:sym typeface="Nunito"/>
              </a:rPr>
              <a:t>&lt;p&gt;Click the button to check the Prompt Box functionality&lt;/p&gt;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None/>
            </a:pPr>
            <a:r>
              <a:rPr b="1" lang="en" sz="1350">
                <a:solidFill>
                  <a:srgbClr val="273239"/>
                </a:solidFill>
                <a:highlight>
                  <a:srgbClr val="FFFFFF"/>
                </a:highlight>
                <a:latin typeface="Nunito"/>
                <a:ea typeface="Nunito"/>
                <a:cs typeface="Nunito"/>
                <a:sym typeface="Nunito"/>
              </a:rPr>
              <a:t>&lt;form&gt;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None/>
            </a:pPr>
            <a:r>
              <a:rPr b="1" lang="en" sz="1350">
                <a:solidFill>
                  <a:srgbClr val="273239"/>
                </a:solidFill>
                <a:highlight>
                  <a:srgbClr val="FFFFFF"/>
                </a:highlight>
                <a:latin typeface="Nunito"/>
                <a:ea typeface="Nunito"/>
                <a:cs typeface="Nunito"/>
                <a:sym typeface="Nunito"/>
              </a:rPr>
              <a:t>	&lt;input type="button" value="Click Me" onclick="Value();" /&gt;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None/>
            </a:pPr>
            <a:r>
              <a:rPr b="1" lang="en" sz="1350">
                <a:solidFill>
                  <a:srgbClr val="273239"/>
                </a:solidFill>
                <a:highlight>
                  <a:srgbClr val="FFFFFF"/>
                </a:highlight>
                <a:latin typeface="Nunito"/>
                <a:ea typeface="Nunito"/>
                <a:cs typeface="Nunito"/>
                <a:sym typeface="Nunito"/>
              </a:rPr>
              <a:t>&lt;/form&gt;</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None/>
            </a:pPr>
            <a:r>
              <a:t/>
            </a:r>
            <a:endParaRPr b="1" sz="1350">
              <a:solidFill>
                <a:srgbClr val="273239"/>
              </a:solidFill>
              <a:highlight>
                <a:srgbClr val="FFFFFF"/>
              </a:highlight>
              <a:latin typeface="Nunito"/>
              <a:ea typeface="Nunito"/>
              <a:cs typeface="Nunito"/>
              <a:sym typeface="Nunito"/>
            </a:endParaRPr>
          </a:p>
          <a:p>
            <a:pPr indent="0" lvl="0" marL="114300" marR="114300" rtl="0" algn="l">
              <a:lnSpc>
                <a:spcPct val="100000"/>
              </a:lnSpc>
              <a:spcBef>
                <a:spcPts val="0"/>
              </a:spcBef>
              <a:spcAft>
                <a:spcPts val="0"/>
              </a:spcAft>
              <a:buNone/>
            </a:pPr>
            <a:r>
              <a:t/>
            </a:r>
            <a:endParaRPr b="1" sz="1350">
              <a:solidFill>
                <a:srgbClr val="273239"/>
              </a:solidFill>
              <a:highlight>
                <a:srgbClr val="FFFFFF"/>
              </a:highlight>
              <a:latin typeface="Nunito"/>
              <a:ea typeface="Nunito"/>
              <a:cs typeface="Nunito"/>
              <a:sym typeface="Nunito"/>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115"/>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Clr>
                <a:schemeClr val="dk1"/>
              </a:buClr>
              <a:buSzPts val="1100"/>
              <a:buFont typeface="Arial"/>
              <a:buNone/>
            </a:pPr>
            <a:r>
              <a:rPr lang="en" sz="2400">
                <a:solidFill>
                  <a:schemeClr val="dk1"/>
                </a:solidFill>
                <a:highlight>
                  <a:srgbClr val="FFFFFF"/>
                </a:highlight>
              </a:rPr>
              <a:t>Browser Object</a:t>
            </a:r>
            <a:endParaRPr sz="2400">
              <a:solidFill>
                <a:schemeClr val="dk1"/>
              </a:solidFill>
              <a:highlight>
                <a:srgbClr val="FFFFFF"/>
              </a:highlight>
            </a:endParaRPr>
          </a:p>
          <a:p>
            <a:pPr indent="0" lvl="0" marL="0" rtl="0" algn="l">
              <a:spcBef>
                <a:spcPts val="800"/>
              </a:spcBef>
              <a:spcAft>
                <a:spcPts val="0"/>
              </a:spcAft>
              <a:buClr>
                <a:schemeClr val="dk1"/>
              </a:buClr>
              <a:buSzPts val="1100"/>
              <a:buFont typeface="Arial"/>
              <a:buNone/>
            </a:pPr>
            <a:r>
              <a:rPr lang="en" sz="2400">
                <a:solidFill>
                  <a:schemeClr val="dk1"/>
                </a:solidFill>
                <a:highlight>
                  <a:srgbClr val="FFFFFF"/>
                </a:highlight>
              </a:rPr>
              <a:t>The Window Object</a:t>
            </a:r>
            <a:endParaRPr sz="2400">
              <a:solidFill>
                <a:schemeClr val="dk1"/>
              </a:solidFill>
              <a:highlight>
                <a:srgbClr val="FFFFFF"/>
              </a:highlight>
            </a:endParaRPr>
          </a:p>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The </a:t>
            </a:r>
            <a:r>
              <a:rPr lang="en" sz="1200">
                <a:solidFill>
                  <a:srgbClr val="DC143C"/>
                </a:solidFill>
                <a:highlight>
                  <a:srgbClr val="FFFFFF"/>
                </a:highlight>
                <a:latin typeface="Courier New"/>
                <a:ea typeface="Courier New"/>
                <a:cs typeface="Courier New"/>
                <a:sym typeface="Courier New"/>
              </a:rPr>
              <a:t>window</a:t>
            </a:r>
            <a:r>
              <a:rPr lang="en" sz="1150">
                <a:solidFill>
                  <a:schemeClr val="dk1"/>
                </a:solidFill>
                <a:highlight>
                  <a:srgbClr val="FFFFFF"/>
                </a:highlight>
                <a:latin typeface="Verdana"/>
                <a:ea typeface="Verdana"/>
                <a:cs typeface="Verdana"/>
                <a:sym typeface="Verdana"/>
              </a:rPr>
              <a:t> object is supported by all browsers. It represents the browser's window.</a:t>
            </a:r>
            <a:endParaRPr sz="1150">
              <a:solidFill>
                <a:schemeClr val="dk1"/>
              </a:solidFill>
              <a:highlight>
                <a:srgbClr val="FFFFFF"/>
              </a:highlight>
              <a:latin typeface="Verdana"/>
              <a:ea typeface="Verdana"/>
              <a:cs typeface="Verdana"/>
              <a:sym typeface="Verdana"/>
            </a:endParaRPr>
          </a:p>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All global JavaScript objects, functions, and variables automatically become members of the window object.</a:t>
            </a:r>
            <a:endParaRPr sz="1150">
              <a:solidFill>
                <a:schemeClr val="dk1"/>
              </a:solidFill>
              <a:highlight>
                <a:srgbClr val="FFFFFF"/>
              </a:highlight>
              <a:latin typeface="Verdana"/>
              <a:ea typeface="Verdana"/>
              <a:cs typeface="Verdana"/>
              <a:sym typeface="Verdana"/>
            </a:endParaRPr>
          </a:p>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Global variables are properties of the window object.</a:t>
            </a:r>
            <a:endParaRPr sz="1150">
              <a:solidFill>
                <a:schemeClr val="dk1"/>
              </a:solidFill>
              <a:highlight>
                <a:srgbClr val="FFFFFF"/>
              </a:highlight>
              <a:latin typeface="Verdana"/>
              <a:ea typeface="Verdana"/>
              <a:cs typeface="Verdana"/>
              <a:sym typeface="Verdana"/>
            </a:endParaRPr>
          </a:p>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Global functions are methods of the window object.</a:t>
            </a:r>
            <a:endParaRPr sz="1150">
              <a:solidFill>
                <a:schemeClr val="dk1"/>
              </a:solidFill>
              <a:highlight>
                <a:srgbClr val="FFFFFF"/>
              </a:highlight>
              <a:latin typeface="Verdana"/>
              <a:ea typeface="Verdana"/>
              <a:cs typeface="Verdana"/>
              <a:sym typeface="Verdana"/>
            </a:endParaRPr>
          </a:p>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Even the document object (of the HTML DOM) is a property of the window object:</a:t>
            </a:r>
            <a:endParaRPr sz="1150">
              <a:solidFill>
                <a:schemeClr val="dk1"/>
              </a:solidFill>
              <a:highlight>
                <a:srgbClr val="FFFFFF"/>
              </a:highlight>
              <a:latin typeface="Verdana"/>
              <a:ea typeface="Verdana"/>
              <a:cs typeface="Verdana"/>
              <a:sym typeface="Verdana"/>
            </a:endParaRPr>
          </a:p>
          <a:p>
            <a:pPr indent="0" lvl="0" marL="114300" marR="114300" rtl="0" algn="l">
              <a:spcBef>
                <a:spcPts val="1400"/>
              </a:spcBef>
              <a:spcAft>
                <a:spcPts val="1200"/>
              </a:spcAft>
              <a:buNone/>
            </a:pPr>
            <a:r>
              <a:t/>
            </a:r>
            <a:endParaRPr b="1" sz="2300">
              <a:solidFill>
                <a:schemeClr val="dk1"/>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116"/>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Clr>
                <a:schemeClr val="dk1"/>
              </a:buClr>
              <a:buSzPts val="1100"/>
              <a:buFont typeface="Arial"/>
              <a:buNone/>
            </a:pPr>
            <a:r>
              <a:rPr lang="en" sz="2400">
                <a:solidFill>
                  <a:schemeClr val="dk1"/>
                </a:solidFill>
                <a:highlight>
                  <a:srgbClr val="FFFFFF"/>
                </a:highlight>
              </a:rPr>
              <a:t>Window Size</a:t>
            </a:r>
            <a:endParaRPr sz="2400">
              <a:solidFill>
                <a:schemeClr val="dk1"/>
              </a:solidFill>
              <a:highlight>
                <a:srgbClr val="FFFFFF"/>
              </a:highlight>
            </a:endParaRPr>
          </a:p>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Two properties can be used to determine the size of the browser window.</a:t>
            </a:r>
            <a:endParaRPr sz="1150">
              <a:solidFill>
                <a:schemeClr val="dk1"/>
              </a:solidFill>
              <a:highlight>
                <a:srgbClr val="FFFFFF"/>
              </a:highlight>
              <a:latin typeface="Verdana"/>
              <a:ea typeface="Verdana"/>
              <a:cs typeface="Verdana"/>
              <a:sym typeface="Verdana"/>
            </a:endParaRPr>
          </a:p>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Both properties return the sizes in pixels:</a:t>
            </a:r>
            <a:endParaRPr sz="1150">
              <a:solidFill>
                <a:schemeClr val="dk1"/>
              </a:solidFill>
              <a:highlight>
                <a:srgbClr val="FFFFFF"/>
              </a:highlight>
              <a:latin typeface="Verdana"/>
              <a:ea typeface="Verdana"/>
              <a:cs typeface="Verdana"/>
              <a:sym typeface="Verdana"/>
            </a:endParaRPr>
          </a:p>
          <a:p>
            <a:pPr indent="-301625" lvl="0" marL="457200" rtl="0" algn="l">
              <a:spcBef>
                <a:spcPts val="1400"/>
              </a:spcBef>
              <a:spcAft>
                <a:spcPts val="0"/>
              </a:spcAft>
              <a:buClr>
                <a:schemeClr val="dk1"/>
              </a:buClr>
              <a:buSzPts val="1150"/>
              <a:buFont typeface="Verdana"/>
              <a:buChar char="●"/>
            </a:pPr>
            <a:r>
              <a:rPr lang="en" sz="1200">
                <a:solidFill>
                  <a:srgbClr val="DC143C"/>
                </a:solidFill>
                <a:highlight>
                  <a:srgbClr val="FFFFFF"/>
                </a:highlight>
                <a:latin typeface="Courier New"/>
                <a:ea typeface="Courier New"/>
                <a:cs typeface="Courier New"/>
                <a:sym typeface="Courier New"/>
              </a:rPr>
              <a:t>window.innerHeight</a:t>
            </a:r>
            <a:r>
              <a:rPr lang="en" sz="1150">
                <a:solidFill>
                  <a:schemeClr val="dk1"/>
                </a:solidFill>
                <a:highlight>
                  <a:srgbClr val="FFFFFF"/>
                </a:highlight>
                <a:latin typeface="Verdana"/>
                <a:ea typeface="Verdana"/>
                <a:cs typeface="Verdana"/>
                <a:sym typeface="Verdana"/>
              </a:rPr>
              <a:t> - the inner height of the browser window (in pixels)</a:t>
            </a:r>
            <a:endParaRPr sz="1150">
              <a:solidFill>
                <a:schemeClr val="dk1"/>
              </a:solidFill>
              <a:highlight>
                <a:srgbClr val="FFFFFF"/>
              </a:highlight>
              <a:latin typeface="Verdana"/>
              <a:ea typeface="Verdana"/>
              <a:cs typeface="Verdana"/>
              <a:sym typeface="Verdana"/>
            </a:endParaRPr>
          </a:p>
          <a:p>
            <a:pPr indent="-301625" lvl="0" marL="457200" rtl="0" algn="l">
              <a:spcBef>
                <a:spcPts val="0"/>
              </a:spcBef>
              <a:spcAft>
                <a:spcPts val="0"/>
              </a:spcAft>
              <a:buClr>
                <a:schemeClr val="dk1"/>
              </a:buClr>
              <a:buSzPts val="1150"/>
              <a:buFont typeface="Verdana"/>
              <a:buChar char="●"/>
            </a:pPr>
            <a:r>
              <a:rPr lang="en" sz="1200">
                <a:solidFill>
                  <a:srgbClr val="DC143C"/>
                </a:solidFill>
                <a:highlight>
                  <a:srgbClr val="FFFFFF"/>
                </a:highlight>
                <a:latin typeface="Courier New"/>
                <a:ea typeface="Courier New"/>
                <a:cs typeface="Courier New"/>
                <a:sym typeface="Courier New"/>
              </a:rPr>
              <a:t>window.innerWidth</a:t>
            </a:r>
            <a:r>
              <a:rPr lang="en" sz="1150">
                <a:solidFill>
                  <a:schemeClr val="dk1"/>
                </a:solidFill>
                <a:highlight>
                  <a:srgbClr val="FFFFFF"/>
                </a:highlight>
                <a:latin typeface="Verdana"/>
                <a:ea typeface="Verdana"/>
                <a:cs typeface="Verdana"/>
                <a:sym typeface="Verdana"/>
              </a:rPr>
              <a:t> - the inner width of the browser window (in pixels)</a:t>
            </a:r>
            <a:endParaRPr sz="1150">
              <a:solidFill>
                <a:schemeClr val="dk1"/>
              </a:solidFill>
              <a:highlight>
                <a:srgbClr val="FFFFFF"/>
              </a:highlight>
              <a:latin typeface="Verdana"/>
              <a:ea typeface="Verdana"/>
              <a:cs typeface="Verdana"/>
              <a:sym typeface="Verdana"/>
            </a:endParaRPr>
          </a:p>
          <a:p>
            <a:pPr indent="0" lvl="0" marL="114300" marR="114300" rtl="0" algn="l">
              <a:spcBef>
                <a:spcPts val="11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&lt;h2&gt;JavaScript Window&lt;/h2&gt;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&lt;p id="demo"&gt;&lt;/p&gt;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&lt;script&gt;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document.getElementById("demo").innerHTML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"Browser inner window width: " + window.innerWidth + "px&lt;br&gt;"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"Browser inner window height: " + window.innerHeight + "px";</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&lt;/script&gt;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1200"/>
              </a:spcBef>
              <a:spcAft>
                <a:spcPts val="1200"/>
              </a:spcAft>
              <a:buNone/>
            </a:pPr>
            <a:r>
              <a:t/>
            </a:r>
            <a:endParaRPr sz="2400">
              <a:solidFill>
                <a:schemeClr val="dk1"/>
              </a:solidFill>
              <a:highlight>
                <a:srgbClr val="FFFFFF"/>
              </a:highlight>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117"/>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700">
                <a:solidFill>
                  <a:schemeClr val="dk1"/>
                </a:solidFill>
              </a:rPr>
              <a:t>output</a:t>
            </a:r>
            <a:endParaRPr b="1"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1700">
                <a:solidFill>
                  <a:schemeClr val="dk1"/>
                </a:solidFill>
              </a:rPr>
              <a:t>JavaScript Window</a:t>
            </a:r>
            <a:endParaRPr b="1" sz="1700">
              <a:solidFill>
                <a:schemeClr val="dk1"/>
              </a:solidFill>
            </a:endParaRPr>
          </a:p>
          <a:p>
            <a:pPr indent="0" lvl="0" marL="0" marR="0" rtl="0" algn="l">
              <a:lnSpc>
                <a:spcPct val="100000"/>
              </a:lnSpc>
              <a:spcBef>
                <a:spcPts val="0"/>
              </a:spcBef>
              <a:spcAft>
                <a:spcPts val="0"/>
              </a:spcAft>
              <a:buNone/>
            </a:pPr>
            <a:r>
              <a:rPr b="1" lang="en" sz="1700">
                <a:solidFill>
                  <a:schemeClr val="dk1"/>
                </a:solidFill>
              </a:rPr>
              <a:t>Browser inner window width: 941px</a:t>
            </a:r>
            <a:br>
              <a:rPr b="1" lang="en" sz="1700">
                <a:solidFill>
                  <a:schemeClr val="dk1"/>
                </a:solidFill>
              </a:rPr>
            </a:br>
            <a:r>
              <a:rPr b="1" lang="en" sz="1700">
                <a:solidFill>
                  <a:schemeClr val="dk1"/>
                </a:solidFill>
              </a:rPr>
              <a:t>Browser inner window height: 807px</a:t>
            </a:r>
            <a:endParaRPr b="1" sz="1700">
              <a:solidFill>
                <a:schemeClr val="dk1"/>
              </a:solidFill>
            </a:endParaRPr>
          </a:p>
          <a:p>
            <a:pPr indent="0" lvl="0" marL="0" marR="0" rtl="0" algn="l">
              <a:lnSpc>
                <a:spcPct val="100000"/>
              </a:lnSpc>
              <a:spcBef>
                <a:spcPts val="0"/>
              </a:spcBef>
              <a:spcAft>
                <a:spcPts val="0"/>
              </a:spcAft>
              <a:buNone/>
            </a:pPr>
            <a:r>
              <a:rPr b="1" lang="en" sz="1700" u="sng">
                <a:solidFill>
                  <a:schemeClr val="dk1"/>
                </a:solidFill>
              </a:rPr>
              <a:t>Window Screen</a:t>
            </a:r>
            <a:endParaRPr b="1" sz="1700" u="sng">
              <a:solidFill>
                <a:schemeClr val="dk1"/>
              </a:solidFill>
            </a:endParaRPr>
          </a:p>
          <a:p>
            <a:pPr indent="0" lvl="0" marL="0" marR="0" rtl="0" algn="l">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The window.screen object can be written without the window prefix.</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Properties:</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screen.width</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screen.height</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screen.availWidth</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screen.availHeight</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screen.colorDepth</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screen.pixelDepth</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Window Screen Width</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200">
                <a:solidFill>
                  <a:schemeClr val="dk1"/>
                </a:solidFill>
                <a:latin typeface="Times New Roman"/>
                <a:ea typeface="Times New Roman"/>
                <a:cs typeface="Times New Roman"/>
                <a:sym typeface="Times New Roman"/>
              </a:rPr>
              <a:t>The screen.width property returns the width of the visitor's screen in pixels.</a:t>
            </a:r>
            <a:endParaRPr sz="12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sz="1700">
              <a:solidFill>
                <a:schemeClr val="dk1"/>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118"/>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700">
                <a:solidFill>
                  <a:schemeClr val="dk1"/>
                </a:solidFill>
              </a:rPr>
              <a:t>&lt;html&gt;</a:t>
            </a:r>
            <a:endParaRPr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rPr>
              <a:t>&lt;body&gt;</a:t>
            </a:r>
            <a:endParaRPr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rPr>
              <a:t>&lt;p id="demo"&gt;&lt;/p&gt;</a:t>
            </a:r>
            <a:endParaRPr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rPr>
              <a:t>&lt;script&gt;</a:t>
            </a:r>
            <a:endParaRPr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rPr>
              <a:t>document.getElementById("demo").innerHTML = </a:t>
            </a:r>
            <a:endParaRPr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rPr>
              <a:t>"Screen width is " + screen.width;</a:t>
            </a:r>
            <a:endParaRPr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rPr>
              <a:t>&lt;/script&gt;</a:t>
            </a:r>
            <a:endParaRPr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rPr>
              <a:t>&lt;/body&gt;</a:t>
            </a:r>
            <a:endParaRPr sz="1700">
              <a:solidFill>
                <a:schemeClr val="dk1"/>
              </a:solidFill>
            </a:endParaRPr>
          </a:p>
          <a:p>
            <a:pPr indent="0" lvl="0" marL="0" rtl="0" algn="l">
              <a:lnSpc>
                <a:spcPct val="100000"/>
              </a:lnSpc>
              <a:spcBef>
                <a:spcPts val="0"/>
              </a:spcBef>
              <a:spcAft>
                <a:spcPts val="0"/>
              </a:spcAft>
              <a:buNone/>
            </a:pPr>
            <a:r>
              <a:rPr lang="en" sz="1700">
                <a:solidFill>
                  <a:schemeClr val="dk1"/>
                </a:solidFill>
              </a:rPr>
              <a:t>&lt;/html&gt;</a:t>
            </a:r>
            <a:endParaRPr sz="1700">
              <a:solidFill>
                <a:schemeClr val="dk1"/>
              </a:solidFill>
            </a:endParaRPr>
          </a:p>
          <a:p>
            <a:pPr indent="0" lvl="0" marL="0" rtl="0" algn="l">
              <a:lnSpc>
                <a:spcPct val="100000"/>
              </a:lnSpc>
              <a:spcBef>
                <a:spcPts val="0"/>
              </a:spcBef>
              <a:spcAft>
                <a:spcPts val="0"/>
              </a:spcAft>
              <a:buNone/>
            </a:pPr>
            <a:r>
              <a:rPr lang="en" sz="1700">
                <a:solidFill>
                  <a:schemeClr val="dk1"/>
                </a:solidFill>
              </a:rPr>
              <a:t>Output</a:t>
            </a:r>
            <a:endParaRPr sz="17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rPr>
              <a:t>Screen width is 1920</a:t>
            </a:r>
            <a:endParaRPr sz="17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700">
              <a:solidFill>
                <a:schemeClr val="dk1"/>
              </a:solidFill>
            </a:endParaRPr>
          </a:p>
          <a:p>
            <a:pPr indent="0" lvl="0" marL="0" marR="0" rtl="0" algn="l">
              <a:lnSpc>
                <a:spcPct val="100000"/>
              </a:lnSpc>
              <a:spcBef>
                <a:spcPts val="0"/>
              </a:spcBef>
              <a:spcAft>
                <a:spcPts val="0"/>
              </a:spcAft>
              <a:buNone/>
            </a:pPr>
            <a:r>
              <a:t/>
            </a:r>
            <a:endParaRPr sz="1700">
              <a:solidFill>
                <a:schemeClr val="dk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119"/>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lnSpc>
                <a:spcPct val="100000"/>
              </a:lnSpc>
              <a:spcBef>
                <a:spcPts val="800"/>
              </a:spcBef>
              <a:spcAft>
                <a:spcPts val="0"/>
              </a:spcAft>
              <a:buNone/>
            </a:pPr>
            <a:r>
              <a:rPr b="1" lang="en" sz="1200">
                <a:solidFill>
                  <a:schemeClr val="dk1"/>
                </a:solidFill>
                <a:highlight>
                  <a:srgbClr val="FFFFFF"/>
                </a:highlight>
                <a:latin typeface="Times New Roman"/>
                <a:ea typeface="Times New Roman"/>
                <a:cs typeface="Times New Roman"/>
                <a:sym typeface="Times New Roman"/>
              </a:rPr>
              <a:t>Navigator Object </a:t>
            </a:r>
            <a:r>
              <a:rPr lang="en" sz="1200">
                <a:solidFill>
                  <a:schemeClr val="dk1"/>
                </a:solidFill>
                <a:highlight>
                  <a:srgbClr val="FFFFFF"/>
                </a:highlight>
                <a:latin typeface="Times New Roman"/>
                <a:ea typeface="Times New Roman"/>
                <a:cs typeface="Times New Roman"/>
                <a:sym typeface="Times New Roman"/>
              </a:rPr>
              <a:t>: </a:t>
            </a:r>
            <a:r>
              <a:rPr lang="en" sz="1200">
                <a:solidFill>
                  <a:schemeClr val="dk1"/>
                </a:solidFill>
                <a:latin typeface="Times New Roman"/>
                <a:ea typeface="Times New Roman"/>
                <a:cs typeface="Times New Roman"/>
                <a:sym typeface="Times New Roman"/>
              </a:rPr>
              <a:t>The navigator object provides information about the browser.</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800"/>
              </a:spcBef>
              <a:spcAft>
                <a:spcPts val="0"/>
              </a:spcAft>
              <a:buNone/>
            </a:pPr>
            <a:r>
              <a:rPr b="1" lang="en" sz="1200">
                <a:solidFill>
                  <a:schemeClr val="dk1"/>
                </a:solidFill>
                <a:latin typeface="Times New Roman"/>
                <a:ea typeface="Times New Roman"/>
                <a:cs typeface="Times New Roman"/>
                <a:sym typeface="Times New Roman"/>
              </a:rPr>
              <a:t>screen Object </a:t>
            </a:r>
            <a:r>
              <a:rPr lang="en" sz="1200">
                <a:solidFill>
                  <a:schemeClr val="dk1"/>
                </a:solidFill>
                <a:latin typeface="Times New Roman"/>
                <a:ea typeface="Times New Roman"/>
                <a:cs typeface="Times New Roman"/>
                <a:sym typeface="Times New Roman"/>
              </a:rPr>
              <a:t>The screen object provides information about the user's screen.</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1800"/>
              </a:spcBef>
              <a:spcAft>
                <a:spcPts val="0"/>
              </a:spcAft>
              <a:buNone/>
            </a:pPr>
            <a:r>
              <a:rPr b="1" lang="en" sz="1200">
                <a:solidFill>
                  <a:schemeClr val="dk1"/>
                </a:solidFill>
                <a:latin typeface="Times New Roman"/>
                <a:ea typeface="Times New Roman"/>
                <a:cs typeface="Times New Roman"/>
                <a:sym typeface="Times New Roman"/>
              </a:rPr>
              <a:t>history Object </a:t>
            </a:r>
            <a:r>
              <a:rPr lang="en" sz="1200">
                <a:solidFill>
                  <a:schemeClr val="dk1"/>
                </a:solidFill>
                <a:latin typeface="Times New Roman"/>
                <a:ea typeface="Times New Roman"/>
                <a:cs typeface="Times New Roman"/>
                <a:sym typeface="Times New Roman"/>
              </a:rPr>
              <a:t>The history object allows navigation through the browser’s session history.</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18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18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Clr>
                <a:schemeClr val="dk1"/>
              </a:buClr>
              <a:buSzPts val="1100"/>
              <a:buFont typeface="Arial"/>
              <a:buNone/>
            </a:pPr>
            <a:r>
              <a:t/>
            </a:r>
            <a:endParaRPr sz="2400">
              <a:solidFill>
                <a:schemeClr val="dk1"/>
              </a:solidFill>
              <a:highlight>
                <a:srgbClr val="FFFFFF"/>
              </a:highlight>
            </a:endParaRPr>
          </a:p>
          <a:p>
            <a:pPr indent="0" lvl="0" marL="0" marR="0" rtl="0" algn="l">
              <a:lnSpc>
                <a:spcPct val="100000"/>
              </a:lnSpc>
              <a:spcBef>
                <a:spcPts val="800"/>
              </a:spcBef>
              <a:spcAft>
                <a:spcPts val="0"/>
              </a:spcAft>
              <a:buNone/>
            </a:pPr>
            <a:r>
              <a:t/>
            </a:r>
            <a:endParaRPr sz="1700">
              <a:solidFill>
                <a:schemeClr val="dk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120"/>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1200">
                <a:solidFill>
                  <a:schemeClr val="dk1"/>
                </a:solidFill>
                <a:highlight>
                  <a:srgbClr val="FFFFFF"/>
                </a:highlight>
                <a:latin typeface="Times New Roman"/>
                <a:ea typeface="Times New Roman"/>
                <a:cs typeface="Times New Roman"/>
                <a:sym typeface="Times New Roman"/>
              </a:rPr>
              <a:t>EVENTS : </a:t>
            </a:r>
            <a:r>
              <a:rPr lang="en" sz="1200">
                <a:solidFill>
                  <a:schemeClr val="dk1"/>
                </a:solidFill>
                <a:highlight>
                  <a:srgbClr val="FFFFFF"/>
                </a:highlight>
                <a:latin typeface="Times New Roman"/>
                <a:ea typeface="Times New Roman"/>
                <a:cs typeface="Times New Roman"/>
                <a:sym typeface="Times New Roman"/>
              </a:rPr>
              <a:t>HTML events are "things" that happen to HTML elements.</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lang="en" sz="1200">
                <a:solidFill>
                  <a:schemeClr val="dk1"/>
                </a:solidFill>
                <a:highlight>
                  <a:srgbClr val="FFFFFF"/>
                </a:highlight>
                <a:latin typeface="Times New Roman"/>
                <a:ea typeface="Times New Roman"/>
                <a:cs typeface="Times New Roman"/>
                <a:sym typeface="Times New Roman"/>
              </a:rPr>
              <a:t>When JavaScript is used in HTML pages, JavaScript can "react" on these events.</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lang="en" sz="1200">
                <a:solidFill>
                  <a:schemeClr val="dk1"/>
                </a:solidFill>
                <a:highlight>
                  <a:srgbClr val="FFFFFF"/>
                </a:highlight>
                <a:latin typeface="Times New Roman"/>
                <a:ea typeface="Times New Roman"/>
                <a:cs typeface="Times New Roman"/>
                <a:sym typeface="Times New Roman"/>
              </a:rPr>
              <a:t>HTML Events</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lang="en" sz="1200">
                <a:solidFill>
                  <a:schemeClr val="dk1"/>
                </a:solidFill>
                <a:highlight>
                  <a:srgbClr val="FFFFFF"/>
                </a:highlight>
                <a:latin typeface="Times New Roman"/>
                <a:ea typeface="Times New Roman"/>
                <a:cs typeface="Times New Roman"/>
                <a:sym typeface="Times New Roman"/>
              </a:rPr>
              <a:t>An HTML event can be something the browser does, or something a user does.</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lang="en" sz="1200">
                <a:solidFill>
                  <a:schemeClr val="dk1"/>
                </a:solidFill>
                <a:highlight>
                  <a:srgbClr val="FFFFFF"/>
                </a:highlight>
                <a:latin typeface="Times New Roman"/>
                <a:ea typeface="Times New Roman"/>
                <a:cs typeface="Times New Roman"/>
                <a:sym typeface="Times New Roman"/>
              </a:rPr>
              <a:t>Here are some examples of HTML events:</a:t>
            </a:r>
            <a:endParaRPr sz="1200">
              <a:solidFill>
                <a:schemeClr val="dk1"/>
              </a:solidFill>
              <a:highlight>
                <a:srgbClr val="FFFFFF"/>
              </a:highlight>
              <a:latin typeface="Times New Roman"/>
              <a:ea typeface="Times New Roman"/>
              <a:cs typeface="Times New Roman"/>
              <a:sym typeface="Times New Roman"/>
            </a:endParaRPr>
          </a:p>
          <a:p>
            <a:pPr indent="-304800" lvl="0" marL="457200" rtl="0" algn="l">
              <a:lnSpc>
                <a:spcPct val="100000"/>
              </a:lnSpc>
              <a:spcBef>
                <a:spcPts val="1400"/>
              </a:spcBef>
              <a:spcAft>
                <a:spcPts val="0"/>
              </a:spcAft>
              <a:buClr>
                <a:schemeClr val="dk1"/>
              </a:buClr>
              <a:buSzPts val="1200"/>
              <a:buFont typeface="Times New Roman"/>
              <a:buChar char="●"/>
            </a:pPr>
            <a:r>
              <a:rPr lang="en" sz="1200">
                <a:solidFill>
                  <a:schemeClr val="dk1"/>
                </a:solidFill>
                <a:highlight>
                  <a:srgbClr val="FFFFFF"/>
                </a:highlight>
                <a:latin typeface="Times New Roman"/>
                <a:ea typeface="Times New Roman"/>
                <a:cs typeface="Times New Roman"/>
                <a:sym typeface="Times New Roman"/>
              </a:rPr>
              <a:t>An HTML web page has finished loading</a:t>
            </a:r>
            <a:endParaRPr sz="1200">
              <a:solidFill>
                <a:schemeClr val="dk1"/>
              </a:solidFill>
              <a:highlight>
                <a:srgbClr val="FFFFFF"/>
              </a:highlight>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1"/>
              </a:buClr>
              <a:buSzPts val="1200"/>
              <a:buFont typeface="Times New Roman"/>
              <a:buChar char="●"/>
            </a:pPr>
            <a:r>
              <a:rPr lang="en" sz="1200">
                <a:solidFill>
                  <a:schemeClr val="dk1"/>
                </a:solidFill>
                <a:highlight>
                  <a:srgbClr val="FFFFFF"/>
                </a:highlight>
                <a:latin typeface="Times New Roman"/>
                <a:ea typeface="Times New Roman"/>
                <a:cs typeface="Times New Roman"/>
                <a:sym typeface="Times New Roman"/>
              </a:rPr>
              <a:t>An HTML input field was changed</a:t>
            </a:r>
            <a:endParaRPr sz="1200">
              <a:solidFill>
                <a:schemeClr val="dk1"/>
              </a:solidFill>
              <a:highlight>
                <a:srgbClr val="FFFFFF"/>
              </a:highlight>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1"/>
              </a:buClr>
              <a:buSzPts val="1200"/>
              <a:buFont typeface="Times New Roman"/>
              <a:buChar char="●"/>
            </a:pPr>
            <a:r>
              <a:rPr lang="en" sz="1200">
                <a:solidFill>
                  <a:schemeClr val="dk1"/>
                </a:solidFill>
                <a:highlight>
                  <a:srgbClr val="FFFFFF"/>
                </a:highlight>
                <a:latin typeface="Times New Roman"/>
                <a:ea typeface="Times New Roman"/>
                <a:cs typeface="Times New Roman"/>
                <a:sym typeface="Times New Roman"/>
              </a:rPr>
              <a:t>An HTML button was clicked</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lang="en" sz="1200">
                <a:solidFill>
                  <a:schemeClr val="dk1"/>
                </a:solidFill>
                <a:highlight>
                  <a:srgbClr val="FFFFFF"/>
                </a:highlight>
                <a:latin typeface="Times New Roman"/>
                <a:ea typeface="Times New Roman"/>
                <a:cs typeface="Times New Roman"/>
                <a:sym typeface="Times New Roman"/>
              </a:rPr>
              <a:t>Often, when events happen, you may want to do something.</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lang="en" sz="1200">
                <a:solidFill>
                  <a:schemeClr val="dk1"/>
                </a:solidFill>
                <a:highlight>
                  <a:srgbClr val="FFFFFF"/>
                </a:highlight>
                <a:latin typeface="Times New Roman"/>
                <a:ea typeface="Times New Roman"/>
                <a:cs typeface="Times New Roman"/>
                <a:sym typeface="Times New Roman"/>
              </a:rPr>
              <a:t>JavaScript lets you execute code when events are detected.</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lang="en" sz="1200">
                <a:solidFill>
                  <a:schemeClr val="dk1"/>
                </a:solidFill>
                <a:highlight>
                  <a:srgbClr val="FFFFFF"/>
                </a:highlight>
                <a:latin typeface="Times New Roman"/>
                <a:ea typeface="Times New Roman"/>
                <a:cs typeface="Times New Roman"/>
                <a:sym typeface="Times New Roman"/>
              </a:rPr>
              <a:t>HTML allows event handler attributes, with JavaScript code, to be added to HTML elements.</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400"/>
              </a:spcBef>
              <a:spcAft>
                <a:spcPts val="0"/>
              </a:spcAft>
              <a:buNone/>
            </a:pPr>
            <a:r>
              <a:t/>
            </a:r>
            <a:endParaRPr b="1" sz="12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121"/>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With single quotes:</a:t>
            </a:r>
            <a:endParaRPr sz="1150">
              <a:solidFill>
                <a:schemeClr val="dk1"/>
              </a:solidFill>
              <a:highlight>
                <a:srgbClr val="FFFFFF"/>
              </a:highlight>
              <a:latin typeface="Verdana"/>
              <a:ea typeface="Verdana"/>
              <a:cs typeface="Verdana"/>
              <a:sym typeface="Verdana"/>
            </a:endParaRPr>
          </a:p>
          <a:p>
            <a:pPr indent="0" lvl="0" marL="114300" marR="114300" rtl="0" algn="l">
              <a:spcBef>
                <a:spcPts val="1400"/>
              </a:spcBef>
              <a:spcAft>
                <a:spcPts val="0"/>
              </a:spcAft>
              <a:buClr>
                <a:schemeClr val="dk1"/>
              </a:buClr>
              <a:buSzPts val="1100"/>
              <a:buFont typeface="Arial"/>
              <a:buNone/>
            </a:pPr>
            <a:r>
              <a:rPr lang="en" sz="1150">
                <a:solidFill>
                  <a:srgbClr val="0000CD"/>
                </a:solidFill>
                <a:highlight>
                  <a:srgbClr val="FFFFFF"/>
                </a:highlight>
                <a:latin typeface="Courier New"/>
                <a:ea typeface="Courier New"/>
                <a:cs typeface="Courier New"/>
                <a:sym typeface="Courier New"/>
              </a:rPr>
              <a:t>&lt;</a:t>
            </a:r>
            <a:r>
              <a:rPr i="1" lang="en" sz="1150">
                <a:solidFill>
                  <a:srgbClr val="A52A2A"/>
                </a:solidFill>
                <a:highlight>
                  <a:srgbClr val="FFFFFF"/>
                </a:highlight>
                <a:latin typeface="Courier New"/>
                <a:ea typeface="Courier New"/>
                <a:cs typeface="Courier New"/>
                <a:sym typeface="Courier New"/>
              </a:rPr>
              <a:t>element</a:t>
            </a:r>
            <a:r>
              <a:rPr lang="en" sz="1150">
                <a:solidFill>
                  <a:srgbClr val="FF0000"/>
                </a:solidFill>
                <a:highlight>
                  <a:srgbClr val="FFFFFF"/>
                </a:highlight>
                <a:latin typeface="Courier New"/>
                <a:ea typeface="Courier New"/>
                <a:cs typeface="Courier New"/>
                <a:sym typeface="Courier New"/>
              </a:rPr>
              <a:t> </a:t>
            </a:r>
            <a:r>
              <a:rPr i="1" lang="en" sz="1150">
                <a:solidFill>
                  <a:srgbClr val="FF0000"/>
                </a:solidFill>
                <a:highlight>
                  <a:srgbClr val="FFFFFF"/>
                </a:highlight>
                <a:latin typeface="Courier New"/>
                <a:ea typeface="Courier New"/>
                <a:cs typeface="Courier New"/>
                <a:sym typeface="Courier New"/>
              </a:rPr>
              <a:t>event</a:t>
            </a:r>
            <a:r>
              <a:rPr lang="en" sz="1150">
                <a:solidFill>
                  <a:srgbClr val="0000CD"/>
                </a:solidFill>
                <a:highlight>
                  <a:srgbClr val="FFFFFF"/>
                </a:highlight>
                <a:latin typeface="Courier New"/>
                <a:ea typeface="Courier New"/>
                <a:cs typeface="Courier New"/>
                <a:sym typeface="Courier New"/>
              </a:rPr>
              <a:t>='</a:t>
            </a:r>
            <a:r>
              <a:rPr i="1" lang="en" sz="1150">
                <a:solidFill>
                  <a:srgbClr val="0000CD"/>
                </a:solidFill>
                <a:highlight>
                  <a:srgbClr val="FFFFFF"/>
                </a:highlight>
                <a:latin typeface="Courier New"/>
                <a:ea typeface="Courier New"/>
                <a:cs typeface="Courier New"/>
                <a:sym typeface="Courier New"/>
              </a:rPr>
              <a:t>some JavaScript</a:t>
            </a:r>
            <a:r>
              <a:rPr lang="en" sz="1150">
                <a:solidFill>
                  <a:srgbClr val="0000CD"/>
                </a:solidFill>
                <a:highlight>
                  <a:srgbClr val="FFFFFF"/>
                </a:highlight>
                <a:latin typeface="Courier New"/>
                <a:ea typeface="Courier New"/>
                <a:cs typeface="Courier New"/>
                <a:sym typeface="Courier New"/>
              </a:rPr>
              <a:t>'&gt;</a:t>
            </a:r>
            <a:endParaRPr sz="1150">
              <a:solidFill>
                <a:srgbClr val="0000CD"/>
              </a:solidFill>
              <a:highlight>
                <a:srgbClr val="FFFFFF"/>
              </a:highlight>
              <a:latin typeface="Courier New"/>
              <a:ea typeface="Courier New"/>
              <a:cs typeface="Courier New"/>
              <a:sym typeface="Courier New"/>
            </a:endParaRPr>
          </a:p>
          <a:p>
            <a:pPr indent="0" lvl="0" marL="0" rtl="0" algn="l">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With double quotes:</a:t>
            </a:r>
            <a:endParaRPr sz="1150">
              <a:solidFill>
                <a:schemeClr val="dk1"/>
              </a:solidFill>
              <a:highlight>
                <a:srgbClr val="FFFFFF"/>
              </a:highlight>
              <a:latin typeface="Verdana"/>
              <a:ea typeface="Verdana"/>
              <a:cs typeface="Verdana"/>
              <a:sym typeface="Verdana"/>
            </a:endParaRPr>
          </a:p>
          <a:p>
            <a:pPr indent="0" lvl="0" marL="114300" marR="114300" rtl="0" algn="l">
              <a:spcBef>
                <a:spcPts val="1400"/>
              </a:spcBef>
              <a:spcAft>
                <a:spcPts val="0"/>
              </a:spcAft>
              <a:buClr>
                <a:schemeClr val="dk1"/>
              </a:buClr>
              <a:buSzPts val="1100"/>
              <a:buFont typeface="Arial"/>
              <a:buNone/>
            </a:pPr>
            <a:r>
              <a:rPr lang="en" sz="1150">
                <a:solidFill>
                  <a:srgbClr val="0000CD"/>
                </a:solidFill>
                <a:highlight>
                  <a:srgbClr val="FFFFFF"/>
                </a:highlight>
                <a:latin typeface="Courier New"/>
                <a:ea typeface="Courier New"/>
                <a:cs typeface="Courier New"/>
                <a:sym typeface="Courier New"/>
              </a:rPr>
              <a:t>&lt;</a:t>
            </a:r>
            <a:r>
              <a:rPr i="1" lang="en" sz="1150">
                <a:solidFill>
                  <a:srgbClr val="A52A2A"/>
                </a:solidFill>
                <a:highlight>
                  <a:srgbClr val="FFFFFF"/>
                </a:highlight>
                <a:latin typeface="Courier New"/>
                <a:ea typeface="Courier New"/>
                <a:cs typeface="Courier New"/>
                <a:sym typeface="Courier New"/>
              </a:rPr>
              <a:t>element</a:t>
            </a:r>
            <a:r>
              <a:rPr lang="en" sz="1150">
                <a:solidFill>
                  <a:srgbClr val="FF0000"/>
                </a:solidFill>
                <a:highlight>
                  <a:srgbClr val="FFFFFF"/>
                </a:highlight>
                <a:latin typeface="Courier New"/>
                <a:ea typeface="Courier New"/>
                <a:cs typeface="Courier New"/>
                <a:sym typeface="Courier New"/>
              </a:rPr>
              <a:t> </a:t>
            </a:r>
            <a:r>
              <a:rPr i="1" lang="en" sz="1150">
                <a:solidFill>
                  <a:srgbClr val="FF0000"/>
                </a:solidFill>
                <a:highlight>
                  <a:srgbClr val="FFFFFF"/>
                </a:highlight>
                <a:latin typeface="Courier New"/>
                <a:ea typeface="Courier New"/>
                <a:cs typeface="Courier New"/>
                <a:sym typeface="Courier New"/>
              </a:rPr>
              <a:t>event</a:t>
            </a:r>
            <a:r>
              <a:rPr lang="en" sz="1150">
                <a:solidFill>
                  <a:srgbClr val="0000CD"/>
                </a:solidFill>
                <a:highlight>
                  <a:srgbClr val="FFFFFF"/>
                </a:highlight>
                <a:latin typeface="Courier New"/>
                <a:ea typeface="Courier New"/>
                <a:cs typeface="Courier New"/>
                <a:sym typeface="Courier New"/>
              </a:rPr>
              <a:t>="</a:t>
            </a:r>
            <a:r>
              <a:rPr i="1" lang="en" sz="1150">
                <a:solidFill>
                  <a:srgbClr val="0000CD"/>
                </a:solidFill>
                <a:highlight>
                  <a:srgbClr val="FFFFFF"/>
                </a:highlight>
                <a:latin typeface="Courier New"/>
                <a:ea typeface="Courier New"/>
                <a:cs typeface="Courier New"/>
                <a:sym typeface="Courier New"/>
              </a:rPr>
              <a:t>some JavaScript</a:t>
            </a:r>
            <a:r>
              <a:rPr lang="en" sz="1150">
                <a:solidFill>
                  <a:srgbClr val="0000CD"/>
                </a:solidFill>
                <a:highlight>
                  <a:srgbClr val="FFFFFF"/>
                </a:highlight>
                <a:latin typeface="Courier New"/>
                <a:ea typeface="Courier New"/>
                <a:cs typeface="Courier New"/>
                <a:sym typeface="Courier New"/>
              </a:rPr>
              <a:t>"&gt;</a:t>
            </a:r>
            <a:endParaRPr sz="1150">
              <a:solidFill>
                <a:srgbClr val="0000CD"/>
              </a:solidFill>
              <a:highlight>
                <a:srgbClr val="FFFFFF"/>
              </a:highlight>
              <a:latin typeface="Courier New"/>
              <a:ea typeface="Courier New"/>
              <a:cs typeface="Courier New"/>
              <a:sym typeface="Courier New"/>
            </a:endParaRPr>
          </a:p>
          <a:p>
            <a:pPr indent="0" lvl="0" marL="0" marR="0" rtl="0" algn="l">
              <a:lnSpc>
                <a:spcPct val="100000"/>
              </a:lnSpc>
              <a:spcBef>
                <a:spcPts val="1200"/>
              </a:spcBef>
              <a:spcAft>
                <a:spcPts val="0"/>
              </a:spcAft>
              <a:buNone/>
            </a:pPr>
            <a:r>
              <a:t/>
            </a:r>
            <a:endParaRPr b="1" sz="12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22"/>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SzPts val="1800"/>
              <a:buAutoNum type="arabicParenR"/>
            </a:pPr>
            <a:r>
              <a:rPr lang="en" sz="1150">
                <a:solidFill>
                  <a:schemeClr val="dk1"/>
                </a:solidFill>
                <a:highlight>
                  <a:srgbClr val="FFFFFF"/>
                </a:highlight>
                <a:latin typeface="Verdana"/>
                <a:ea typeface="Verdana"/>
                <a:cs typeface="Verdana"/>
                <a:sym typeface="Verdana"/>
              </a:rPr>
              <a:t>an </a:t>
            </a:r>
            <a:r>
              <a:rPr lang="en" sz="1200">
                <a:solidFill>
                  <a:srgbClr val="DC143C"/>
                </a:solidFill>
                <a:latin typeface="Courier New"/>
                <a:ea typeface="Courier New"/>
                <a:cs typeface="Courier New"/>
                <a:sym typeface="Courier New"/>
              </a:rPr>
              <a:t>onclick</a:t>
            </a:r>
            <a:r>
              <a:rPr lang="en" sz="1150">
                <a:solidFill>
                  <a:schemeClr val="dk1"/>
                </a:solidFill>
                <a:highlight>
                  <a:srgbClr val="FFFFFF"/>
                </a:highlight>
                <a:latin typeface="Verdana"/>
                <a:ea typeface="Verdana"/>
                <a:cs typeface="Verdana"/>
                <a:sym typeface="Verdana"/>
              </a:rPr>
              <a:t> attribute (with code), is added to a </a:t>
            </a:r>
            <a:r>
              <a:rPr lang="en" sz="1200">
                <a:solidFill>
                  <a:srgbClr val="DC143C"/>
                </a:solidFill>
                <a:latin typeface="Courier New"/>
                <a:ea typeface="Courier New"/>
                <a:cs typeface="Courier New"/>
                <a:sym typeface="Courier New"/>
              </a:rPr>
              <a:t>&lt;button&gt;</a:t>
            </a:r>
            <a:r>
              <a:rPr lang="en" sz="1150">
                <a:solidFill>
                  <a:schemeClr val="dk1"/>
                </a:solidFill>
                <a:highlight>
                  <a:srgbClr val="FFFFFF"/>
                </a:highlight>
                <a:latin typeface="Verdana"/>
                <a:ea typeface="Verdana"/>
                <a:cs typeface="Verdana"/>
                <a:sym typeface="Verdana"/>
              </a:rPr>
              <a:t> element: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None/>
            </a:pPr>
            <a:r>
              <a:rPr lang="en" sz="1150">
                <a:solidFill>
                  <a:schemeClr val="dk1"/>
                </a:solidFill>
                <a:highlight>
                  <a:srgbClr val="FFFFFF"/>
                </a:highlight>
                <a:latin typeface="Verdana"/>
                <a:ea typeface="Verdana"/>
                <a:cs typeface="Verdana"/>
                <a:sym typeface="Verdana"/>
              </a:rPr>
              <a:t>&lt;!DOCTYPE html&gt;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None/>
            </a:pPr>
            <a:r>
              <a:rPr lang="en" sz="1150">
                <a:solidFill>
                  <a:schemeClr val="dk1"/>
                </a:solidFill>
                <a:highlight>
                  <a:srgbClr val="FFFFFF"/>
                </a:highlight>
                <a:latin typeface="Verdana"/>
                <a:ea typeface="Verdana"/>
                <a:cs typeface="Verdana"/>
                <a:sym typeface="Verdana"/>
              </a:rPr>
              <a:t>&lt;html&gt;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None/>
            </a:pPr>
            <a:r>
              <a:rPr lang="en" sz="1150">
                <a:solidFill>
                  <a:schemeClr val="dk1"/>
                </a:solidFill>
                <a:highlight>
                  <a:srgbClr val="FFFFFF"/>
                </a:highlight>
                <a:latin typeface="Verdana"/>
                <a:ea typeface="Verdana"/>
                <a:cs typeface="Verdana"/>
                <a:sym typeface="Verdana"/>
              </a:rPr>
              <a:t>&lt;body&gt;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None/>
            </a:pPr>
            <a:r>
              <a:rPr lang="en" sz="1150">
                <a:solidFill>
                  <a:schemeClr val="dk1"/>
                </a:solidFill>
                <a:highlight>
                  <a:srgbClr val="FFFFFF"/>
                </a:highlight>
                <a:latin typeface="Verdana"/>
                <a:ea typeface="Verdana"/>
                <a:cs typeface="Verdana"/>
                <a:sym typeface="Verdana"/>
              </a:rPr>
              <a:t>&lt;h1&gt;JavaScript HTML Events&lt;/h1&gt;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None/>
            </a:pPr>
            <a:r>
              <a:rPr lang="en" sz="1150">
                <a:solidFill>
                  <a:schemeClr val="dk1"/>
                </a:solidFill>
                <a:highlight>
                  <a:srgbClr val="FFFFFF"/>
                </a:highlight>
                <a:latin typeface="Verdana"/>
                <a:ea typeface="Verdana"/>
                <a:cs typeface="Verdana"/>
                <a:sym typeface="Verdana"/>
              </a:rPr>
              <a:t>&lt;h2&gt;The onclick Attribute&lt;/h2&gt;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None/>
            </a:pPr>
            <a:r>
              <a:rPr lang="en" sz="1150">
                <a:solidFill>
                  <a:schemeClr val="dk1"/>
                </a:solidFill>
                <a:highlight>
                  <a:srgbClr val="FFFFFF"/>
                </a:highlight>
                <a:latin typeface="Verdana"/>
                <a:ea typeface="Verdana"/>
                <a:cs typeface="Verdana"/>
                <a:sym typeface="Verdana"/>
              </a:rPr>
              <a:t>&lt;button onclick="document.getElementById('demo').innerHTML=Date()"&gt;The time is?&lt;/button&gt;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None/>
            </a:pPr>
            <a:r>
              <a:rPr lang="en" sz="1150">
                <a:solidFill>
                  <a:schemeClr val="dk1"/>
                </a:solidFill>
                <a:highlight>
                  <a:srgbClr val="FFFFFF"/>
                </a:highlight>
                <a:latin typeface="Verdana"/>
                <a:ea typeface="Verdana"/>
                <a:cs typeface="Verdana"/>
                <a:sym typeface="Verdana"/>
              </a:rPr>
              <a:t>&lt;p id="demo"&gt;&lt;/p&gt;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None/>
            </a:pPr>
            <a:r>
              <a:rPr lang="en" sz="1150">
                <a:solidFill>
                  <a:schemeClr val="dk1"/>
                </a:solidFill>
                <a:highlight>
                  <a:srgbClr val="FFFFFF"/>
                </a:highlight>
                <a:latin typeface="Verdana"/>
                <a:ea typeface="Verdana"/>
                <a:cs typeface="Verdana"/>
                <a:sym typeface="Verdana"/>
              </a:rPr>
              <a:t>&lt;/body&gt;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None/>
            </a:pPr>
            <a:r>
              <a:rPr lang="en" sz="1150">
                <a:solidFill>
                  <a:schemeClr val="dk1"/>
                </a:solidFill>
                <a:highlight>
                  <a:srgbClr val="FFFFFF"/>
                </a:highlight>
                <a:latin typeface="Verdana"/>
                <a:ea typeface="Verdana"/>
                <a:cs typeface="Verdana"/>
                <a:sym typeface="Verdana"/>
              </a:rPr>
              <a:t>&lt;/html&gt;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None/>
            </a:pPr>
            <a:r>
              <a:rPr b="1" lang="en" sz="1150" u="sng">
                <a:solidFill>
                  <a:schemeClr val="dk1"/>
                </a:solidFill>
                <a:highlight>
                  <a:srgbClr val="FFFFFF"/>
                </a:highlight>
                <a:latin typeface="Verdana"/>
                <a:ea typeface="Verdana"/>
                <a:cs typeface="Verdana"/>
                <a:sym typeface="Verdana"/>
              </a:rPr>
              <a:t>OUTPUT</a:t>
            </a:r>
            <a:endParaRPr b="1" sz="1150" u="sng">
              <a:solidFill>
                <a:schemeClr val="dk1"/>
              </a:solidFill>
              <a:highlight>
                <a:srgbClr val="FFFFFF"/>
              </a:highlight>
              <a:latin typeface="Verdana"/>
              <a:ea typeface="Verdana"/>
              <a:cs typeface="Verdana"/>
              <a:sym typeface="Verdana"/>
            </a:endParaRPr>
          </a:p>
          <a:p>
            <a:pPr indent="0" lvl="0" marL="0" marR="0" rtl="0" algn="l">
              <a:lnSpc>
                <a:spcPct val="100000"/>
              </a:lnSpc>
              <a:spcBef>
                <a:spcPts val="0"/>
              </a:spcBef>
              <a:spcAft>
                <a:spcPts val="0"/>
              </a:spcAft>
              <a:buNone/>
            </a:pPr>
            <a:r>
              <a:rPr lang="en" sz="1150">
                <a:solidFill>
                  <a:schemeClr val="dk1"/>
                </a:solidFill>
                <a:highlight>
                  <a:srgbClr val="FFFFFF"/>
                </a:highlight>
                <a:latin typeface="Verdana"/>
                <a:ea typeface="Verdana"/>
                <a:cs typeface="Verdana"/>
                <a:sym typeface="Verdana"/>
              </a:rPr>
              <a:t>JavaScript HTML Events</a:t>
            </a:r>
            <a:endParaRPr sz="1150">
              <a:solidFill>
                <a:schemeClr val="dk1"/>
              </a:solidFill>
              <a:highlight>
                <a:srgbClr val="FFFFFF"/>
              </a:highlight>
              <a:latin typeface="Verdana"/>
              <a:ea typeface="Verdana"/>
              <a:cs typeface="Verdana"/>
              <a:sym typeface="Verdana"/>
            </a:endParaRPr>
          </a:p>
          <a:p>
            <a:pPr indent="0" lvl="0" marL="0" marR="0" rtl="0" algn="l">
              <a:lnSpc>
                <a:spcPct val="100000"/>
              </a:lnSpc>
              <a:spcBef>
                <a:spcPts val="0"/>
              </a:spcBef>
              <a:spcAft>
                <a:spcPts val="0"/>
              </a:spcAft>
              <a:buNone/>
            </a:pPr>
            <a:r>
              <a:rPr lang="en" sz="1150">
                <a:solidFill>
                  <a:schemeClr val="dk1"/>
                </a:solidFill>
                <a:highlight>
                  <a:srgbClr val="FFFFFF"/>
                </a:highlight>
                <a:latin typeface="Verdana"/>
                <a:ea typeface="Verdana"/>
                <a:cs typeface="Verdana"/>
                <a:sym typeface="Verdana"/>
              </a:rPr>
              <a:t>The onclick Attribute</a:t>
            </a:r>
            <a:endParaRPr sz="1150">
              <a:solidFill>
                <a:schemeClr val="dk1"/>
              </a:solidFill>
              <a:highlight>
                <a:srgbClr val="FFFFFF"/>
              </a:highlight>
              <a:latin typeface="Verdana"/>
              <a:ea typeface="Verdana"/>
              <a:cs typeface="Verdana"/>
              <a:sym typeface="Verdana"/>
            </a:endParaRPr>
          </a:p>
          <a:p>
            <a:pPr indent="0" lvl="0" marL="0" marR="0" rtl="0" algn="l">
              <a:lnSpc>
                <a:spcPct val="100000"/>
              </a:lnSpc>
              <a:spcBef>
                <a:spcPts val="0"/>
              </a:spcBef>
              <a:spcAft>
                <a:spcPts val="0"/>
              </a:spcAft>
              <a:buNone/>
            </a:pPr>
            <a:r>
              <a:rPr lang="en" sz="1150">
                <a:solidFill>
                  <a:schemeClr val="dk1"/>
                </a:solidFill>
                <a:highlight>
                  <a:srgbClr val="FFFFFF"/>
                </a:highlight>
                <a:latin typeface="Verdana"/>
                <a:ea typeface="Verdana"/>
                <a:cs typeface="Verdana"/>
                <a:sym typeface="Verdana"/>
              </a:rPr>
              <a:t>The time is?</a:t>
            </a:r>
            <a:endParaRPr sz="1150">
              <a:solidFill>
                <a:schemeClr val="dk1"/>
              </a:solidFill>
              <a:highlight>
                <a:srgbClr val="FFFFFF"/>
              </a:highlight>
              <a:latin typeface="Verdana"/>
              <a:ea typeface="Verdana"/>
              <a:cs typeface="Verdana"/>
              <a:sym typeface="Verdana"/>
            </a:endParaRPr>
          </a:p>
          <a:p>
            <a:pPr indent="0" lvl="0" marL="0" marR="0" rtl="0" algn="l">
              <a:lnSpc>
                <a:spcPct val="100000"/>
              </a:lnSpc>
              <a:spcBef>
                <a:spcPts val="0"/>
              </a:spcBef>
              <a:spcAft>
                <a:spcPts val="0"/>
              </a:spcAft>
              <a:buNone/>
            </a:pPr>
            <a:r>
              <a:rPr lang="en" sz="1150">
                <a:solidFill>
                  <a:schemeClr val="dk1"/>
                </a:solidFill>
                <a:highlight>
                  <a:srgbClr val="FFFFFF"/>
                </a:highlight>
                <a:latin typeface="Verdana"/>
                <a:ea typeface="Verdana"/>
                <a:cs typeface="Verdana"/>
                <a:sym typeface="Verdana"/>
              </a:rPr>
              <a:t>Wed Jan 29 2025 09:13:52 GMT+0530 (India Standard Time)</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a:p>
            <a:pPr indent="0" lvl="0" marL="0" marR="0" rtl="0" algn="l">
              <a:lnSpc>
                <a:spcPct val="100000"/>
              </a:lnSpc>
              <a:spcBef>
                <a:spcPts val="0"/>
              </a:spcBef>
              <a:spcAft>
                <a:spcPts val="0"/>
              </a:spcAft>
              <a:buNone/>
            </a:pPr>
            <a:r>
              <a:t/>
            </a:r>
            <a:endParaRPr sz="1150">
              <a:solidFill>
                <a:schemeClr val="dk1"/>
              </a:solidFill>
              <a:highlight>
                <a:srgbClr val="FFFFFF"/>
              </a:highlight>
              <a:latin typeface="Verdana"/>
              <a:ea typeface="Verdana"/>
              <a:cs typeface="Verdana"/>
              <a:sym typeface="Verdana"/>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123"/>
          <p:cNvSpPr txBox="1"/>
          <p:nvPr>
            <p:ph idx="1" type="body"/>
          </p:nvPr>
        </p:nvSpPr>
        <p:spPr>
          <a:xfrm>
            <a:off x="311700" y="301200"/>
            <a:ext cx="8520600" cy="42678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150">
                <a:solidFill>
                  <a:schemeClr val="dk1"/>
                </a:solidFill>
                <a:highlight>
                  <a:srgbClr val="FFFFFF"/>
                </a:highlight>
                <a:latin typeface="Verdana"/>
                <a:ea typeface="Verdana"/>
                <a:cs typeface="Verdana"/>
                <a:sym typeface="Verdana"/>
              </a:rPr>
              <a:t>The code changes the content of its own element (using </a:t>
            </a:r>
            <a:r>
              <a:rPr lang="en" sz="1200">
                <a:solidFill>
                  <a:srgbClr val="DC143C"/>
                </a:solidFill>
                <a:latin typeface="Courier New"/>
                <a:ea typeface="Courier New"/>
                <a:cs typeface="Courier New"/>
                <a:sym typeface="Courier New"/>
              </a:rPr>
              <a:t>this.innerHTML</a:t>
            </a:r>
            <a:r>
              <a:rPr lang="en" sz="1150">
                <a:solidFill>
                  <a:schemeClr val="dk1"/>
                </a:solidFill>
                <a:highlight>
                  <a:srgbClr val="FFFFFF"/>
                </a:highlight>
                <a:latin typeface="Verdana"/>
                <a:ea typeface="Verdana"/>
                <a:cs typeface="Verdana"/>
                <a:sym typeface="Verdana"/>
              </a:rPr>
              <a: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&lt;!DOCTYPE html&gt;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&lt;html&gt;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&lt;body&gt;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&lt;h1&gt;JavaScript HTML Events&lt;/h1&gt;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&lt;h2&gt;The onclick Attribute&lt;/h2&gt;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&lt;button onclick="this.innerHTML=Date()"&gt;The time is?&lt;/button&gt;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&lt;/body&gt;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&lt;/html&gt;</a:t>
            </a:r>
            <a:endParaRPr sz="1150">
              <a:solidFill>
                <a:schemeClr val="dk1"/>
              </a:solidFill>
              <a:highlight>
                <a:srgbClr val="FFFFFF"/>
              </a:highlight>
              <a:latin typeface="Verdana"/>
              <a:ea typeface="Verdana"/>
              <a:cs typeface="Verdana"/>
              <a:sym typeface="Verdana"/>
            </a:endParaRPr>
          </a:p>
          <a:p>
            <a:pPr indent="0" lvl="0" marL="0" rtl="0" algn="l">
              <a:lnSpc>
                <a:spcPct val="100000"/>
              </a:lnSpc>
              <a:spcBef>
                <a:spcPts val="0"/>
              </a:spcBef>
              <a:spcAft>
                <a:spcPts val="0"/>
              </a:spcAft>
              <a:buClr>
                <a:schemeClr val="dk1"/>
              </a:buClr>
              <a:buSzPts val="1100"/>
              <a:buFont typeface="Arial"/>
              <a:buNone/>
            </a:pPr>
            <a:r>
              <a:t/>
            </a:r>
            <a:endParaRPr sz="1150">
              <a:solidFill>
                <a:schemeClr val="dk1"/>
              </a:solidFill>
              <a:highlight>
                <a:srgbClr val="FFFFFF"/>
              </a:highlight>
              <a:latin typeface="Verdana"/>
              <a:ea typeface="Verdana"/>
              <a:cs typeface="Verdana"/>
              <a:sym typeface="Verdana"/>
            </a:endParaRPr>
          </a:p>
          <a:p>
            <a:pPr indent="0" lvl="0" marL="0" marR="0" rtl="0" algn="l">
              <a:lnSpc>
                <a:spcPct val="100000"/>
              </a:lnSpc>
              <a:spcBef>
                <a:spcPts val="0"/>
              </a:spcBef>
              <a:spcAft>
                <a:spcPts val="0"/>
              </a:spcAft>
              <a:buNone/>
            </a:pPr>
            <a:r>
              <a:rPr lang="en" sz="1150" u="sng">
                <a:solidFill>
                  <a:schemeClr val="dk1"/>
                </a:solidFill>
                <a:highlight>
                  <a:srgbClr val="FFFFFF"/>
                </a:highlight>
                <a:latin typeface="Verdana"/>
                <a:ea typeface="Verdana"/>
                <a:cs typeface="Verdana"/>
                <a:sym typeface="Verdana"/>
              </a:rPr>
              <a:t>OUTPUT </a:t>
            </a:r>
            <a:r>
              <a:rPr b="1" lang="en" sz="1150" u="sng">
                <a:solidFill>
                  <a:srgbClr val="FF0000"/>
                </a:solidFill>
                <a:highlight>
                  <a:srgbClr val="FFFFFF"/>
                </a:highlight>
                <a:latin typeface="Verdana"/>
                <a:ea typeface="Verdana"/>
                <a:cs typeface="Verdana"/>
                <a:sym typeface="Verdana"/>
              </a:rPr>
              <a:t>SHOW THE OUPUT AND EXPLANATION</a:t>
            </a:r>
            <a:endParaRPr b="1" sz="1150" u="sng">
              <a:solidFill>
                <a:srgbClr val="FF0000"/>
              </a:solidFill>
              <a:highlight>
                <a:srgbClr val="FFFFFF"/>
              </a:highlight>
              <a:latin typeface="Verdana"/>
              <a:ea typeface="Verdana"/>
              <a:cs typeface="Verdana"/>
              <a:sym typeface="Verdana"/>
            </a:endParaRPr>
          </a:p>
        </p:txBody>
      </p:sp>
      <p:pic>
        <p:nvPicPr>
          <p:cNvPr id="615" name="Google Shape;615;p123"/>
          <p:cNvPicPr preferRelativeResize="0"/>
          <p:nvPr/>
        </p:nvPicPr>
        <p:blipFill rotWithShape="1">
          <a:blip r:embed="rId3">
            <a:alphaModFix/>
          </a:blip>
          <a:srcRect b="61560" l="49998" r="28990" t="19432"/>
          <a:stretch/>
        </p:blipFill>
        <p:spPr>
          <a:xfrm>
            <a:off x="792800" y="3005850"/>
            <a:ext cx="1921224" cy="977624"/>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124"/>
          <p:cNvSpPr txBox="1"/>
          <p:nvPr>
            <p:ph idx="1" type="body"/>
          </p:nvPr>
        </p:nvSpPr>
        <p:spPr>
          <a:xfrm>
            <a:off x="311700" y="301200"/>
            <a:ext cx="8520600" cy="45870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ondblclick Event : The </a:t>
            </a:r>
            <a:r>
              <a:rPr lang="en" sz="1200">
                <a:solidFill>
                  <a:srgbClr val="DC143C"/>
                </a:solidFill>
                <a:latin typeface="Times New Roman"/>
                <a:ea typeface="Times New Roman"/>
                <a:cs typeface="Times New Roman"/>
                <a:sym typeface="Times New Roman"/>
              </a:rPr>
              <a:t>ondblclick</a:t>
            </a:r>
            <a:r>
              <a:rPr lang="en" sz="1200">
                <a:solidFill>
                  <a:schemeClr val="dk1"/>
                </a:solidFill>
                <a:highlight>
                  <a:srgbClr val="FFFFFF"/>
                </a:highlight>
                <a:latin typeface="Times New Roman"/>
                <a:ea typeface="Times New Roman"/>
                <a:cs typeface="Times New Roman"/>
                <a:sym typeface="Times New Roman"/>
              </a:rPr>
              <a:t> event occurs when the user double-clicks on an HTML element.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&lt;h1&gt;HTML DOM Events&lt;/h1&gt;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&lt;h2&gt;The ondblclick Event&lt;/h2&gt;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&lt;p ondblclick="myFunction()"&gt;Double-click this paragraph to trigger a function.&lt;/p&gt;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&lt;p id="demo"&gt;&lt;/p&gt;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&lt;script&gt;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function myFunction() {</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  document.getElementById("demo").innerHTML += "Hello World ";</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&lt;/script&gt;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b="1" lang="en" sz="1200">
                <a:solidFill>
                  <a:srgbClr val="FF0000"/>
                </a:solidFill>
                <a:highlight>
                  <a:srgbClr val="FFFFFF"/>
                </a:highlight>
                <a:latin typeface="Times New Roman"/>
                <a:ea typeface="Times New Roman"/>
                <a:cs typeface="Times New Roman"/>
                <a:sym typeface="Times New Roman"/>
              </a:rPr>
              <a:t>OUTPUT</a:t>
            </a:r>
            <a:endParaRPr b="1" sz="1200">
              <a:solidFill>
                <a:srgbClr val="FF0000"/>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b="1" lang="en" sz="1200">
                <a:solidFill>
                  <a:srgbClr val="FF0000"/>
                </a:solidFill>
                <a:highlight>
                  <a:srgbClr val="FFFFFF"/>
                </a:highlight>
                <a:latin typeface="Times New Roman"/>
                <a:ea typeface="Times New Roman"/>
                <a:cs typeface="Times New Roman"/>
                <a:sym typeface="Times New Roman"/>
              </a:rPr>
              <a:t>SHOW </a:t>
            </a:r>
            <a:endParaRPr b="1" sz="1200">
              <a:solidFill>
                <a:srgbClr val="FF0000"/>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80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125"/>
          <p:cNvSpPr txBox="1"/>
          <p:nvPr>
            <p:ph idx="1" type="body"/>
          </p:nvPr>
        </p:nvSpPr>
        <p:spPr>
          <a:xfrm>
            <a:off x="311700" y="301200"/>
            <a:ext cx="8520600" cy="45870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None/>
            </a:pPr>
            <a:r>
              <a:rPr b="1" lang="en" sz="1200" u="sng">
                <a:solidFill>
                  <a:schemeClr val="dk1"/>
                </a:solidFill>
                <a:highlight>
                  <a:srgbClr val="FFFFFF"/>
                </a:highlight>
                <a:latin typeface="Times New Roman"/>
                <a:ea typeface="Times New Roman"/>
                <a:cs typeface="Times New Roman"/>
                <a:sym typeface="Times New Roman"/>
              </a:rPr>
              <a:t>onmouseover Event : </a:t>
            </a:r>
            <a:r>
              <a:rPr lang="en" sz="1200">
                <a:solidFill>
                  <a:schemeClr val="dk1"/>
                </a:solidFill>
                <a:highlight>
                  <a:srgbClr val="FFFFFF"/>
                </a:highlight>
                <a:latin typeface="Times New Roman"/>
                <a:ea typeface="Times New Roman"/>
                <a:cs typeface="Times New Roman"/>
                <a:sym typeface="Times New Roman"/>
              </a:rPr>
              <a:t>The onmouseover event occurs when the mouse pointer enters an element. The onmouseover event is often used together with the </a:t>
            </a:r>
            <a:r>
              <a:rPr lang="en" sz="1200">
                <a:solidFill>
                  <a:schemeClr val="dk1"/>
                </a:solidFill>
                <a:highlight>
                  <a:srgbClr val="FFFFFF"/>
                </a:highlight>
                <a:uFill>
                  <a:noFill/>
                </a:uFill>
                <a:latin typeface="Times New Roman"/>
                <a:ea typeface="Times New Roman"/>
                <a:cs typeface="Times New Roman"/>
                <a:sym typeface="Times New Roman"/>
                <a:hlinkClick r:id="rId3">
                  <a:extLst>
                    <a:ext uri="{A12FA001-AC4F-418D-AE19-62706E023703}">
                      <ahyp:hlinkClr val="tx"/>
                    </a:ext>
                  </a:extLst>
                </a:hlinkClick>
              </a:rPr>
              <a:t>onmouseout</a:t>
            </a:r>
            <a:r>
              <a:rPr lang="en" sz="1200">
                <a:solidFill>
                  <a:schemeClr val="dk1"/>
                </a:solidFill>
                <a:highlight>
                  <a:srgbClr val="FFFFFF"/>
                </a:highlight>
                <a:latin typeface="Times New Roman"/>
                <a:ea typeface="Times New Roman"/>
                <a:cs typeface="Times New Roman"/>
                <a:sym typeface="Times New Roman"/>
              </a:rPr>
              <a:t> event, which occurs when the mouse pointer leaves the element.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Syntax In HTML:</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30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&lt;element onmouseover="myScript"&gt;</a:t>
            </a:r>
            <a:endParaRPr sz="1200">
              <a:solidFill>
                <a:schemeClr val="dk1"/>
              </a:solidFill>
              <a:highlight>
                <a:srgbClr val="FFFFFF"/>
              </a:highlight>
              <a:latin typeface="Times New Roman"/>
              <a:ea typeface="Times New Roman"/>
              <a:cs typeface="Times New Roman"/>
              <a:sym typeface="Times New Roman"/>
            </a:endParaRPr>
          </a:p>
          <a:p>
            <a:pPr indent="0" lvl="0" marL="114300" marR="114300" rtl="0" algn="l">
              <a:spcBef>
                <a:spcPts val="3000"/>
              </a:spcBef>
              <a:spcAft>
                <a:spcPts val="0"/>
              </a:spcAft>
              <a:buNone/>
            </a:pPr>
            <a:r>
              <a:t/>
            </a:r>
            <a:endParaRPr sz="1150">
              <a:solidFill>
                <a:schemeClr val="dk1"/>
              </a:solidFill>
              <a:highlight>
                <a:srgbClr val="FFFFFF"/>
              </a:highlight>
              <a:latin typeface="Courier New"/>
              <a:ea typeface="Courier New"/>
              <a:cs typeface="Courier New"/>
              <a:sym typeface="Courier New"/>
            </a:endParaRPr>
          </a:p>
          <a:p>
            <a:pPr indent="0" lvl="0" marL="114300" marR="114300" rtl="0" algn="l">
              <a:lnSpc>
                <a:spcPct val="100000"/>
              </a:lnSpc>
              <a:spcBef>
                <a:spcPts val="300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300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80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26"/>
          <p:cNvSpPr txBox="1"/>
          <p:nvPr>
            <p:ph idx="1" type="body"/>
          </p:nvPr>
        </p:nvSpPr>
        <p:spPr>
          <a:xfrm>
            <a:off x="311700" y="301200"/>
            <a:ext cx="8520600" cy="4587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&lt;h1&gt;HTML DOM Events&lt;/h1&gt;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&lt;h2&gt;The onmouseover Event&lt;/h2&gt;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&lt;p&gt;Assign an "onmouseover" and "onmouseout" event to a h1 element.&lt;/p&gt;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&lt;h1 id="demo" onmouseover="mouseOver()" onmouseout="mouseOut()"&gt;Mouse over me&lt;/h1&gt;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&lt;script&gt;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function mouseOver() {</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  document.getElementById("demo").style.color = "red";</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function mouseOut() {</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  document.getElementById("demo").style.color = "black";</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&lt;/script&gt;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p:txBody>
      </p:sp>
      <p:pic>
        <p:nvPicPr>
          <p:cNvPr id="631" name="Google Shape;631;p126"/>
          <p:cNvPicPr preferRelativeResize="0"/>
          <p:nvPr/>
        </p:nvPicPr>
        <p:blipFill rotWithShape="1">
          <a:blip r:embed="rId3">
            <a:alphaModFix/>
          </a:blip>
          <a:srcRect b="58156" l="50001" r="18455" t="19574"/>
          <a:stretch/>
        </p:blipFill>
        <p:spPr>
          <a:xfrm>
            <a:off x="5702825" y="2414900"/>
            <a:ext cx="2884248" cy="1145424"/>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127"/>
          <p:cNvSpPr txBox="1"/>
          <p:nvPr>
            <p:ph idx="1" type="body"/>
          </p:nvPr>
        </p:nvSpPr>
        <p:spPr>
          <a:xfrm>
            <a:off x="311700" y="301200"/>
            <a:ext cx="8520600" cy="45870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onmouseout Event : The </a:t>
            </a:r>
            <a:r>
              <a:rPr lang="en" sz="1200">
                <a:solidFill>
                  <a:srgbClr val="DC143C"/>
                </a:solidFill>
                <a:latin typeface="Times New Roman"/>
                <a:ea typeface="Times New Roman"/>
                <a:cs typeface="Times New Roman"/>
                <a:sym typeface="Times New Roman"/>
              </a:rPr>
              <a:t>onmouseout</a:t>
            </a:r>
            <a:r>
              <a:rPr lang="en" sz="1200">
                <a:solidFill>
                  <a:schemeClr val="dk1"/>
                </a:solidFill>
                <a:highlight>
                  <a:srgbClr val="FFFFFF"/>
                </a:highlight>
                <a:latin typeface="Times New Roman"/>
                <a:ea typeface="Times New Roman"/>
                <a:cs typeface="Times New Roman"/>
                <a:sym typeface="Times New Roman"/>
              </a:rPr>
              <a:t> event occurs when the mouse pointer moves out of an element.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&lt;h1&gt;HTML DOM Events&lt;/h1&gt;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&lt;h2&gt;The onmouseover Event&lt;/h2&gt;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&lt;img onmouseover="bigImg(this)" onmouseout="normalImg(this)" border="0" src="C:/Users/F4/Desktop/SMILEY.GIF" alt="Smiley" width="32" height="32"&gt;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&lt;p&gt;The function bigImg() is triggered when the user moves the mouse pointer over the image.&lt;/p&gt;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&lt;p&gt;The function normalImg() is triggered when the mouse pointer is moved out of the image.&lt;/p&gt;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&lt;script&gt;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function bigImg(x) {</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  x.style.height = "64px";</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  x.style.width = "64px";</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function normalImg(x) {</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  x.style.height = "32px";</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  x.style.width = "32px";</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&lt;/script&gt;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p:txBody>
      </p:sp>
      <p:pic>
        <p:nvPicPr>
          <p:cNvPr id="637" name="Google Shape;637;p127"/>
          <p:cNvPicPr preferRelativeResize="0"/>
          <p:nvPr/>
        </p:nvPicPr>
        <p:blipFill rotWithShape="1">
          <a:blip r:embed="rId3">
            <a:alphaModFix/>
          </a:blip>
          <a:srcRect b="54466" l="50000" r="17818" t="21703"/>
          <a:stretch/>
        </p:blipFill>
        <p:spPr>
          <a:xfrm>
            <a:off x="4426100" y="2859950"/>
            <a:ext cx="2942626" cy="1225676"/>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128"/>
          <p:cNvSpPr txBox="1"/>
          <p:nvPr>
            <p:ph idx="1" type="body"/>
          </p:nvPr>
        </p:nvSpPr>
        <p:spPr>
          <a:xfrm>
            <a:off x="311700" y="301200"/>
            <a:ext cx="8520600" cy="45870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None/>
            </a:pPr>
            <a:r>
              <a:rPr b="1" lang="en" sz="1200" u="sng">
                <a:solidFill>
                  <a:schemeClr val="dk1"/>
                </a:solidFill>
                <a:highlight>
                  <a:srgbClr val="FFFFFF"/>
                </a:highlight>
                <a:latin typeface="Times New Roman"/>
                <a:ea typeface="Times New Roman"/>
                <a:cs typeface="Times New Roman"/>
                <a:sym typeface="Times New Roman"/>
              </a:rPr>
              <a:t>KeyboardEvent </a:t>
            </a:r>
            <a:r>
              <a:rPr lang="en" sz="1200">
                <a:solidFill>
                  <a:schemeClr val="dk1"/>
                </a:solidFill>
                <a:highlight>
                  <a:srgbClr val="FFFFFF"/>
                </a:highlight>
                <a:latin typeface="Times New Roman"/>
                <a:ea typeface="Times New Roman"/>
                <a:cs typeface="Times New Roman"/>
                <a:sym typeface="Times New Roman"/>
              </a:rPr>
              <a:t>: The KeyboardEvent Object handles events that occur when a user presses a key on the keyboard.</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onkeypress Event : Call a function when the user presses a key</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&lt;h1&gt;HTML DOM Events&lt;/h1&gt;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&lt;h2&gt;The onkeypress Event&lt;/h2&gt;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&lt;p&gt;A function is triggered when the user is pressing a key in the input field.&lt;/p&gt;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&lt;input type="text" onkeypress="myFunction()"&gt;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&lt;script&gt;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function myFunction() {</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  alert("You pressed a key inside the input field");</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a:t>
            </a:r>
            <a:r>
              <a:rPr lang="en" sz="1200">
                <a:solidFill>
                  <a:schemeClr val="dk1"/>
                </a:solidFill>
                <a:highlight>
                  <a:srgbClr val="FFFFFF"/>
                </a:highlight>
                <a:latin typeface="Times New Roman"/>
                <a:ea typeface="Times New Roman"/>
                <a:cs typeface="Times New Roman"/>
                <a:sym typeface="Times New Roman"/>
              </a:rPr>
              <a:t>/</a:t>
            </a:r>
            <a:r>
              <a:rPr lang="en" sz="1200">
                <a:solidFill>
                  <a:schemeClr val="dk1"/>
                </a:solidFill>
                <a:highlight>
                  <a:srgbClr val="FFFFFF"/>
                </a:highlight>
                <a:latin typeface="Times New Roman"/>
                <a:ea typeface="Times New Roman"/>
                <a:cs typeface="Times New Roman"/>
                <a:sym typeface="Times New Roman"/>
              </a:rPr>
              <a:t>script&gt;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80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80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p:txBody>
      </p:sp>
      <p:pic>
        <p:nvPicPr>
          <p:cNvPr id="643" name="Google Shape;643;p128"/>
          <p:cNvPicPr preferRelativeResize="0"/>
          <p:nvPr/>
        </p:nvPicPr>
        <p:blipFill rotWithShape="1">
          <a:blip r:embed="rId3">
            <a:alphaModFix/>
          </a:blip>
          <a:srcRect b="57873" l="37737" r="24362" t="5247"/>
          <a:stretch/>
        </p:blipFill>
        <p:spPr>
          <a:xfrm>
            <a:off x="4771400" y="2670250"/>
            <a:ext cx="3465499" cy="1896874"/>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29"/>
          <p:cNvSpPr txBox="1"/>
          <p:nvPr>
            <p:ph idx="1" type="body"/>
          </p:nvPr>
        </p:nvSpPr>
        <p:spPr>
          <a:xfrm>
            <a:off x="311700" y="301200"/>
            <a:ext cx="8520600" cy="45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onkeyup Event :  Call a function when the user releases a key:</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&lt;h1&gt;HTML DOM Events&lt;/h1&gt;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&lt;h2&gt;The keyup Event&lt;/h2&gt;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&lt;p&gt;A function is triggered when the user releases a key in the input field.&lt;/p&gt;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&lt;p&gt;The function transforms the input field to upper case:&lt;/p&gt;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Enter your name: &lt;input type="text" id="fname" onkeyup="myFunction()"&gt;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&lt;script&gt;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function myFunction() {</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  let x = document.getElementById("fname");</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  x.value = x.value.toUpperCase();</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&lt;/script&gt;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800"/>
              </a:spcBef>
              <a:spcAft>
                <a:spcPts val="800"/>
              </a:spcAft>
              <a:buNone/>
            </a:pPr>
            <a:r>
              <a:t/>
            </a:r>
            <a:endParaRPr sz="1200">
              <a:solidFill>
                <a:schemeClr val="dk1"/>
              </a:solidFill>
              <a:highlight>
                <a:srgbClr val="FFFFFF"/>
              </a:highlight>
              <a:latin typeface="Times New Roman"/>
              <a:ea typeface="Times New Roman"/>
              <a:cs typeface="Times New Roman"/>
              <a:sym typeface="Times New Roman"/>
            </a:endParaRPr>
          </a:p>
        </p:txBody>
      </p:sp>
      <p:pic>
        <p:nvPicPr>
          <p:cNvPr id="649" name="Google Shape;649;p129"/>
          <p:cNvPicPr preferRelativeResize="0"/>
          <p:nvPr/>
        </p:nvPicPr>
        <p:blipFill rotWithShape="1">
          <a:blip r:embed="rId3">
            <a:alphaModFix/>
          </a:blip>
          <a:srcRect b="55035" l="50000" r="24840" t="21703"/>
          <a:stretch/>
        </p:blipFill>
        <p:spPr>
          <a:xfrm>
            <a:off x="5119175" y="2378400"/>
            <a:ext cx="2300602" cy="119650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130"/>
          <p:cNvSpPr txBox="1"/>
          <p:nvPr>
            <p:ph idx="1" type="body"/>
          </p:nvPr>
        </p:nvSpPr>
        <p:spPr>
          <a:xfrm>
            <a:off x="311700" y="301200"/>
            <a:ext cx="8520600" cy="45870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None/>
            </a:pPr>
            <a:r>
              <a:rPr b="1" lang="en" sz="1200" u="sng">
                <a:solidFill>
                  <a:schemeClr val="dk1"/>
                </a:solidFill>
                <a:highlight>
                  <a:srgbClr val="FFFFFF"/>
                </a:highlight>
                <a:latin typeface="Times New Roman"/>
                <a:ea typeface="Times New Roman"/>
                <a:cs typeface="Times New Roman"/>
                <a:sym typeface="Times New Roman"/>
              </a:rPr>
              <a:t>onkeydown Event </a:t>
            </a:r>
            <a:r>
              <a:rPr lang="en" sz="1200">
                <a:solidFill>
                  <a:schemeClr val="dk1"/>
                </a:solidFill>
                <a:highlight>
                  <a:srgbClr val="FFFFFF"/>
                </a:highlight>
                <a:latin typeface="Times New Roman"/>
                <a:ea typeface="Times New Roman"/>
                <a:cs typeface="Times New Roman"/>
                <a:sym typeface="Times New Roman"/>
              </a:rPr>
              <a:t>: Call a function when the user presses a key:</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&lt;h1&gt;HTML DOM Events&lt;/h1&gt;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&lt;h2&gt;The onkeydown Event&lt;/h2&gt;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&lt;p&gt;Press a key in the input field:&lt;/p&gt;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&lt;input type="text" onkeydown="myFunction()"&gt;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&lt;p id="demo"&gt;&lt;/p&gt;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&lt;script&gt;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function myFunction() {</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  document.getElementById("demo").innerHTML = "You pressed a key inside the input field";</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a:t>
            </a:r>
            <a:r>
              <a:rPr lang="en" sz="1200">
                <a:solidFill>
                  <a:schemeClr val="dk1"/>
                </a:solidFill>
                <a:highlight>
                  <a:srgbClr val="FFFFFF"/>
                </a:highlight>
                <a:latin typeface="Times New Roman"/>
                <a:ea typeface="Times New Roman"/>
                <a:cs typeface="Times New Roman"/>
                <a:sym typeface="Times New Roman"/>
              </a:rPr>
              <a:t>/</a:t>
            </a:r>
            <a:r>
              <a:rPr lang="en" sz="1200">
                <a:solidFill>
                  <a:schemeClr val="dk1"/>
                </a:solidFill>
                <a:highlight>
                  <a:srgbClr val="FFFFFF"/>
                </a:highlight>
                <a:latin typeface="Times New Roman"/>
                <a:ea typeface="Times New Roman"/>
                <a:cs typeface="Times New Roman"/>
                <a:sym typeface="Times New Roman"/>
              </a:rPr>
              <a:t>script&gt;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&lt;/body&gt;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lang="en" sz="1200">
                <a:solidFill>
                  <a:schemeClr val="dk1"/>
                </a:solidFill>
                <a:highlight>
                  <a:srgbClr val="FFFFFF"/>
                </a:highlight>
                <a:latin typeface="Times New Roman"/>
                <a:ea typeface="Times New Roman"/>
                <a:cs typeface="Times New Roman"/>
                <a:sym typeface="Times New Roman"/>
              </a:rPr>
              <a:t>&lt;/html&gt;</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Clr>
                <a:schemeClr val="dk1"/>
              </a:buClr>
              <a:buSzPts val="1100"/>
              <a:buFont typeface="Arial"/>
              <a:buNone/>
            </a:pPr>
            <a:r>
              <a:t/>
            </a:r>
            <a:endParaRPr sz="12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800"/>
              </a:spcBef>
              <a:spcAft>
                <a:spcPts val="800"/>
              </a:spcAft>
              <a:buNone/>
            </a:pPr>
            <a:r>
              <a:t/>
            </a:r>
            <a:endParaRPr sz="1200">
              <a:solidFill>
                <a:schemeClr val="dk1"/>
              </a:solidFill>
              <a:highlight>
                <a:srgbClr val="FFFFFF"/>
              </a:highlight>
              <a:latin typeface="Times New Roman"/>
              <a:ea typeface="Times New Roman"/>
              <a:cs typeface="Times New Roman"/>
              <a:sym typeface="Times New Roman"/>
            </a:endParaRPr>
          </a:p>
        </p:txBody>
      </p:sp>
      <p:pic>
        <p:nvPicPr>
          <p:cNvPr id="655" name="Google Shape;655;p130"/>
          <p:cNvPicPr preferRelativeResize="0"/>
          <p:nvPr/>
        </p:nvPicPr>
        <p:blipFill rotWithShape="1">
          <a:blip r:embed="rId3">
            <a:alphaModFix/>
          </a:blip>
          <a:srcRect b="53474" l="49999" r="31782" t="19858"/>
          <a:stretch/>
        </p:blipFill>
        <p:spPr>
          <a:xfrm>
            <a:off x="4572000" y="1021400"/>
            <a:ext cx="1665850" cy="137160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131"/>
          <p:cNvSpPr txBox="1"/>
          <p:nvPr>
            <p:ph idx="1" type="body"/>
          </p:nvPr>
        </p:nvSpPr>
        <p:spPr>
          <a:xfrm>
            <a:off x="311700" y="301200"/>
            <a:ext cx="8520600" cy="4587000"/>
          </a:xfrm>
          <a:prstGeom prst="rect">
            <a:avLst/>
          </a:prstGeom>
        </p:spPr>
        <p:txBody>
          <a:bodyPr anchorCtr="0" anchor="t" bIns="91425" lIns="91425" spcFirstLastPara="1" rIns="91425" wrap="square" tIns="91425">
            <a:noAutofit/>
          </a:bodyPr>
          <a:lstStyle/>
          <a:p>
            <a:pPr indent="0" lvl="0" marL="0" marR="0" rtl="0" algn="l">
              <a:lnSpc>
                <a:spcPct val="115000"/>
              </a:lnSpc>
              <a:spcBef>
                <a:spcPts val="800"/>
              </a:spcBef>
              <a:spcAft>
                <a:spcPts val="0"/>
              </a:spcAft>
              <a:buNone/>
            </a:pPr>
            <a:r>
              <a:rPr lang="en" sz="2400" u="sng">
                <a:solidFill>
                  <a:schemeClr val="dk1"/>
                </a:solidFill>
                <a:highlight>
                  <a:srgbClr val="FFFFFF"/>
                </a:highlight>
                <a:latin typeface="Times New Roman"/>
                <a:ea typeface="Times New Roman"/>
                <a:cs typeface="Times New Roman"/>
                <a:sym typeface="Times New Roman"/>
              </a:rPr>
              <a:t>BROWSER EVENTS : </a:t>
            </a:r>
            <a:r>
              <a:rPr lang="en" sz="2400">
                <a:solidFill>
                  <a:srgbClr val="474747"/>
                </a:solidFill>
                <a:highlight>
                  <a:srgbClr val="FFFFFF"/>
                </a:highlight>
                <a:latin typeface="Times New Roman"/>
                <a:ea typeface="Times New Roman"/>
                <a:cs typeface="Times New Roman"/>
                <a:sym typeface="Times New Roman"/>
              </a:rPr>
              <a:t>Events are </a:t>
            </a:r>
            <a:r>
              <a:rPr lang="en" sz="2400">
                <a:solidFill>
                  <a:srgbClr val="040C28"/>
                </a:solidFill>
                <a:highlight>
                  <a:srgbClr val="D3E3FD"/>
                </a:highlight>
                <a:latin typeface="Times New Roman"/>
                <a:ea typeface="Times New Roman"/>
                <a:cs typeface="Times New Roman"/>
                <a:sym typeface="Times New Roman"/>
              </a:rPr>
              <a:t>fired inside the browser window, and tend to be attached to a specific item that resides in it</a:t>
            </a:r>
            <a:r>
              <a:rPr lang="en" sz="2400">
                <a:solidFill>
                  <a:srgbClr val="474747"/>
                </a:solidFill>
                <a:highlight>
                  <a:srgbClr val="FFFFFF"/>
                </a:highlight>
                <a:latin typeface="Times New Roman"/>
                <a:ea typeface="Times New Roman"/>
                <a:cs typeface="Times New Roman"/>
                <a:sym typeface="Times New Roman"/>
              </a:rPr>
              <a:t>. This might be a single element, a set of elements, the HTML document loaded in the current tab, or the entire browser window. There are many different types of events that can occur.</a:t>
            </a:r>
            <a:endParaRPr sz="2400">
              <a:solidFill>
                <a:srgbClr val="474747"/>
              </a:solidFill>
              <a:highlight>
                <a:srgbClr val="FFFFFF"/>
              </a:highlight>
              <a:latin typeface="Times New Roman"/>
              <a:ea typeface="Times New Roman"/>
              <a:cs typeface="Times New Roman"/>
              <a:sym typeface="Times New Roman"/>
            </a:endParaRPr>
          </a:p>
          <a:p>
            <a:pPr indent="0" lvl="0" marL="0" rtl="0" algn="l">
              <a:spcBef>
                <a:spcPts val="800"/>
              </a:spcBef>
              <a:spcAft>
                <a:spcPts val="0"/>
              </a:spcAft>
              <a:buNone/>
            </a:pPr>
            <a:r>
              <a:rPr b="1" lang="en">
                <a:solidFill>
                  <a:schemeClr val="dk1"/>
                </a:solidFill>
                <a:highlight>
                  <a:srgbClr val="FFFFFF"/>
                </a:highlight>
                <a:latin typeface="Times New Roman"/>
                <a:ea typeface="Times New Roman"/>
                <a:cs typeface="Times New Roman"/>
                <a:sym typeface="Times New Roman"/>
              </a:rPr>
              <a:t>onload Event Attribute</a:t>
            </a:r>
            <a:endParaRPr b="1">
              <a:solidFill>
                <a:schemeClr val="dk1"/>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The onload attribute fires when an object has been loaded.</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onload is most often used within the &lt;body&gt; element to execute a script once a web page has completely loaded all content (including images, script files, CSS files, etc.)</a:t>
            </a:r>
            <a:endParaRPr>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1400"/>
              </a:spcBef>
              <a:spcAft>
                <a:spcPts val="800"/>
              </a:spcAft>
              <a:buNone/>
            </a:pPr>
            <a:r>
              <a:t/>
            </a:r>
            <a:endParaRPr sz="2400">
              <a:solidFill>
                <a:srgbClr val="474747"/>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132"/>
          <p:cNvSpPr txBox="1"/>
          <p:nvPr>
            <p:ph idx="1" type="body"/>
          </p:nvPr>
        </p:nvSpPr>
        <p:spPr>
          <a:xfrm>
            <a:off x="311700" y="301200"/>
            <a:ext cx="8520600" cy="45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&lt;html&gt;</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&lt;head&gt;</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&lt;script&gt;</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function myFunction() {</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  alert("Page is loaded");</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&lt;/script&gt;</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&lt;/head&gt;</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&lt;body onload="myFunction()"&gt;</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&lt;h1&gt;Hello World!&lt;/h1&gt;</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&lt;/body&gt;</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&lt;/html&gt;</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t/>
            </a:r>
            <a:endParaRPr>
              <a:solidFill>
                <a:schemeClr val="dk1"/>
              </a:solidFill>
              <a:highlight>
                <a:srgbClr val="FFFFFF"/>
              </a:highlight>
              <a:latin typeface="Times New Roman"/>
              <a:ea typeface="Times New Roman"/>
              <a:cs typeface="Times New Roman"/>
              <a:sym typeface="Times New Roman"/>
            </a:endParaRPr>
          </a:p>
        </p:txBody>
      </p:sp>
      <p:pic>
        <p:nvPicPr>
          <p:cNvPr id="666" name="Google Shape;666;p132"/>
          <p:cNvPicPr preferRelativeResize="0"/>
          <p:nvPr/>
        </p:nvPicPr>
        <p:blipFill rotWithShape="1">
          <a:blip r:embed="rId3">
            <a:alphaModFix/>
          </a:blip>
          <a:srcRect b="69729" l="30342" r="28006" t="8121"/>
          <a:stretch/>
        </p:blipFill>
        <p:spPr>
          <a:xfrm>
            <a:off x="4148825" y="1897725"/>
            <a:ext cx="3808551" cy="113865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133"/>
          <p:cNvSpPr txBox="1"/>
          <p:nvPr>
            <p:ph idx="1" type="body"/>
          </p:nvPr>
        </p:nvSpPr>
        <p:spPr>
          <a:xfrm>
            <a:off x="311700" y="301200"/>
            <a:ext cx="8520600" cy="45870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onunload Event</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The onunload event occurs once a page has unloaded (or the browser window has been closed).</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None/>
            </a:pPr>
            <a:r>
              <a:rPr lang="en" sz="2400">
                <a:solidFill>
                  <a:schemeClr val="dk1"/>
                </a:solidFill>
                <a:highlight>
                  <a:srgbClr val="FFFFFF"/>
                </a:highlight>
                <a:latin typeface="Times New Roman"/>
                <a:ea typeface="Times New Roman"/>
                <a:cs typeface="Times New Roman"/>
                <a:sym typeface="Times New Roman"/>
              </a:rPr>
              <a:t>onunload occurs when the user navigates away from the page (by clicking on a link, submitting a form, closing the browser window, etc.).</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lang="en" sz="2400">
                <a:solidFill>
                  <a:schemeClr val="dk1"/>
                </a:solidFill>
                <a:highlight>
                  <a:srgbClr val="FFFFFF"/>
                </a:highlight>
                <a:latin typeface="Times New Roman"/>
                <a:ea typeface="Times New Roman"/>
                <a:cs typeface="Times New Roman"/>
                <a:sym typeface="Times New Roman"/>
              </a:rPr>
              <a:t>Syntax In HTML:</a:t>
            </a:r>
            <a:endParaRPr sz="2400">
              <a:solidFill>
                <a:schemeClr val="dk1"/>
              </a:solidFill>
              <a:highlight>
                <a:srgbClr val="FFFFFF"/>
              </a:highlight>
              <a:latin typeface="Times New Roman"/>
              <a:ea typeface="Times New Roman"/>
              <a:cs typeface="Times New Roman"/>
              <a:sym typeface="Times New Roman"/>
            </a:endParaRPr>
          </a:p>
          <a:p>
            <a:pPr indent="0" lvl="0" marL="114300" marR="114300" rtl="0" algn="l">
              <a:lnSpc>
                <a:spcPct val="100000"/>
              </a:lnSpc>
              <a:spcBef>
                <a:spcPts val="3000"/>
              </a:spcBef>
              <a:spcAft>
                <a:spcPts val="0"/>
              </a:spcAft>
              <a:buNone/>
            </a:pPr>
            <a:r>
              <a:rPr lang="en" sz="2400">
                <a:solidFill>
                  <a:schemeClr val="dk1"/>
                </a:solidFill>
                <a:highlight>
                  <a:srgbClr val="FFFFFF"/>
                </a:highlight>
                <a:latin typeface="Times New Roman"/>
                <a:ea typeface="Times New Roman"/>
                <a:cs typeface="Times New Roman"/>
                <a:sym typeface="Times New Roman"/>
              </a:rPr>
              <a:t>&lt;element onunload="myScript"&gt;</a:t>
            </a:r>
            <a:endParaRPr>
              <a:solidFill>
                <a:srgbClr val="0000CD"/>
              </a:solidFill>
              <a:highlight>
                <a:srgbClr val="FFFFFF"/>
              </a:highlight>
              <a:latin typeface="Courier New"/>
              <a:ea typeface="Courier New"/>
              <a:cs typeface="Courier New"/>
              <a:sym typeface="Courier New"/>
            </a:endParaRPr>
          </a:p>
          <a:p>
            <a:pPr indent="0" lvl="0" marL="0" rtl="0" algn="l">
              <a:spcBef>
                <a:spcPts val="3000"/>
              </a:spcBef>
              <a:spcAft>
                <a:spcPts val="0"/>
              </a:spcAft>
              <a:buClr>
                <a:schemeClr val="dk1"/>
              </a:buClr>
              <a:buSzPts val="1100"/>
              <a:buFont typeface="Arial"/>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15000"/>
              </a:lnSpc>
              <a:spcBef>
                <a:spcPts val="14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134"/>
          <p:cNvSpPr txBox="1"/>
          <p:nvPr>
            <p:ph idx="1" type="body"/>
          </p:nvPr>
        </p:nvSpPr>
        <p:spPr>
          <a:xfrm>
            <a:off x="311700" y="301200"/>
            <a:ext cx="8520600" cy="4587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&lt;html&gt;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&lt;body onunload="myFunction()"&gt;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&lt;h1&gt;Welcome to my Home Page&lt;/h1&gt;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&lt;p&gt;Close this window or press F5 to reload the page.&lt;/p&gt;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&lt;p&gt;&lt;strong&gt;Note:&lt;/strong&gt; Due to different browser settings, this event may not always work as expected.&lt;/p&gt;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&lt;script&gt;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function myFunction() {</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  alert("Thank you for visiting!");</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&lt;/script&gt;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&lt;/body&gt;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&lt;/html&gt;</a:t>
            </a:r>
            <a:endParaRPr>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a:solidFill>
                <a:schemeClr val="dk1"/>
              </a:solidFill>
              <a:highlight>
                <a:srgbClr val="FFFFFF"/>
              </a:highlight>
              <a:latin typeface="Times New Roman"/>
              <a:ea typeface="Times New Roman"/>
              <a:cs typeface="Times New Roman"/>
              <a:sym typeface="Times New Roman"/>
            </a:endParaRPr>
          </a:p>
        </p:txBody>
      </p:sp>
      <p:pic>
        <p:nvPicPr>
          <p:cNvPr id="677" name="Google Shape;677;p134"/>
          <p:cNvPicPr preferRelativeResize="0"/>
          <p:nvPr/>
        </p:nvPicPr>
        <p:blipFill rotWithShape="1">
          <a:blip r:embed="rId3">
            <a:alphaModFix/>
          </a:blip>
          <a:srcRect b="44271" l="50000" r="0" t="27979"/>
          <a:stretch/>
        </p:blipFill>
        <p:spPr>
          <a:xfrm>
            <a:off x="4768300" y="2499775"/>
            <a:ext cx="3921974" cy="1426575"/>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135"/>
          <p:cNvSpPr txBox="1"/>
          <p:nvPr>
            <p:ph idx="1" type="body"/>
          </p:nvPr>
        </p:nvSpPr>
        <p:spPr>
          <a:xfrm>
            <a:off x="311700" y="301200"/>
            <a:ext cx="8520600" cy="45870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onsubmit Event</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800"/>
              </a:spcBef>
              <a:spcAft>
                <a:spcPts val="0"/>
              </a:spcAft>
              <a:buNone/>
            </a:pPr>
            <a:r>
              <a:rPr lang="en" sz="2400">
                <a:solidFill>
                  <a:schemeClr val="dk1"/>
                </a:solidFill>
                <a:highlight>
                  <a:srgbClr val="FFFFFF"/>
                </a:highlight>
                <a:latin typeface="Times New Roman"/>
                <a:ea typeface="Times New Roman"/>
                <a:cs typeface="Times New Roman"/>
                <a:sym typeface="Times New Roman"/>
              </a:rPr>
              <a:t>The onsubmit event occurs when a form is submitted.</a:t>
            </a:r>
            <a:endParaRPr sz="2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136"/>
          <p:cNvSpPr txBox="1"/>
          <p:nvPr>
            <p:ph idx="1" type="body"/>
          </p:nvPr>
        </p:nvSpPr>
        <p:spPr>
          <a:xfrm>
            <a:off x="311700" y="301200"/>
            <a:ext cx="8520600" cy="4587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&lt;html&gt;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&lt;body&gt;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&lt;p&gt;When you submit the form, a function is triggered which alerts some text.&lt;/p&gt;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&lt;form action="/action_page.php" onsubmit="myFunction()"&gt;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  Enter name: &lt;input type="text" name="fname"&gt;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  &lt;input type="submit" value="Submit"&gt;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&lt;/form&gt;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&lt;script&gt;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function myFunction() {</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  alert("The form was submitted");</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&lt;/script&gt;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&lt;/body&gt;</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highlight>
                  <a:srgbClr val="FFFFFF"/>
                </a:highlight>
                <a:latin typeface="Times New Roman"/>
                <a:ea typeface="Times New Roman"/>
                <a:cs typeface="Times New Roman"/>
                <a:sym typeface="Times New Roman"/>
              </a:rPr>
              <a:t>&lt;/html&gt;</a:t>
            </a:r>
            <a:endParaRPr>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a:solidFill>
                <a:schemeClr val="dk1"/>
              </a:solidFill>
              <a:highlight>
                <a:srgbClr val="FFFFFF"/>
              </a:highlight>
              <a:latin typeface="Times New Roman"/>
              <a:ea typeface="Times New Roman"/>
              <a:cs typeface="Times New Roman"/>
              <a:sym typeface="Times New Roman"/>
            </a:endParaRPr>
          </a:p>
        </p:txBody>
      </p:sp>
      <p:pic>
        <p:nvPicPr>
          <p:cNvPr id="688" name="Google Shape;688;p136"/>
          <p:cNvPicPr preferRelativeResize="0"/>
          <p:nvPr/>
        </p:nvPicPr>
        <p:blipFill rotWithShape="1">
          <a:blip r:embed="rId3">
            <a:alphaModFix/>
          </a:blip>
          <a:srcRect b="47833" l="50000" r="12976" t="28490"/>
          <a:stretch/>
        </p:blipFill>
        <p:spPr>
          <a:xfrm>
            <a:off x="4572000" y="2696075"/>
            <a:ext cx="3385375" cy="1217174"/>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137"/>
          <p:cNvSpPr txBox="1"/>
          <p:nvPr>
            <p:ph idx="1" type="body"/>
          </p:nvPr>
        </p:nvSpPr>
        <p:spPr>
          <a:xfrm>
            <a:off x="311700" y="301200"/>
            <a:ext cx="8520600" cy="45870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Form Validation</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HTML form validation can be done by JavaScript.</a:t>
            </a:r>
            <a:endParaRPr sz="2400">
              <a:solidFill>
                <a:schemeClr val="dk1"/>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If a form field (fname) is empty, this function alerts a message, and returns false, to prevent the form from being submitted:</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140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138"/>
          <p:cNvSpPr txBox="1"/>
          <p:nvPr>
            <p:ph idx="1" type="body"/>
          </p:nvPr>
        </p:nvSpPr>
        <p:spPr>
          <a:xfrm>
            <a:off x="311700" y="301200"/>
            <a:ext cx="8520600" cy="4587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&lt;html&gt;</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&lt;head&gt;</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&lt;script&gt;</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function validateForm()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  let x = document.forms["myForm"]["fname"].value;</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  if (x == "")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    alert("Name must be filled out");</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    return false;</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&lt;/script&gt;</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&lt;/head&gt;</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139"/>
          <p:cNvSpPr txBox="1"/>
          <p:nvPr>
            <p:ph idx="1" type="body"/>
          </p:nvPr>
        </p:nvSpPr>
        <p:spPr>
          <a:xfrm>
            <a:off x="311700" y="301200"/>
            <a:ext cx="8520600" cy="4587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&lt;body&gt;</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&lt;h2&gt;JavaScript Validation&lt;/h2&gt;</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&lt;form name="myForm" action="/action_page.php" onsubmit="return validateForm()" method="post"&gt;</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  Name: &lt;input type="text" name="fname"&gt;</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  &lt;input type="submit" value="Submit"&gt;</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&lt;/form&gt;</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&lt;/body&gt;</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2400">
                <a:solidFill>
                  <a:schemeClr val="dk1"/>
                </a:solidFill>
                <a:highlight>
                  <a:srgbClr val="FFFFFF"/>
                </a:highlight>
                <a:latin typeface="Times New Roman"/>
                <a:ea typeface="Times New Roman"/>
                <a:cs typeface="Times New Roman"/>
                <a:sym typeface="Times New Roman"/>
              </a:rPr>
              <a:t>&lt;/html&gt;</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2400">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400">
              <a:solidFill>
                <a:schemeClr val="dk1"/>
              </a:solidFill>
              <a:highlight>
                <a:srgbClr val="FFFFFF"/>
              </a:highlight>
              <a:latin typeface="Times New Roman"/>
              <a:ea typeface="Times New Roman"/>
              <a:cs typeface="Times New Roman"/>
              <a:sym typeface="Times New Roman"/>
            </a:endParaRPr>
          </a:p>
        </p:txBody>
      </p:sp>
      <p:pic>
        <p:nvPicPr>
          <p:cNvPr id="704" name="Google Shape;704;p139"/>
          <p:cNvPicPr preferRelativeResize="0"/>
          <p:nvPr/>
        </p:nvPicPr>
        <p:blipFill rotWithShape="1">
          <a:blip r:embed="rId3">
            <a:alphaModFix/>
          </a:blip>
          <a:srcRect b="52164" l="50001" r="25570" t="28996"/>
          <a:stretch/>
        </p:blipFill>
        <p:spPr>
          <a:xfrm>
            <a:off x="5671375" y="3036350"/>
            <a:ext cx="2233649" cy="968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