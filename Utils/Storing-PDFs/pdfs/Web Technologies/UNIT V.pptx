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sldSz cx="9144000" cy="5143500" type="screen16x9"/>
  <p:notesSz cx="6858000" cy="9144000"/>
  <p:embeddedFontLst>
    <p:embeddedFont>
      <p:font typeface="Verdana" panose="020B0604030504040204" pitchFamily="34" charset="0"/>
      <p:regular r:id="rId59"/>
      <p:bold r:id="rId60"/>
      <p:italic r:id="rId61"/>
      <p:boldItalic r:id="rId62"/>
    </p:embeddedFont>
    <p:embeddedFont>
      <p:font typeface="Roboto Mono" panose="020B0604020202020204" charset="0"/>
      <p:regular r:id="rId63"/>
      <p:bold r:id="rId64"/>
      <p:italic r:id="rId65"/>
      <p:boldItalic r:id="rId6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852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5.fntdata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66" Type="http://schemas.openxmlformats.org/officeDocument/2006/relationships/font" Target="fonts/font8.fntdata"/><Relationship Id="rId5" Type="http://schemas.openxmlformats.org/officeDocument/2006/relationships/slide" Target="slides/slide4.xml"/><Relationship Id="rId61" Type="http://schemas.openxmlformats.org/officeDocument/2006/relationships/font" Target="fonts/font3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6.fntdata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.fntdata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4.fntdata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2.fntdata"/><Relationship Id="rId65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cc147644f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cc147644f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3056fb965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3056fb965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3056fb965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3056fb965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3056fb9654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3056fb9654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3056fb9654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3056fb9654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3056fb9654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3056fb9654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3056fb9654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3056fb9654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3056fb9654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3056fb9654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3056fb9654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3056fb9654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3056fb9654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3056fb9654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3056fb9654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3056fb9654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3056fb9654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3056fb9654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3056fb9654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3056fb9654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3056fb9654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3056fb9654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3056fb965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3056fb965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3056fb9654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3056fb9654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056fb9654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056fb9654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3056fb9654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3056fb9654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3056fb9654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3056fb9654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3056fb9654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3056fb9654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3056fb9654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3056fb9654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3056fb9654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3056fb9654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3056fb9654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3056fb9654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3056fb9654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3056fb9654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3056fb9654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3056fb9654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3056fb9654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3056fb9654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3056fb9654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3056fb9654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3056fb9654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3056fb9654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3056fb9654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3056fb9654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3056fb9654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3056fb9654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3056fb9654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3056fb9654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3056fb9654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3056fb9654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3056fb9654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3056fb9654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3056fb9654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3056fb9654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3056fb9654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3056fb9654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3056fb9654_0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3056fb9654_0_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33af1e6b89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33af1e6b89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33af1e6b8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33af1e6b89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33af1e6b89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33af1e6b89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33af1e6b89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33af1e6b89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33af1e6b89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33af1e6b89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33af1e6b89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33af1e6b89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33af1e6b89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33af1e6b89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33af1e6b89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33af1e6b89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33af1e6b89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33af1e6b89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33af1e6b89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33af1e6b89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33af1e6b89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33af1e6b89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33af1e6b89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33af1e6b89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3af1e6b89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3af1e6b89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33af1e6b89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33af1e6b89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33af1e6b89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33af1e6b89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3512a5767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3512a5767b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3512a5767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3512a5767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3512a5767b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3512a5767b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3512a5767b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3512a5767b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142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UNIT V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 END FRAMEWORK - BOOTSTRAP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Introduction to Bootstrap</a:t>
            </a:r>
            <a:endParaRPr b="1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Bootstrap is a free and open-source tool collection for creating responsive websites and web applications. It is the most popular HTML, CSS, and JavaScript framework for developing responsive, mobile-first websites. It solves many problems which we had once, one of which is the cross-browser compatibility issue. Nowadays, the websites are perfect for all the browsers (IE, Firefox, and Chrome) and for all sizes of screens (Desktop, Tablets, Phablets, and Phones). Bootstrap developers -Mark Otto and Jacob Thornton of Twitter, though it was later declared to be an open-source project. Bootstrap has evolved many versions and every time when we want to use this framework we can select the version which we want to use.</a:t>
            </a:r>
            <a:endParaRPr b="1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b="1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Why Bootstrap?</a:t>
            </a:r>
            <a:r>
              <a:rPr lang="en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-342900" algn="just" rtl="0">
              <a:lnSpc>
                <a:spcPct val="158000"/>
              </a:lnSpc>
              <a:spcBef>
                <a:spcPts val="80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Faster and Easier Web Development.</a:t>
            </a:r>
            <a:endParaRPr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-342900" algn="just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It creates Platform-independent web pages.</a:t>
            </a:r>
            <a:endParaRPr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-342900" algn="just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It creates Responsive Web-pages.</a:t>
            </a:r>
            <a:endParaRPr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0" indent="-342900" algn="just" rtl="0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It is designed to be responsive to mobile devices too.</a:t>
            </a:r>
            <a:endParaRPr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8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NOTE : </a:t>
            </a:r>
            <a:r>
              <a:rPr lang="en" sz="1150">
                <a:solidFill>
                  <a:schemeClr val="dk1"/>
                </a:solidFill>
                <a:highlight>
                  <a:srgbClr val="FFFFCC"/>
                </a:highlight>
                <a:latin typeface="Verdana"/>
                <a:ea typeface="Verdana"/>
                <a:cs typeface="Verdana"/>
                <a:sym typeface="Verdana"/>
              </a:rPr>
              <a:t>Responsive web design is about creating web sites which automatically adjust themselves to look good on all devices, from small phones to large desktops.</a:t>
            </a:r>
            <a:endParaRPr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800"/>
              </a:spcBef>
              <a:spcAft>
                <a:spcPts val="1200"/>
              </a:spcAft>
              <a:buNone/>
            </a:pPr>
            <a:endParaRPr b="1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&lt;html &gt;</a:t>
            </a:r>
            <a:endParaRPr b="1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&lt;head&gt;</a:t>
            </a:r>
            <a:endParaRPr b="1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&lt;title&gt;Bootstrap Example&lt;/title&gt;</a:t>
            </a:r>
            <a:endParaRPr b="1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&lt;link rel="stylesheet" href="https://maxcdn.bootstrapcdn.com/bootstrap/3.4.1/css/bootstrap.min.css"&gt;</a:t>
            </a:r>
            <a:endParaRPr b="1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b="1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&lt;/head&gt;</a:t>
            </a:r>
            <a:endParaRPr b="1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&lt;body&gt;</a:t>
            </a:r>
            <a:endParaRPr b="1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&lt;div class="jumbotron text-center"&gt;</a:t>
            </a:r>
            <a:endParaRPr b="1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&lt;h1&gt;My First Bootstrap Page&lt;/h1&gt;</a:t>
            </a:r>
            <a:endParaRPr b="1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&lt;p&gt;Resize this responsive page to see the effect!&lt;/p&gt; </a:t>
            </a:r>
            <a:endParaRPr b="1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&lt;/div&gt;</a:t>
            </a:r>
            <a:endParaRPr b="1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&lt;div class="container"&gt;</a:t>
            </a:r>
            <a:endParaRPr b="1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&lt;div class="row"&gt;</a:t>
            </a:r>
            <a:endParaRPr b="1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&lt;div class="col-sm-4"&gt;</a:t>
            </a:r>
            <a:endParaRPr b="1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endParaRPr b="1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    &lt;h3&gt;Column 1&lt;/h3&gt;</a:t>
            </a:r>
            <a:endParaRPr b="1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&lt;p&gt;Lorem ipsum dolor sit amet, consectetur adipisicing elit...&lt;/p&gt;</a:t>
            </a:r>
            <a:endParaRPr b="1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&lt;p&gt;Ut enim ad minim veniam, quis nostrud exercitation ullamco laboris...&lt;/p&gt;</a:t>
            </a:r>
            <a:endParaRPr b="1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&lt;/div&gt;</a:t>
            </a:r>
            <a:endParaRPr b="1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&lt;div class="col-sm-4"&gt;</a:t>
            </a:r>
            <a:endParaRPr b="1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&lt;h3&gt;Column 2&lt;/h3&gt;</a:t>
            </a:r>
            <a:endParaRPr b="1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&lt;p&gt;Lorem ipsum dolor sit amet, consectetur adipisicing elit...&lt;/p&gt;</a:t>
            </a:r>
            <a:endParaRPr b="1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&lt;p&gt;Ut enim ad minim veniam, quis nostrud exercitation ullamco laboris...&lt;/p&gt;</a:t>
            </a:r>
            <a:endParaRPr b="1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&lt;/div&gt;</a:t>
            </a:r>
            <a:endParaRPr b="1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endParaRPr b="1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  &lt;div class="col-sm-4"&gt;</a:t>
            </a:r>
            <a:endParaRPr b="1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&lt;h3&gt;Column 3&lt;/h3&gt;        </a:t>
            </a:r>
            <a:endParaRPr b="1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&lt;p&gt;Lorem ipsum dolor sit amet, consectetur adipisicing elit...&lt;/p&gt;</a:t>
            </a:r>
            <a:endParaRPr b="1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&lt;p&gt;Ut enim ad minim veniam, quis nostrud exercitation ullamco laboris...&lt;/p&gt;</a:t>
            </a:r>
            <a:endParaRPr b="1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&lt;/div&gt;</a:t>
            </a:r>
            <a:endParaRPr b="1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&lt;/div&gt;</a:t>
            </a:r>
            <a:endParaRPr b="1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&lt;/div&gt;</a:t>
            </a:r>
            <a:endParaRPr b="1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&lt;/body&gt;</a:t>
            </a:r>
            <a:endParaRPr b="1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&lt;/html&gt;</a:t>
            </a:r>
            <a:endParaRPr b="1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b="1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Bootstrap also requires a containing element to wrap site contents.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There are two container classes to choose from: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8100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" sz="2400">
                <a:solidFill>
                  <a:srgbClr val="DC14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.container</a:t>
            </a: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class provides a responsive fixed width container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" sz="2400">
                <a:solidFill>
                  <a:srgbClr val="DC14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.container-fluid</a:t>
            </a: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class provides a full width container, spanning the entire width of the viewport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800"/>
              </a:spcBef>
              <a:spcAft>
                <a:spcPts val="1200"/>
              </a:spcAft>
              <a:buNone/>
            </a:pPr>
            <a:endParaRPr b="1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Bootstrap also requires a containing element to wrap site contents.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There are two container classes to choose from: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8100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" sz="2400">
                <a:solidFill>
                  <a:srgbClr val="DC14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.container</a:t>
            </a: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class provides a responsive fixed width container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AutoNum type="arabicPeriod"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" sz="2400">
                <a:solidFill>
                  <a:srgbClr val="DC14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.container-fluid</a:t>
            </a: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class provides a full width container, spanning the entire width of the viewport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800"/>
              </a:spcBef>
              <a:spcAft>
                <a:spcPts val="1200"/>
              </a:spcAft>
              <a:buNone/>
            </a:pPr>
            <a:endParaRPr b="1">
              <a:solidFill>
                <a:srgbClr val="27323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https://maxcdn.bootstrapcdn.com/bootstrap/3.4.1/css/bootstrap.min.css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This is the </a:t>
            </a:r>
            <a:r>
              <a:rPr lang="en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online location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(CDN) where Bootstrap 3.4.1’s styles are stored.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Adding this link to your HTML </a:t>
            </a:r>
            <a:r>
              <a:rPr lang="en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activates Bootstrap styles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allowing you to use Bootstrap’s buttons, layouts, and designs.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</a:rPr>
              <a:t>What’s Special Here?</a:t>
            </a:r>
            <a:endParaRPr sz="15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✅ </a:t>
            </a:r>
            <a:r>
              <a:rPr lang="en" sz="1300" b="1">
                <a:solidFill>
                  <a:schemeClr val="dk1"/>
                </a:solidFill>
              </a:rPr>
              <a:t>Pre-Styled</a:t>
            </a:r>
            <a:r>
              <a:rPr lang="en" sz="1300">
                <a:solidFill>
                  <a:schemeClr val="dk1"/>
                </a:solidFill>
              </a:rPr>
              <a:t> → The button looks </a:t>
            </a:r>
            <a:r>
              <a:rPr lang="en" sz="1300" b="1">
                <a:solidFill>
                  <a:schemeClr val="dk1"/>
                </a:solidFill>
              </a:rPr>
              <a:t>modern and professional</a:t>
            </a:r>
            <a:r>
              <a:rPr lang="en" sz="1300">
                <a:solidFill>
                  <a:schemeClr val="dk1"/>
                </a:solidFill>
              </a:rPr>
              <a:t> (blue background, white text, rounded corners).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✅ </a:t>
            </a:r>
            <a:r>
              <a:rPr lang="en" sz="1300" b="1">
                <a:solidFill>
                  <a:schemeClr val="dk1"/>
                </a:solidFill>
              </a:rPr>
              <a:t>Responsive</a:t>
            </a:r>
            <a:r>
              <a:rPr lang="en" sz="1300">
                <a:solidFill>
                  <a:schemeClr val="dk1"/>
                </a:solidFill>
              </a:rPr>
              <a:t> → Works well on all screen sizes without extra CSS.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✅ </a:t>
            </a:r>
            <a:r>
              <a:rPr lang="en" sz="1300" b="1">
                <a:solidFill>
                  <a:schemeClr val="dk1"/>
                </a:solidFill>
              </a:rPr>
              <a:t>Customizable</a:t>
            </a:r>
            <a:r>
              <a:rPr lang="en" sz="1300">
                <a:solidFill>
                  <a:schemeClr val="dk1"/>
                </a:solidFill>
              </a:rPr>
              <a:t> → You can change styles easily (e.g.,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btn-danger</a:t>
            </a:r>
            <a:r>
              <a:rPr lang="en" sz="1300">
                <a:solidFill>
                  <a:schemeClr val="dk1"/>
                </a:solidFill>
              </a:rPr>
              <a:t> for red,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btn-success</a:t>
            </a:r>
            <a:r>
              <a:rPr lang="en" sz="1300">
                <a:solidFill>
                  <a:schemeClr val="dk1"/>
                </a:solidFill>
              </a:rPr>
              <a:t> for green).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chemeClr val="dk1"/>
                </a:solidFill>
              </a:rPr>
              <a:t>✅ </a:t>
            </a:r>
            <a:r>
              <a:rPr lang="en" sz="1300" b="1">
                <a:solidFill>
                  <a:schemeClr val="dk1"/>
                </a:solidFill>
              </a:rPr>
              <a:t>Consistent</a:t>
            </a:r>
            <a:r>
              <a:rPr lang="en" sz="1300">
                <a:solidFill>
                  <a:schemeClr val="dk1"/>
                </a:solidFill>
              </a:rPr>
              <a:t> → Looks the same across all browsers.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&lt;div class="jumbotron text-center"&gt;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part of Bootstrap 3 and is used to create a </a:t>
            </a:r>
            <a:r>
              <a:rPr lang="en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big, attention-grabbing section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centered text.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1️⃣ </a:t>
            </a:r>
            <a:r>
              <a:rPr lang="en" b="1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&lt;div&gt;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A container (division) in HTML.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2️⃣ </a:t>
            </a:r>
            <a:r>
              <a:rPr lang="en" b="1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class="jumbotron"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A Bootstrap </a:t>
            </a:r>
            <a:r>
              <a:rPr lang="en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predefined class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creates a </a:t>
            </a:r>
            <a:r>
              <a:rPr lang="en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large, padded section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a light background.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3️⃣ </a:t>
            </a:r>
            <a:r>
              <a:rPr lang="en" b="1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class="text-center"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A Bootstrap class that </a:t>
            </a:r>
            <a:r>
              <a:rPr lang="en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centers the text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inside the </a:t>
            </a:r>
            <a:r>
              <a:rPr lang="en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&lt;div&gt;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&lt;div class="container"&gt; is part of </a:t>
            </a:r>
            <a:r>
              <a:rPr lang="en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is used to </a:t>
            </a:r>
            <a:r>
              <a:rPr lang="en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center and structure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content within a webpage.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&lt;div&gt;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A generic container (division) in HTML.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2️⃣ </a:t>
            </a:r>
            <a:r>
              <a:rPr lang="en" b="1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class="container"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A </a:t>
            </a:r>
            <a:r>
              <a:rPr lang="en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class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✅ Adds </a:t>
            </a:r>
            <a:r>
              <a:rPr lang="en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padding and margins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better spacing.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✅ </a:t>
            </a:r>
            <a:r>
              <a:rPr lang="en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Centers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content automatically.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✅ Makes the layout </a:t>
            </a:r>
            <a:r>
              <a:rPr lang="en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responsive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(adjusts to different screen sizes).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&lt;div class="container"&gt; is part of </a:t>
            </a:r>
            <a:r>
              <a:rPr lang="en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is used to </a:t>
            </a:r>
            <a:r>
              <a:rPr lang="en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center and structure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content within a webpage.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&lt;div&gt;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A generic container (division) in HTML.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2️⃣ </a:t>
            </a:r>
            <a:r>
              <a:rPr lang="en" b="1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class="container"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A </a:t>
            </a:r>
            <a:r>
              <a:rPr lang="en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Bootstrap class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✅ Adds </a:t>
            </a:r>
            <a:r>
              <a:rPr lang="en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padding and margins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better spacing.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✅ </a:t>
            </a:r>
            <a:r>
              <a:rPr lang="en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Centers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content automatically.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✅ Makes the layout </a:t>
            </a:r>
            <a:r>
              <a:rPr lang="en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responsive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(adjusts to different screen sizes).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6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Bootstrap Grids</a:t>
            </a:r>
            <a:endParaRPr sz="2100" b="1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Bootstrap Grid System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Bootstrap's grid system allows up to 12 columns across the page.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Grid Classes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Bootstrap grid system has four classes: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●"/>
            </a:pPr>
            <a:r>
              <a:rPr lang="en">
                <a:solidFill>
                  <a:srgbClr val="DC143C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xs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(for phones - screens less than 768px wide)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●"/>
            </a:pPr>
            <a:r>
              <a:rPr lang="en">
                <a:solidFill>
                  <a:srgbClr val="DC143C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sm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(for tablets - screens equal to or greater than 768px wide)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●"/>
            </a:pPr>
            <a:r>
              <a:rPr lang="en">
                <a:solidFill>
                  <a:srgbClr val="DC143C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md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(for small laptops - screens equal to or greater than 992px wide)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●"/>
            </a:pPr>
            <a:r>
              <a:rPr lang="en">
                <a:solidFill>
                  <a:srgbClr val="DC143C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lg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(for laptops and desktops - screens equal to or greater than 1200px wide)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8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Grid Classes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Bootstrap grid system has four classes: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●"/>
            </a:pPr>
            <a:r>
              <a:rPr lang="en" sz="2400">
                <a:solidFill>
                  <a:srgbClr val="DC143C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xs</a:t>
            </a: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(for phones - screens less than 768px wide)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●"/>
            </a:pPr>
            <a:r>
              <a:rPr lang="en" sz="2400">
                <a:solidFill>
                  <a:srgbClr val="DC143C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sm</a:t>
            </a: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(for tablets - screens equal to or greater than 768px wide)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●"/>
            </a:pPr>
            <a:r>
              <a:rPr lang="en" sz="2400">
                <a:solidFill>
                  <a:srgbClr val="DC143C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md</a:t>
            </a: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(for small laptops - screens equal to or greater than 992px wide)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●"/>
            </a:pPr>
            <a:r>
              <a:rPr lang="en" sz="2400">
                <a:solidFill>
                  <a:srgbClr val="DC143C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lg</a:t>
            </a: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(for laptops and desktops - screens equal to or greater than 1200px wide)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800"/>
              </a:spcBef>
              <a:spcAft>
                <a:spcPts val="1200"/>
              </a:spcAft>
              <a:buNone/>
            </a:pPr>
            <a:endParaRPr sz="2100" b="1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&lt;html 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&lt;head&gt;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&lt;title&gt;Bootstrap Example&lt;/title&gt;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&lt;link rel="stylesheet" href="https://maxcdn.bootstrapcdn.com/bootstrap/3.4.1/css/bootstrap.min.css"&gt;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&lt;/head&gt;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&lt;body&gt;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&lt;div class="container-fluid"&gt;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&lt;h1&gt;Hello World!&lt;/h1&gt;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&lt;p&gt;Resize the browser window to see the effect.&lt;/p&gt;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&lt;p&gt;The columns will automatically stack on top of each other when the screen is less than 768px wide.&lt;/p&gt;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&lt;div class="row"&gt;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&lt;div class="col-sm-4" style="background-color:lavender;"&gt;.col-sm-4&lt;/div&gt;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&lt;div class="col-sm-4" style="background-color:lavenderblush;"&gt;.col-sm-4&lt;/div&gt;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&lt;div class="col-sm-4" style="background-color:lavender;"&gt;.col-sm-4&lt;/div&gt;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&lt;/div&gt;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&lt;/div&gt;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1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</a:rPr>
              <a:t>Two Unequal Columns</a:t>
            </a:r>
            <a:endParaRPr sz="2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&lt;html 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&lt;head&gt;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&lt;title&gt;Bootstrap Example&lt;/title&gt;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&lt;link rel="stylesheet" href="https://maxcdn.bootstrapcdn.com/bootstrap/3.4.1/css/bootstrap.min.css"&gt;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&lt;/head&gt;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&lt;body&gt;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&lt;div class="container-fluid"&gt;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&lt;h1&gt;Hello World!&lt;/h1&gt;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&lt;p&gt;Resize the browser window to see the effect.&lt;/p&gt;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&lt;p&gt;The columns will automatically stack on top of each other when the screen is less than 768px wide.&lt;/p&gt;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&lt;div class="row"&gt;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3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&lt;div class="col-sm-4" style="background-color:lavender;"&gt;.col-sm-4&lt;/div&gt;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&lt;div class="col-sm-8" style="background-color:lavenderblush;"&gt;.col-sm-8&lt;/div&gt;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&lt;/div&gt;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&lt;/div&gt;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&lt;/body&gt;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&lt;/html&gt;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4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000" b="1" u="sng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Bootstrap Buttons</a:t>
            </a:r>
            <a:endParaRPr sz="2000" b="1" u="sng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b="1" u="sng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Button Styles</a:t>
            </a:r>
            <a:endParaRPr b="1" u="sng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Bootstrap provides different styles of buttons: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To achieve the button styles above, Bootstrap has the following classes: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DC143C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.btn</a:t>
            </a:r>
            <a:endParaRPr>
              <a:solidFill>
                <a:srgbClr val="DC143C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DC143C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.btn-default</a:t>
            </a:r>
            <a:endParaRPr>
              <a:solidFill>
                <a:srgbClr val="DC143C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DC143C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.btn-primary</a:t>
            </a:r>
            <a:endParaRPr>
              <a:solidFill>
                <a:srgbClr val="DC143C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DC143C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.btn-success</a:t>
            </a:r>
            <a:endParaRPr>
              <a:solidFill>
                <a:srgbClr val="DC143C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DC143C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.btn-info</a:t>
            </a:r>
            <a:endParaRPr>
              <a:solidFill>
                <a:srgbClr val="DC143C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DC143C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.btn-warning</a:t>
            </a:r>
            <a:endParaRPr>
              <a:solidFill>
                <a:srgbClr val="DC143C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DC143C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.btn-danger</a:t>
            </a:r>
            <a:endParaRPr>
              <a:solidFill>
                <a:srgbClr val="DC143C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DC143C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.btn-link</a:t>
            </a:r>
            <a:endParaRPr>
              <a:solidFill>
                <a:srgbClr val="DC143C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1200"/>
              </a:spcAft>
              <a:buNone/>
            </a:pP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5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&lt;html lang="en"&gt;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&lt;head&gt;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&lt;title&gt;Bootstrap Example&lt;/title&gt;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&lt;link rel="stylesheet" href="https://maxcdn.bootstrapcdn.com/bootstrap/3.4.1/css/bootstrap.min.css"&gt;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&lt;/head&gt;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&lt;body&gt;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6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&lt;div class="container"&gt;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&lt;h2&gt;Button Styles&lt;/h2&gt;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&lt;button type="button" class="btn"&gt;Basic&lt;/button&gt;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&lt;button type="button" class="btn btn-default"&gt;Default&lt;/button&gt;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&lt;button type="button" class="btn btn-primary"&gt;Primary&lt;/button&gt;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&lt;button type="button" class="btn btn-success"&gt;Success&lt;/button&gt;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&lt;button type="button" class="btn btn-info"&gt;Info&lt;/button&gt;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&lt;button type="button" class="btn btn-warning"&gt;Warning&lt;/button&gt;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&lt;button type="button" class="btn btn-danger"&gt;Danger&lt;/button&gt;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&lt;button type="button" class="btn btn-link"&gt;Link&lt;/button&gt;      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&lt;/div&gt;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&lt;/body&gt;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&lt;/html&gt;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✅ </a:t>
            </a:r>
            <a:r>
              <a:rPr lang="en" sz="1100" b="1">
                <a:solidFill>
                  <a:schemeClr val="dk1"/>
                </a:solidFill>
              </a:rPr>
              <a:t>Pre-Styled</a:t>
            </a:r>
            <a:r>
              <a:rPr lang="en" sz="1100">
                <a:solidFill>
                  <a:schemeClr val="dk1"/>
                </a:solidFill>
              </a:rPr>
              <a:t> → The button looks </a:t>
            </a:r>
            <a:r>
              <a:rPr lang="en" sz="1100" b="1">
                <a:solidFill>
                  <a:schemeClr val="dk1"/>
                </a:solidFill>
              </a:rPr>
              <a:t>modern and professional</a:t>
            </a:r>
            <a:r>
              <a:rPr lang="en" sz="1100">
                <a:solidFill>
                  <a:schemeClr val="dk1"/>
                </a:solidFill>
              </a:rPr>
              <a:t> (blue background, white text, rounded corners).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✅ </a:t>
            </a:r>
            <a:r>
              <a:rPr lang="en" sz="1100" b="1">
                <a:solidFill>
                  <a:schemeClr val="dk1"/>
                </a:solidFill>
              </a:rPr>
              <a:t>Responsive</a:t>
            </a:r>
            <a:r>
              <a:rPr lang="en" sz="1100">
                <a:solidFill>
                  <a:schemeClr val="dk1"/>
                </a:solidFill>
              </a:rPr>
              <a:t> → Works well on all screen sizes without extra CSS.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✅ </a:t>
            </a:r>
            <a:r>
              <a:rPr lang="en" sz="1100" b="1">
                <a:solidFill>
                  <a:schemeClr val="dk1"/>
                </a:solidFill>
              </a:rPr>
              <a:t>Customizable</a:t>
            </a:r>
            <a:r>
              <a:rPr lang="en" sz="1100">
                <a:solidFill>
                  <a:schemeClr val="dk1"/>
                </a:solidFill>
              </a:rPr>
              <a:t> → You can change styles easily (e.g.,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btn-danger</a:t>
            </a:r>
            <a:r>
              <a:rPr lang="en" sz="1100">
                <a:solidFill>
                  <a:schemeClr val="dk1"/>
                </a:solidFill>
              </a:rPr>
              <a:t> for red,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btn-success</a:t>
            </a:r>
            <a:r>
              <a:rPr lang="en" sz="1100">
                <a:solidFill>
                  <a:schemeClr val="dk1"/>
                </a:solidFill>
              </a:rPr>
              <a:t> for green).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✅ </a:t>
            </a:r>
            <a:r>
              <a:rPr lang="en" sz="1100" b="1">
                <a:solidFill>
                  <a:schemeClr val="dk1"/>
                </a:solidFill>
              </a:rPr>
              <a:t>Consistent</a:t>
            </a:r>
            <a:r>
              <a:rPr lang="en" sz="1100">
                <a:solidFill>
                  <a:schemeClr val="dk1"/>
                </a:solidFill>
              </a:rPr>
              <a:t> → Looks the same across all browsers.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8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" sz="3150">
                <a:solidFill>
                  <a:schemeClr val="dk1"/>
                </a:solidFill>
                <a:highlight>
                  <a:srgbClr val="FFFFFF"/>
                </a:highlight>
              </a:rPr>
              <a:t>Bootstrap Button Groups</a:t>
            </a:r>
            <a:endParaRPr sz="3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</a:rPr>
              <a:t>Button Groups</a:t>
            </a:r>
            <a:endParaRPr sz="2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Bootstrap allows you to group a series of buttons together (on a single line) in a button group: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" sz="3150">
                <a:solidFill>
                  <a:schemeClr val="dk1"/>
                </a:solidFill>
                <a:highlight>
                  <a:srgbClr val="FFFFFF"/>
                </a:highlight>
              </a:rPr>
              <a:t>&lt;html l&gt;</a:t>
            </a:r>
            <a:endParaRPr sz="3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150">
                <a:solidFill>
                  <a:schemeClr val="dk1"/>
                </a:solidFill>
                <a:highlight>
                  <a:srgbClr val="FFFFFF"/>
                </a:highlight>
              </a:rPr>
              <a:t>&lt;head&gt;</a:t>
            </a:r>
            <a:endParaRPr sz="3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150">
                <a:solidFill>
                  <a:schemeClr val="dk1"/>
                </a:solidFill>
                <a:highlight>
                  <a:srgbClr val="FFFFFF"/>
                </a:highlight>
              </a:rPr>
              <a:t>  &lt;title&gt;Bootstrap Example&lt;/title&gt;</a:t>
            </a:r>
            <a:endParaRPr sz="3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150">
                <a:solidFill>
                  <a:schemeClr val="dk1"/>
                </a:solidFill>
                <a:highlight>
                  <a:srgbClr val="FFFFFF"/>
                </a:highlight>
              </a:rPr>
              <a:t>    &lt;link rel="stylesheet" href="https://maxcdn.bootstrapcdn.com/bootstrap/3.4.1/css/bootstrap.min.css"&gt;</a:t>
            </a:r>
            <a:endParaRPr sz="3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150">
                <a:solidFill>
                  <a:schemeClr val="dk1"/>
                </a:solidFill>
                <a:highlight>
                  <a:srgbClr val="FFFFFF"/>
                </a:highlight>
              </a:rPr>
              <a:t> &lt;/head&gt;</a:t>
            </a:r>
            <a:endParaRPr sz="3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0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" sz="3150">
                <a:solidFill>
                  <a:schemeClr val="dk1"/>
                </a:solidFill>
                <a:highlight>
                  <a:srgbClr val="FFFFFF"/>
                </a:highlight>
              </a:rPr>
              <a:t>&lt;body&gt;</a:t>
            </a:r>
            <a:endParaRPr sz="3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150">
                <a:solidFill>
                  <a:schemeClr val="dk1"/>
                </a:solidFill>
                <a:highlight>
                  <a:srgbClr val="FFFFFF"/>
                </a:highlight>
              </a:rPr>
              <a:t>&lt;div class="container"&gt;</a:t>
            </a:r>
            <a:endParaRPr sz="3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150">
                <a:solidFill>
                  <a:schemeClr val="dk1"/>
                </a:solidFill>
                <a:highlight>
                  <a:srgbClr val="FFFFFF"/>
                </a:highlight>
              </a:rPr>
              <a:t>  &lt;h2&gt;Button Group&lt;/h2&gt;</a:t>
            </a:r>
            <a:endParaRPr sz="3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150">
                <a:solidFill>
                  <a:schemeClr val="dk1"/>
                </a:solidFill>
                <a:highlight>
                  <a:srgbClr val="FFFFFF"/>
                </a:highlight>
              </a:rPr>
              <a:t>  &lt;p&gt;The .btn-group class creates a button group:&lt;/p&gt;</a:t>
            </a:r>
            <a:endParaRPr sz="3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150">
                <a:solidFill>
                  <a:schemeClr val="dk1"/>
                </a:solidFill>
                <a:highlight>
                  <a:srgbClr val="FFFFFF"/>
                </a:highlight>
              </a:rPr>
              <a:t>  &lt;div class="btn-group"&gt;</a:t>
            </a:r>
            <a:endParaRPr sz="3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3150">
                <a:solidFill>
                  <a:schemeClr val="dk1"/>
                </a:solidFill>
                <a:highlight>
                  <a:srgbClr val="FFFFFF"/>
                </a:highlight>
              </a:rPr>
              <a:t>    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1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" sz="3150">
                <a:solidFill>
                  <a:schemeClr val="dk1"/>
                </a:solidFill>
                <a:highlight>
                  <a:srgbClr val="FFFFFF"/>
                </a:highlight>
              </a:rPr>
              <a:t>  </a:t>
            </a:r>
            <a:r>
              <a:rPr lang="en" sz="2950">
                <a:solidFill>
                  <a:schemeClr val="dk1"/>
                </a:solidFill>
                <a:highlight>
                  <a:srgbClr val="FFFFFF"/>
                </a:highlight>
              </a:rPr>
              <a:t>  &lt;button type="button" class="btn btn-primary"&gt;Apple&lt;/button&gt;</a:t>
            </a:r>
            <a:endParaRPr sz="29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50">
                <a:solidFill>
                  <a:schemeClr val="dk1"/>
                </a:solidFill>
                <a:highlight>
                  <a:srgbClr val="FFFFFF"/>
                </a:highlight>
              </a:rPr>
              <a:t>    &lt;button type="button" class="btn btn-primary"&gt;Samsung&lt;/button&gt;</a:t>
            </a:r>
            <a:endParaRPr sz="29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50">
                <a:solidFill>
                  <a:schemeClr val="dk1"/>
                </a:solidFill>
                <a:highlight>
                  <a:srgbClr val="FFFFFF"/>
                </a:highlight>
              </a:rPr>
              <a:t>    &lt;button type="button" class="btn btn-primary"&gt;Sony&lt;/button&gt;</a:t>
            </a:r>
            <a:endParaRPr sz="29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50">
                <a:solidFill>
                  <a:schemeClr val="dk1"/>
                </a:solidFill>
                <a:highlight>
                  <a:srgbClr val="FFFFFF"/>
                </a:highlight>
              </a:rPr>
              <a:t>  &lt;/div&gt;</a:t>
            </a:r>
            <a:endParaRPr sz="29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50">
                <a:solidFill>
                  <a:schemeClr val="dk1"/>
                </a:solidFill>
                <a:highlight>
                  <a:srgbClr val="FFFFFF"/>
                </a:highlight>
              </a:rPr>
              <a:t>&lt;/div&gt;</a:t>
            </a:r>
            <a:endParaRPr sz="29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50">
                <a:solidFill>
                  <a:schemeClr val="dk1"/>
                </a:solidFill>
                <a:highlight>
                  <a:srgbClr val="FFFFFF"/>
                </a:highlight>
              </a:rPr>
              <a:t>&lt;/body&gt;&lt;/html&gt;</a:t>
            </a:r>
            <a:endParaRPr sz="29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3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2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" sz="315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en" sz="3150" u="sng">
                <a:solidFill>
                  <a:schemeClr val="dk1"/>
                </a:solidFill>
                <a:highlight>
                  <a:srgbClr val="FFFFFF"/>
                </a:highlight>
              </a:rPr>
              <a:t>Button Group set sizes</a:t>
            </a:r>
            <a:endParaRPr sz="3150" u="sng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50">
                <a:solidFill>
                  <a:schemeClr val="dk1"/>
                </a:solidFill>
                <a:highlight>
                  <a:srgbClr val="FFFFFF"/>
                </a:highlight>
              </a:rPr>
              <a:t>&lt;html lang="en"&gt;</a:t>
            </a:r>
            <a:endParaRPr sz="3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50">
                <a:solidFill>
                  <a:schemeClr val="dk1"/>
                </a:solidFill>
                <a:highlight>
                  <a:srgbClr val="FFFFFF"/>
                </a:highlight>
              </a:rPr>
              <a:t>&lt;head&gt;</a:t>
            </a:r>
            <a:endParaRPr sz="3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50">
                <a:solidFill>
                  <a:schemeClr val="dk1"/>
                </a:solidFill>
                <a:highlight>
                  <a:srgbClr val="FFFFFF"/>
                </a:highlight>
              </a:rPr>
              <a:t>  &lt;title&gt;Bootstrap Example&lt;/title&gt;</a:t>
            </a:r>
            <a:endParaRPr sz="3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50">
                <a:solidFill>
                  <a:schemeClr val="dk1"/>
                </a:solidFill>
                <a:highlight>
                  <a:srgbClr val="FFFFFF"/>
                </a:highlight>
              </a:rPr>
              <a:t>    &lt;link rel="stylesheet" href="https://maxcdn.bootstrapcdn.com/bootstrap/3.4.1/css/bootstrap.min.css"&gt;</a:t>
            </a:r>
            <a:endParaRPr sz="3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50">
                <a:solidFill>
                  <a:schemeClr val="dk1"/>
                </a:solidFill>
                <a:highlight>
                  <a:srgbClr val="FFFFFF"/>
                </a:highlight>
              </a:rPr>
              <a:t>    &lt;/head&gt;</a:t>
            </a:r>
            <a:endParaRPr sz="3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50">
                <a:solidFill>
                  <a:schemeClr val="dk1"/>
                </a:solidFill>
                <a:highlight>
                  <a:srgbClr val="FFFFFF"/>
                </a:highlight>
              </a:rPr>
              <a:t>&lt;body&gt;</a:t>
            </a:r>
            <a:endParaRPr sz="3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3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" sz="3150">
                <a:solidFill>
                  <a:schemeClr val="dk1"/>
                </a:solidFill>
                <a:highlight>
                  <a:srgbClr val="FFFFFF"/>
                </a:highlight>
              </a:rPr>
              <a:t> &lt;div class="container"&gt;</a:t>
            </a:r>
            <a:endParaRPr sz="3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50">
                <a:solidFill>
                  <a:schemeClr val="dk1"/>
                </a:solidFill>
                <a:highlight>
                  <a:srgbClr val="FFFFFF"/>
                </a:highlight>
              </a:rPr>
              <a:t>  &lt;h2&gt;Button Groups - Set Sizes&lt;/h2&gt;</a:t>
            </a:r>
            <a:endParaRPr sz="3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50">
                <a:solidFill>
                  <a:schemeClr val="dk1"/>
                </a:solidFill>
                <a:highlight>
                  <a:srgbClr val="FFFFFF"/>
                </a:highlight>
              </a:rPr>
              <a:t>  &lt;p&gt;Add class .btn-group-* to size all buttons in a button group.&lt;/p&gt;</a:t>
            </a:r>
            <a:endParaRPr sz="3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50">
                <a:solidFill>
                  <a:schemeClr val="dk1"/>
                </a:solidFill>
                <a:highlight>
                  <a:srgbClr val="FFFFFF"/>
                </a:highlight>
              </a:rPr>
              <a:t>  &lt;h3&gt;Large Buttons:&lt;/h3&gt;</a:t>
            </a:r>
            <a:endParaRPr sz="3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50">
                <a:solidFill>
                  <a:schemeClr val="dk1"/>
                </a:solidFill>
                <a:highlight>
                  <a:srgbClr val="FFFFFF"/>
                </a:highlight>
              </a:rPr>
              <a:t>  &lt;div class="btn-group btn-group-lg"&gt;</a:t>
            </a:r>
            <a:endParaRPr sz="3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50">
                <a:solidFill>
                  <a:schemeClr val="dk1"/>
                </a:solidFill>
                <a:highlight>
                  <a:srgbClr val="FFFFFF"/>
                </a:highlight>
              </a:rPr>
              <a:t>    &lt;button type="button" class="btn btn-primary"&gt;Apple&lt;/button&gt;</a:t>
            </a:r>
            <a:endParaRPr sz="3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50" u="sng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4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" sz="3150">
                <a:solidFill>
                  <a:schemeClr val="dk1"/>
                </a:solidFill>
                <a:highlight>
                  <a:srgbClr val="FFFFFF"/>
                </a:highlight>
              </a:rPr>
              <a:t> &lt;button type="button" class="btn btn-primary"&gt;Samsung&lt;/button&gt;</a:t>
            </a:r>
            <a:endParaRPr sz="3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50">
                <a:solidFill>
                  <a:schemeClr val="dk1"/>
                </a:solidFill>
                <a:highlight>
                  <a:srgbClr val="FFFFFF"/>
                </a:highlight>
              </a:rPr>
              <a:t>    &lt;button type="button" class="btn btn-primary"&gt;Sony&lt;/button&gt;</a:t>
            </a:r>
            <a:endParaRPr sz="3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50">
                <a:solidFill>
                  <a:schemeClr val="dk1"/>
                </a:solidFill>
                <a:highlight>
                  <a:srgbClr val="FFFFFF"/>
                </a:highlight>
              </a:rPr>
              <a:t>  &lt;/div&gt;</a:t>
            </a:r>
            <a:endParaRPr sz="3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50">
                <a:solidFill>
                  <a:schemeClr val="dk1"/>
                </a:solidFill>
                <a:highlight>
                  <a:srgbClr val="FFFFFF"/>
                </a:highlight>
              </a:rPr>
              <a:t>  &lt;h3&gt;Default Buttons:&lt;/h3&gt;</a:t>
            </a:r>
            <a:endParaRPr sz="3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50">
                <a:solidFill>
                  <a:schemeClr val="dk1"/>
                </a:solidFill>
                <a:highlight>
                  <a:srgbClr val="FFFFFF"/>
                </a:highlight>
              </a:rPr>
              <a:t>  &lt;div class="btn-group"&gt;</a:t>
            </a:r>
            <a:endParaRPr sz="3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50">
                <a:solidFill>
                  <a:schemeClr val="dk1"/>
                </a:solidFill>
                <a:highlight>
                  <a:srgbClr val="FFFFFF"/>
                </a:highlight>
              </a:rPr>
              <a:t>    &lt;button type="button" class="btn btn-primary"&gt;Apple&lt;/button&gt;</a:t>
            </a:r>
            <a:endParaRPr sz="3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50" u="sng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5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" sz="315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&lt;button type="button" class="btn btn-primary"&gt;Samsung&lt;/button&gt;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    &lt;button type="button" class="btn btn-primary"&gt;Sony&lt;/button&gt;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  &lt;/div&gt;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  &lt;h3&gt;Small Buttons:&lt;/h3&gt;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  &lt;div class="btn-group btn-group-sm"&gt;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    &lt;button type="button" class="btn btn-primary"&gt;Apple&lt;/button&gt;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    &lt;button type="button" class="btn btn-primary"&gt;Samsung&lt;/button&gt;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    &lt;button type="button" class="btn btn-primary"&gt;Sony&lt;/button&gt;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  &lt;/div&gt;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u="sng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6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" sz="315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&lt;h3&gt;Extra Small Buttons:&lt;/h3&gt;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  &lt;div class="btn-group btn-group-xs"&gt;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    &lt;button type="button" class="btn btn-primary"&gt;Apple&lt;/button&gt;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    &lt;button type="button" class="btn btn-primary"&gt;Samsung&lt;/button&gt;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    &lt;button type="button" class="btn btn-primary"&gt;Sony&lt;/button&gt;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  &lt;/div&gt;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&lt;/div&gt;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&lt;/body&gt;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&lt;/html&gt;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u="sng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7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" sz="315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en" sz="2250">
                <a:solidFill>
                  <a:srgbClr val="333333"/>
                </a:solidFill>
                <a:highlight>
                  <a:srgbClr val="FFFFFF"/>
                </a:highlight>
              </a:rPr>
              <a:t>Vertical Button Group</a:t>
            </a:r>
            <a:endParaRPr sz="22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&lt;html lang="en"&gt;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&lt;head&gt;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  &lt;title&gt;Bootstrap Example&lt;/title&gt;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&lt;link rel="stylesheet" href="https://maxcdn.bootstrapcdn.com/bootstrap/3.4.1/css/bootstrap.min.css"&gt;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&lt;/head&gt;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&lt;body&gt;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&lt;div class="container"&gt;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u="sng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8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" sz="315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en" sz="2250">
                <a:solidFill>
                  <a:srgbClr val="333333"/>
                </a:solidFill>
                <a:highlight>
                  <a:srgbClr val="FFFFFF"/>
                </a:highlight>
              </a:rPr>
              <a:t>&lt;h2&gt;Vertical Button Group&lt;/h2&gt;</a:t>
            </a:r>
            <a:endParaRPr sz="22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50">
                <a:solidFill>
                  <a:srgbClr val="333333"/>
                </a:solidFill>
                <a:highlight>
                  <a:srgbClr val="FFFFFF"/>
                </a:highlight>
              </a:rPr>
              <a:t>  &lt;p&gt;Use the .btn-group-vertical class to create a vertical button group:&lt;/p&gt;</a:t>
            </a:r>
            <a:endParaRPr sz="22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50">
                <a:solidFill>
                  <a:srgbClr val="333333"/>
                </a:solidFill>
                <a:highlight>
                  <a:srgbClr val="FFFFFF"/>
                </a:highlight>
              </a:rPr>
              <a:t>  &lt;div class="btn-group-vertical"&gt;</a:t>
            </a:r>
            <a:endParaRPr sz="22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50">
                <a:solidFill>
                  <a:srgbClr val="333333"/>
                </a:solidFill>
                <a:highlight>
                  <a:srgbClr val="FFFFFF"/>
                </a:highlight>
              </a:rPr>
              <a:t>    &lt;button type="button" class="btn btn-primary"&gt;Apple&lt;/button&gt;</a:t>
            </a:r>
            <a:endParaRPr sz="22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50">
                <a:solidFill>
                  <a:srgbClr val="333333"/>
                </a:solidFill>
                <a:highlight>
                  <a:srgbClr val="FFFFFF"/>
                </a:highlight>
              </a:rPr>
              <a:t>    &lt;button type="button" class="btn btn-primary"&gt;Samsung&lt;/button&gt;</a:t>
            </a:r>
            <a:endParaRPr sz="22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50">
                <a:solidFill>
                  <a:srgbClr val="333333"/>
                </a:solidFill>
                <a:highlight>
                  <a:srgbClr val="FFFFFF"/>
                </a:highlight>
              </a:rPr>
              <a:t>    &lt;button type="button" class="btn btn-primary"&gt;Sony&lt;/button&gt;</a:t>
            </a:r>
            <a:endParaRPr sz="22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50">
                <a:solidFill>
                  <a:srgbClr val="333333"/>
                </a:solidFill>
                <a:highlight>
                  <a:srgbClr val="FFFFFF"/>
                </a:highlight>
              </a:rPr>
              <a:t>  &lt;/div&gt;</a:t>
            </a:r>
            <a:endParaRPr sz="22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50">
                <a:solidFill>
                  <a:srgbClr val="333333"/>
                </a:solidFill>
                <a:highlight>
                  <a:srgbClr val="FFFFFF"/>
                </a:highlight>
              </a:rPr>
              <a:t>&lt;/div&gt;</a:t>
            </a:r>
            <a:endParaRPr sz="22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50">
                <a:solidFill>
                  <a:srgbClr val="333333"/>
                </a:solidFill>
                <a:highlight>
                  <a:srgbClr val="FFFFFF"/>
                </a:highlight>
              </a:rPr>
              <a:t>&lt;/body&gt;</a:t>
            </a:r>
            <a:endParaRPr sz="22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50">
                <a:solidFill>
                  <a:srgbClr val="333333"/>
                </a:solidFill>
                <a:highlight>
                  <a:srgbClr val="FFFFFF"/>
                </a:highlight>
              </a:rPr>
              <a:t>&lt;/html&gt;</a:t>
            </a:r>
            <a:endParaRPr sz="22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u="sng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9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" sz="3150">
                <a:solidFill>
                  <a:schemeClr val="dk1"/>
                </a:solidFill>
                <a:highlight>
                  <a:srgbClr val="FFFFFF"/>
                </a:highlight>
              </a:rPr>
              <a:t>Bootstrap Alerts</a:t>
            </a:r>
            <a:endParaRPr sz="31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&lt;html lang="en"&gt;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&lt;head&gt;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&lt;title&gt;Bootstrap Example&lt;/title&gt;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&lt;link rel="stylesheet" href="https://maxcdn.bootstrapcdn.com/bootstrap/3.4.1/css/bootstrap.min.css"&gt;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&lt;/head&gt;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&lt;body&gt;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&lt;div class="container"&gt;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&lt;h2&gt;Alerts&lt;/h2&gt;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&lt;div class="alert alert-success"&gt;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&lt;strong&gt;Success!&lt;/strong&gt; This alert box could indicate a successful or positive action.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&lt;/div&gt;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&lt;div class="alert alert-info"&gt;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&lt;strong&gt;Info!&lt;/strong&gt; This alert box could indicate a neutral informative change or action.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&lt;/div&gt;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&lt;div class="alert alert-warning"&gt;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&lt;strong&gt;Warning!&lt;/strong&gt; This alert box could indicate a warning that might need attention.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&lt;/div&gt;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&lt;div class="alert alert-danger"&gt;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u="sng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0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&lt;strong&gt;Danger!&lt;/strong&gt; This alert box could indicate a dangerous or potentially negative action.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&lt;/div&gt;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&lt;/div&gt;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&lt;/body&gt;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&lt;/html&gt;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1" name="Google Shape;241;p50"/>
          <p:cNvPicPr preferRelativeResize="0"/>
          <p:nvPr/>
        </p:nvPicPr>
        <p:blipFill rotWithShape="1">
          <a:blip r:embed="rId3">
            <a:alphaModFix/>
          </a:blip>
          <a:srcRect l="19549" t="57730" r="19014" b="8652"/>
          <a:stretch/>
        </p:blipFill>
        <p:spPr>
          <a:xfrm>
            <a:off x="437750" y="1612350"/>
            <a:ext cx="5617723" cy="17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51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</a:rPr>
              <a:t>Alert Links</a:t>
            </a:r>
            <a:endParaRPr sz="2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Add the </a:t>
            </a:r>
            <a:r>
              <a:rPr lang="en" sz="1200">
                <a:solidFill>
                  <a:srgbClr val="DC14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alert-link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class to any links inside the alert box to create "matching colored links":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&lt;html lang="en"&gt;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&lt;head&gt;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&lt;title&gt;Bootstrap Example&lt;/title&gt;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&lt;link rel="stylesheet" href="https://maxcdn.bootstrapcdn.com/bootstrap/3.4.1/css/bootstrap.min.css"&gt;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&lt;/head&gt;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&lt;body&gt;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&lt;div class="container"&gt;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&lt;h2&gt;Alert Links&lt;/h2&gt;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&lt;p&gt;Add the alert-link class to any links inside the alert box to create "matching colored links".&lt;/p&gt;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&lt;div class="alert alert-success"&gt;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&lt;strong&gt;Success!&lt;/strong&gt; You should &lt;a href="#" class="alert-link"&gt;read this message&lt;/a&gt;.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&lt;/div&gt;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2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&lt;div class="alert alert-info"&gt;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   &lt;strong&gt;Info!&lt;/strong&gt; You should &lt;a href="#" class="alert-link"&gt;read this message&lt;/a&gt;.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 &lt;/div&gt;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 &lt;div class="alert alert-warning"&gt;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   &lt;strong&gt;Warning!&lt;/strong&gt; You should &lt;a href="#" class="alert-link"&gt;read this message&lt;/a&gt;.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 &lt;/div&gt;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 &lt;div class="alert alert-danger"&gt;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   &lt;strong&gt;Danger!&lt;/strong&gt; You should &lt;a href="#" class="alert-link"&gt;read this message&lt;/a&gt;.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 &lt;/div&gt;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&lt;/div&gt;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&lt;/body&gt;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&lt;/html&gt;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252" name="Google Shape;252;p52"/>
          <p:cNvPicPr preferRelativeResize="0"/>
          <p:nvPr/>
        </p:nvPicPr>
        <p:blipFill rotWithShape="1">
          <a:blip r:embed="rId3">
            <a:alphaModFix/>
          </a:blip>
          <a:srcRect l="18513" t="58582" r="19173" b="7233"/>
          <a:stretch/>
        </p:blipFill>
        <p:spPr>
          <a:xfrm>
            <a:off x="1327850" y="2889125"/>
            <a:ext cx="5697974" cy="175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3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 b="1" u="sng">
                <a:solidFill>
                  <a:schemeClr val="dk1"/>
                </a:solidFill>
                <a:highlight>
                  <a:srgbClr val="FFFFFF"/>
                </a:highlight>
              </a:rPr>
              <a:t>Bootstrap 4 Badges</a:t>
            </a:r>
            <a:endParaRPr sz="1400" b="1" u="sng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Badges are used to add additional information to any content. Use the </a:t>
            </a:r>
            <a:r>
              <a:rPr lang="en" sz="1200">
                <a:solidFill>
                  <a:srgbClr val="DC143C"/>
                </a:solidFill>
                <a:latin typeface="Courier New"/>
                <a:ea typeface="Courier New"/>
                <a:cs typeface="Courier New"/>
                <a:sym typeface="Courier New"/>
              </a:rPr>
              <a:t>.badge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class together with a contextual class (like </a:t>
            </a:r>
            <a:r>
              <a:rPr lang="en" sz="1200">
                <a:solidFill>
                  <a:srgbClr val="DC143C"/>
                </a:solidFill>
                <a:latin typeface="Courier New"/>
                <a:ea typeface="Courier New"/>
                <a:cs typeface="Courier New"/>
                <a:sym typeface="Courier New"/>
              </a:rPr>
              <a:t>.badge-secondary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) within </a:t>
            </a:r>
            <a:r>
              <a:rPr lang="en" sz="1200">
                <a:solidFill>
                  <a:srgbClr val="DC143C"/>
                </a:solidFill>
                <a:latin typeface="Courier New"/>
                <a:ea typeface="Courier New"/>
                <a:cs typeface="Courier New"/>
                <a:sym typeface="Courier New"/>
              </a:rPr>
              <a:t>&lt;span&gt;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elements to create rectangular badges.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&lt;html lang="en"&gt;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&lt;head&gt;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 &lt;title&gt;Bootstrap Example&lt;/title&gt;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  &lt;link rel="stylesheet" href="https://cdn.jsdelivr.net/npm/bootstrap@4.6.2/dist/css/bootstrap.min.css"&gt;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 &lt;/head&gt;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&lt;body&gt;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&lt;div class="container"&gt;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 &lt;h2&gt;Badges&lt;/h2&gt;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 &lt;h1&gt;Example heading &lt;span class="badge badge-secondary"&gt;New&lt;/span&gt;&lt;/h1&gt;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 &lt;h2&gt;Example heading &lt;span class="badge badge-secondary"&gt;New&lt;/span&gt;&lt;/h2&gt;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 &lt;h3&gt;Example heading &lt;span class="badge badge-secondary"&gt;New&lt;/span&gt;&lt;/h3&gt;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 &lt;h4&gt;Example heading &lt;span class="badge badge-secondary"&gt;New&lt;/span&gt;&lt;/h4&gt;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 &lt;h5&gt;Example heading &lt;span class="badge badge-secondary"&gt;New&lt;/span&gt;&lt;/h5&gt;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 &lt;h6&gt;Example heading &lt;span class="badge badge-secondary"&gt;New&lt;/span&gt;&lt;/h6&gt;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&lt;/div&gt;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&lt;/body&gt;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&lt;/html&gt;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258" name="Google Shape;258;p53"/>
          <p:cNvPicPr preferRelativeResize="0"/>
          <p:nvPr/>
        </p:nvPicPr>
        <p:blipFill rotWithShape="1">
          <a:blip r:embed="rId3">
            <a:alphaModFix/>
          </a:blip>
          <a:srcRect l="20108" t="57589" r="54998" b="13475"/>
          <a:stretch/>
        </p:blipFill>
        <p:spPr>
          <a:xfrm>
            <a:off x="6215975" y="2571750"/>
            <a:ext cx="2276275" cy="1488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4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 b="1" u="sng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Contextual Badges</a:t>
            </a:r>
            <a:endParaRPr sz="1200" b="1" u="sng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&lt;html lang="en"&gt;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&lt;head&gt;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&lt;title&gt;Bootstrap Example&lt;/title&gt;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&lt;link rel="stylesheet" href="https://cdn.jsdelivr.net/npm/bootstrap@4.6.2/dist/css/bootstrap.min.css"&gt;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&lt;/head&gt;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&lt;body&gt;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&lt;div class="container"&gt;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&lt;h2&gt;Contextual Badges&lt;/h2&gt;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&lt;span class="badge badge-primary"&gt;Primary&lt;/span&gt;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&lt;span class="badge badge-secondary"&gt;Secondary&lt;/span&gt;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&lt;span class="badge badge-success"&gt;Success&lt;/span&gt;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&lt;span class="badge badge-danger"&gt;Danger&lt;/span&gt;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&lt;span class="badge badge-warning"&gt;Warning&lt;/span&gt;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&lt;span class="badge badge-info"&gt;Info&lt;/span&gt;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&lt;span class="badge badge-light"&gt;Light&lt;/span&gt;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&lt;span class="badge badge-dark"&gt;Dark&lt;/span&gt;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&lt;/div&gt;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&lt;/body&gt;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&lt;/html&gt;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4" name="Google Shape;264;p54"/>
          <p:cNvPicPr preferRelativeResize="0"/>
          <p:nvPr/>
        </p:nvPicPr>
        <p:blipFill rotWithShape="1">
          <a:blip r:embed="rId3">
            <a:alphaModFix/>
          </a:blip>
          <a:srcRect l="18673" t="58155" r="53002" b="31489"/>
          <a:stretch/>
        </p:blipFill>
        <p:spPr>
          <a:xfrm>
            <a:off x="4837075" y="2217900"/>
            <a:ext cx="2589998" cy="53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5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 b="1" u="sng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Bootstrap Images</a:t>
            </a:r>
            <a:endParaRPr sz="1400" b="1" u="sng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Rounded Corners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" sz="1400">
                <a:solidFill>
                  <a:srgbClr val="DC143C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.img-rounded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class adds rounded corners to an image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&lt;html lang="en"&gt;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&lt;head&gt;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&lt;title&gt;Bootstrap Example&lt;/title&gt;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&lt;link rel="stylesheet" href="https://maxcdn.bootstrapcdn.com/bootstrap/3.4.1/css/bootstrap.min.css"&gt;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&lt;/head&gt;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&lt;body&gt;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&lt;div class="container"&gt;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&lt;h2&gt;Rounded Corners&lt;/h2&gt;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&lt;p&gt;The .img-rounded class adds rounded corners to an image (not available in IE8):&lt;/p&gt;            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&lt;img src="cinqueterre.jpg" class="img-rounded" alt="Cinque Terre" width="304" height="236"&gt; 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&lt;/div&gt;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&lt;/body&gt;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&lt;/html&gt;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0" name="Google Shape;270;p55"/>
          <p:cNvPicPr preferRelativeResize="0"/>
          <p:nvPr/>
        </p:nvPicPr>
        <p:blipFill rotWithShape="1">
          <a:blip r:embed="rId3">
            <a:alphaModFix/>
          </a:blip>
          <a:srcRect l="17232" t="58297" r="50533" b="9788"/>
          <a:stretch/>
        </p:blipFill>
        <p:spPr>
          <a:xfrm>
            <a:off x="5260225" y="204275"/>
            <a:ext cx="2947474" cy="1641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56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</a:rPr>
              <a:t>Circle</a:t>
            </a:r>
            <a:endParaRPr sz="2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" sz="1200">
                <a:solidFill>
                  <a:srgbClr val="DC14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.img-circle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class shapes the image to a circle (IE8 does not support rounded corners):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&lt;html lang="en"&gt;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&lt;head&gt;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 &lt;title&gt;Bootstrap Example&lt;/title&gt;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   &lt;link rel="stylesheet" href="https://maxcdn.bootstrapcdn.com/bootstrap/3.4.1/css/bootstrap.min.css"&gt;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 &lt;/head&gt;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&lt;body&gt;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&lt;div class="container"&gt;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 &lt;h2&gt;Circle&lt;/h2&gt;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 &lt;p&gt;The .img-circle class shapes the image to a circle (not available in IE8):&lt;/p&gt;            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 &lt;img src="cinqueterre.jpg" class="img-circle" alt="Cinque Terre" width="304" height="236"&gt; 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&lt;/div&gt;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&lt;/body&gt;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&lt;/html&gt;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76" name="Google Shape;276;p56"/>
          <p:cNvPicPr preferRelativeResize="0"/>
          <p:nvPr/>
        </p:nvPicPr>
        <p:blipFill rotWithShape="1">
          <a:blip r:embed="rId3">
            <a:alphaModFix/>
          </a:blip>
          <a:srcRect l="18987" t="57448" r="53565" b="9360"/>
          <a:stretch/>
        </p:blipFill>
        <p:spPr>
          <a:xfrm>
            <a:off x="6157600" y="301200"/>
            <a:ext cx="2509752" cy="170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7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</a:rPr>
              <a:t>Circle</a:t>
            </a:r>
            <a:endParaRPr sz="2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" sz="1200">
                <a:solidFill>
                  <a:srgbClr val="DC14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.img-circle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class shapes the image to a circle (IE8 does not support rounded corners):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&lt;html lang="en"&gt;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&lt;head&gt;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 &lt;title&gt;Bootstrap Example&lt;/title&gt;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   &lt;link rel="stylesheet" href="https://maxcdn.bootstrapcdn.com/bootstrap/3.4.1/css/bootstrap.min.css"&gt;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 &lt;/head&gt;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&lt;body&gt;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&lt;div class="container"&gt;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 &lt;h2&gt;Circle&lt;/h2&gt;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 &lt;p&gt;The .img-circle class shapes the image to a circle (not available in IE8):&lt;/p&gt;            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 &lt;img src="cinqueterre.jpg" class="img-circle" alt="Cinque Terre" width="304" height="236"&gt; 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&lt;/div&gt;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&lt;/body&gt;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&lt;/html&gt;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2" name="Google Shape;282;p57"/>
          <p:cNvPicPr preferRelativeResize="0"/>
          <p:nvPr/>
        </p:nvPicPr>
        <p:blipFill rotWithShape="1">
          <a:blip r:embed="rId3">
            <a:alphaModFix/>
          </a:blip>
          <a:srcRect l="18987" t="57448" r="53565" b="9360"/>
          <a:stretch/>
        </p:blipFill>
        <p:spPr>
          <a:xfrm>
            <a:off x="6157600" y="301200"/>
            <a:ext cx="2509752" cy="170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8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u="sng">
                <a:solidFill>
                  <a:schemeClr val="dk1"/>
                </a:solidFill>
                <a:highlight>
                  <a:srgbClr val="FFFFFF"/>
                </a:highlight>
              </a:rPr>
              <a:t>Bootstrap Dropdowns</a:t>
            </a:r>
            <a:endParaRPr sz="1200" b="1" u="sng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Basic Dropdown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 dropdown menu is a toggleable menu that allows the user to choose one value from a predefined list: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&lt;html&gt;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&lt;head&gt;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&lt;meta name="viewport" content="width=device-width, initial-scale=1"&gt;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&lt;link rel="stylesheet" href="https://maxcdn.bootstrapcdn.com/bootstrap/3.4.1/css/bootstrap.min.css"&gt;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&lt;script src="https://ajax.googleapis.com/ajax/libs/jquery/3.7.1/jquery.min.js"&gt;&lt;/script&gt;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&lt;script src="https://maxcdn.bootstrapcdn.com/bootstrap/3.4.1/js/bootstrap.min.js"&gt;&lt;/script&gt;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&lt;/head&gt;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&lt;body&gt;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&lt;div class="container"&gt;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&lt;h2&gt;Dropdowns&lt;/h2&gt;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&lt;p&gt;The .dropdown class is used to indicate a dropdown menu.&lt;/p&gt;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&lt;p&gt;Use the .dropdown-menu class to actually build the dropdown menu.&lt;/p&gt;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&lt;p&gt;To open the dropdown menu, use a button or a link with a class of .dropdown-toggle and data-toggle="dropdown".&lt;/p&gt;                                          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&lt;div class="dropdown"&gt;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&lt;button class="btn btn-primary dropdown-toggle" type="button" data-toggle="dropdown"&gt;Dropdown Example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&lt;span class="caret"&gt;&lt;/span&gt;&lt;/button&gt;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&lt;ul class="dropdown-menu"&gt;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&lt;li&gt;&lt;a href="#"&gt;HTML&lt;/a&gt;&lt;/li&gt;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&lt;li&gt;&lt;a href="#"&gt;CSS&lt;/a&gt;&lt;/li&gt;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&lt;li&gt;&lt;a href="#"&gt;JavaScript&lt;/a&gt;&lt;/li&gt;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&lt;/ul&gt;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&lt;/div&gt;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&lt;/div&gt;&lt;/body&gt;&lt;/html&gt;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8" name="Google Shape;288;p58"/>
          <p:cNvPicPr preferRelativeResize="0"/>
          <p:nvPr/>
        </p:nvPicPr>
        <p:blipFill rotWithShape="1">
          <a:blip r:embed="rId3">
            <a:alphaModFix/>
          </a:blip>
          <a:srcRect l="18832" t="57445" r="42710" b="14611"/>
          <a:stretch/>
        </p:blipFill>
        <p:spPr>
          <a:xfrm>
            <a:off x="5231050" y="379375"/>
            <a:ext cx="3516552" cy="143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9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 b="1" u="sng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Bootstrap Collapse : 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Collapsibles are useful when you want to hide and show large amount of content: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&lt;html&gt;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&lt;head&gt;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   &lt;link rel="stylesheet" href="https://maxcdn.bootstrapcdn.com/bootstrap/3.4.1/css/bootstrap.min.css"&gt;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 &lt;script src="https://ajax.googleapis.com/ajax/libs/jquery/3.7.1/jquery.min.js"&gt;&lt;/script&gt;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 &lt;script src="https://maxcdn.bootstrapcdn.com/bootstrap/3.4.1/js/bootstrap.min.js"&gt;&lt;/script&gt;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&lt;/head&gt;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&lt;body&gt;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&lt;div class="container"&gt;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 &lt;h2&gt;Simple Collapsible&lt;/h2&gt;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 &lt;p&gt;Click on the button to toggle between showing and hiding content.&lt;/p&gt;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 &lt;button type="button" class="btn btn-info" data-toggle="collapse" data-target="#demo"&gt;Simple collapsible&lt;/button&gt;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 &lt;div id="demo" class="collapse"&gt;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  Hello welcome all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  &lt;/div&gt;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&lt;/div&gt;&lt;/body&gt;&lt;/html&gt;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294" name="Google Shape;294;p59"/>
          <p:cNvPicPr preferRelativeResize="0"/>
          <p:nvPr/>
        </p:nvPicPr>
        <p:blipFill rotWithShape="1">
          <a:blip r:embed="rId3">
            <a:alphaModFix/>
          </a:blip>
          <a:srcRect l="17399" t="58581" r="18771" b="18156"/>
          <a:stretch/>
        </p:blipFill>
        <p:spPr>
          <a:xfrm>
            <a:off x="2874525" y="3553050"/>
            <a:ext cx="5836598" cy="119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60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Example Explained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" sz="1200">
                <a:solidFill>
                  <a:srgbClr val="DC14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.collapse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class indicates a collapsible element (a &lt;div&gt; in our example); this is the content that will be shown or hidden with a click of a button.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To control (show/hide) the collapsible content, add the </a:t>
            </a:r>
            <a:r>
              <a:rPr lang="en" sz="1200">
                <a:solidFill>
                  <a:srgbClr val="DC14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data-toggle="collapse"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attribute to an &lt;a&gt; or a &lt;button&gt; element. Then add the </a:t>
            </a:r>
            <a:r>
              <a:rPr lang="en" sz="1200">
                <a:solidFill>
                  <a:srgbClr val="DC14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data-target="#id"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attribute to connect the button with the collapsible content (&lt;div id="demo"&gt;).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1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 b="1" u="sng">
                <a:solidFill>
                  <a:schemeClr val="dk1"/>
                </a:solidFill>
                <a:highlight>
                  <a:srgbClr val="FFFFFF"/>
                </a:highlight>
              </a:rPr>
              <a:t>Bootstrap Pagination : 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If you have a web site with lots of pages, you may wish to add some sort of pagination to each page.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&lt;html lang="en"&gt;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&lt;head&gt;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  &lt;title&gt;Bootstrap Example&lt;/title&gt;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  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  &lt;link rel="stylesheet" href="https://maxcdn.bootstrapcdn.com/bootstrap/3.4.1/css/bootstrap.min.css"&gt;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  &lt;script src="https://ajax.googleapis.com/ajax/libs/jquery/3.7.1/jquery.min.js"&gt;&lt;/script&gt;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  &lt;script src="https://maxcdn.bootstrapcdn.com/bootstrap/3.4.1/js/bootstrap.min.js"&gt;&lt;/script&gt;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&lt;/head&gt;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&lt;body&gt;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&lt;div class="container"&gt;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  &lt;h2&gt;Pagination&lt;/h2&gt;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  &lt;p&gt;The .pagination class provides pagination links:&lt;/p&gt;                  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  &lt;ul class="pagination"&gt;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    &lt;li&gt;&lt;a href="#"&gt;1&lt;/a&gt;&lt;/li&gt;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    &lt;li&gt;&lt;a href="#"&gt;2&lt;/a&gt;&lt;/li&gt;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    &lt;li&gt;&lt;a href="#"&gt;3&lt;/a&gt;&lt;/li&gt;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    &lt;li&gt;&lt;a href="#"&gt;4&lt;/a&gt;&lt;/li&gt;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    &lt;li&gt;&lt;a href="#"&gt;5&lt;/a&gt;&lt;/li&gt;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  &lt;/ul&gt;&lt;/div&gt;&lt;/body&gt;&lt;/html&gt;</a:t>
            </a: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305" name="Google Shape;305;p61"/>
          <p:cNvPicPr preferRelativeResize="0"/>
          <p:nvPr/>
        </p:nvPicPr>
        <p:blipFill rotWithShape="1">
          <a:blip r:embed="rId3">
            <a:alphaModFix/>
          </a:blip>
          <a:srcRect l="18192" t="58012" r="59945" b="25534"/>
          <a:stretch/>
        </p:blipFill>
        <p:spPr>
          <a:xfrm>
            <a:off x="5085125" y="2465950"/>
            <a:ext cx="1999051" cy="846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62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 b="1" u="sng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Bootstrap Navigation Bar : 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With Bootstrap, a navigation bar can extend or collapse, depending on the screen size.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A standard navigation bar is created with </a:t>
            </a:r>
            <a:r>
              <a:rPr lang="en" sz="1200">
                <a:solidFill>
                  <a:srgbClr val="DC14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&lt;nav class="navbar navbar-default"&gt;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.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&lt;html lang="en"&gt;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&lt;head&gt;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 &lt;title&gt;Bootstrap Example&lt;/title&gt;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   &lt;link rel="stylesheet" href="https://maxcdn.bootstrapcdn.com/bootstrap/3.4.1/css/bootstrap.min.css"&gt;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&lt;/head&gt;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&lt;body&gt;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&lt;nav class="navbar navbar-default"&gt;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 &lt;div class="container-fluid"&gt;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   &lt;div class="navbar-header"&gt;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     &lt;a class="navbar-brand" href="#"&gt;WebSiteName&lt;/a&gt;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   &lt;/div&gt;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   &lt;ul class="nav navbar-nav"&gt;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     &lt;li class="active"&gt;&lt;a href="#"&gt;Home&lt;/a&gt;&lt;/li&gt;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     &lt;li&gt;&lt;a href="#"&gt;Page 1&lt;/a&gt;&lt;/li&gt;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     &lt;li&gt;&lt;a href="#"&gt;Page 2&lt;/a&gt;&lt;/li&gt;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     &lt;li&gt;&lt;a href="#"&gt;Page 3&lt;/a&gt;&lt;/li&gt;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   &lt;/ul&gt;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 &lt;/div&gt;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&lt;/nav&gt;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3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&lt;div class="container"&gt;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&lt;h3&gt;Basic Navbar Example&lt;/h3&gt;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&lt;p&gt;A navigation bar is a navigation header that is placed at the top of the page.&lt;/p&gt;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&lt;/div&gt;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&lt;/body&gt;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&lt;/html&gt;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6" name="Google Shape;316;p63"/>
          <p:cNvPicPr preferRelativeResize="0"/>
          <p:nvPr/>
        </p:nvPicPr>
        <p:blipFill rotWithShape="1">
          <a:blip r:embed="rId3">
            <a:alphaModFix/>
          </a:blip>
          <a:srcRect t="56313" r="53804" b="25814"/>
          <a:stretch/>
        </p:blipFill>
        <p:spPr>
          <a:xfrm>
            <a:off x="2393000" y="1364275"/>
            <a:ext cx="4224226" cy="919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64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 b="1" u="sng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Bootstrap Carousel Plugin: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The Carousel Plugin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Carousel plugin is a component for cycling through elements, like a carousel (slideshow)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&lt;html 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&lt;head&gt;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&lt;title&gt;Bootstrap Carousel Example&lt;/title&gt;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&lt;link href="https://cdn.jsdelivr.net/npm/bootstrap@5.3.0/dist/css/bootstrap.min.css" rel="stylesheet"&gt;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&lt;/head&gt;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65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&lt;body&gt;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&lt;div class="container mt-5"&gt;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  &lt;h2 class="text-center"&gt;Bootstrap Carousel Example&lt;/h2&gt;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  &lt;div id="carouselExample" class="carousel slide" data-bs-ride="carousel"&gt;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      &lt;div class="carousel-inner"&gt;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          &lt;div class="carousel-item active" data-bs-interval="1000"&gt;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              &lt;img src="C:/Users/PC/Desktop/IMG.jpeg" class="d-block w-50" alt="Slide 1"&gt;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          &lt;/div&gt;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200" b="1" u="sng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66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&lt;div class="carousel-item" data-bs-interval="1000"&gt;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              &lt;img src="C:/Users/PC/Desktop/IMG1.jpeg" class="d-block w-50" alt="Slide 2"&gt;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          &lt;/div&gt;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          &lt;div class="carousel-item" data-bs-interval="1000"&gt;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              &lt;img src="C:/Users/PC/Desktop/IMG2.jpeg" class="d-block w-50" alt="Slide 3"&gt;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          &lt;/div&gt;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      &lt;/div&gt;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67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&lt;button class="carousel-control-prev" type="button" data-bs-target="#carouselExample" data-bs-slide="prev"&gt;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          &lt;span class="carousel-control-prev-icon" aria-hidden="true"&gt;&lt;/span&gt;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          &lt;span class="visually-hidden"&gt;Previous&lt;/span&gt;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      &lt;/button&gt;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      &lt;button class="carousel-control-next" type="button" data-bs-target="#carouselExample" data-bs-slide="next"&gt;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          &lt;span class="carousel-control-next-icon" aria-hidden="true"&gt;&lt;/span&gt;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          &lt;span class="visually-hidden"&gt;Next&lt;/span&gt;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      &lt;/button&gt;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  &lt;/div&gt;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&lt;/div&gt;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68"/>
          <p:cNvSpPr txBox="1">
            <a:spLocks noGrp="1"/>
          </p:cNvSpPr>
          <p:nvPr>
            <p:ph type="body" idx="1"/>
          </p:nvPr>
        </p:nvSpPr>
        <p:spPr>
          <a:xfrm>
            <a:off x="311700" y="301200"/>
            <a:ext cx="8520600" cy="42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&lt;!-- Bootstrap JS --&gt;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&lt;script src="https://cdn.jsdelivr.net/npm/bootstrap@5.3.0/dist/js/bootstrap.bundle.min.js"&gt;&lt;/script&gt;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&lt;/body&gt;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&lt;/html&gt;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4551</Words>
  <Application>Microsoft Office PowerPoint</Application>
  <PresentationFormat>On-screen Show (16:9)</PresentationFormat>
  <Paragraphs>564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2" baseType="lpstr">
      <vt:lpstr>Arial</vt:lpstr>
      <vt:lpstr>Courier New</vt:lpstr>
      <vt:lpstr>Verdana</vt:lpstr>
      <vt:lpstr>Roboto Mono</vt:lpstr>
      <vt:lpstr>Times New Roman</vt:lpstr>
      <vt:lpstr>Simple Light</vt:lpstr>
      <vt:lpstr>UNIT V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V</dc:title>
  <dc:creator>admin</dc:creator>
  <cp:lastModifiedBy>admin</cp:lastModifiedBy>
  <cp:revision>1</cp:revision>
  <dcterms:modified xsi:type="dcterms:W3CDTF">2025-02-21T06:59:42Z</dcterms:modified>
</cp:coreProperties>
</file>