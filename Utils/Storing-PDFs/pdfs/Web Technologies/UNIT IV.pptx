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Mono-regular.fntdata"/><Relationship Id="rId21" Type="http://schemas.openxmlformats.org/officeDocument/2006/relationships/slide" Target="slides/slide16.xml"/><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cc147644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cc147644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2286e3b9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2286e3b9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f2cee0be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2f2cee0be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2cc147644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2cc147644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2cc147644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2cc14764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2cc147644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2cc147644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cc147644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cc147644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2d1701b9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2d1701b9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cc147644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2cc147644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2cc147644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2cc147644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2cc147644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2cc147644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cc147644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2cc147644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cc147644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cc147644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2cc147644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2cc147644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2cc147644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2cc147644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42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UNIT IV</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WEBSITE LAYOUT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273239"/>
                </a:solidFill>
                <a:highlight>
                  <a:srgbClr val="FFFFFF"/>
                </a:highlight>
                <a:latin typeface="Times New Roman"/>
                <a:ea typeface="Times New Roman"/>
                <a:cs typeface="Times New Roman"/>
                <a:sym typeface="Times New Roman"/>
              </a:rPr>
              <a:t>Website Layout </a:t>
            </a:r>
            <a:r>
              <a:rPr lang="en" sz="1100">
                <a:solidFill>
                  <a:schemeClr val="dk1"/>
                </a:solidFill>
              </a:rPr>
              <a:t>A </a:t>
            </a:r>
            <a:r>
              <a:rPr b="1" lang="en" sz="1100">
                <a:solidFill>
                  <a:schemeClr val="dk1"/>
                </a:solidFill>
              </a:rPr>
              <a:t>website layout</a:t>
            </a:r>
            <a:r>
              <a:rPr lang="en" sz="1100">
                <a:solidFill>
                  <a:schemeClr val="dk1"/>
                </a:solidFill>
              </a:rPr>
              <a:t> is the arrangement of elements on a webpage, such as text, images, buttons, menus, and links. It determines how the content is organized and displayed, affecting how easy and enjoyable the site is for visitors to navigate and interact with.</a:t>
            </a:r>
            <a:endParaRPr sz="1100">
              <a:solidFill>
                <a:schemeClr val="dk1"/>
              </a:solidFill>
            </a:endParaRPr>
          </a:p>
          <a:p>
            <a:pPr indent="0" lvl="0" marL="0" rtl="0" algn="l">
              <a:spcBef>
                <a:spcPts val="1200"/>
              </a:spcBef>
              <a:spcAft>
                <a:spcPts val="1200"/>
              </a:spcAft>
              <a:buNone/>
            </a:pPr>
            <a:r>
              <a:t/>
            </a:r>
            <a:endParaRPr b="1">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273239"/>
                </a:solidFill>
                <a:highlight>
                  <a:srgbClr val="FFFFFF"/>
                </a:highlight>
                <a:latin typeface="Times New Roman"/>
                <a:ea typeface="Times New Roman"/>
                <a:cs typeface="Times New Roman"/>
                <a:sym typeface="Times New Roman"/>
              </a:rPr>
              <a:t>Website Layout Important</a:t>
            </a:r>
            <a:endParaRPr b="1">
              <a:solidFill>
                <a:srgbClr val="273239"/>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100">
                <a:solidFill>
                  <a:schemeClr val="dk1"/>
                </a:solidFill>
              </a:rPr>
              <a:t>Imagine a website is like a store. The </a:t>
            </a:r>
            <a:r>
              <a:rPr b="1" lang="en" sz="1100">
                <a:solidFill>
                  <a:schemeClr val="dk1"/>
                </a:solidFill>
              </a:rPr>
              <a:t>layout</a:t>
            </a:r>
            <a:r>
              <a:rPr lang="en" sz="1100">
                <a:solidFill>
                  <a:schemeClr val="dk1"/>
                </a:solidFill>
              </a:rPr>
              <a:t> is how the store is arranged – how the shelves, signs, and checkout counter are set up.</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If the store is well-organized, it’s easy for you to find what you need, and you’re more likely to buy something. The same goes for websites!</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 sz="1300">
                <a:solidFill>
                  <a:schemeClr val="dk1"/>
                </a:solidFill>
              </a:rPr>
              <a:t>Key Reasons Why Layout Matters:</a:t>
            </a:r>
            <a:endParaRPr b="1" sz="1300">
              <a:solidFill>
                <a:schemeClr val="dk1"/>
              </a:solidFill>
            </a:endParaRPr>
          </a:p>
          <a:p>
            <a:pPr indent="-298450" lvl="0" marL="457200" rtl="0" algn="l">
              <a:spcBef>
                <a:spcPts val="1200"/>
              </a:spcBef>
              <a:spcAft>
                <a:spcPts val="0"/>
              </a:spcAft>
              <a:buClr>
                <a:schemeClr val="dk1"/>
              </a:buClr>
              <a:buSzPts val="1100"/>
              <a:buAutoNum type="arabicPeriod"/>
            </a:pPr>
            <a:r>
              <a:rPr b="1" lang="en" sz="1100">
                <a:solidFill>
                  <a:schemeClr val="dk1"/>
                </a:solidFill>
              </a:rPr>
              <a:t>Helps Users Find What They Need</a:t>
            </a:r>
            <a:br>
              <a:rPr b="1" lang="en" sz="1100">
                <a:solidFill>
                  <a:schemeClr val="dk1"/>
                </a:solidFill>
              </a:rPr>
            </a:br>
            <a:r>
              <a:rPr lang="en" sz="1100">
                <a:solidFill>
                  <a:schemeClr val="dk1"/>
                </a:solidFill>
              </a:rPr>
              <a:t>Just like in a store, if things are easy to find, users will stay longer and use your website more. If it's messy, they’ll leave.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Makes the Website Easy to Use</a:t>
            </a:r>
            <a:br>
              <a:rPr b="1" lang="en" sz="1100">
                <a:solidFill>
                  <a:schemeClr val="dk1"/>
                </a:solidFill>
              </a:rPr>
            </a:br>
            <a:r>
              <a:rPr lang="en" sz="1100">
                <a:solidFill>
                  <a:schemeClr val="dk1"/>
                </a:solidFill>
              </a:rPr>
              <a:t>A good layout makes using the site smooth and simple. Users can easily click buttons or read information without getting lost.</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Looks Professional</a:t>
            </a:r>
            <a:br>
              <a:rPr b="1" lang="en" sz="1100">
                <a:solidFill>
                  <a:schemeClr val="dk1"/>
                </a:solidFill>
              </a:rPr>
            </a:br>
            <a:r>
              <a:rPr lang="en" sz="1100">
                <a:solidFill>
                  <a:schemeClr val="dk1"/>
                </a:solidFill>
              </a:rPr>
              <a:t>If the layout is well-designed, it makes your website look nice and trustworthy. If it's messy or confusing, people may think the website is not professional.</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Mobile-Friendly</a:t>
            </a:r>
            <a:br>
              <a:rPr b="1" lang="en" sz="1100">
                <a:solidFill>
                  <a:schemeClr val="dk1"/>
                </a:solidFill>
              </a:rPr>
            </a:br>
            <a:r>
              <a:rPr lang="en" sz="1100">
                <a:solidFill>
                  <a:schemeClr val="dk1"/>
                </a:solidFill>
              </a:rPr>
              <a:t>A good layout also works on smartphones. If the layout adjusts properly, users can still navigate and use the site even on a small screen.</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Helps with Sales or Actions</a:t>
            </a:r>
            <a:br>
              <a:rPr b="1" lang="en" sz="1100">
                <a:solidFill>
                  <a:schemeClr val="dk1"/>
                </a:solidFill>
              </a:rPr>
            </a:br>
            <a:r>
              <a:rPr lang="en" sz="1100">
                <a:solidFill>
                  <a:schemeClr val="dk1"/>
                </a:solidFill>
              </a:rPr>
              <a:t>A clear layout puts important buttons (like “Buy Now” or “Contact Us”) in the right places, so people can take action easily.</a:t>
            </a:r>
            <a:endParaRPr sz="1100">
              <a:solidFill>
                <a:schemeClr val="dk1"/>
              </a:solidFill>
            </a:endParaRPr>
          </a:p>
          <a:p>
            <a:pPr indent="0" lvl="0" marL="0" rtl="0" algn="l">
              <a:spcBef>
                <a:spcPts val="1200"/>
              </a:spcBef>
              <a:spcAft>
                <a:spcPts val="1200"/>
              </a:spcAft>
              <a:buNone/>
            </a:pPr>
            <a:r>
              <a:t/>
            </a:r>
            <a:endParaRPr b="1">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001D35"/>
                </a:solidFill>
                <a:highlight>
                  <a:srgbClr val="FFFFFF"/>
                </a:highlight>
                <a:latin typeface="Times New Roman"/>
                <a:ea typeface="Times New Roman"/>
                <a:cs typeface="Times New Roman"/>
                <a:sym typeface="Times New Roman"/>
              </a:rPr>
              <a:t>HTML LAYOUT ELEMENTS</a:t>
            </a:r>
            <a:endParaRPr sz="2000">
              <a:solidFill>
                <a:srgbClr val="001D35"/>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100">
                <a:solidFill>
                  <a:schemeClr val="dk1"/>
                </a:solidFill>
              </a:rPr>
              <a:t>HTML (HyperText Markup Language) is the standard language used to create webpages. It provides the structure and content for a website. To make a webpage visually appealing and easy to navigate, it's important to organize content effectively. </a:t>
            </a:r>
            <a:r>
              <a:rPr b="1" lang="en" sz="1100">
                <a:solidFill>
                  <a:schemeClr val="dk1"/>
                </a:solidFill>
              </a:rPr>
              <a:t>HTML layout elements</a:t>
            </a:r>
            <a:r>
              <a:rPr lang="en" sz="1100">
                <a:solidFill>
                  <a:schemeClr val="dk1"/>
                </a:solidFill>
              </a:rPr>
              <a:t> are tags that help structure the page and define different sections of the content, such as headers, navigation menus, main articles, and footers.</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Using these layout elements correctly ensures that the content is not only organized but also accessible, mobile-friendly, and easy for both users and search engines to understand.</a:t>
            </a:r>
            <a:endParaRPr sz="1100">
              <a:solidFill>
                <a:schemeClr val="dk1"/>
              </a:solidFill>
            </a:endParaRPr>
          </a:p>
          <a:p>
            <a:pPr indent="0" lvl="0" marL="0" rtl="0" algn="l">
              <a:spcBef>
                <a:spcPts val="1200"/>
              </a:spcBef>
              <a:spcAft>
                <a:spcPts val="120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001D35"/>
                </a:solidFill>
                <a:highlight>
                  <a:srgbClr val="FFFFFF"/>
                </a:highlight>
                <a:latin typeface="Times New Roman"/>
                <a:ea typeface="Times New Roman"/>
                <a:cs typeface="Times New Roman"/>
                <a:sym typeface="Times New Roman"/>
              </a:rPr>
              <a:t>HTML LAYOUT ELEMENTS</a:t>
            </a:r>
            <a:endParaRPr sz="2000">
              <a:solidFill>
                <a:srgbClr val="001D35"/>
              </a:solidFill>
              <a:highlight>
                <a:srgbClr val="FFFFFF"/>
              </a:highlight>
              <a:latin typeface="Times New Roman"/>
              <a:ea typeface="Times New Roman"/>
              <a:cs typeface="Times New Roman"/>
              <a:sym typeface="Times New Roman"/>
            </a:endParaRPr>
          </a:p>
          <a:p>
            <a:pPr indent="0" lvl="0" marL="0" rtl="0" algn="l">
              <a:spcBef>
                <a:spcPts val="1200"/>
              </a:spcBef>
              <a:spcAft>
                <a:spcPts val="1200"/>
              </a:spcAft>
              <a:buNone/>
            </a:pPr>
            <a:r>
              <a:rPr lang="en" sz="1150">
                <a:solidFill>
                  <a:schemeClr val="dk1"/>
                </a:solidFill>
                <a:highlight>
                  <a:srgbClr val="FFFFFF"/>
                </a:highlight>
                <a:latin typeface="Verdana"/>
                <a:ea typeface="Verdana"/>
                <a:cs typeface="Verdana"/>
                <a:sym typeface="Verdana"/>
              </a:rPr>
              <a:t>HTML has several semantic elements that define the different parts of a web page:</a:t>
            </a:r>
            <a:endParaRPr sz="2000">
              <a:solidFill>
                <a:srgbClr val="001D35"/>
              </a:solidFill>
              <a:highlight>
                <a:srgbClr val="FFFFFF"/>
              </a:highlight>
              <a:latin typeface="Times New Roman"/>
              <a:ea typeface="Times New Roman"/>
              <a:cs typeface="Times New Roman"/>
              <a:sym typeface="Times New Roman"/>
            </a:endParaRPr>
          </a:p>
        </p:txBody>
      </p:sp>
      <p:pic>
        <p:nvPicPr>
          <p:cNvPr id="76" name="Google Shape;76;p17"/>
          <p:cNvPicPr preferRelativeResize="0"/>
          <p:nvPr/>
        </p:nvPicPr>
        <p:blipFill>
          <a:blip r:embed="rId3">
            <a:alphaModFix/>
          </a:blip>
          <a:stretch>
            <a:fillRect/>
          </a:stretch>
        </p:blipFill>
        <p:spPr>
          <a:xfrm>
            <a:off x="558100" y="1343025"/>
            <a:ext cx="3917925" cy="2923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1. Header</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Purpose</a:t>
            </a:r>
            <a:r>
              <a:rPr lang="en" sz="1100">
                <a:solidFill>
                  <a:schemeClr val="dk1"/>
                </a:solidFill>
              </a:rPr>
              <a:t>: Contains introductory content like the website logo, title, or navigation links.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Typically at the top of a webpage.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r>
              <a:rPr lang="en" sz="1100">
                <a:solidFill>
                  <a:schemeClr val="dk1"/>
                </a:solidFill>
              </a:rPr>
              <a:t>:</a:t>
            </a:r>
            <a:br>
              <a:rPr lang="en" sz="1100">
                <a:solidFill>
                  <a:schemeClr val="dk1"/>
                </a:solidFill>
              </a:rPr>
            </a:br>
            <a:r>
              <a:rPr lang="en" sz="2000">
                <a:solidFill>
                  <a:srgbClr val="001D35"/>
                </a:solidFill>
                <a:highlight>
                  <a:srgbClr val="FFFFFF"/>
                </a:highlight>
                <a:latin typeface="Times New Roman"/>
                <a:ea typeface="Times New Roman"/>
                <a:cs typeface="Times New Roman"/>
                <a:sym typeface="Times New Roman"/>
              </a:rPr>
              <a:t>&lt;header&gt;</a:t>
            </a:r>
            <a:endParaRPr sz="2000">
              <a:solidFill>
                <a:srgbClr val="001D35"/>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2000">
                <a:solidFill>
                  <a:srgbClr val="001D35"/>
                </a:solidFill>
                <a:highlight>
                  <a:srgbClr val="FFFFFF"/>
                </a:highlight>
                <a:latin typeface="Times New Roman"/>
                <a:ea typeface="Times New Roman"/>
                <a:cs typeface="Times New Roman"/>
                <a:sym typeface="Times New Roman"/>
              </a:rPr>
              <a:t>  &lt;h1&gt;My Website&lt;/h1&gt;</a:t>
            </a:r>
            <a:endParaRPr sz="2000">
              <a:solidFill>
                <a:srgbClr val="001D35"/>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2000">
                <a:solidFill>
                  <a:srgbClr val="001D35"/>
                </a:solidFill>
                <a:highlight>
                  <a:srgbClr val="FFFFFF"/>
                </a:highlight>
                <a:latin typeface="Times New Roman"/>
                <a:ea typeface="Times New Roman"/>
                <a:cs typeface="Times New Roman"/>
                <a:sym typeface="Times New Roman"/>
              </a:rPr>
              <a:t>  &lt;p&gt;Welcome to my site!&lt;/p&gt;</a:t>
            </a:r>
            <a:endParaRPr sz="2000">
              <a:solidFill>
                <a:srgbClr val="001D35"/>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2000">
                <a:solidFill>
                  <a:srgbClr val="001D35"/>
                </a:solidFill>
                <a:highlight>
                  <a:srgbClr val="FFFFFF"/>
                </a:highlight>
                <a:latin typeface="Times New Roman"/>
                <a:ea typeface="Times New Roman"/>
                <a:cs typeface="Times New Roman"/>
                <a:sym typeface="Times New Roman"/>
              </a:rPr>
              <a:t>&lt;/header&gt;</a:t>
            </a:r>
            <a:endParaRPr sz="2000">
              <a:solidFill>
                <a:srgbClr val="001D35"/>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rgbClr val="001D35"/>
              </a:solidFill>
              <a:highlight>
                <a:srgbClr val="FFFFFF"/>
              </a:highlight>
              <a:latin typeface="Times New Roman"/>
              <a:ea typeface="Times New Roman"/>
              <a:cs typeface="Times New Roman"/>
              <a:sym typeface="Times New Roman"/>
            </a:endParaRPr>
          </a:p>
          <a:p>
            <a:pPr indent="0" lvl="0" marL="0" rtl="0" algn="l">
              <a:spcBef>
                <a:spcPts val="1200"/>
              </a:spcBef>
              <a:spcAft>
                <a:spcPts val="1200"/>
              </a:spcAft>
              <a:buNone/>
            </a:pPr>
            <a:r>
              <a:t/>
            </a:r>
            <a:endParaRPr sz="2000">
              <a:solidFill>
                <a:srgbClr val="001D35"/>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2. Nav</a:t>
            </a:r>
            <a:endParaRPr b="1" sz="1300">
              <a:solidFill>
                <a:schemeClr val="dk1"/>
              </a:solidFill>
            </a:endParaRPr>
          </a:p>
          <a:p>
            <a:pPr indent="0" lvl="0" marL="0" rtl="0" algn="l">
              <a:spcBef>
                <a:spcPts val="1200"/>
              </a:spcBef>
              <a:spcAft>
                <a:spcPts val="0"/>
              </a:spcAft>
              <a:buNone/>
            </a:pPr>
            <a:r>
              <a:rPr b="1" lang="en" sz="1100">
                <a:solidFill>
                  <a:schemeClr val="dk1"/>
                </a:solidFill>
              </a:rPr>
              <a:t>Purpose</a:t>
            </a:r>
            <a:r>
              <a:rPr lang="en" sz="1100">
                <a:solidFill>
                  <a:schemeClr val="dk1"/>
                </a:solidFill>
              </a:rPr>
              <a:t>: Used to define navigation links for a website (menus or links to other pages).</a:t>
            </a:r>
            <a:endParaRPr sz="1100">
              <a:solidFill>
                <a:schemeClr val="dk1"/>
              </a:solidFill>
            </a:endParaRPr>
          </a:p>
          <a:p>
            <a:pPr indent="0" lvl="0" marL="0" rtl="0" algn="l">
              <a:spcBef>
                <a:spcPts val="1200"/>
              </a:spcBef>
              <a:spcAft>
                <a:spcPts val="0"/>
              </a:spcAft>
              <a:buNone/>
            </a:pPr>
            <a:r>
              <a:rPr b="1" lang="en" sz="1100">
                <a:solidFill>
                  <a:schemeClr val="dk1"/>
                </a:solidFill>
              </a:rPr>
              <a:t>Where to use</a:t>
            </a:r>
            <a:r>
              <a:rPr lang="en" sz="1100">
                <a:solidFill>
                  <a:schemeClr val="dk1"/>
                </a:solidFill>
              </a:rPr>
              <a:t>: Usually in the header or sidebar.</a:t>
            </a:r>
            <a:endParaRPr sz="1100">
              <a:solidFill>
                <a:schemeClr val="dk1"/>
              </a:solidFill>
            </a:endParaRPr>
          </a:p>
          <a:p>
            <a:pPr indent="0" lvl="0" marL="0" rtl="0" algn="l">
              <a:spcBef>
                <a:spcPts val="1200"/>
              </a:spcBef>
              <a:spcAft>
                <a:spcPts val="0"/>
              </a:spcAft>
              <a:buNone/>
            </a:pPr>
            <a:r>
              <a:rPr b="1" lang="en" sz="1100">
                <a:solidFill>
                  <a:schemeClr val="dk1"/>
                </a:solidFill>
              </a:rPr>
              <a:t>Example</a:t>
            </a:r>
            <a:r>
              <a:rPr lang="en" sz="1100">
                <a:solidFill>
                  <a:schemeClr val="dk1"/>
                </a:solidFill>
              </a:rPr>
              <a:t>:</a:t>
            </a:r>
            <a:br>
              <a:rPr lang="en" sz="1100">
                <a:solidFill>
                  <a:schemeClr val="dk1"/>
                </a:solidFill>
              </a:rPr>
            </a:br>
            <a:r>
              <a:rPr lang="en" sz="1100">
                <a:solidFill>
                  <a:schemeClr val="dk1"/>
                </a:solidFill>
              </a:rPr>
              <a:t>&lt;nav&gt;</a:t>
            </a:r>
            <a:endParaRPr sz="1100">
              <a:solidFill>
                <a:schemeClr val="dk1"/>
              </a:solidFill>
            </a:endParaRPr>
          </a:p>
          <a:p>
            <a:pPr indent="0" lvl="0" marL="0" rtl="0" algn="l">
              <a:spcBef>
                <a:spcPts val="1200"/>
              </a:spcBef>
              <a:spcAft>
                <a:spcPts val="0"/>
              </a:spcAft>
              <a:buNone/>
            </a:pPr>
            <a:r>
              <a:rPr lang="en" sz="1100">
                <a:solidFill>
                  <a:schemeClr val="dk1"/>
                </a:solidFill>
              </a:rPr>
              <a:t>  &lt;ul&gt;</a:t>
            </a:r>
            <a:endParaRPr sz="1100">
              <a:solidFill>
                <a:schemeClr val="dk1"/>
              </a:solidFill>
            </a:endParaRPr>
          </a:p>
          <a:p>
            <a:pPr indent="0" lvl="0" marL="0" rtl="0" algn="l">
              <a:spcBef>
                <a:spcPts val="1200"/>
              </a:spcBef>
              <a:spcAft>
                <a:spcPts val="0"/>
              </a:spcAft>
              <a:buNone/>
            </a:pPr>
            <a:r>
              <a:rPr lang="en" sz="1100">
                <a:solidFill>
                  <a:schemeClr val="dk1"/>
                </a:solidFill>
              </a:rPr>
              <a:t>    &lt;li&gt;&lt;a href="#home"&gt;Home&lt;/a&gt;&lt;/li&gt;</a:t>
            </a:r>
            <a:endParaRPr sz="1100">
              <a:solidFill>
                <a:schemeClr val="dk1"/>
              </a:solidFill>
            </a:endParaRPr>
          </a:p>
          <a:p>
            <a:pPr indent="0" lvl="0" marL="0" rtl="0" algn="l">
              <a:spcBef>
                <a:spcPts val="1200"/>
              </a:spcBef>
              <a:spcAft>
                <a:spcPts val="0"/>
              </a:spcAft>
              <a:buNone/>
            </a:pPr>
            <a:r>
              <a:rPr lang="en" sz="1100">
                <a:solidFill>
                  <a:schemeClr val="dk1"/>
                </a:solidFill>
              </a:rPr>
              <a:t>    &lt;li&gt;&lt;a href="#about"&gt;About&lt;/a&gt;&lt;/li&gt;</a:t>
            </a:r>
            <a:endParaRPr sz="1100">
              <a:solidFill>
                <a:schemeClr val="dk1"/>
              </a:solidFill>
            </a:endParaRPr>
          </a:p>
          <a:p>
            <a:pPr indent="0" lvl="0" marL="0" rtl="0" algn="l">
              <a:spcBef>
                <a:spcPts val="1200"/>
              </a:spcBef>
              <a:spcAft>
                <a:spcPts val="0"/>
              </a:spcAft>
              <a:buNone/>
            </a:pPr>
            <a:r>
              <a:rPr lang="en" sz="1100">
                <a:solidFill>
                  <a:schemeClr val="dk1"/>
                </a:solidFill>
              </a:rPr>
              <a:t>    &lt;li&gt;&lt;a href="#contact"&gt;Contact&lt;/a&gt;&lt;/li&gt;</a:t>
            </a:r>
            <a:endParaRPr sz="1100">
              <a:solidFill>
                <a:schemeClr val="dk1"/>
              </a:solidFill>
            </a:endParaRPr>
          </a:p>
          <a:p>
            <a:pPr indent="0" lvl="0" marL="0" rtl="0" algn="l">
              <a:spcBef>
                <a:spcPts val="1200"/>
              </a:spcBef>
              <a:spcAft>
                <a:spcPts val="0"/>
              </a:spcAft>
              <a:buNone/>
            </a:pPr>
            <a:r>
              <a:rPr lang="en" sz="1100">
                <a:solidFill>
                  <a:schemeClr val="dk1"/>
                </a:solidFill>
              </a:rPr>
              <a:t>  &lt;/ul&gt;</a:t>
            </a:r>
            <a:endParaRPr sz="1100">
              <a:solidFill>
                <a:schemeClr val="dk1"/>
              </a:solidFill>
            </a:endParaRPr>
          </a:p>
          <a:p>
            <a:pPr indent="0" lvl="0" marL="0" rtl="0" algn="l">
              <a:spcBef>
                <a:spcPts val="1200"/>
              </a:spcBef>
              <a:spcAft>
                <a:spcPts val="0"/>
              </a:spcAft>
              <a:buNone/>
            </a:pPr>
            <a:r>
              <a:rPr lang="en" sz="1100">
                <a:solidFill>
                  <a:schemeClr val="dk1"/>
                </a:solidFill>
              </a:rPr>
              <a:t>&lt;/nav&gt;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0"/>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3. Section</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Purpose</a:t>
            </a:r>
            <a:r>
              <a:rPr lang="en" sz="1100">
                <a:solidFill>
                  <a:schemeClr val="dk1"/>
                </a:solidFill>
              </a:rPr>
              <a:t>: Represents a section of content that can stand alone, like a group of related articles or a specific part of a page.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To group content together that is thematically related.</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endParaRPr b="1" sz="1100">
              <a:solidFill>
                <a:schemeClr val="dk1"/>
              </a:solidFill>
            </a:endParaRPr>
          </a:p>
          <a:p>
            <a:pPr indent="0" lvl="0" marL="0" rtl="0" algn="l">
              <a:spcBef>
                <a:spcPts val="1200"/>
              </a:spcBef>
              <a:spcAft>
                <a:spcPts val="0"/>
              </a:spcAft>
              <a:buNone/>
            </a:pPr>
            <a:r>
              <a:rPr b="1" lang="en" sz="1300">
                <a:solidFill>
                  <a:schemeClr val="dk1"/>
                </a:solidFill>
              </a:rPr>
              <a:t>&lt;section&gt;</a:t>
            </a:r>
            <a:endParaRPr b="1" sz="1300">
              <a:solidFill>
                <a:schemeClr val="dk1"/>
              </a:solidFill>
            </a:endParaRPr>
          </a:p>
          <a:p>
            <a:pPr indent="0" lvl="0" marL="0" rtl="0" algn="l">
              <a:spcBef>
                <a:spcPts val="1200"/>
              </a:spcBef>
              <a:spcAft>
                <a:spcPts val="0"/>
              </a:spcAft>
              <a:buNone/>
            </a:pPr>
            <a:r>
              <a:rPr b="1" lang="en" sz="1300">
                <a:solidFill>
                  <a:schemeClr val="dk1"/>
                </a:solidFill>
              </a:rPr>
              <a:t>  &lt;h2&gt;Latest News&lt;/h2&gt;</a:t>
            </a:r>
            <a:endParaRPr b="1" sz="1300">
              <a:solidFill>
                <a:schemeClr val="dk1"/>
              </a:solidFill>
            </a:endParaRPr>
          </a:p>
          <a:p>
            <a:pPr indent="0" lvl="0" marL="0" rtl="0" algn="l">
              <a:spcBef>
                <a:spcPts val="1200"/>
              </a:spcBef>
              <a:spcAft>
                <a:spcPts val="0"/>
              </a:spcAft>
              <a:buNone/>
            </a:pPr>
            <a:r>
              <a:rPr b="1" lang="en" sz="1300">
                <a:solidFill>
                  <a:schemeClr val="dk1"/>
                </a:solidFill>
              </a:rPr>
              <a:t>  &lt;p&gt;Here are the latest updates.&lt;/p&gt;</a:t>
            </a:r>
            <a:endParaRPr b="1" sz="1300">
              <a:solidFill>
                <a:schemeClr val="dk1"/>
              </a:solidFill>
            </a:endParaRPr>
          </a:p>
          <a:p>
            <a:pPr indent="0" lvl="0" marL="0" rtl="0" algn="l">
              <a:spcBef>
                <a:spcPts val="1200"/>
              </a:spcBef>
              <a:spcAft>
                <a:spcPts val="0"/>
              </a:spcAft>
              <a:buNone/>
            </a:pPr>
            <a:r>
              <a:rPr b="1" lang="en" sz="1300">
                <a:solidFill>
                  <a:schemeClr val="dk1"/>
                </a:solidFill>
              </a:rPr>
              <a:t>&lt;/section&gt;</a:t>
            </a:r>
            <a:endParaRPr b="1" sz="130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dk1"/>
                </a:solidFill>
              </a:rPr>
              <a:t>&lt;html &gt;</a:t>
            </a:r>
            <a:endParaRPr b="1" sz="1300">
              <a:solidFill>
                <a:schemeClr val="dk1"/>
              </a:solidFill>
            </a:endParaRPr>
          </a:p>
          <a:p>
            <a:pPr indent="0" lvl="0" marL="0" rtl="0" algn="l">
              <a:spcBef>
                <a:spcPts val="0"/>
              </a:spcBef>
              <a:spcAft>
                <a:spcPts val="0"/>
              </a:spcAft>
              <a:buClr>
                <a:schemeClr val="dk1"/>
              </a:buClr>
              <a:buSzPts val="1100"/>
              <a:buFont typeface="Arial"/>
              <a:buNone/>
            </a:pPr>
            <a:r>
              <a:rPr b="1" lang="en" sz="1300">
                <a:solidFill>
                  <a:schemeClr val="dk1"/>
                </a:solidFill>
              </a:rPr>
              <a:t>&lt;head&gt;</a:t>
            </a:r>
            <a:endParaRPr b="1" sz="1300">
              <a:solidFill>
                <a:schemeClr val="dk1"/>
              </a:solidFill>
            </a:endParaRPr>
          </a:p>
          <a:p>
            <a:pPr indent="0" lvl="0" marL="0" rtl="0" algn="l">
              <a:spcBef>
                <a:spcPts val="0"/>
              </a:spcBef>
              <a:spcAft>
                <a:spcPts val="0"/>
              </a:spcAft>
              <a:buClr>
                <a:schemeClr val="dk1"/>
              </a:buClr>
              <a:buSzPts val="1100"/>
              <a:buFont typeface="Arial"/>
              <a:buNone/>
            </a:pPr>
            <a:r>
              <a:rPr b="1" lang="en" sz="1300">
                <a:solidFill>
                  <a:schemeClr val="dk1"/>
                </a:solidFill>
              </a:rPr>
              <a:t>    &lt;title&gt;Website Layout Example&lt;/title&gt;</a:t>
            </a:r>
            <a:endParaRPr b="1" sz="1300">
              <a:solidFill>
                <a:schemeClr val="dk1"/>
              </a:solidFill>
            </a:endParaRPr>
          </a:p>
          <a:p>
            <a:pPr indent="0" lvl="0" marL="0" rtl="0" algn="l">
              <a:spcBef>
                <a:spcPts val="0"/>
              </a:spcBef>
              <a:spcAft>
                <a:spcPts val="0"/>
              </a:spcAft>
              <a:buClr>
                <a:schemeClr val="dk1"/>
              </a:buClr>
              <a:buSzPts val="1100"/>
              <a:buFont typeface="Arial"/>
              <a:buNone/>
            </a:pPr>
            <a:r>
              <a:rPr b="1" lang="en" sz="1300">
                <a:solidFill>
                  <a:schemeClr val="dk1"/>
                </a:solidFill>
              </a:rPr>
              <a:t>    &lt;style&gt;</a:t>
            </a:r>
            <a:endParaRPr b="1" sz="1300">
              <a:solidFill>
                <a:schemeClr val="dk1"/>
              </a:solidFill>
            </a:endParaRPr>
          </a:p>
          <a:p>
            <a:pPr indent="0" lvl="0" marL="0" rtl="0" algn="l">
              <a:spcBef>
                <a:spcPts val="0"/>
              </a:spcBef>
              <a:spcAft>
                <a:spcPts val="0"/>
              </a:spcAft>
              <a:buClr>
                <a:schemeClr val="dk1"/>
              </a:buClr>
              <a:buSzPts val="1100"/>
              <a:buFont typeface="Arial"/>
              <a:buNone/>
            </a:pPr>
            <a:r>
              <a:rPr b="1" lang="en" sz="1300">
                <a:solidFill>
                  <a:schemeClr val="dk1"/>
                </a:solidFill>
              </a:rPr>
              <a:t>        section {</a:t>
            </a:r>
            <a:endParaRPr b="1" sz="1300">
              <a:solidFill>
                <a:schemeClr val="dk1"/>
              </a:solidFill>
            </a:endParaRPr>
          </a:p>
          <a:p>
            <a:pPr indent="0" lvl="0" marL="0" rtl="0" algn="l">
              <a:spcBef>
                <a:spcPts val="0"/>
              </a:spcBef>
              <a:spcAft>
                <a:spcPts val="0"/>
              </a:spcAft>
              <a:buClr>
                <a:schemeClr val="dk1"/>
              </a:buClr>
              <a:buSzPts val="1100"/>
              <a:buFont typeface="Arial"/>
              <a:buNone/>
            </a:pPr>
            <a:r>
              <a:rPr b="1" lang="en" sz="1300">
                <a:solidFill>
                  <a:schemeClr val="dk1"/>
                </a:solidFill>
              </a:rPr>
              <a:t>            padding: 20px;</a:t>
            </a:r>
            <a:endParaRPr b="1" sz="1300">
              <a:solidFill>
                <a:schemeClr val="dk1"/>
              </a:solidFill>
            </a:endParaRPr>
          </a:p>
          <a:p>
            <a:pPr indent="0" lvl="0" marL="0" rtl="0" algn="l">
              <a:spcBef>
                <a:spcPts val="0"/>
              </a:spcBef>
              <a:spcAft>
                <a:spcPts val="0"/>
              </a:spcAft>
              <a:buClr>
                <a:schemeClr val="dk1"/>
              </a:buClr>
              <a:buSzPts val="1100"/>
              <a:buFont typeface="Arial"/>
              <a:buNone/>
            </a:pPr>
            <a:r>
              <a:rPr b="1" lang="en" sz="1300">
                <a:solidFill>
                  <a:schemeClr val="dk1"/>
                </a:solidFill>
              </a:rPr>
              <a:t>            margin: 10px 0;</a:t>
            </a:r>
            <a:endParaRPr b="1" sz="1300">
              <a:solidFill>
                <a:schemeClr val="dk1"/>
              </a:solidFill>
            </a:endParaRPr>
          </a:p>
          <a:p>
            <a:pPr indent="0" lvl="0" marL="0" rtl="0" algn="l">
              <a:spcBef>
                <a:spcPts val="0"/>
              </a:spcBef>
              <a:spcAft>
                <a:spcPts val="0"/>
              </a:spcAft>
              <a:buNone/>
            </a:pPr>
            <a:r>
              <a:rPr b="1" lang="en" sz="1300">
                <a:solidFill>
                  <a:schemeClr val="dk1"/>
                </a:solidFill>
              </a:rPr>
              <a:t>            border: 1px solid #ddd;</a:t>
            </a:r>
            <a:endParaRPr b="1" sz="1300">
              <a:solidFill>
                <a:schemeClr val="dk1"/>
              </a:solidFill>
            </a:endParaRPr>
          </a:p>
          <a:p>
            <a:pPr indent="0" lvl="0" marL="0" rtl="0" algn="l">
              <a:spcBef>
                <a:spcPts val="0"/>
              </a:spcBef>
              <a:spcAft>
                <a:spcPts val="0"/>
              </a:spcAft>
              <a:buNone/>
            </a:pPr>
            <a:r>
              <a:rPr b="1" lang="en" sz="1300">
                <a:solidFill>
                  <a:schemeClr val="dk1"/>
                </a:solidFill>
              </a:rPr>
              <a:t>background-color: #f9f9f9;</a:t>
            </a:r>
            <a:endParaRPr b="1" sz="1300">
              <a:solidFill>
                <a:schemeClr val="dk1"/>
              </a:solidFill>
            </a:endParaRPr>
          </a:p>
          <a:p>
            <a:pPr indent="0" lvl="0" marL="0" rtl="0" algn="l">
              <a:spcBef>
                <a:spcPts val="0"/>
              </a:spcBef>
              <a:spcAft>
                <a:spcPts val="0"/>
              </a:spcAft>
              <a:buNone/>
            </a:pPr>
            <a:r>
              <a:rPr b="1" lang="en" sz="1300">
                <a:solidFill>
                  <a:schemeClr val="dk1"/>
                </a:solidFill>
              </a:rPr>
              <a:t>        }</a:t>
            </a:r>
            <a:endParaRPr b="1" sz="1300">
              <a:solidFill>
                <a:schemeClr val="dk1"/>
              </a:solidFill>
            </a:endParaRPr>
          </a:p>
          <a:p>
            <a:pPr indent="0" lvl="0" marL="0" rtl="0" algn="l">
              <a:spcBef>
                <a:spcPts val="0"/>
              </a:spcBef>
              <a:spcAft>
                <a:spcPts val="0"/>
              </a:spcAft>
              <a:buNone/>
            </a:pPr>
            <a:r>
              <a:rPr b="1" lang="en" sz="1300">
                <a:solidFill>
                  <a:schemeClr val="dk1"/>
                </a:solidFill>
              </a:rPr>
              <a:t>    &lt;/style&gt;</a:t>
            </a:r>
            <a:endParaRPr b="1" sz="1300">
              <a:solidFill>
                <a:schemeClr val="dk1"/>
              </a:solidFill>
            </a:endParaRPr>
          </a:p>
          <a:p>
            <a:pPr indent="0" lvl="0" marL="0" rtl="0" algn="l">
              <a:spcBef>
                <a:spcPts val="0"/>
              </a:spcBef>
              <a:spcAft>
                <a:spcPts val="0"/>
              </a:spcAft>
              <a:buNone/>
            </a:pPr>
            <a:r>
              <a:rPr b="1" lang="en" sz="1300">
                <a:solidFill>
                  <a:schemeClr val="dk1"/>
                </a:solidFill>
              </a:rPr>
              <a:t>&lt;/head&gt;</a:t>
            </a:r>
            <a:endParaRPr b="1" sz="1300">
              <a:solidFill>
                <a:schemeClr val="dk1"/>
              </a:solidFill>
            </a:endParaRPr>
          </a:p>
          <a:p>
            <a:pPr indent="0" lvl="0" marL="0" rtl="0" algn="l">
              <a:spcBef>
                <a:spcPts val="0"/>
              </a:spcBef>
              <a:spcAft>
                <a:spcPts val="0"/>
              </a:spcAft>
              <a:buNone/>
            </a:pPr>
            <a:r>
              <a:rPr b="1" lang="en" sz="1300">
                <a:solidFill>
                  <a:schemeClr val="dk1"/>
                </a:solidFill>
              </a:rPr>
              <a:t>&lt;body&gt;</a:t>
            </a:r>
            <a:endParaRPr b="1" sz="1300">
              <a:solidFill>
                <a:schemeClr val="dk1"/>
              </a:solidFill>
            </a:endParaRPr>
          </a:p>
          <a:p>
            <a:pPr indent="0" lvl="0" marL="0" rtl="0" algn="l">
              <a:spcBef>
                <a:spcPts val="1200"/>
              </a:spcBef>
              <a:spcAft>
                <a:spcPts val="1200"/>
              </a:spcAft>
              <a:buNone/>
            </a:pPr>
            <a:r>
              <a:rPr b="1" lang="en" sz="1300">
                <a:solidFill>
                  <a:schemeClr val="dk1"/>
                </a:solidFill>
              </a:rPr>
              <a:t>   </a:t>
            </a:r>
            <a:r>
              <a:rPr b="1" lang="en" sz="1300">
                <a:solidFill>
                  <a:schemeClr val="dk1"/>
                </a:solidFill>
              </a:rPr>
              <a:t>        </a:t>
            </a:r>
            <a:endParaRPr b="1" sz="13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4. Article</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Purpose</a:t>
            </a:r>
            <a:r>
              <a:rPr lang="en" sz="1100">
                <a:solidFill>
                  <a:schemeClr val="dk1"/>
                </a:solidFill>
              </a:rPr>
              <a:t>: Defines a self-contained piece of content, like a blog post, news article, or product description.</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Inside a section or as a separate unit of content.</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endParaRPr b="1" sz="1100">
              <a:solidFill>
                <a:schemeClr val="dk1"/>
              </a:solidFill>
            </a:endParaRPr>
          </a:p>
          <a:p>
            <a:pPr indent="0" lvl="0" marL="0" rtl="0" algn="l">
              <a:spcBef>
                <a:spcPts val="1200"/>
              </a:spcBef>
              <a:spcAft>
                <a:spcPts val="0"/>
              </a:spcAft>
              <a:buNone/>
            </a:pPr>
            <a:r>
              <a:rPr b="1" lang="en" sz="1300">
                <a:solidFill>
                  <a:schemeClr val="dk1"/>
                </a:solidFill>
              </a:rPr>
              <a:t>&lt;article&gt;</a:t>
            </a:r>
            <a:endParaRPr b="1" sz="1300">
              <a:solidFill>
                <a:schemeClr val="dk1"/>
              </a:solidFill>
            </a:endParaRPr>
          </a:p>
          <a:p>
            <a:pPr indent="0" lvl="0" marL="0" rtl="0" algn="l">
              <a:spcBef>
                <a:spcPts val="1200"/>
              </a:spcBef>
              <a:spcAft>
                <a:spcPts val="0"/>
              </a:spcAft>
              <a:buNone/>
            </a:pPr>
            <a:r>
              <a:rPr b="1" lang="en" sz="1300">
                <a:solidFill>
                  <a:schemeClr val="dk1"/>
                </a:solidFill>
              </a:rPr>
              <a:t>  &lt;h2&gt;Article Title&lt;/h2&gt;</a:t>
            </a:r>
            <a:endParaRPr b="1" sz="1300">
              <a:solidFill>
                <a:schemeClr val="dk1"/>
              </a:solidFill>
            </a:endParaRPr>
          </a:p>
          <a:p>
            <a:pPr indent="0" lvl="0" marL="0" rtl="0" algn="l">
              <a:spcBef>
                <a:spcPts val="1200"/>
              </a:spcBef>
              <a:spcAft>
                <a:spcPts val="0"/>
              </a:spcAft>
              <a:buNone/>
            </a:pPr>
            <a:r>
              <a:rPr b="1" lang="en" sz="1300">
                <a:solidFill>
                  <a:schemeClr val="dk1"/>
                </a:solidFill>
              </a:rPr>
              <a:t>  &lt;p&gt;This is the content of the article.&lt;/p&gt;</a:t>
            </a:r>
            <a:endParaRPr b="1" sz="1300">
              <a:solidFill>
                <a:schemeClr val="dk1"/>
              </a:solidFill>
            </a:endParaRPr>
          </a:p>
          <a:p>
            <a:pPr indent="0" lvl="0" marL="0" rtl="0" algn="l">
              <a:spcBef>
                <a:spcPts val="1200"/>
              </a:spcBef>
              <a:spcAft>
                <a:spcPts val="0"/>
              </a:spcAft>
              <a:buNone/>
            </a:pPr>
            <a:r>
              <a:rPr b="1" lang="en" sz="1300">
                <a:solidFill>
                  <a:schemeClr val="dk1"/>
                </a:solidFill>
              </a:rPr>
              <a:t>&lt;/article&gt;</a:t>
            </a:r>
            <a:endParaRPr b="1" sz="130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3"/>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5. Aside</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Purpose</a:t>
            </a:r>
            <a:r>
              <a:rPr lang="en" sz="1100">
                <a:solidFill>
                  <a:schemeClr val="dk1"/>
                </a:solidFill>
              </a:rPr>
              <a:t>: Contains content related to the main content but not essential to it, like sidebars, advertisements, or related links.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On the side of the main content, often as a sidebar.</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endParaRPr b="1" sz="1100">
              <a:solidFill>
                <a:schemeClr val="dk1"/>
              </a:solidFill>
            </a:endParaRPr>
          </a:p>
          <a:p>
            <a:pPr indent="0" lvl="0" marL="0" rtl="0" algn="l">
              <a:spcBef>
                <a:spcPts val="1200"/>
              </a:spcBef>
              <a:spcAft>
                <a:spcPts val="0"/>
              </a:spcAft>
              <a:buNone/>
            </a:pPr>
            <a:r>
              <a:rPr b="1" lang="en" sz="1300">
                <a:solidFill>
                  <a:schemeClr val="dk1"/>
                </a:solidFill>
              </a:rPr>
              <a:t>&lt;aside&gt;</a:t>
            </a:r>
            <a:endParaRPr b="1" sz="1300">
              <a:solidFill>
                <a:schemeClr val="dk1"/>
              </a:solidFill>
            </a:endParaRPr>
          </a:p>
          <a:p>
            <a:pPr indent="0" lvl="0" marL="0" rtl="0" algn="l">
              <a:spcBef>
                <a:spcPts val="1200"/>
              </a:spcBef>
              <a:spcAft>
                <a:spcPts val="0"/>
              </a:spcAft>
              <a:buNone/>
            </a:pPr>
            <a:r>
              <a:rPr b="1" lang="en" sz="1300">
                <a:solidFill>
                  <a:schemeClr val="dk1"/>
                </a:solidFill>
              </a:rPr>
              <a:t>  &lt;h3&gt;Related Articles&lt;/h3&gt;</a:t>
            </a:r>
            <a:endParaRPr b="1" sz="1300">
              <a:solidFill>
                <a:schemeClr val="dk1"/>
              </a:solidFill>
            </a:endParaRPr>
          </a:p>
          <a:p>
            <a:pPr indent="0" lvl="0" marL="0" rtl="0" algn="l">
              <a:spcBef>
                <a:spcPts val="1200"/>
              </a:spcBef>
              <a:spcAft>
                <a:spcPts val="0"/>
              </a:spcAft>
              <a:buNone/>
            </a:pPr>
            <a:r>
              <a:rPr b="1" lang="en" sz="1300">
                <a:solidFill>
                  <a:schemeClr val="dk1"/>
                </a:solidFill>
              </a:rPr>
              <a:t>  &lt;ul&gt;</a:t>
            </a:r>
            <a:endParaRPr b="1" sz="1300">
              <a:solidFill>
                <a:schemeClr val="dk1"/>
              </a:solidFill>
            </a:endParaRPr>
          </a:p>
          <a:p>
            <a:pPr indent="0" lvl="0" marL="0" rtl="0" algn="l">
              <a:spcBef>
                <a:spcPts val="1200"/>
              </a:spcBef>
              <a:spcAft>
                <a:spcPts val="0"/>
              </a:spcAft>
              <a:buNone/>
            </a:pPr>
            <a:r>
              <a:rPr b="1" lang="en" sz="1300">
                <a:solidFill>
                  <a:schemeClr val="dk1"/>
                </a:solidFill>
              </a:rPr>
              <a:t>    &lt;li&gt;&lt;a href="#article1"&gt;Article 1&lt;/a&gt;&lt;/li&gt;</a:t>
            </a:r>
            <a:endParaRPr b="1" sz="1300">
              <a:solidFill>
                <a:schemeClr val="dk1"/>
              </a:solidFill>
            </a:endParaRPr>
          </a:p>
          <a:p>
            <a:pPr indent="0" lvl="0" marL="0" rtl="0" algn="l">
              <a:spcBef>
                <a:spcPts val="1200"/>
              </a:spcBef>
              <a:spcAft>
                <a:spcPts val="0"/>
              </a:spcAft>
              <a:buNone/>
            </a:pPr>
            <a:r>
              <a:rPr b="1" lang="en" sz="1300">
                <a:solidFill>
                  <a:schemeClr val="dk1"/>
                </a:solidFill>
              </a:rPr>
              <a:t>    &lt;li&gt;&lt;a href="#article2"&gt;Article 2&lt;/a&gt;&lt;/li&gt;</a:t>
            </a:r>
            <a:endParaRPr b="1" sz="1300">
              <a:solidFill>
                <a:schemeClr val="dk1"/>
              </a:solidFill>
            </a:endParaRPr>
          </a:p>
          <a:p>
            <a:pPr indent="0" lvl="0" marL="0" rtl="0" algn="l">
              <a:spcBef>
                <a:spcPts val="1200"/>
              </a:spcBef>
              <a:spcAft>
                <a:spcPts val="0"/>
              </a:spcAft>
              <a:buNone/>
            </a:pPr>
            <a:r>
              <a:rPr b="1" lang="en" sz="1300">
                <a:solidFill>
                  <a:schemeClr val="dk1"/>
                </a:solidFill>
              </a:rPr>
              <a:t>  &lt;/ul&gt;</a:t>
            </a:r>
            <a:endParaRPr b="1" sz="1300">
              <a:solidFill>
                <a:schemeClr val="dk1"/>
              </a:solidFill>
            </a:endParaRPr>
          </a:p>
          <a:p>
            <a:pPr indent="0" lvl="0" marL="0" rtl="0" algn="l">
              <a:spcBef>
                <a:spcPts val="1200"/>
              </a:spcBef>
              <a:spcAft>
                <a:spcPts val="0"/>
              </a:spcAft>
              <a:buNone/>
            </a:pPr>
            <a:r>
              <a:rPr b="1" lang="en" sz="1300">
                <a:solidFill>
                  <a:schemeClr val="dk1"/>
                </a:solidFill>
              </a:rPr>
              <a:t>&lt;/aside&gt;</a:t>
            </a:r>
            <a:endParaRPr b="1" sz="130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6. Footer</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Purpose</a:t>
            </a:r>
            <a:r>
              <a:rPr lang="en" sz="1100">
                <a:solidFill>
                  <a:schemeClr val="dk1"/>
                </a:solidFill>
              </a:rPr>
              <a:t>: Contains information at the bottom of a page, like copyright details, contact info, or legal links.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At the bottom of the webpage.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r>
              <a:rPr lang="en" sz="1100">
                <a:solidFill>
                  <a:schemeClr val="dk1"/>
                </a:solidFill>
              </a:rPr>
              <a:t>:</a:t>
            </a:r>
            <a:endParaRPr sz="1100">
              <a:solidFill>
                <a:schemeClr val="dk1"/>
              </a:solidFill>
            </a:endParaRPr>
          </a:p>
          <a:p>
            <a:pPr indent="0" lvl="0" marL="0" rtl="0" algn="l">
              <a:spcBef>
                <a:spcPts val="1200"/>
              </a:spcBef>
              <a:spcAft>
                <a:spcPts val="0"/>
              </a:spcAft>
              <a:buNone/>
            </a:pPr>
            <a:r>
              <a:rPr b="1" lang="en" sz="1300">
                <a:solidFill>
                  <a:schemeClr val="dk1"/>
                </a:solidFill>
              </a:rPr>
              <a:t>&lt;footer&gt;</a:t>
            </a:r>
            <a:endParaRPr b="1" sz="1300">
              <a:solidFill>
                <a:schemeClr val="dk1"/>
              </a:solidFill>
            </a:endParaRPr>
          </a:p>
          <a:p>
            <a:pPr indent="0" lvl="0" marL="0" rtl="0" algn="l">
              <a:spcBef>
                <a:spcPts val="1200"/>
              </a:spcBef>
              <a:spcAft>
                <a:spcPts val="0"/>
              </a:spcAft>
              <a:buNone/>
            </a:pPr>
            <a:r>
              <a:rPr b="1" lang="en" sz="1300">
                <a:solidFill>
                  <a:schemeClr val="dk1"/>
                </a:solidFill>
              </a:rPr>
              <a:t>  &lt;p&gt;&amp;copy; 2025 My Website&lt;/p&gt;</a:t>
            </a:r>
            <a:endParaRPr b="1" sz="1300">
              <a:solidFill>
                <a:schemeClr val="dk1"/>
              </a:solidFill>
            </a:endParaRPr>
          </a:p>
          <a:p>
            <a:pPr indent="0" lvl="0" marL="0" rtl="0" algn="l">
              <a:spcBef>
                <a:spcPts val="1200"/>
              </a:spcBef>
              <a:spcAft>
                <a:spcPts val="0"/>
              </a:spcAft>
              <a:buNone/>
            </a:pPr>
            <a:r>
              <a:rPr b="1" lang="en" sz="1300">
                <a:solidFill>
                  <a:schemeClr val="dk1"/>
                </a:solidFill>
              </a:rPr>
              <a:t>&lt;/footer&gt;</a:t>
            </a:r>
            <a:endParaRPr b="1" sz="130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5"/>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7. Details</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Purpose</a:t>
            </a:r>
            <a:r>
              <a:rPr lang="en" sz="1100">
                <a:solidFill>
                  <a:schemeClr val="dk1"/>
                </a:solidFill>
              </a:rPr>
              <a:t>: Used to define a section of content that can be toggled (opened or closed) to show more details.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When you want to hide or reveal content (like FAQs).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endParaRPr b="1" sz="1100">
              <a:solidFill>
                <a:schemeClr val="dk1"/>
              </a:solidFill>
            </a:endParaRPr>
          </a:p>
          <a:p>
            <a:pPr indent="0" lvl="0" marL="0" rtl="0" algn="l">
              <a:spcBef>
                <a:spcPts val="1200"/>
              </a:spcBef>
              <a:spcAft>
                <a:spcPts val="0"/>
              </a:spcAft>
              <a:buNone/>
            </a:pPr>
            <a:r>
              <a:rPr b="1" lang="en" sz="1300">
                <a:solidFill>
                  <a:schemeClr val="dk1"/>
                </a:solidFill>
              </a:rPr>
              <a:t>&lt;details&gt;</a:t>
            </a:r>
            <a:endParaRPr b="1" sz="1300">
              <a:solidFill>
                <a:schemeClr val="dk1"/>
              </a:solidFill>
            </a:endParaRPr>
          </a:p>
          <a:p>
            <a:pPr indent="0" lvl="0" marL="0" rtl="0" algn="l">
              <a:spcBef>
                <a:spcPts val="1200"/>
              </a:spcBef>
              <a:spcAft>
                <a:spcPts val="0"/>
              </a:spcAft>
              <a:buNone/>
            </a:pPr>
            <a:r>
              <a:rPr b="1" lang="en" sz="1300">
                <a:solidFill>
                  <a:schemeClr val="dk1"/>
                </a:solidFill>
              </a:rPr>
              <a:t>  &lt;summary&gt;More Information&lt;/summary&gt;</a:t>
            </a:r>
            <a:endParaRPr b="1" sz="1300">
              <a:solidFill>
                <a:schemeClr val="dk1"/>
              </a:solidFill>
            </a:endParaRPr>
          </a:p>
          <a:p>
            <a:pPr indent="0" lvl="0" marL="0" rtl="0" algn="l">
              <a:spcBef>
                <a:spcPts val="1200"/>
              </a:spcBef>
              <a:spcAft>
                <a:spcPts val="0"/>
              </a:spcAft>
              <a:buNone/>
            </a:pPr>
            <a:r>
              <a:rPr b="1" lang="en" sz="1300">
                <a:solidFill>
                  <a:schemeClr val="dk1"/>
                </a:solidFill>
              </a:rPr>
              <a:t>  &lt;p&gt;This is additional content that can be revealed.&lt;/p&gt;</a:t>
            </a:r>
            <a:endParaRPr b="1" sz="1300">
              <a:solidFill>
                <a:schemeClr val="dk1"/>
              </a:solidFill>
            </a:endParaRPr>
          </a:p>
          <a:p>
            <a:pPr indent="0" lvl="0" marL="0" rtl="0" algn="l">
              <a:spcBef>
                <a:spcPts val="1200"/>
              </a:spcBef>
              <a:spcAft>
                <a:spcPts val="0"/>
              </a:spcAft>
              <a:buNone/>
            </a:pPr>
            <a:r>
              <a:rPr b="1" lang="en" sz="1300">
                <a:solidFill>
                  <a:schemeClr val="dk1"/>
                </a:solidFill>
              </a:rPr>
              <a:t>&lt;/details&gt;</a:t>
            </a:r>
            <a:endParaRPr b="1" sz="130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6"/>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8. Summary</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Purpose</a:t>
            </a:r>
            <a:r>
              <a:rPr lang="en" sz="1100">
                <a:solidFill>
                  <a:schemeClr val="dk1"/>
                </a:solidFill>
              </a:rPr>
              <a:t>: Provides a summary or heading for a </a:t>
            </a:r>
            <a:r>
              <a:rPr lang="en" sz="1100">
                <a:solidFill>
                  <a:srgbClr val="188038"/>
                </a:solidFill>
                <a:latin typeface="Roboto Mono"/>
                <a:ea typeface="Roboto Mono"/>
                <a:cs typeface="Roboto Mono"/>
                <a:sym typeface="Roboto Mono"/>
              </a:rPr>
              <a:t>&lt;details&gt;</a:t>
            </a:r>
            <a:r>
              <a:rPr lang="en" sz="1100">
                <a:solidFill>
                  <a:schemeClr val="dk1"/>
                </a:solidFill>
              </a:rPr>
              <a:t> section, which can be clicked to reveal or hide the content.</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Inside a </a:t>
            </a:r>
            <a:r>
              <a:rPr lang="en" sz="1100">
                <a:solidFill>
                  <a:srgbClr val="188038"/>
                </a:solidFill>
                <a:latin typeface="Roboto Mono"/>
                <a:ea typeface="Roboto Mono"/>
                <a:cs typeface="Roboto Mono"/>
                <a:sym typeface="Roboto Mono"/>
              </a:rPr>
              <a:t>&lt;details&gt;</a:t>
            </a:r>
            <a:r>
              <a:rPr lang="en" sz="1100">
                <a:solidFill>
                  <a:schemeClr val="dk1"/>
                </a:solidFill>
              </a:rPr>
              <a:t> element to act as the clickable summary.</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endParaRPr b="1" sz="1100">
              <a:solidFill>
                <a:schemeClr val="dk1"/>
              </a:solidFill>
            </a:endParaRPr>
          </a:p>
          <a:p>
            <a:pPr indent="0" lvl="0" marL="0" rtl="0" algn="l">
              <a:spcBef>
                <a:spcPts val="1200"/>
              </a:spcBef>
              <a:spcAft>
                <a:spcPts val="0"/>
              </a:spcAft>
              <a:buNone/>
            </a:pPr>
            <a:r>
              <a:rPr b="1" lang="en" sz="1300">
                <a:solidFill>
                  <a:schemeClr val="dk1"/>
                </a:solidFill>
              </a:rPr>
              <a:t>&lt;details&gt;</a:t>
            </a:r>
            <a:endParaRPr b="1" sz="1300">
              <a:solidFill>
                <a:schemeClr val="dk1"/>
              </a:solidFill>
            </a:endParaRPr>
          </a:p>
          <a:p>
            <a:pPr indent="0" lvl="0" marL="0" rtl="0" algn="l">
              <a:spcBef>
                <a:spcPts val="1200"/>
              </a:spcBef>
              <a:spcAft>
                <a:spcPts val="0"/>
              </a:spcAft>
              <a:buNone/>
            </a:pPr>
            <a:r>
              <a:rPr b="1" lang="en" sz="1300">
                <a:solidFill>
                  <a:schemeClr val="dk1"/>
                </a:solidFill>
              </a:rPr>
              <a:t>  &lt;summary&gt;Click to Reveal More&lt;/summary&gt;</a:t>
            </a:r>
            <a:endParaRPr b="1" sz="1300">
              <a:solidFill>
                <a:schemeClr val="dk1"/>
              </a:solidFill>
            </a:endParaRPr>
          </a:p>
          <a:p>
            <a:pPr indent="0" lvl="0" marL="0" rtl="0" algn="l">
              <a:spcBef>
                <a:spcPts val="1200"/>
              </a:spcBef>
              <a:spcAft>
                <a:spcPts val="0"/>
              </a:spcAft>
              <a:buNone/>
            </a:pPr>
            <a:r>
              <a:rPr b="1" lang="en" sz="1300">
                <a:solidFill>
                  <a:schemeClr val="dk1"/>
                </a:solidFill>
              </a:rPr>
              <a:t>  &lt;p&gt;Here are the hidden details.&lt;/p&gt;</a:t>
            </a:r>
            <a:endParaRPr b="1" sz="1300">
              <a:solidFill>
                <a:schemeClr val="dk1"/>
              </a:solidFill>
            </a:endParaRPr>
          </a:p>
          <a:p>
            <a:pPr indent="0" lvl="0" marL="0" rtl="0" algn="l">
              <a:spcBef>
                <a:spcPts val="1200"/>
              </a:spcBef>
              <a:spcAft>
                <a:spcPts val="0"/>
              </a:spcAft>
              <a:buNone/>
            </a:pPr>
            <a:r>
              <a:rPr b="1" lang="en" sz="1300">
                <a:solidFill>
                  <a:schemeClr val="dk1"/>
                </a:solidFill>
              </a:rPr>
              <a:t>&lt;/details&gt;</a:t>
            </a:r>
            <a:endParaRPr b="1" sz="130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7"/>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300">
                <a:solidFill>
                  <a:schemeClr val="dk1"/>
                </a:solidFill>
              </a:rPr>
              <a:t>Types of Webpages:</a:t>
            </a:r>
            <a:endParaRPr b="1" sz="1300">
              <a:solidFill>
                <a:schemeClr val="dk1"/>
              </a:solidFill>
            </a:endParaRPr>
          </a:p>
          <a:p>
            <a:pPr indent="0" lvl="0" marL="0" rtl="0" algn="l">
              <a:spcBef>
                <a:spcPts val="1400"/>
              </a:spcBef>
              <a:spcAft>
                <a:spcPts val="0"/>
              </a:spcAft>
              <a:buClr>
                <a:schemeClr val="dk1"/>
              </a:buClr>
              <a:buSzPts val="1100"/>
              <a:buFont typeface="Arial"/>
              <a:buNone/>
            </a:pPr>
            <a:r>
              <a:rPr b="1" lang="en" sz="1300">
                <a:solidFill>
                  <a:schemeClr val="dk1"/>
                </a:solidFill>
              </a:rPr>
              <a:t>1. Single Page Design</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What it is</a:t>
            </a:r>
            <a:r>
              <a:rPr lang="en" sz="1100">
                <a:solidFill>
                  <a:schemeClr val="dk1"/>
                </a:solidFill>
              </a:rPr>
              <a:t>: A </a:t>
            </a:r>
            <a:r>
              <a:rPr b="1" lang="en" sz="1100">
                <a:solidFill>
                  <a:schemeClr val="dk1"/>
                </a:solidFill>
              </a:rPr>
              <a:t>single-page design</a:t>
            </a:r>
            <a:r>
              <a:rPr lang="en" sz="1100">
                <a:solidFill>
                  <a:schemeClr val="dk1"/>
                </a:solidFill>
              </a:rPr>
              <a:t> means that the entire website fits into one page. All the content is displayed as you scroll down the page, rather than opening new pages.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How it works</a:t>
            </a:r>
            <a:r>
              <a:rPr lang="en" sz="1100">
                <a:solidFill>
                  <a:schemeClr val="dk1"/>
                </a:solidFill>
              </a:rPr>
              <a:t>: The page usually has sections that appear when you scroll or click links (like a "home," "about," "services" section).</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Great for small websites, portfolios, or landing pages.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r>
              <a:rPr lang="en" sz="1100">
                <a:solidFill>
                  <a:schemeClr val="dk1"/>
                </a:solidFill>
              </a:rPr>
              <a:t>: Websites like online portfolios or event invitations.</a:t>
            </a:r>
            <a:endParaRPr sz="1100">
              <a:solidFill>
                <a:schemeClr val="dk1"/>
              </a:solidFill>
            </a:endParaRPr>
          </a:p>
          <a:p>
            <a:pPr indent="0" lvl="0" marL="0" rtl="0" algn="l">
              <a:spcBef>
                <a:spcPts val="1400"/>
              </a:spcBef>
              <a:spcAft>
                <a:spcPts val="0"/>
              </a:spcAft>
              <a:buNone/>
            </a:pPr>
            <a:r>
              <a:rPr b="1" lang="en" sz="1300">
                <a:solidFill>
                  <a:schemeClr val="dk1"/>
                </a:solidFill>
              </a:rPr>
              <a:t>2. Static Pages</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What it is</a:t>
            </a:r>
            <a:r>
              <a:rPr lang="en" sz="1100">
                <a:solidFill>
                  <a:schemeClr val="dk1"/>
                </a:solidFill>
              </a:rPr>
              <a:t>: </a:t>
            </a:r>
            <a:r>
              <a:rPr b="1" lang="en" sz="1100">
                <a:solidFill>
                  <a:schemeClr val="dk1"/>
                </a:solidFill>
              </a:rPr>
              <a:t>Static pages</a:t>
            </a:r>
            <a:r>
              <a:rPr lang="en" sz="1100">
                <a:solidFill>
                  <a:schemeClr val="dk1"/>
                </a:solidFill>
              </a:rPr>
              <a:t> are pages where the content doesn't change unless you manually update it. They are fixed and don’t change dynamically based on user interactions.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How it works</a:t>
            </a:r>
            <a:r>
              <a:rPr lang="en" sz="1100">
                <a:solidFill>
                  <a:schemeClr val="dk1"/>
                </a:solidFill>
              </a:rPr>
              <a:t>: The page content is hard-coded and stays the same for everyone who visits it.</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Perfect for informational websites like blogs, company profiles, or personal websites.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r>
              <a:rPr lang="en" sz="1100">
                <a:solidFill>
                  <a:schemeClr val="dk1"/>
                </a:solidFill>
              </a:rPr>
              <a:t>: A "Contact Us" page or "About Me" page that shows the same content to everyone.</a:t>
            </a:r>
            <a:endParaRPr sz="11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8"/>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3. Dynamic Pages</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What it is</a:t>
            </a:r>
            <a:r>
              <a:rPr lang="en" sz="1100">
                <a:solidFill>
                  <a:schemeClr val="dk1"/>
                </a:solidFill>
              </a:rPr>
              <a:t>: </a:t>
            </a:r>
            <a:r>
              <a:rPr b="1" lang="en" sz="1100">
                <a:solidFill>
                  <a:schemeClr val="dk1"/>
                </a:solidFill>
              </a:rPr>
              <a:t>Dynamic pages</a:t>
            </a:r>
            <a:r>
              <a:rPr lang="en" sz="1100">
                <a:solidFill>
                  <a:schemeClr val="dk1"/>
                </a:solidFill>
              </a:rPr>
              <a:t> are pages that can change or update content based on user input or other factors (like time of day, user login, etc.).</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How it works</a:t>
            </a:r>
            <a:r>
              <a:rPr lang="en" sz="1100">
                <a:solidFill>
                  <a:schemeClr val="dk1"/>
                </a:solidFill>
              </a:rPr>
              <a:t>: These pages are usually connected to a database, where content can be updated automatically. For example, a user’s account page or a shopping cart.</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Online stores, blogs with new posts, or social media platforms.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r>
              <a:rPr lang="en" sz="1100">
                <a:solidFill>
                  <a:schemeClr val="dk1"/>
                </a:solidFill>
              </a:rPr>
              <a:t>: A product page on an e-commerce site that shows different items for each user.</a:t>
            </a:r>
            <a:endParaRPr sz="1100">
              <a:solidFill>
                <a:schemeClr val="dk1"/>
              </a:solidFill>
            </a:endParaRPr>
          </a:p>
          <a:p>
            <a:pPr indent="0" lvl="0" marL="0" rtl="0" algn="l">
              <a:spcBef>
                <a:spcPts val="1400"/>
              </a:spcBef>
              <a:spcAft>
                <a:spcPts val="0"/>
              </a:spcAft>
              <a:buNone/>
            </a:pPr>
            <a:r>
              <a:rPr b="1" lang="en" sz="1300">
                <a:solidFill>
                  <a:schemeClr val="dk1"/>
                </a:solidFill>
              </a:rPr>
              <a:t>4. Responsive Pages</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What it is</a:t>
            </a:r>
            <a:r>
              <a:rPr lang="en" sz="1100">
                <a:solidFill>
                  <a:schemeClr val="dk1"/>
                </a:solidFill>
              </a:rPr>
              <a:t>: </a:t>
            </a:r>
            <a:r>
              <a:rPr b="1" lang="en" sz="1100">
                <a:solidFill>
                  <a:schemeClr val="dk1"/>
                </a:solidFill>
              </a:rPr>
              <a:t>Responsive pages</a:t>
            </a:r>
            <a:r>
              <a:rPr lang="en" sz="1100">
                <a:solidFill>
                  <a:schemeClr val="dk1"/>
                </a:solidFill>
              </a:rPr>
              <a:t> are pages that automatically adjust to look good on any device, whether it's a desktop computer, tablet, or mobile phone.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How it works</a:t>
            </a:r>
            <a:r>
              <a:rPr lang="en" sz="1100">
                <a:solidFill>
                  <a:schemeClr val="dk1"/>
                </a:solidFill>
              </a:rPr>
              <a:t>: The layout and design of the webpage change to fit the screen size. This makes the site easy to use on any device without needing a separate version for mobile.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Where to use</a:t>
            </a:r>
            <a:r>
              <a:rPr lang="en" sz="1100">
                <a:solidFill>
                  <a:schemeClr val="dk1"/>
                </a:solidFill>
              </a:rPr>
              <a:t>: Every modern website should be responsive, especially as mobile browsing is increasing.</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Example</a:t>
            </a:r>
            <a:r>
              <a:rPr lang="en" sz="1100">
                <a:solidFill>
                  <a:schemeClr val="dk1"/>
                </a:solidFill>
              </a:rPr>
              <a:t>: Websites like news websites or social media sites that look great on both desktop and mobile.</a:t>
            </a:r>
            <a:endParaRPr sz="11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