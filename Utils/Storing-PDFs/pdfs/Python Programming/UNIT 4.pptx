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hl7wvnaQ/HcJzWWISw6m1ayLQX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89FEB2-5246-4A10-8B28-49B1E67498BF}">
  <a:tblStyle styleId="{4789FEB2-5246-4A10-8B28-49B1E67498B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5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5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ynative.com/python-file-objects/" TargetMode="External"/><Relationship Id="rId4" Type="http://schemas.openxmlformats.org/officeDocument/2006/relationships/hyperlink" Target="https://pynative.com/python-file-open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ynative.com/python-file-objects/" TargetMode="External"/><Relationship Id="rId4" Type="http://schemas.openxmlformats.org/officeDocument/2006/relationships/hyperlink" Target="https://pynative.com/python-file-open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w3schools.com/python/ref_file_readable.asp" TargetMode="External"/><Relationship Id="rId4" Type="http://schemas.openxmlformats.org/officeDocument/2006/relationships/hyperlink" Target="https://www.w3schools.com/python/ref_file_read.asp" TargetMode="External"/><Relationship Id="rId10" Type="http://schemas.openxmlformats.org/officeDocument/2006/relationships/hyperlink" Target="https://www.w3schools.com/python/ref_file_writelines.asp" TargetMode="External"/><Relationship Id="rId9" Type="http://schemas.openxmlformats.org/officeDocument/2006/relationships/hyperlink" Target="https://www.w3schools.com/python/ref_file_write.asp" TargetMode="External"/><Relationship Id="rId5" Type="http://schemas.openxmlformats.org/officeDocument/2006/relationships/hyperlink" Target="https://www.w3schools.com/python/ref_file_readline.asp" TargetMode="External"/><Relationship Id="rId6" Type="http://schemas.openxmlformats.org/officeDocument/2006/relationships/hyperlink" Target="https://www.w3schools.com/python/ref_file_seek.asp" TargetMode="External"/><Relationship Id="rId7" Type="http://schemas.openxmlformats.org/officeDocument/2006/relationships/hyperlink" Target="https://www.w3schools.com/python/ref_file_tell.asp" TargetMode="External"/><Relationship Id="rId8" Type="http://schemas.openxmlformats.org/officeDocument/2006/relationships/hyperlink" Target="https://www.w3schools.com/python/ref_file_truncate.asp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tutorialsteacher.com/python/sys-modul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geeksforgeeks.org/command-line-arguments-in-python/#getop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geeksforgeeks.org/command-line-arguments-in-python/#argpars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geeksforgeeks.org/command-line-arguments-in-python/#argpars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w3schools.com/python/python_regex.asp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w3schools.com/python/python_regex.asp#findall" TargetMode="External"/><Relationship Id="rId4" Type="http://schemas.openxmlformats.org/officeDocument/2006/relationships/hyperlink" Target="https://www.w3schools.com/python/python_regex.asp#search" TargetMode="External"/><Relationship Id="rId5" Type="http://schemas.openxmlformats.org/officeDocument/2006/relationships/hyperlink" Target="https://www.w3schools.com/python/python_regex.asp#matchobject" TargetMode="External"/><Relationship Id="rId6" Type="http://schemas.openxmlformats.org/officeDocument/2006/relationships/hyperlink" Target="https://www.w3schools.com/python/python_regex.asp#split" TargetMode="External"/><Relationship Id="rId7" Type="http://schemas.openxmlformats.org/officeDocument/2006/relationships/hyperlink" Target="https://www.w3schools.com/python/python_regex.asp#sub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w3schools.com/python/python_regex.asp#matchobjec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							UNIT IV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131200"/>
            <a:ext cx="85206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AND REGULAR EXPRESSIONS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6521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is a named location on disk to store related information, as the file is having some name and location, it is stored in hard disk.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6521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python, file operation is performed in following order: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5652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Times New Roman"/>
              <a:buNone/>
            </a:pPr>
            <a:r>
              <a:rPr lang="en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a file.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Times New Roman"/>
              <a:buNone/>
            </a:pPr>
            <a:r>
              <a:rPr lang="en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or Write operation.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Times New Roman"/>
              <a:buNone/>
            </a:pPr>
            <a:r>
              <a:rPr lang="en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Closing a file.</a:t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lang="en" sz="20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File Open</a:t>
            </a:r>
            <a:endParaRPr b="1" sz="20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4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open(filename, mode)</a:t>
            </a:r>
            <a:endParaRPr sz="14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Where the following mode is supported: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Nunito"/>
              <a:buAutoNum type="arabicPeriod"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r: 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 an existing file for a read operation.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Nunito"/>
              <a:buAutoNum type="arabicPeriod"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w: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open an existing file for a write operation. If the file already contains some data, then it will be overridden but if the file is not present then it creates the file as well.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Nunito"/>
              <a:buAutoNum type="arabicPeriod"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a:  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 an existing file for append operation. It won’t override existing data.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Nunito"/>
              <a:buAutoNum type="arabicPeriod"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r+: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To read and write data into the file. The previous data in the file will be overridden.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Nunito"/>
              <a:buAutoNum type="arabicPeriod"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w+: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write and read data. It will override existing data.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Nunito"/>
              <a:buAutoNum type="arabicPeriod"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a+: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append and read data from the file. It won’t override existing data.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82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a file named "geek", will be opened with the reading mode.</a:t>
            </a:r>
            <a:endParaRPr sz="2400">
              <a:solidFill>
                <a:srgbClr val="0082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149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</a:t>
            </a:r>
            <a:r>
              <a:rPr lang="en" sz="24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400">
                <a:solidFill>
                  <a:srgbClr val="00669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24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rgbClr val="FF149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240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'geek.txt'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240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'r'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82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This will print every line one by one in the file</a:t>
            </a:r>
            <a:endParaRPr sz="2400">
              <a:solidFill>
                <a:srgbClr val="0082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669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" sz="24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b="1" lang="en" sz="2400">
                <a:solidFill>
                  <a:srgbClr val="00669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" sz="24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rgbClr val="FF149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" sz="2400">
                <a:solidFill>
                  <a:srgbClr val="FF149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" sz="24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(each)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Hello world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GeeksforGeeks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123 456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82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sz="2400">
              <a:solidFill>
                <a:srgbClr val="0082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file1 = open("file1.txt")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read the file content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read_content = file1.read()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print(read_content)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100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 mode</a:t>
            </a:r>
            <a:endParaRPr b="1" sz="21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text = "This is new content"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writing new content to the file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fp = open("write_demo.txt", 'w')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fp.write(text)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print('Done Writing')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fp.close()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			OR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 = open('file2.txt', 'w')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write contents to the file2.txt file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file2.write('Programming is Fun.\n')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file2.write('Programiz for beginners\n')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file2.close()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1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 = open('file2.txt', 'a')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write contents to the file2.txt file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file2.write('Programming is Fun.\n')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file2.write('Programiz for beginners\n')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file2.close()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35789"/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Objects in Python </a:t>
            </a:r>
            <a:r>
              <a:rPr lang="en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Python File Objects [Guide] – PYnative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81"/>
              <a:buFont typeface="Arial"/>
              <a:buNone/>
            </a:pP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r>
              <a:rPr b="1"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object provides methods and attributes to access and manipulate files</a:t>
            </a: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Using file objects, we can read or write any files.Whenever we </a:t>
            </a:r>
            <a:r>
              <a:rPr lang="en" sz="2218" u="sng">
                <a:solidFill>
                  <a:schemeClr val="hlink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open a file</a:t>
            </a: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perform any operations on it, Python returns a file object. To create a file object in Python use the built-in functions, such as </a:t>
            </a:r>
            <a:r>
              <a:rPr lang="en" sz="2018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open()</a:t>
            </a: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2018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os.popen()</a:t>
            </a: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18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9581"/>
              <a:buFont typeface="Arial"/>
              <a:buNone/>
            </a:pP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IOError exception is raised when a file object is misused, or file operation fails for an I/O-related reason. For example, when you try to write to a file when a file is opened in read-only mode.</a:t>
            </a:r>
            <a:endParaRPr sz="2218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9581"/>
              <a:buFont typeface="Arial"/>
              <a:buNone/>
            </a:pP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file object allows us to use, access and manipulate all the user accessible files. One can read and write any such files. When a file operation fails for an I/O-related reason, the exception IOError is raised. This includes situations where the operation is not defined for some reason, like seek() on a tty device or writing a file opened for reading. Files have the following methods:</a:t>
            </a:r>
            <a:endParaRPr sz="2218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SzPct val="201983"/>
              <a:buNone/>
            </a:pP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open(): Opens a file in given access mode.</a:t>
            </a:r>
            <a:b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218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open(file_address, access_mode)</a:t>
            </a:r>
            <a:endParaRPr sz="2218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81"/>
              <a:buFont typeface="Arial"/>
              <a:buNone/>
            </a:pPr>
            <a:r>
              <a:t/>
            </a:r>
            <a:endParaRPr sz="2218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SzPct val="263529"/>
              <a:buNone/>
            </a:pPr>
            <a:r>
              <a:t/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>
              <a:solidFill>
                <a:srgbClr val="FFFFFF"/>
              </a:solidFill>
              <a:highlight>
                <a:srgbClr val="131417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2307"/>
              <a:buNone/>
            </a:pPr>
            <a:r>
              <a:t/>
            </a:r>
            <a:endParaRPr sz="2600">
              <a:solidFill>
                <a:srgbClr val="610B3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Objects in Python </a:t>
            </a:r>
            <a:r>
              <a:rPr lang="en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Python File Objects [Guide] – PYnative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r>
              <a:rPr b="1"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object provides methods and attributes to access and manipulate files</a:t>
            </a: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Using file objects, we can read or write any files.Whenever we </a:t>
            </a:r>
            <a:r>
              <a:rPr lang="en" sz="1700" u="sng">
                <a:solidFill>
                  <a:schemeClr val="hlink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open a file</a:t>
            </a: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perform any operations on it, Python returns a file object. To create a file object in Python use the built-in functions, such as </a:t>
            </a:r>
            <a:r>
              <a:rPr lang="en" sz="15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open()</a:t>
            </a: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5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os.popen()</a:t>
            </a: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IOError exception is raised when a file object is misused, or file operation fails for an I/O-related reason. For example, when you try to write to a file when a file is opened in read-only mode.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700">
              <a:solidFill>
                <a:srgbClr val="FFFFFF"/>
              </a:solidFill>
              <a:highlight>
                <a:srgbClr val="131417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rgbClr val="FFFFFF"/>
              </a:solidFill>
              <a:highlight>
                <a:srgbClr val="131417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600">
              <a:solidFill>
                <a:srgbClr val="610B3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Python, there are three different categories of a file object, which are listed below: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Text files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Binary files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Raw files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All file types objects are defined in the </a:t>
            </a:r>
            <a:r>
              <a:rPr b="1"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io module</a:t>
            </a: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Text files (</a:t>
            </a:r>
            <a:r>
              <a:rPr b="1" lang="en" sz="1800">
                <a:solidFill>
                  <a:srgbClr val="1C2B41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TextIOWrapper</a:t>
            </a:r>
            <a:r>
              <a:rPr b="1" lang="en" sz="21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100">
              <a:solidFill>
                <a:srgbClr val="1C2B41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text file type is most common. Usually, we use text files to store character data or storing information in plain text with no special formatting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= open('test.txt', 'w')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print(type(file))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Output: &lt;class '_io.TextIOWrapper'&gt; </a:t>
            </a:r>
            <a:endParaRPr b="1"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Python, there are three different categories of a file object, which are listed below: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Text files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Binary files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Raw files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All file types objects are defined in the </a:t>
            </a:r>
            <a:r>
              <a:rPr b="1"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io module</a:t>
            </a: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SzPts val="2800"/>
              <a:buNone/>
            </a:pPr>
            <a:r>
              <a:rPr b="1" lang="en" sz="21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Text files (</a:t>
            </a:r>
            <a:r>
              <a:rPr b="1" lang="en" sz="1800">
                <a:solidFill>
                  <a:srgbClr val="1C2B41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TextIOWrapper</a:t>
            </a:r>
            <a:r>
              <a:rPr b="1" lang="en" sz="21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100">
              <a:solidFill>
                <a:srgbClr val="1C2B41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text file type is most common. Usually, we use text files to store character data or storing information in plain text with no special formatting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2800"/>
              <a:buNone/>
            </a:pPr>
            <a:r>
              <a:rPr lang="en" sz="1300">
                <a:solidFill>
                  <a:srgbClr val="222222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We open a text file using the </a:t>
            </a:r>
            <a:r>
              <a:rPr lang="en" sz="1100">
                <a:solidFill>
                  <a:srgbClr val="6C0B24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open()</a:t>
            </a:r>
            <a:r>
              <a:rPr lang="en" sz="1300">
                <a:solidFill>
                  <a:srgbClr val="222222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 function. For example, </a:t>
            </a:r>
            <a:r>
              <a:rPr lang="en" sz="1100">
                <a:solidFill>
                  <a:srgbClr val="6C0B24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open('test'.txt', 'r')</a:t>
            </a:r>
            <a:r>
              <a:rPr lang="en" sz="1300">
                <a:solidFill>
                  <a:srgbClr val="222222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. When we open a text file, it returns a </a:t>
            </a:r>
            <a:r>
              <a:rPr lang="en" sz="1100">
                <a:solidFill>
                  <a:srgbClr val="6C0B24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TextIOWrapper</a:t>
            </a:r>
            <a:r>
              <a:rPr lang="en" sz="1300">
                <a:solidFill>
                  <a:srgbClr val="222222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 file object.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= open('test.txt', 'w')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print(type(file))</a:t>
            </a:r>
            <a:endParaRPr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Output: &lt;class '_io.TextIOWrapper'&gt; </a:t>
            </a:r>
            <a:endParaRPr b="1" sz="16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Binary Files (</a:t>
            </a:r>
            <a:r>
              <a:rPr b="1" lang="en" sz="2000">
                <a:solidFill>
                  <a:srgbClr val="1C2B41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BufferedReader</a:t>
            </a:r>
            <a:r>
              <a:rPr b="1" lang="en" sz="23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2000">
                <a:solidFill>
                  <a:srgbClr val="1C2B41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BufferedWriter</a:t>
            </a:r>
            <a:r>
              <a:rPr b="1" lang="en" sz="23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300">
              <a:solidFill>
                <a:srgbClr val="1C2B41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is stored on a disk in the form of binary. For example, we use binary files to store data like images or videos. Binary files are a computer-readable form of storing data.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program is needed to interpret the data in a binary file and display it to the user. The binary files are also called buffered files. This file type is used for reading and writing binary data.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 the binary files using the open() function in binary mode. For example, </a:t>
            </a:r>
            <a:r>
              <a:rPr lang="en" sz="18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open('abc.txt', 'rb')</a:t>
            </a: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It opens the file to read-only in binary mode. The file pointer exists at the beginning of the file.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8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open()</a:t>
            </a: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function will return the </a:t>
            </a:r>
            <a:r>
              <a:rPr lang="en" sz="18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BufferedReader</a:t>
            </a: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when we open the binary file for reading and the </a:t>
            </a:r>
            <a:r>
              <a:rPr lang="en" sz="18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BufferedWriter</a:t>
            </a: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file object when we open a binary file for writing.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1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= open('test.txt', 'rb')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print(type(file))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= open('test.txt', 'wb')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print(type(file))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1"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&lt;class '_io.BufferedReader'&gt; 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1"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" sz="18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&lt;class '_io.BufferedWriter'&gt; </a:t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1C2B41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Raw Files</a:t>
            </a:r>
            <a:endParaRPr b="1" sz="2200">
              <a:solidFill>
                <a:srgbClr val="1C2B41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raw file is a collection of unprocessed data. It means the raw file has not been altered or manipulated in any way by the computer.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raw files are also called unbuffered files, and this file type is generally used as a low-level building block for binary and text streams. Mostly, The raw file is not used.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When we open these files, using the </a:t>
            </a:r>
            <a:r>
              <a:rPr lang="en" sz="17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open()</a:t>
            </a: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function will return a </a:t>
            </a:r>
            <a:r>
              <a:rPr lang="en" sz="1700">
                <a:solidFill>
                  <a:srgbClr val="6C0B24"/>
                </a:solidFill>
                <a:highlight>
                  <a:srgbClr val="F9F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FileIO</a:t>
            </a: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object.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800"/>
              <a:buNone/>
            </a:pPr>
            <a:r>
              <a:rPr b="1"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= open('test.txt', 'rb', buffering=0)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print(type(file))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EFE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Output: &lt;class '_io.FileIO'&gt; </a:t>
            </a:r>
            <a:endParaRPr sz="1700">
              <a:solidFill>
                <a:srgbClr val="222222"/>
              </a:solidFill>
              <a:highlight>
                <a:srgbClr val="FEFE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7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Built-in Methods</a:t>
            </a:r>
            <a:endParaRPr b="1" sz="1700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700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700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1" name="Google Shape;131;p16"/>
          <p:cNvGraphicFramePr/>
          <p:nvPr/>
        </p:nvGraphicFramePr>
        <p:xfrm>
          <a:off x="641550" y="103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{4789FEB2-5246-4A10-8B28-49B1E67498BF}</a:tableStyleId>
              </a:tblPr>
              <a:tblGrid>
                <a:gridCol w="1442900"/>
                <a:gridCol w="44875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/>
                        </a:rPr>
                        <a:t>readable()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whether the file stream can be read or not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/>
                        </a:rPr>
                        <a:t>read()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the file content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/>
                        </a:rPr>
                        <a:t>readline()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one line from the file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/>
                        </a:rPr>
                        <a:t>seek()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 the file position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7"/>
                        </a:rPr>
                        <a:t>tell()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the current file position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8"/>
                        </a:rPr>
                        <a:t>truncate()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Resizes the file to a specified size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9"/>
                        </a:rPr>
                        <a:t>write()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Writes the specified string to the file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10"/>
                        </a:rPr>
                        <a:t>writelines()</a:t>
                      </a:r>
                      <a:endParaRPr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Writes a list of strings to the file</a:t>
                      </a:r>
                      <a:endParaRPr sz="140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3084825" y="819525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readable():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print(f.readable())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read()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print(f.read())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Hello! Welcome to demofile.txt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file is for testing purposes.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Good Luck!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readline()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print(f.readline())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Hello! Welcome to demofile.txt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seek()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f.seek(4)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print(f.readline())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o! Welcome to demofile.txt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tell()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print(f.tell())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truncate()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open("demofile2.txt", "a")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f.truncate(20)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f.close()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#open and read the file after the truncate: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open("demofile2.txt",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print(f.read())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Hello! Welcome to de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write()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open("demofile2.txt", "a")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f.write("See you soon!")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f.close()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#open and read the file after the appending: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open("demofile2.txt",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print(f.read())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Hello! Welcome to demofile2.txt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file is for testing purposes.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Good Luck!See you soon!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writelines()</a:t>
            </a:r>
            <a:endParaRPr b="1" sz="1600" u="sng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open("demofile3.txt", "a")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f.writelines(["See you soon!", "Over and out."])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f.close()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#open and read the file after the appending: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= open("demofile3.txt", "r")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print(f.read())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Hello! Welcome to demofile2.txt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file is for testing purposes.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Good Luck!See you soon!Over and out.</a:t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 Built-in Attributes</a:t>
            </a:r>
            <a:r>
              <a:rPr b="1" lang="en" sz="1600">
                <a:solidFill>
                  <a:srgbClr val="FF66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(https://studyglance.in/python/files.php)</a:t>
            </a:r>
            <a:endParaRPr b="1" sz="1600">
              <a:solidFill>
                <a:srgbClr val="FF66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34A5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Supports following built-in attributes, those are</a:t>
            </a:r>
            <a:endParaRPr sz="1600">
              <a:solidFill>
                <a:srgbClr val="434A5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434A54"/>
              </a:buClr>
              <a:buSzPts val="1600"/>
              <a:buChar char="●"/>
            </a:pPr>
            <a:r>
              <a:rPr b="1" lang="en" sz="1600">
                <a:solidFill>
                  <a:srgbClr val="434A5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file.name</a:t>
            </a:r>
            <a:r>
              <a:rPr lang="en" sz="1600">
                <a:solidFill>
                  <a:srgbClr val="434A5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returns the name of the file which is already opened.</a:t>
            </a:r>
            <a:endParaRPr sz="1600">
              <a:solidFill>
                <a:srgbClr val="434A5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A54"/>
              </a:buClr>
              <a:buSzPts val="1600"/>
              <a:buChar char="●"/>
            </a:pPr>
            <a:r>
              <a:rPr b="1" lang="en" sz="1600">
                <a:solidFill>
                  <a:srgbClr val="434A5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file.mode</a:t>
            </a:r>
            <a:r>
              <a:rPr lang="en" sz="1600">
                <a:solidFill>
                  <a:srgbClr val="434A5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returns the access mode of opened file.</a:t>
            </a:r>
            <a:endParaRPr sz="1600">
              <a:solidFill>
                <a:srgbClr val="434A5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A54"/>
              </a:buClr>
              <a:buSzPts val="1600"/>
              <a:buChar char="●"/>
            </a:pPr>
            <a:r>
              <a:rPr b="1" lang="en" sz="1600">
                <a:solidFill>
                  <a:srgbClr val="434A5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file.closed</a:t>
            </a:r>
            <a:r>
              <a:rPr lang="en" sz="1600">
                <a:solidFill>
                  <a:srgbClr val="434A5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returns true, if the file closed, otherwise false.</a:t>
            </a:r>
            <a:endParaRPr sz="1600">
              <a:solidFill>
                <a:srgbClr val="434A5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rPr b="1" lang="en" sz="1600" u="sng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file.name</a:t>
            </a:r>
            <a:endParaRPr b="1" sz="1600" u="sng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" sz="1600">
                <a:solidFill>
                  <a:srgbClr val="9A6E3A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rgbClr val="6699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600">
                <a:solidFill>
                  <a:srgbClr val="6699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"myfile.txt"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rgbClr val="6699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"r"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0077AA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0077AA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0077AA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closed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close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16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rgbClr val="0077AA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closed</a:t>
            </a:r>
            <a:r>
              <a:rPr lang="en" sz="1600">
                <a:solidFill>
                  <a:srgbClr val="999999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solidFill>
                <a:srgbClr val="999999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610B3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myfile.txt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700" u="sng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Command Line Arguments in Python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Python Sys Module (tutorialsteacher.com)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SzPts val="2800"/>
              <a:buNone/>
            </a:pPr>
            <a:r>
              <a:rPr lang="en" sz="1400">
                <a:solidFill>
                  <a:srgbClr val="610B3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 Python sys module :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It is a basic module that comes with Python distribution from the early versions. It is a similar approach as C library using argc/argv to access the arguments. The sys module implements command-line arguments in a simple list structure named sys.argv.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Each list element represents a single argument. The first one -- sys.argv[0] -- is the name of Python script. The other list elements are sys.argv[1] to sys.argv[n]- are the command line arguments 2 to n.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 u="sng">
                <a:solidFill>
                  <a:srgbClr val="18171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sys.argv</a:t>
            </a:r>
            <a:endParaRPr b="1" sz="1500" u="sng">
              <a:solidFill>
                <a:srgbClr val="18171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D9E5F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sys.argv</a:t>
            </a:r>
            <a:r>
              <a:rPr lang="en" sz="1400">
                <a:solidFill>
                  <a:srgbClr val="18171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returns a list of command line arguments passed to a Python script. The item at index 0 in this list is always the name of the script. The rest of the arguments are stored at the subsequent indices.</a:t>
            </a:r>
            <a:endParaRPr sz="1400">
              <a:solidFill>
                <a:srgbClr val="18171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800"/>
              <a:buNone/>
            </a:pPr>
            <a:r>
              <a:rPr lang="en" sz="1400">
                <a:solidFill>
                  <a:srgbClr val="0077A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sys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77A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400">
                <a:solidFill>
                  <a:srgbClr val="6699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"You entered: "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sys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argv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" sz="1400">
                <a:solidFill>
                  <a:srgbClr val="99005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],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sys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argv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" sz="1400">
                <a:solidFill>
                  <a:srgbClr val="99005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],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sys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argv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" sz="1400">
                <a:solidFill>
                  <a:srgbClr val="99005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400">
                <a:solidFill>
                  <a:srgbClr val="413F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])</a:t>
            </a:r>
            <a:endParaRPr sz="1400">
              <a:solidFill>
                <a:srgbClr val="413F3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18171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script is executed from command line as follows:</a:t>
            </a:r>
            <a:endParaRPr sz="1800">
              <a:solidFill>
                <a:srgbClr val="18171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8171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1800">
              <a:solidFill>
                <a:srgbClr val="18171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1600" marR="10160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8171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&gt;&gt;&gt; C:\python36&gt; python test.py Python C# Java</a:t>
            </a:r>
            <a:endParaRPr sz="1800">
              <a:solidFill>
                <a:srgbClr val="18171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18171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You entered: Python C# Java</a:t>
            </a:r>
            <a:endParaRPr sz="1800">
              <a:solidFill>
                <a:srgbClr val="18171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2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Using getopt module</a:t>
            </a:r>
            <a:r>
              <a:rPr b="1" lang="en" sz="2200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modules provide some primary function that is the (goes by the same name that is) </a:t>
            </a:r>
            <a:r>
              <a:rPr b="1" lang="en" sz="17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getopt().</a:t>
            </a:r>
            <a:r>
              <a:rPr lang="en" sz="17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The functionality of this function is to analyse command - line options and parameter lists.</a:t>
            </a:r>
            <a:endParaRPr sz="17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b="1" lang="en" sz="17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 b="1" sz="17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25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getopt.getopt ( args , options , [ long_options ] ) 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args: The args is the list of arguments which are to be passed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options: The options are the string of options letters which the script wants to recognize. The option that needs arguments should be written with a colon ( :).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long_options: This is the list of the string which have the name of long options. The option that needs arguments should be written with an equal sign ( = 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800"/>
              </a:spcAft>
              <a:buSzPts val="2800"/>
              <a:buNone/>
            </a:pPr>
            <a:r>
              <a:t/>
            </a:r>
            <a:endParaRPr b="1" sz="27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getopt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full_name():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first_name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last_name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100">
              <a:solidFill>
                <a:srgbClr val="808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sys.argv[</a:t>
            </a:r>
            <a:r>
              <a:rPr lang="en" sz="1100">
                <a:solidFill>
                  <a:srgbClr val="00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opts, args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getopt.getopt(argv,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"f:l:"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FF149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"Error"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opt, arg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opts: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'-f'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first_name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'-l'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last_name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100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FF149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 first_name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0066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last_name)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full_name()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ts val="2800"/>
              <a:buNone/>
            </a:pPr>
            <a:r>
              <a:t/>
            </a:r>
            <a:endParaRPr b="1" sz="1700">
              <a:solidFill>
                <a:srgbClr val="00669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Output:</a:t>
            </a:r>
            <a:endParaRPr b="1" sz="12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ts val="28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3">
            <a:alphaModFix/>
          </a:blip>
          <a:srcRect b="58654" l="18607" r="33936" t="26894"/>
          <a:stretch/>
        </p:blipFill>
        <p:spPr>
          <a:xfrm>
            <a:off x="267000" y="619875"/>
            <a:ext cx="7547726" cy="31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1" lang="en" sz="19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Using argparse module</a:t>
            </a:r>
            <a:endParaRPr b="1" sz="19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1800"/>
              </a:spcAft>
              <a:buSzPts val="2800"/>
              <a:buNone/>
            </a:pPr>
            <a:r>
              <a:rPr lang="en" sz="1900">
                <a:solidFill>
                  <a:srgbClr val="2021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argparse module </a:t>
            </a:r>
            <a:r>
              <a:rPr lang="en" sz="1900">
                <a:solidFill>
                  <a:srgbClr val="040C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it easy to write user-friendly command-line interfaces</a:t>
            </a:r>
            <a:r>
              <a:rPr lang="en" sz="1900">
                <a:solidFill>
                  <a:srgbClr val="2021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The program defines what arguments it requires, and argparse will figure out how to parse those out of sys.argv . The argparse module also automatically generates help and usage messages.</a:t>
            </a:r>
            <a:endParaRPr b="1" sz="23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1" lang="en" sz="19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Using argparse module</a:t>
            </a:r>
            <a:endParaRPr b="1" sz="19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25400" rtl="0" algn="l">
              <a:lnSpc>
                <a:spcPct val="156250"/>
              </a:lnSpc>
              <a:spcBef>
                <a:spcPts val="180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0077A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argparse</a:t>
            </a:r>
            <a:endParaRPr sz="1800">
              <a:solidFill>
                <a:schemeClr val="dk1"/>
              </a:solidFill>
              <a:highlight>
                <a:srgbClr val="F5F2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parser </a:t>
            </a:r>
            <a:r>
              <a:rPr lang="en" sz="1800">
                <a:solidFill>
                  <a:srgbClr val="9A6E3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argparse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ArgumentParser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1800">
              <a:solidFill>
                <a:schemeClr val="dk1"/>
              </a:solidFill>
              <a:highlight>
                <a:srgbClr val="F5F2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parser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add_argument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800">
                <a:solidFill>
                  <a:srgbClr val="669900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"number"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rgbClr val="669900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" sz="1800">
                <a:solidFill>
                  <a:srgbClr val="9A6E3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rgbClr val="669900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rgbClr val="669900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help</a:t>
            </a:r>
            <a:r>
              <a:rPr lang="en" sz="1800">
                <a:solidFill>
                  <a:srgbClr val="9A6E3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rgbClr val="669900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"an integer number"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highlight>
                <a:srgbClr val="F5F2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args </a:t>
            </a:r>
            <a:r>
              <a:rPr lang="en" sz="1800">
                <a:solidFill>
                  <a:srgbClr val="9A6E3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parser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parse_args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1800">
              <a:solidFill>
                <a:schemeClr val="dk1"/>
              </a:solidFill>
              <a:highlight>
                <a:srgbClr val="F5F2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result </a:t>
            </a:r>
            <a:r>
              <a:rPr lang="en" sz="1800">
                <a:solidFill>
                  <a:srgbClr val="9A6E3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args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number </a:t>
            </a:r>
            <a:r>
              <a:rPr lang="en" sz="1800">
                <a:solidFill>
                  <a:srgbClr val="9A6E3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rgbClr val="990055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highlight>
                <a:srgbClr val="F5F2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0077AA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800">
                <a:solidFill>
                  <a:srgbClr val="669900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"Result:"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800">
                <a:solidFill>
                  <a:schemeClr val="dk1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result</a:t>
            </a:r>
            <a:r>
              <a:rPr lang="en" sz="1800">
                <a:solidFill>
                  <a:srgbClr val="999999"/>
                </a:solidFill>
                <a:highlight>
                  <a:srgbClr val="F5F2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999999"/>
              </a:solidFill>
              <a:highlight>
                <a:srgbClr val="F5F2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25400" rtl="0" algn="l">
              <a:lnSpc>
                <a:spcPct val="15625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800">
              <a:solidFill>
                <a:srgbClr val="0066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SzPts val="2800"/>
              <a:buNone/>
            </a:pPr>
            <a:r>
              <a:t/>
            </a:r>
            <a:endParaRPr b="1" sz="19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C:\bba\python full_name.py 5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SzPts val="2800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Result : 10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REGULAR EXPRESSIONS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)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RegEx, or Regular Expression, is a sequence of characters that forms a search pattern.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RegEx can be used to check if a string contains the specified search pattern.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RegEx Module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has a built-in package called </a:t>
            </a:r>
            <a:r>
              <a:rPr lang="en" sz="15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which can be used to work with Regular Expressions.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the </a:t>
            </a:r>
            <a:r>
              <a:rPr lang="en" sz="15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module: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" sz="1450">
                <a:solidFill>
                  <a:srgbClr val="0000C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RegEx in Python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When you have imported the </a:t>
            </a:r>
            <a:r>
              <a:rPr lang="en" sz="15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module, you can start using regular expressions: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800"/>
              </a:spcAft>
              <a:buSzPts val="2800"/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re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#Check if the string starts with "The" and ends with "Spain":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txt = "The Spain"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 = re.search("^The.*Spain$", txt)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if x: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print("YES! We have a match!")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print("No match")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YES! We have a match!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Special Sequences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 special sequence is a </a:t>
            </a:r>
            <a:r>
              <a:rPr lang="en" sz="12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followed by one of the characters in the list below, and has a special meaning: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228" name="Google Shape;228;p35"/>
          <p:cNvGraphicFramePr/>
          <p:nvPr/>
        </p:nvGraphicFramePr>
        <p:xfrm>
          <a:off x="434275" y="66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{4789FEB2-5246-4A10-8B28-49B1E67498BF}</a:tableStyleId>
              </a:tblPr>
              <a:tblGrid>
                <a:gridCol w="1043800"/>
                <a:gridCol w="5686175"/>
                <a:gridCol w="1102600"/>
              </a:tblGrid>
              <a:tr h="47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35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\b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specified characters are at the beginning or at the end of a word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(the "r" in the beginning is making sure that the string is being treated as a "raw string")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r"\bain"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t/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r"ain\b"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135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\B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specified characters are present, but NOT at the beginning (or at the end) of a word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(the "r" in the beginning is making sure that the string is being treated as a "raw string")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r"\Bain"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t/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r"ain\B"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47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\d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string contains digits (numbers from 0-9)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"\d"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46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\D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string DOES NOT contain digits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4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"\D"</a:t>
                      </a:r>
                      <a:endParaRPr sz="14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234" name="Google Shape;234;p36"/>
          <p:cNvGraphicFramePr/>
          <p:nvPr/>
        </p:nvGraphicFramePr>
        <p:xfrm>
          <a:off x="434275" y="66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{4789FEB2-5246-4A10-8B28-49B1E67498BF}</a:tableStyleId>
              </a:tblPr>
              <a:tblGrid>
                <a:gridCol w="1043800"/>
                <a:gridCol w="5686175"/>
                <a:gridCol w="1102600"/>
              </a:tblGrid>
              <a:tr h="47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\s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string contains a white space character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"\s"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58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\S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string DOES NOT contain a white space character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"\S"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47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\w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string contains any word characters (characters from a to Z, digits from 0-9, and the underscore _ character)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"\w"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46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\W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match where the string DOES NOT contain any word characters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"\W"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Metacharacters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Metacharacters are characters with a special meaning: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240" name="Google Shape;240;p37"/>
          <p:cNvGraphicFramePr/>
          <p:nvPr/>
        </p:nvGraphicFramePr>
        <p:xfrm>
          <a:off x="797050" y="131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{4789FEB2-5246-4A10-8B28-49B1E67498BF}</a:tableStyleId>
              </a:tblPr>
              <a:tblGrid>
                <a:gridCol w="1096400"/>
                <a:gridCol w="5813675"/>
                <a:gridCol w="1070175"/>
              </a:tblGrid>
              <a:tr h="63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[]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set of characters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"[a-m]"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6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Signals a special sequence (can also be used to escape special characters)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"\d"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Any character (except newline character)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"he..o"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^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Starts with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"^hello"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44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Ends with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"planet$"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 or more occurrences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r>
                        <a:rPr lang="en" sz="17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"he.*o"</a:t>
                      </a:r>
                      <a:endParaRPr sz="17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en" sz="2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Metacharacters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Metacharacters are characters with a special meaning: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246" name="Google Shape;246;p38"/>
          <p:cNvGraphicFramePr/>
          <p:nvPr/>
        </p:nvGraphicFramePr>
        <p:xfrm>
          <a:off x="797050" y="131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{4789FEB2-5246-4A10-8B28-49B1E67498BF}</a:tableStyleId>
              </a:tblPr>
              <a:tblGrid>
                <a:gridCol w="1096400"/>
                <a:gridCol w="5813675"/>
                <a:gridCol w="1070175"/>
              </a:tblGrid>
              <a:tr h="63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or more occurrences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"he.+o"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6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 or one occurrences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"he.?o"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{}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Exactly the specified number of occurrences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"he.{2}o"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Either or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"falls|stays"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en" sz="2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Metacharacters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Metacharacters are characters with a special meaning: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252" name="Google Shape;252;p39"/>
          <p:cNvGraphicFramePr/>
          <p:nvPr/>
        </p:nvGraphicFramePr>
        <p:xfrm>
          <a:off x="797050" y="131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{4789FEB2-5246-4A10-8B28-49B1E67498BF}</a:tableStyleId>
              </a:tblPr>
              <a:tblGrid>
                <a:gridCol w="1096400"/>
                <a:gridCol w="5813675"/>
                <a:gridCol w="1070175"/>
              </a:tblGrid>
              <a:tr h="63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or more occurrences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"he.+o"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6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 or one occurrences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"he.?o"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{}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Exactly the specified number of occurrences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"he.{2}o"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38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Either or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"falls|stays"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44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()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en" sz="20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Capture and group</a:t>
                      </a:r>
                      <a:endParaRPr sz="20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en" sz="2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RegEx Functions</a:t>
            </a:r>
            <a:endParaRPr sz="2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7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module offers a set of functions that allows us to search a string for a match: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258" name="Google Shape;258;p40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{4789FEB2-5246-4A10-8B28-49B1E67498BF}</a:tableStyleId>
              </a:tblPr>
              <a:tblGrid>
                <a:gridCol w="1848500"/>
                <a:gridCol w="5954075"/>
              </a:tblGrid>
              <a:tr h="55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b="1"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55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sng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/>
                        </a:rPr>
                        <a:t>findall</a:t>
                      </a:r>
                      <a:endParaRPr sz="1650" u="sng" cap="none" strike="noStrike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list containing all matches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55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sng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/>
                        </a:rPr>
                        <a:t>search</a:t>
                      </a:r>
                      <a:endParaRPr sz="1650" u="sng" cap="none" strike="noStrike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</a:t>
                      </a:r>
                      <a:r>
                        <a:rPr lang="en" sz="1650" u="sng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/>
                        </a:rPr>
                        <a:t>Match object</a:t>
                      </a: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if there is a match anywhere in the string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55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sng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/>
                        </a:rPr>
                        <a:t>split</a:t>
                      </a:r>
                      <a:endParaRPr sz="1650" u="sng" cap="none" strike="noStrike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list where the string has been split at each match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  <a:tr h="55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sng" cap="none" strike="noStrik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7"/>
                        </a:rPr>
                        <a:t>sub</a:t>
                      </a:r>
                      <a:endParaRPr sz="1650" u="sng" cap="none" strike="noStrike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1524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" sz="1650" u="none" cap="none" strike="noStrike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Replaces one or many matches with a string</a:t>
                      </a:r>
                      <a:endParaRPr sz="1650" u="none" cap="none" strike="noStrike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findall() Function</a:t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14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48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findall()</a:t>
            </a:r>
            <a:r>
              <a:rPr lang="en" sz="14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function returns a list containing all matches.</a:t>
            </a:r>
            <a:endParaRPr sz="14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21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re</a:t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21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#Return a list containing every occurrence of "ai":</a:t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21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txt = "The rain in Spain"</a:t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21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 = re.findall("ai", txt)</a:t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21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print(x)</a:t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21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en" sz="21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['ai', 'ai']</a:t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1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6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04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The search() Function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7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search()</a:t>
            </a: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function searches the string for a match, and returns a </a:t>
            </a:r>
            <a:r>
              <a:rPr lang="en" sz="165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Match object</a:t>
            </a: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if there is a match.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If there is more than one match, only the first occurrence of the match will be returned: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re</a:t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txt = "The rain in Spain"</a:t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 = re.search("\s", txt)</a:t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print("The first white-space character is located in position:", x.start()) </a:t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first white-space character is located in position: 3</a:t>
            </a:r>
            <a:endParaRPr sz="19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The split() Function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8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split()</a:t>
            </a:r>
            <a:r>
              <a:rPr lang="en" sz="17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function returns a list where the string has been split at each match:</a:t>
            </a:r>
            <a:endParaRPr sz="17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re</a:t>
            </a:r>
            <a:endParaRPr sz="27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#Split the string at every white-space character:</a:t>
            </a:r>
            <a:endParaRPr sz="27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txt = "The rain in Spain"</a:t>
            </a:r>
            <a:endParaRPr sz="27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 = re.split("\s", txt)</a:t>
            </a:r>
            <a:endParaRPr sz="27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print(x)</a:t>
            </a:r>
            <a:endParaRPr sz="27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['The', 'rain', 'in', 'Spain']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The sub() Function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7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sub()</a:t>
            </a: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function replaces the matches with the text of your choice: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re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#Replace all white-space characters with the digit "9":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txt = "The rain in Spain"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 = re.sub("\s", "9", txt)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print(x)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The9rain9in9Spain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idx="1" type="subTitle"/>
          </p:nvPr>
        </p:nvSpPr>
        <p:spPr>
          <a:xfrm>
            <a:off x="267000" y="263900"/>
            <a:ext cx="8610000" cy="4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The sub() Function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7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sub()</a:t>
            </a:r>
            <a:r>
              <a:rPr lang="en" sz="16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function replaces the matches with the text of your choice: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re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#Replace all white-space characters with the digit "9":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txt = "The rain in Spain"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 = re.sub("\s", "9", txt)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print(x)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The9rain9in9Spain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