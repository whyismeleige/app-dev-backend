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y="5143500" cx="9144000"/>
  <p:notesSz cx="6858000" cy="9144000"/>
  <p:embeddedFontLst>
    <p:embeddedFont>
      <p:font typeface="Roboto"/>
      <p:regular r:id="rId69"/>
      <p:bold r:id="rId70"/>
      <p:italic r:id="rId71"/>
      <p:boldItalic r:id="rId72"/>
    </p:embeddedFont>
    <p:embeddedFont>
      <p:font typeface="Nunit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77" roundtripDataSignature="AMtx7mgKSP4yxvKfSn7zpp1DNTVHzCsh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Nunito-regular.fntdata"/><Relationship Id="rId72" Type="http://schemas.openxmlformats.org/officeDocument/2006/relationships/font" Target="fonts/Roboto-boldItalic.fntdata"/><Relationship Id="rId31" Type="http://schemas.openxmlformats.org/officeDocument/2006/relationships/slide" Target="slides/slide26.xml"/><Relationship Id="rId75" Type="http://schemas.openxmlformats.org/officeDocument/2006/relationships/font" Target="fonts/Nunito-italic.fntdata"/><Relationship Id="rId30" Type="http://schemas.openxmlformats.org/officeDocument/2006/relationships/slide" Target="slides/slide25.xml"/><Relationship Id="rId74" Type="http://schemas.openxmlformats.org/officeDocument/2006/relationships/font" Target="fonts/Nunito-bold.fntdata"/><Relationship Id="rId33" Type="http://schemas.openxmlformats.org/officeDocument/2006/relationships/slide" Target="slides/slide28.xml"/><Relationship Id="rId77" Type="http://customschemas.google.com/relationships/presentationmetadata" Target="metadata"/><Relationship Id="rId32" Type="http://schemas.openxmlformats.org/officeDocument/2006/relationships/slide" Target="slides/slide27.xml"/><Relationship Id="rId76" Type="http://schemas.openxmlformats.org/officeDocument/2006/relationships/font" Target="fonts/Nunito-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6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7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7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7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7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7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7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7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7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geeksforgeeks.org/python-programming-language/" TargetMode="External"/><Relationship Id="rId4" Type="http://schemas.openxmlformats.org/officeDocument/2006/relationships/hyperlink" Target="https://www.geeksforgeeks.org/python-def-keyword/" TargetMode="External"/><Relationship Id="rId5" Type="http://schemas.openxmlformats.org/officeDocument/2006/relationships/hyperlink" Target="https://www.geeksforgeeks.org/python-def-keywor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geeksforgeeks.org/default-arguments-in-python/"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geeksforgeeks.org/args-kwargs-pytho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www.geeksforgeeks.org/python-programming-language/" TargetMode="External"/><Relationship Id="rId4" Type="http://schemas.openxmlformats.org/officeDocument/2006/relationships/hyperlink" Target="https://www.geeksforgeeks.org/import-module-pyth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geeksforgeeks.org/python-packages/" TargetMode="External"/><Relationship Id="rId4" Type="http://schemas.openxmlformats.org/officeDocument/2006/relationships/hyperlink" Target="https://www.geeksforgeeks.org/python-module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hyperlink" Target="https://www.geeksforgeeks.org/import-module-python/"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0" y="744575"/>
            <a:ext cx="8520600" cy="7926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lang="en" sz="3600">
                <a:latin typeface="Times New Roman"/>
                <a:ea typeface="Times New Roman"/>
                <a:cs typeface="Times New Roman"/>
                <a:sym typeface="Times New Roman"/>
              </a:rPr>
              <a:t>							UNIT III</a:t>
            </a:r>
            <a:endParaRPr sz="3600">
              <a:latin typeface="Times New Roman"/>
              <a:ea typeface="Times New Roman"/>
              <a:cs typeface="Times New Roman"/>
              <a:sym typeface="Times New Roman"/>
            </a:endParaRPr>
          </a:p>
        </p:txBody>
      </p:sp>
      <p:sp>
        <p:nvSpPr>
          <p:cNvPr id="55" name="Google Shape;55;p1"/>
          <p:cNvSpPr txBox="1"/>
          <p:nvPr>
            <p:ph idx="1" type="subTitle"/>
          </p:nvPr>
        </p:nvSpPr>
        <p:spPr>
          <a:xfrm>
            <a:off x="311700" y="2131200"/>
            <a:ext cx="8520600" cy="1230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3600">
                <a:latin typeface="Times New Roman"/>
                <a:ea typeface="Times New Roman"/>
                <a:cs typeface="Times New Roman"/>
                <a:sym typeface="Times New Roman"/>
              </a:rPr>
              <a:t>   Functions and Modules</a:t>
            </a:r>
            <a:endParaRPr sz="3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just">
              <a:lnSpc>
                <a:spcPct val="130000"/>
              </a:lnSpc>
              <a:spcBef>
                <a:spcPts val="400"/>
              </a:spcBef>
              <a:spcAft>
                <a:spcPts val="0"/>
              </a:spcAft>
              <a:buClr>
                <a:schemeClr val="dk1"/>
              </a:buClr>
              <a:buSzPct val="50000"/>
              <a:buFont typeface="Arial"/>
              <a:buNone/>
            </a:pPr>
            <a:r>
              <a:rPr lang="en" sz="2200">
                <a:solidFill>
                  <a:srgbClr val="610B38"/>
                </a:solidFill>
                <a:highlight>
                  <a:srgbClr val="FFFFFF"/>
                </a:highlight>
              </a:rPr>
              <a:t>Python Built-in Functions</a:t>
            </a:r>
            <a:endParaRPr sz="2200">
              <a:solidFill>
                <a:srgbClr val="610B38"/>
              </a:solidFill>
              <a:highlight>
                <a:srgbClr val="FFFFFF"/>
              </a:highlight>
            </a:endParaRPr>
          </a:p>
          <a:p>
            <a:pPr indent="0" lvl="0" marL="0" rtl="0" algn="just">
              <a:lnSpc>
                <a:spcPct val="115000"/>
              </a:lnSpc>
              <a:spcBef>
                <a:spcPts val="1200"/>
              </a:spcBef>
              <a:spcAft>
                <a:spcPts val="0"/>
              </a:spcAft>
              <a:buSzPct val="177007"/>
              <a:buNone/>
            </a:pPr>
            <a:r>
              <a:rPr lang="en" sz="1861">
                <a:solidFill>
                  <a:srgbClr val="333333"/>
                </a:solidFill>
                <a:highlight>
                  <a:srgbClr val="FFFFFF"/>
                </a:highlight>
                <a:latin typeface="Roboto"/>
                <a:ea typeface="Roboto"/>
                <a:cs typeface="Roboto"/>
                <a:sym typeface="Roboto"/>
              </a:rPr>
              <a:t>The Python built-in functions are defined as the functions whose functionality is pre-defined in Python. The python interpreter has several functions that are always present for use. These functions are known as Built-in Functions. There are several built-in functions in Python which are</a:t>
            </a:r>
            <a:endParaRPr sz="1861">
              <a:solidFill>
                <a:srgbClr val="333333"/>
              </a:solidFill>
              <a:highlight>
                <a:srgbClr val="FFFFFF"/>
              </a:highlight>
              <a:latin typeface="Roboto"/>
              <a:ea typeface="Roboto"/>
              <a:cs typeface="Roboto"/>
              <a:sym typeface="Roboto"/>
            </a:endParaRPr>
          </a:p>
          <a:p>
            <a:pPr indent="0" lvl="0" marL="0" rtl="0" algn="just">
              <a:lnSpc>
                <a:spcPct val="130000"/>
              </a:lnSpc>
              <a:spcBef>
                <a:spcPts val="1800"/>
              </a:spcBef>
              <a:spcAft>
                <a:spcPts val="0"/>
              </a:spcAft>
              <a:buSzPct val="128626"/>
              <a:buNone/>
            </a:pPr>
            <a:r>
              <a:rPr lang="en" sz="2561">
                <a:solidFill>
                  <a:srgbClr val="610B38"/>
                </a:solidFill>
                <a:highlight>
                  <a:srgbClr val="FFFFFF"/>
                </a:highlight>
              </a:rPr>
              <a:t>abs() Function</a:t>
            </a:r>
            <a:endParaRPr sz="2561">
              <a:solidFill>
                <a:srgbClr val="610B38"/>
              </a:solidFill>
              <a:highlight>
                <a:srgbClr val="FFFFFF"/>
              </a:highlight>
            </a:endParaRPr>
          </a:p>
          <a:p>
            <a:pPr indent="0" lvl="0" marL="0" rtl="0" algn="just">
              <a:lnSpc>
                <a:spcPct val="115000"/>
              </a:lnSpc>
              <a:spcBef>
                <a:spcPts val="1200"/>
              </a:spcBef>
              <a:spcAft>
                <a:spcPts val="0"/>
              </a:spcAft>
              <a:buSzPct val="177007"/>
              <a:buNone/>
            </a:pPr>
            <a:r>
              <a:rPr lang="en" sz="1861">
                <a:solidFill>
                  <a:srgbClr val="333333"/>
                </a:solidFill>
                <a:highlight>
                  <a:srgbClr val="FFFFFF"/>
                </a:highlight>
                <a:latin typeface="Roboto"/>
                <a:ea typeface="Roboto"/>
                <a:cs typeface="Roboto"/>
                <a:sym typeface="Roboto"/>
              </a:rPr>
              <a:t>The python </a:t>
            </a:r>
            <a:r>
              <a:rPr b="1" lang="en" sz="1861">
                <a:solidFill>
                  <a:srgbClr val="333333"/>
                </a:solidFill>
                <a:highlight>
                  <a:srgbClr val="FFFFFF"/>
                </a:highlight>
                <a:latin typeface="Roboto"/>
                <a:ea typeface="Roboto"/>
                <a:cs typeface="Roboto"/>
                <a:sym typeface="Roboto"/>
              </a:rPr>
              <a:t>abs()</a:t>
            </a:r>
            <a:r>
              <a:rPr lang="en" sz="1861">
                <a:solidFill>
                  <a:srgbClr val="333333"/>
                </a:solidFill>
                <a:highlight>
                  <a:srgbClr val="FFFFFF"/>
                </a:highlight>
                <a:latin typeface="Roboto"/>
                <a:ea typeface="Roboto"/>
                <a:cs typeface="Roboto"/>
                <a:sym typeface="Roboto"/>
              </a:rPr>
              <a:t> function is used to return the absolute value of a number. It takes only one argument, a number whose absolute value is to be returned. The argument can be an integer and floating-point number. If the argument is a complex number, then, abs() returns its magnitude.</a:t>
            </a:r>
            <a:endParaRPr sz="1861">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ct val="274508"/>
              <a:buNone/>
            </a:pPr>
            <a:r>
              <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ct val="274508"/>
              <a:buNone/>
            </a:pPr>
            <a:r>
              <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Clr>
                <a:schemeClr val="dk1"/>
              </a:buClr>
              <a:buSzPct val="91666"/>
              <a:buFont typeface="Arial"/>
              <a:buNone/>
            </a:pPr>
            <a:r>
              <a:t/>
            </a:r>
            <a:endParaRPr sz="1200">
              <a:solidFill>
                <a:srgbClr val="333333"/>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SzPct val="91502"/>
              <a:buNone/>
            </a:pPr>
            <a:r>
              <a:t/>
            </a:r>
            <a:endParaRPr sz="3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304800" lvl="0" marL="457200" marR="25400" rtl="0" algn="l">
              <a:lnSpc>
                <a:spcPct val="156250"/>
              </a:lnSpc>
              <a:spcBef>
                <a:spcPts val="30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integer number   </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integer = -20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t>
            </a:r>
            <a:r>
              <a:rPr lang="en" sz="1200">
                <a:solidFill>
                  <a:srgbClr val="0000FF"/>
                </a:solidFill>
                <a:latin typeface="Roboto"/>
                <a:ea typeface="Roboto"/>
                <a:cs typeface="Roboto"/>
                <a:sym typeface="Roboto"/>
              </a:rPr>
              <a:t>'Absolute value of -20 is:'</a:t>
            </a:r>
            <a:r>
              <a:rPr lang="en" sz="1200">
                <a:solidFill>
                  <a:schemeClr val="dk1"/>
                </a:solidFill>
                <a:latin typeface="Roboto"/>
                <a:ea typeface="Roboto"/>
                <a:cs typeface="Roboto"/>
                <a:sym typeface="Roboto"/>
              </a:rPr>
              <a:t>, abs(integer))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floating number</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floating = -20.83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t>
            </a:r>
            <a:r>
              <a:rPr lang="en" sz="1200">
                <a:solidFill>
                  <a:srgbClr val="0000FF"/>
                </a:solidFill>
                <a:latin typeface="Roboto"/>
                <a:ea typeface="Roboto"/>
                <a:cs typeface="Roboto"/>
                <a:sym typeface="Roboto"/>
              </a:rPr>
              <a:t>'Absolute value of -20.83 is:'</a:t>
            </a:r>
            <a:r>
              <a:rPr lang="en" sz="1200">
                <a:solidFill>
                  <a:schemeClr val="dk1"/>
                </a:solidFill>
                <a:latin typeface="Roboto"/>
                <a:ea typeface="Roboto"/>
                <a:cs typeface="Roboto"/>
                <a:sym typeface="Roboto"/>
              </a:rPr>
              <a:t>, abs(floating))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ts val="2800"/>
              <a:buNone/>
            </a:pPr>
            <a:r>
              <a:rPr lang="en" sz="1200">
                <a:solidFill>
                  <a:srgbClr val="535559"/>
                </a:solidFill>
              </a:rPr>
              <a:t>Absolute value of -20 is: 20</a:t>
            </a:r>
            <a:endParaRPr sz="1200">
              <a:solidFill>
                <a:srgbClr val="535559"/>
              </a:solidFill>
            </a:endParaRPr>
          </a:p>
          <a:p>
            <a:pPr indent="0" lvl="0" marL="0" rtl="0" algn="just">
              <a:lnSpc>
                <a:spcPct val="115000"/>
              </a:lnSpc>
              <a:spcBef>
                <a:spcPts val="1200"/>
              </a:spcBef>
              <a:spcAft>
                <a:spcPts val="0"/>
              </a:spcAft>
              <a:buSzPts val="2800"/>
              <a:buNone/>
            </a:pPr>
            <a:r>
              <a:rPr lang="en" sz="1200">
                <a:solidFill>
                  <a:srgbClr val="535559"/>
                </a:solidFill>
              </a:rPr>
              <a:t>Absolute value of -20.83 is: 20.83</a:t>
            </a:r>
            <a:endParaRPr sz="1200">
              <a:solidFill>
                <a:srgbClr val="535559"/>
              </a:solidFill>
            </a:endParaRPr>
          </a:p>
          <a:p>
            <a:pPr indent="0" lvl="0" marL="0" rtl="0" algn="just">
              <a:lnSpc>
                <a:spcPct val="115000"/>
              </a:lnSpc>
              <a:spcBef>
                <a:spcPts val="1200"/>
              </a:spcBef>
              <a:spcAft>
                <a:spcPts val="0"/>
              </a:spcAft>
              <a:buClr>
                <a:schemeClr val="dk1"/>
              </a:buClr>
              <a:buSzPts val="1100"/>
              <a:buFont typeface="Arial"/>
              <a:buNone/>
            </a:pPr>
            <a:r>
              <a:t/>
            </a:r>
            <a:endParaRPr b="1" sz="1200">
              <a:solidFill>
                <a:srgbClr val="333333"/>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0"/>
              </a:spcBef>
              <a:spcAft>
                <a:spcPts val="0"/>
              </a:spcAft>
              <a:buSzPts val="2800"/>
              <a:buNone/>
            </a:pPr>
            <a:r>
              <a:t/>
            </a:r>
            <a:endParaRPr sz="2200">
              <a:solidFill>
                <a:srgbClr val="610B38"/>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4"/>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 sz="1900">
                <a:solidFill>
                  <a:srgbClr val="610B38"/>
                </a:solidFill>
                <a:highlight>
                  <a:srgbClr val="FFFFFF"/>
                </a:highlight>
              </a:rPr>
              <a:t>all() Function</a:t>
            </a:r>
            <a:endParaRPr sz="1900">
              <a:solidFill>
                <a:srgbClr val="610B38"/>
              </a:solidFill>
              <a:highlight>
                <a:srgbClr val="FFFFFF"/>
              </a:highlight>
            </a:endParaRPr>
          </a:p>
          <a:p>
            <a:pPr indent="0" lvl="0" marL="0" rtl="0" algn="just">
              <a:lnSpc>
                <a:spcPct val="115000"/>
              </a:lnSpc>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The python </a:t>
            </a:r>
            <a:r>
              <a:rPr b="1" lang="en" sz="1200">
                <a:solidFill>
                  <a:srgbClr val="333333"/>
                </a:solidFill>
                <a:highlight>
                  <a:srgbClr val="FFFFFF"/>
                </a:highlight>
                <a:latin typeface="Roboto"/>
                <a:ea typeface="Roboto"/>
                <a:cs typeface="Roboto"/>
                <a:sym typeface="Roboto"/>
              </a:rPr>
              <a:t>all()</a:t>
            </a:r>
            <a:r>
              <a:rPr lang="en" sz="1200">
                <a:solidFill>
                  <a:srgbClr val="333333"/>
                </a:solidFill>
                <a:highlight>
                  <a:srgbClr val="FFFFFF"/>
                </a:highlight>
                <a:latin typeface="Roboto"/>
                <a:ea typeface="Roboto"/>
                <a:cs typeface="Roboto"/>
                <a:sym typeface="Roboto"/>
              </a:rPr>
              <a:t> function accepts an iterable object (such as list, dictionary, etc.). It returns true if all items in passed iterable are true. Otherwise, it returns False. If the iterable object is empty, the all() function returns True.</a:t>
            </a:r>
            <a:endParaRPr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all values true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k = [1, 3, 4, 6]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(all(k))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all values false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k = [0, False]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(all(k))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one false value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k = [1, 3, 7, 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(all(k))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2800"/>
              <a:buNone/>
            </a:pPr>
            <a:r>
              <a:t/>
            </a:r>
            <a:endParaRPr sz="1200">
              <a:solidFill>
                <a:srgbClr val="0082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5"/>
          <p:cNvSpPr txBox="1"/>
          <p:nvPr>
            <p:ph idx="1" type="subTitle"/>
          </p:nvPr>
        </p:nvSpPr>
        <p:spPr>
          <a:xfrm>
            <a:off x="267000" y="492500"/>
            <a:ext cx="8610000" cy="4729800"/>
          </a:xfrm>
          <a:prstGeom prst="rect">
            <a:avLst/>
          </a:prstGeom>
          <a:noFill/>
          <a:ln>
            <a:noFill/>
          </a:ln>
        </p:spPr>
        <p:txBody>
          <a:bodyPr anchorCtr="0" anchor="t" bIns="91425" lIns="91425" spcFirstLastPara="1" rIns="91425" wrap="square" tIns="91425">
            <a:normAutofit/>
          </a:bodyPr>
          <a:lstStyle/>
          <a:p>
            <a:pPr indent="0" lvl="0" marL="457200" marR="25400" rtl="0" algn="l">
              <a:lnSpc>
                <a:spcPct val="156250"/>
              </a:lnSpc>
              <a:spcBef>
                <a:spcPts val="300"/>
              </a:spcBef>
              <a:spcAft>
                <a:spcPts val="0"/>
              </a:spcAft>
              <a:buSzPts val="2800"/>
              <a:buNone/>
            </a:pPr>
            <a:r>
              <a:rPr lang="en" sz="1200">
                <a:solidFill>
                  <a:srgbClr val="008200"/>
                </a:solidFill>
                <a:latin typeface="Roboto"/>
                <a:ea typeface="Roboto"/>
                <a:cs typeface="Roboto"/>
                <a:sym typeface="Roboto"/>
              </a:rPr>
              <a:t># one true value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457200" marR="25400" rtl="0" algn="l">
              <a:lnSpc>
                <a:spcPct val="156250"/>
              </a:lnSpc>
              <a:spcBef>
                <a:spcPts val="300"/>
              </a:spcBef>
              <a:spcAft>
                <a:spcPts val="0"/>
              </a:spcAft>
              <a:buSzPts val="2800"/>
              <a:buNone/>
            </a:pPr>
            <a:r>
              <a:rPr lang="en" sz="1200">
                <a:solidFill>
                  <a:schemeClr val="dk1"/>
                </a:solidFill>
                <a:latin typeface="Roboto"/>
                <a:ea typeface="Roboto"/>
                <a:cs typeface="Roboto"/>
                <a:sym typeface="Roboto"/>
              </a:rPr>
              <a:t>k = [0, False, 5]  </a:t>
            </a:r>
            <a:endParaRPr sz="1200">
              <a:solidFill>
                <a:schemeClr val="dk1"/>
              </a:solidFill>
              <a:latin typeface="Roboto"/>
              <a:ea typeface="Roboto"/>
              <a:cs typeface="Roboto"/>
              <a:sym typeface="Roboto"/>
            </a:endParaRPr>
          </a:p>
          <a:p>
            <a:pPr indent="0" lvl="0" marL="457200" marR="25400" rtl="0" algn="l">
              <a:lnSpc>
                <a:spcPct val="156250"/>
              </a:lnSpc>
              <a:spcBef>
                <a:spcPts val="300"/>
              </a:spcBef>
              <a:spcAft>
                <a:spcPts val="0"/>
              </a:spcAft>
              <a:buSzPts val="2800"/>
              <a:buNone/>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(all(k))  </a:t>
            </a:r>
            <a:endParaRPr sz="1200">
              <a:solidFill>
                <a:schemeClr val="dk1"/>
              </a:solidFill>
              <a:latin typeface="Roboto"/>
              <a:ea typeface="Roboto"/>
              <a:cs typeface="Roboto"/>
              <a:sym typeface="Roboto"/>
            </a:endParaRPr>
          </a:p>
          <a:p>
            <a:pPr indent="0" lvl="0" marL="457200" marR="25400" rtl="0" algn="l">
              <a:lnSpc>
                <a:spcPct val="156250"/>
              </a:lnSpc>
              <a:spcBef>
                <a:spcPts val="300"/>
              </a:spcBef>
              <a:spcAft>
                <a:spcPts val="0"/>
              </a:spcAft>
              <a:buSzPts val="2800"/>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457200" marR="25400" rtl="0" algn="l">
              <a:lnSpc>
                <a:spcPct val="156250"/>
              </a:lnSpc>
              <a:spcBef>
                <a:spcPts val="300"/>
              </a:spcBef>
              <a:spcAft>
                <a:spcPts val="0"/>
              </a:spcAft>
              <a:buSzPts val="2800"/>
              <a:buNone/>
            </a:pPr>
            <a:r>
              <a:rPr lang="en" sz="1200">
                <a:solidFill>
                  <a:srgbClr val="008200"/>
                </a:solidFill>
                <a:latin typeface="Roboto"/>
                <a:ea typeface="Roboto"/>
                <a:cs typeface="Roboto"/>
                <a:sym typeface="Roboto"/>
              </a:rPr>
              <a:t># empty iterable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457200" marR="25400" rtl="0" algn="l">
              <a:lnSpc>
                <a:spcPct val="156250"/>
              </a:lnSpc>
              <a:spcBef>
                <a:spcPts val="300"/>
              </a:spcBef>
              <a:spcAft>
                <a:spcPts val="0"/>
              </a:spcAft>
              <a:buSzPts val="2800"/>
              <a:buNone/>
            </a:pPr>
            <a:r>
              <a:rPr lang="en" sz="1200">
                <a:solidFill>
                  <a:schemeClr val="dk1"/>
                </a:solidFill>
                <a:latin typeface="Roboto"/>
                <a:ea typeface="Roboto"/>
                <a:cs typeface="Roboto"/>
                <a:sym typeface="Roboto"/>
              </a:rPr>
              <a:t>k = []  </a:t>
            </a:r>
            <a:endParaRPr sz="1200">
              <a:solidFill>
                <a:schemeClr val="dk1"/>
              </a:solidFill>
              <a:latin typeface="Roboto"/>
              <a:ea typeface="Roboto"/>
              <a:cs typeface="Roboto"/>
              <a:sym typeface="Roboto"/>
            </a:endParaRPr>
          </a:p>
          <a:p>
            <a:pPr indent="0" lvl="0" marL="457200" marR="25400" rtl="0" algn="l">
              <a:lnSpc>
                <a:spcPct val="156250"/>
              </a:lnSpc>
              <a:spcBef>
                <a:spcPts val="300"/>
              </a:spcBef>
              <a:spcAft>
                <a:spcPts val="0"/>
              </a:spcAft>
              <a:buSzPts val="2800"/>
              <a:buNone/>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(all(k))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True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rPr lang="en" sz="1200">
                <a:solidFill>
                  <a:srgbClr val="535559"/>
                </a:solidFill>
                <a:highlight>
                  <a:srgbClr val="EEEEEE"/>
                </a:highlight>
                <a:latin typeface="Roboto"/>
                <a:ea typeface="Roboto"/>
                <a:cs typeface="Roboto"/>
                <a:sym typeface="Roboto"/>
              </a:rPr>
              <a:t>True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t/>
            </a:r>
            <a:endParaRPr sz="1900">
              <a:solidFill>
                <a:srgbClr val="610B38"/>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6"/>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 sz="1900">
                <a:solidFill>
                  <a:srgbClr val="610B38"/>
                </a:solidFill>
                <a:highlight>
                  <a:srgbClr val="FFFFFF"/>
                </a:highlight>
              </a:rPr>
              <a:t>bin() Function</a:t>
            </a:r>
            <a:endParaRPr sz="1900">
              <a:solidFill>
                <a:srgbClr val="610B38"/>
              </a:solidFill>
              <a:highlight>
                <a:srgbClr val="FFFFFF"/>
              </a:highlight>
            </a:endParaRPr>
          </a:p>
          <a:p>
            <a:pPr indent="0" lvl="0" marL="0" rtl="0" algn="just">
              <a:lnSpc>
                <a:spcPct val="115000"/>
              </a:lnSpc>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The python </a:t>
            </a:r>
            <a:r>
              <a:rPr b="1" lang="en" sz="1200">
                <a:solidFill>
                  <a:srgbClr val="333333"/>
                </a:solidFill>
                <a:highlight>
                  <a:srgbClr val="FFFFFF"/>
                </a:highlight>
                <a:latin typeface="Roboto"/>
                <a:ea typeface="Roboto"/>
                <a:cs typeface="Roboto"/>
                <a:sym typeface="Roboto"/>
              </a:rPr>
              <a:t>bin()</a:t>
            </a:r>
            <a:r>
              <a:rPr lang="en" sz="1200">
                <a:solidFill>
                  <a:srgbClr val="333333"/>
                </a:solidFill>
                <a:highlight>
                  <a:srgbClr val="FFFFFF"/>
                </a:highlight>
                <a:latin typeface="Roboto"/>
                <a:ea typeface="Roboto"/>
                <a:cs typeface="Roboto"/>
                <a:sym typeface="Roboto"/>
              </a:rPr>
              <a:t> function is used to return the binary representation of a specified integer. A result always starts with the prefix 0b.</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Python bin() Function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x =  10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y =  bin(x)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 (y)  </a:t>
            </a:r>
            <a:endParaRPr sz="1200">
              <a:solidFill>
                <a:schemeClr val="dk1"/>
              </a:solidFill>
              <a:latin typeface="Roboto"/>
              <a:ea typeface="Roboto"/>
              <a:cs typeface="Roboto"/>
              <a:sym typeface="Roboto"/>
            </a:endParaRPr>
          </a:p>
          <a:p>
            <a:pPr indent="0" lvl="0" marL="45720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457200" marR="25400" rtl="0" algn="l">
              <a:lnSpc>
                <a:spcPct val="15625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0b1010</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1200"/>
              </a:spcBef>
              <a:spcAft>
                <a:spcPts val="0"/>
              </a:spcAft>
              <a:buClr>
                <a:schemeClr val="dk1"/>
              </a:buClr>
              <a:buSzPts val="1100"/>
              <a:buFont typeface="Arial"/>
              <a:buNone/>
            </a:pPr>
            <a:r>
              <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Clr>
                <a:schemeClr val="dk1"/>
              </a:buClr>
              <a:buSzPts val="1100"/>
              <a:buFont typeface="Arial"/>
              <a:buNone/>
            </a:pPr>
            <a:r>
              <a:t/>
            </a:r>
            <a:endParaRPr sz="1200">
              <a:solidFill>
                <a:srgbClr val="535559"/>
              </a:solidFill>
              <a:highlight>
                <a:srgbClr val="EEEEEE"/>
              </a:highlight>
              <a:latin typeface="Roboto"/>
              <a:ea typeface="Roboto"/>
              <a:cs typeface="Roboto"/>
              <a:sym typeface="Roboto"/>
            </a:endParaRPr>
          </a:p>
          <a:p>
            <a:pPr indent="0" lvl="0" marL="457200" marR="25400" rtl="0" algn="l">
              <a:lnSpc>
                <a:spcPct val="156250"/>
              </a:lnSpc>
              <a:spcBef>
                <a:spcPts val="900"/>
              </a:spcBef>
              <a:spcAft>
                <a:spcPts val="0"/>
              </a:spcAft>
              <a:buSzPts val="2800"/>
              <a:buNone/>
            </a:pPr>
            <a:r>
              <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SzPts val="2800"/>
              <a:buNone/>
            </a:pPr>
            <a:r>
              <a:t/>
            </a:r>
            <a:endParaRPr sz="1200">
              <a:solidFill>
                <a:srgbClr val="0082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 sz="1900">
                <a:solidFill>
                  <a:srgbClr val="610B38"/>
                </a:solidFill>
                <a:highlight>
                  <a:srgbClr val="FFFFFF"/>
                </a:highlight>
              </a:rPr>
              <a:t>bool()</a:t>
            </a:r>
            <a:endParaRPr sz="1900">
              <a:solidFill>
                <a:srgbClr val="610B38"/>
              </a:solidFill>
              <a:highlight>
                <a:srgbClr val="FFFFFF"/>
              </a:highlight>
            </a:endParaRPr>
          </a:p>
          <a:p>
            <a:pPr indent="0" lvl="0" marL="0" rtl="0" algn="just">
              <a:lnSpc>
                <a:spcPct val="115000"/>
              </a:lnSpc>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The python </a:t>
            </a:r>
            <a:r>
              <a:rPr b="1" lang="en" sz="1200">
                <a:solidFill>
                  <a:srgbClr val="333333"/>
                </a:solidFill>
                <a:highlight>
                  <a:srgbClr val="FFFFFF"/>
                </a:highlight>
                <a:latin typeface="Roboto"/>
                <a:ea typeface="Roboto"/>
                <a:cs typeface="Roboto"/>
                <a:sym typeface="Roboto"/>
              </a:rPr>
              <a:t>bool()</a:t>
            </a:r>
            <a:r>
              <a:rPr lang="en" sz="1200">
                <a:solidFill>
                  <a:srgbClr val="333333"/>
                </a:solidFill>
                <a:highlight>
                  <a:srgbClr val="FFFFFF"/>
                </a:highlight>
                <a:latin typeface="Roboto"/>
                <a:ea typeface="Roboto"/>
                <a:cs typeface="Roboto"/>
                <a:sym typeface="Roboto"/>
              </a:rPr>
              <a:t> converts a value to boolean(True or False) using the standard truth testing procedure.</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Python bool()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test1 = []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(test1,</a:t>
            </a:r>
            <a:r>
              <a:rPr lang="en" sz="1200">
                <a:solidFill>
                  <a:srgbClr val="0000FF"/>
                </a:solidFill>
                <a:latin typeface="Roboto"/>
                <a:ea typeface="Roboto"/>
                <a:cs typeface="Roboto"/>
                <a:sym typeface="Roboto"/>
              </a:rPr>
              <a:t>'is'</a:t>
            </a:r>
            <a:r>
              <a:rPr lang="en" sz="1200">
                <a:solidFill>
                  <a:schemeClr val="dk1"/>
                </a:solidFill>
                <a:latin typeface="Roboto"/>
                <a:ea typeface="Roboto"/>
                <a:cs typeface="Roboto"/>
                <a:sym typeface="Roboto"/>
              </a:rPr>
              <a:t>,bool(test1))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test1 = [0]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(test1,</a:t>
            </a:r>
            <a:r>
              <a:rPr lang="en" sz="1200">
                <a:solidFill>
                  <a:srgbClr val="0000FF"/>
                </a:solidFill>
                <a:latin typeface="Roboto"/>
                <a:ea typeface="Roboto"/>
                <a:cs typeface="Roboto"/>
                <a:sym typeface="Roboto"/>
              </a:rPr>
              <a:t>'is'</a:t>
            </a:r>
            <a:r>
              <a:rPr lang="en" sz="1200">
                <a:solidFill>
                  <a:schemeClr val="dk1"/>
                </a:solidFill>
                <a:latin typeface="Roboto"/>
                <a:ea typeface="Roboto"/>
                <a:cs typeface="Roboto"/>
                <a:sym typeface="Roboto"/>
              </a:rPr>
              <a:t>,bool(test1))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test1 = 0.0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(test1,</a:t>
            </a:r>
            <a:r>
              <a:rPr lang="en" sz="1200">
                <a:solidFill>
                  <a:srgbClr val="0000FF"/>
                </a:solidFill>
                <a:latin typeface="Roboto"/>
                <a:ea typeface="Roboto"/>
                <a:cs typeface="Roboto"/>
                <a:sym typeface="Roboto"/>
              </a:rPr>
              <a:t>'is'</a:t>
            </a:r>
            <a:r>
              <a:rPr lang="en" sz="1200">
                <a:solidFill>
                  <a:schemeClr val="dk1"/>
                </a:solidFill>
                <a:latin typeface="Roboto"/>
                <a:ea typeface="Roboto"/>
                <a:cs typeface="Roboto"/>
                <a:sym typeface="Roboto"/>
              </a:rPr>
              <a:t>,bool(test1))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test1 = None  </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SzPts val="2800"/>
              <a:buNone/>
            </a:pPr>
            <a:r>
              <a:t/>
            </a:r>
            <a:endParaRPr sz="1900">
              <a:solidFill>
                <a:srgbClr val="610B38"/>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8"/>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25400" rtl="0" algn="l">
              <a:lnSpc>
                <a:spcPct val="156250"/>
              </a:lnSpc>
              <a:spcBef>
                <a:spcPts val="0"/>
              </a:spcBef>
              <a:spcAft>
                <a:spcPts val="0"/>
              </a:spcAft>
              <a:buSzPts val="2800"/>
              <a:buNone/>
            </a:pPr>
            <a:r>
              <a:rPr b="1" lang="en" sz="1200">
                <a:solidFill>
                  <a:srgbClr val="006699"/>
                </a:solidFill>
                <a:latin typeface="Roboto"/>
                <a:ea typeface="Roboto"/>
                <a:cs typeface="Roboto"/>
                <a:sym typeface="Roboto"/>
              </a:rPr>
              <a:t> print</a:t>
            </a:r>
            <a:r>
              <a:rPr lang="en" sz="1200">
                <a:solidFill>
                  <a:schemeClr val="dk1"/>
                </a:solidFill>
                <a:latin typeface="Roboto"/>
                <a:ea typeface="Roboto"/>
                <a:cs typeface="Roboto"/>
                <a:sym typeface="Roboto"/>
              </a:rPr>
              <a:t>(test1,</a:t>
            </a:r>
            <a:r>
              <a:rPr lang="en" sz="1200">
                <a:solidFill>
                  <a:srgbClr val="0000FF"/>
                </a:solidFill>
                <a:latin typeface="Roboto"/>
                <a:ea typeface="Roboto"/>
                <a:cs typeface="Roboto"/>
                <a:sym typeface="Roboto"/>
              </a:rPr>
              <a:t>'is'</a:t>
            </a:r>
            <a:r>
              <a:rPr lang="en" sz="1200">
                <a:solidFill>
                  <a:schemeClr val="dk1"/>
                </a:solidFill>
                <a:latin typeface="Roboto"/>
                <a:ea typeface="Roboto"/>
                <a:cs typeface="Roboto"/>
                <a:sym typeface="Roboto"/>
              </a:rPr>
              <a:t>,bool(test1))  </a:t>
            </a:r>
            <a:endParaRPr sz="1200">
              <a:solidFill>
                <a:schemeClr val="dk1"/>
              </a:solidFill>
              <a:latin typeface="Roboto"/>
              <a:ea typeface="Roboto"/>
              <a:cs typeface="Roboto"/>
              <a:sym typeface="Roboto"/>
            </a:endParaRPr>
          </a:p>
          <a:p>
            <a:pPr indent="0" lvl="0" marL="0" marR="25400" rtl="0" algn="l">
              <a:lnSpc>
                <a:spcPct val="156250"/>
              </a:lnSpc>
              <a:spcBef>
                <a:spcPts val="0"/>
              </a:spcBef>
              <a:spcAft>
                <a:spcPts val="0"/>
              </a:spcAft>
              <a:buSzPts val="2800"/>
              <a:buNone/>
            </a:pPr>
            <a:r>
              <a:rPr lang="en" sz="1200">
                <a:solidFill>
                  <a:schemeClr val="dk1"/>
                </a:solidFill>
                <a:latin typeface="Roboto"/>
                <a:ea typeface="Roboto"/>
                <a:cs typeface="Roboto"/>
                <a:sym typeface="Roboto"/>
              </a:rPr>
              <a:t>test1 = True  </a:t>
            </a:r>
            <a:endParaRPr sz="1200">
              <a:solidFill>
                <a:schemeClr val="dk1"/>
              </a:solidFill>
              <a:latin typeface="Roboto"/>
              <a:ea typeface="Roboto"/>
              <a:cs typeface="Roboto"/>
              <a:sym typeface="Roboto"/>
            </a:endParaRPr>
          </a:p>
          <a:p>
            <a:pPr indent="0" lvl="0" marL="457200" marR="25400" rtl="0" algn="l">
              <a:lnSpc>
                <a:spcPct val="156250"/>
              </a:lnSpc>
              <a:spcBef>
                <a:spcPts val="0"/>
              </a:spcBef>
              <a:spcAft>
                <a:spcPts val="0"/>
              </a:spcAft>
              <a:buSzPts val="2800"/>
              <a:buNone/>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(test1,</a:t>
            </a:r>
            <a:r>
              <a:rPr lang="en" sz="1200">
                <a:solidFill>
                  <a:srgbClr val="0000FF"/>
                </a:solidFill>
                <a:latin typeface="Roboto"/>
                <a:ea typeface="Roboto"/>
                <a:cs typeface="Roboto"/>
                <a:sym typeface="Roboto"/>
              </a:rPr>
              <a:t>'is'</a:t>
            </a:r>
            <a:r>
              <a:rPr lang="en" sz="1200">
                <a:solidFill>
                  <a:schemeClr val="dk1"/>
                </a:solidFill>
                <a:latin typeface="Roboto"/>
                <a:ea typeface="Roboto"/>
                <a:cs typeface="Roboto"/>
                <a:sym typeface="Roboto"/>
              </a:rPr>
              <a:t>,bool(test1))  </a:t>
            </a:r>
            <a:endParaRPr sz="1200">
              <a:solidFill>
                <a:schemeClr val="dk1"/>
              </a:solidFill>
              <a:latin typeface="Roboto"/>
              <a:ea typeface="Roboto"/>
              <a:cs typeface="Roboto"/>
              <a:sym typeface="Roboto"/>
            </a:endParaRPr>
          </a:p>
          <a:p>
            <a:pPr indent="0" lvl="0" marL="457200" marR="25400" rtl="0" algn="l">
              <a:lnSpc>
                <a:spcPct val="156250"/>
              </a:lnSpc>
              <a:spcBef>
                <a:spcPts val="0"/>
              </a:spcBef>
              <a:spcAft>
                <a:spcPts val="0"/>
              </a:spcAft>
              <a:buSzPts val="2800"/>
              <a:buNone/>
            </a:pPr>
            <a:r>
              <a:rPr lang="en" sz="1200">
                <a:solidFill>
                  <a:schemeClr val="dk1"/>
                </a:solidFill>
                <a:latin typeface="Roboto"/>
                <a:ea typeface="Roboto"/>
                <a:cs typeface="Roboto"/>
                <a:sym typeface="Roboto"/>
              </a:rPr>
              <a:t>test1 = </a:t>
            </a:r>
            <a:r>
              <a:rPr lang="en" sz="1200">
                <a:solidFill>
                  <a:srgbClr val="0000FF"/>
                </a:solidFill>
                <a:latin typeface="Roboto"/>
                <a:ea typeface="Roboto"/>
                <a:cs typeface="Roboto"/>
                <a:sym typeface="Roboto"/>
              </a:rPr>
              <a:t>'Easy string'</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457200" marR="25400" rtl="0" algn="l">
              <a:lnSpc>
                <a:spcPct val="156250"/>
              </a:lnSpc>
              <a:spcBef>
                <a:spcPts val="0"/>
              </a:spcBef>
              <a:spcAft>
                <a:spcPts val="0"/>
              </a:spcAft>
              <a:buSzPts val="2800"/>
              <a:buNone/>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(test1,</a:t>
            </a:r>
            <a:r>
              <a:rPr lang="en" sz="1200">
                <a:solidFill>
                  <a:srgbClr val="0000FF"/>
                </a:solidFill>
                <a:latin typeface="Roboto"/>
                <a:ea typeface="Roboto"/>
                <a:cs typeface="Roboto"/>
                <a:sym typeface="Roboto"/>
              </a:rPr>
              <a:t>'is'</a:t>
            </a:r>
            <a:r>
              <a:rPr lang="en" sz="1200">
                <a:solidFill>
                  <a:schemeClr val="dk1"/>
                </a:solidFill>
                <a:latin typeface="Roboto"/>
                <a:ea typeface="Roboto"/>
                <a:cs typeface="Roboto"/>
                <a:sym typeface="Roboto"/>
              </a:rPr>
              <a:t>,bool(test1))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 is 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[0] is True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0.0 is 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None is 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True is True</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rPr lang="en" sz="1200">
                <a:solidFill>
                  <a:srgbClr val="535559"/>
                </a:solidFill>
                <a:highlight>
                  <a:srgbClr val="EEEEEE"/>
                </a:highlight>
                <a:latin typeface="Roboto"/>
                <a:ea typeface="Roboto"/>
                <a:cs typeface="Roboto"/>
                <a:sym typeface="Roboto"/>
              </a:rPr>
              <a:t>Easy string is True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t/>
            </a:r>
            <a:endParaRPr sz="1900">
              <a:solidFill>
                <a:srgbClr val="610B38"/>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9"/>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 sz="1900">
                <a:solidFill>
                  <a:srgbClr val="610B38"/>
                </a:solidFill>
                <a:highlight>
                  <a:srgbClr val="FFFFFF"/>
                </a:highlight>
              </a:rPr>
              <a:t>callable() Function</a:t>
            </a:r>
            <a:endParaRPr sz="1900">
              <a:solidFill>
                <a:srgbClr val="610B38"/>
              </a:solidFill>
              <a:highlight>
                <a:srgbClr val="FFFFFF"/>
              </a:highlight>
            </a:endParaRPr>
          </a:p>
          <a:p>
            <a:pPr indent="0" lvl="0" marL="0" rtl="0" algn="just">
              <a:lnSpc>
                <a:spcPct val="115000"/>
              </a:lnSpc>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A python </a:t>
            </a:r>
            <a:r>
              <a:rPr b="1" lang="en" sz="1200">
                <a:solidFill>
                  <a:srgbClr val="333333"/>
                </a:solidFill>
                <a:highlight>
                  <a:srgbClr val="FFFFFF"/>
                </a:highlight>
                <a:latin typeface="Roboto"/>
                <a:ea typeface="Roboto"/>
                <a:cs typeface="Roboto"/>
                <a:sym typeface="Roboto"/>
              </a:rPr>
              <a:t>callable()</a:t>
            </a:r>
            <a:r>
              <a:rPr lang="en" sz="1200">
                <a:solidFill>
                  <a:srgbClr val="333333"/>
                </a:solidFill>
                <a:highlight>
                  <a:srgbClr val="FFFFFF"/>
                </a:highlight>
                <a:latin typeface="Roboto"/>
                <a:ea typeface="Roboto"/>
                <a:cs typeface="Roboto"/>
                <a:sym typeface="Roboto"/>
              </a:rPr>
              <a:t> function in Python is something that can be called. This built-in function checks and returns true if the object passed appears to be callable, otherwise false.</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Python callable() Function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x = 8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(callable(x))  </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Clr>
                <a:schemeClr val="dk1"/>
              </a:buClr>
              <a:buSzPts val="1100"/>
              <a:buFont typeface="Arial"/>
              <a:buNone/>
            </a:pPr>
            <a:r>
              <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Clr>
                <a:schemeClr val="dk1"/>
              </a:buClr>
              <a:buSzPts val="1100"/>
              <a:buFont typeface="Arial"/>
              <a:buNone/>
            </a:pPr>
            <a:r>
              <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t/>
            </a:r>
            <a:endParaRPr b="1" sz="1200">
              <a:solidFill>
                <a:srgbClr val="333333"/>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just">
              <a:lnSpc>
                <a:spcPct val="130000"/>
              </a:lnSpc>
              <a:spcBef>
                <a:spcPts val="1800"/>
              </a:spcBef>
              <a:spcAft>
                <a:spcPts val="0"/>
              </a:spcAft>
              <a:buSzPts val="2800"/>
              <a:buNone/>
            </a:pPr>
            <a:r>
              <a:rPr lang="en" sz="1900">
                <a:solidFill>
                  <a:srgbClr val="610B38"/>
                </a:solidFill>
                <a:highlight>
                  <a:srgbClr val="FFFFFF"/>
                </a:highlight>
              </a:rPr>
              <a:t>callable() Function</a:t>
            </a:r>
            <a:endParaRPr sz="1900">
              <a:solidFill>
                <a:srgbClr val="610B38"/>
              </a:solidFill>
              <a:highlight>
                <a:srgbClr val="FFFFFF"/>
              </a:highlight>
            </a:endParaRPr>
          </a:p>
          <a:p>
            <a:pPr indent="0" lvl="0" marL="0" rtl="0" algn="just">
              <a:lnSpc>
                <a:spcPct val="115000"/>
              </a:lnSpc>
              <a:spcBef>
                <a:spcPts val="1200"/>
              </a:spcBef>
              <a:spcAft>
                <a:spcPts val="0"/>
              </a:spcAft>
              <a:buSzPts val="2800"/>
              <a:buNone/>
            </a:pPr>
            <a:r>
              <a:rPr lang="en" sz="1200">
                <a:solidFill>
                  <a:srgbClr val="333333"/>
                </a:solidFill>
                <a:highlight>
                  <a:srgbClr val="FFFFFF"/>
                </a:highlight>
                <a:latin typeface="Roboto"/>
                <a:ea typeface="Roboto"/>
                <a:cs typeface="Roboto"/>
                <a:sym typeface="Roboto"/>
              </a:rPr>
              <a:t>A python </a:t>
            </a:r>
            <a:r>
              <a:rPr b="1" lang="en" sz="1200">
                <a:solidFill>
                  <a:srgbClr val="333333"/>
                </a:solidFill>
                <a:highlight>
                  <a:srgbClr val="FFFFFF"/>
                </a:highlight>
                <a:latin typeface="Roboto"/>
                <a:ea typeface="Roboto"/>
                <a:cs typeface="Roboto"/>
                <a:sym typeface="Roboto"/>
              </a:rPr>
              <a:t>callable()</a:t>
            </a:r>
            <a:r>
              <a:rPr lang="en" sz="1200">
                <a:solidFill>
                  <a:srgbClr val="333333"/>
                </a:solidFill>
                <a:highlight>
                  <a:srgbClr val="FFFFFF"/>
                </a:highlight>
                <a:latin typeface="Roboto"/>
                <a:ea typeface="Roboto"/>
                <a:cs typeface="Roboto"/>
                <a:sym typeface="Roboto"/>
              </a:rPr>
              <a:t> function in Python is something that can be called. This built-in function checks and returns true if the object passed appears to be callable, otherwise false.</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Python callable() Function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x = 8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(callable(x))  </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t/>
            </a:r>
            <a:endParaRPr sz="1200">
              <a:solidFill>
                <a:srgbClr val="535559"/>
              </a:solidFill>
              <a:highlight>
                <a:srgbClr val="EEEEEE"/>
              </a:highlight>
              <a:latin typeface="Roboto"/>
              <a:ea typeface="Roboto"/>
              <a:cs typeface="Roboto"/>
              <a:sym typeface="Roboto"/>
            </a:endParaRPr>
          </a:p>
          <a:p>
            <a:pPr indent="0" lvl="0" marL="0" rtl="0" algn="just">
              <a:lnSpc>
                <a:spcPct val="130000"/>
              </a:lnSpc>
              <a:spcBef>
                <a:spcPts val="1800"/>
              </a:spcBef>
              <a:spcAft>
                <a:spcPts val="0"/>
              </a:spcAft>
              <a:buSzPts val="2800"/>
              <a:buNone/>
            </a:pPr>
            <a:r>
              <a:rPr lang="en" sz="1900">
                <a:solidFill>
                  <a:srgbClr val="610B38"/>
                </a:solidFill>
                <a:highlight>
                  <a:srgbClr val="FFFFFF"/>
                </a:highlight>
              </a:rPr>
              <a:t>sum() Function</a:t>
            </a:r>
            <a:endParaRPr sz="1900">
              <a:solidFill>
                <a:srgbClr val="610B38"/>
              </a:solidFill>
              <a:highlight>
                <a:srgbClr val="FFFFFF"/>
              </a:highlight>
            </a:endParaRPr>
          </a:p>
          <a:p>
            <a:pPr indent="0" lvl="0" marL="50800" rtl="0" algn="just">
              <a:lnSpc>
                <a:spcPct val="115000"/>
              </a:lnSpc>
              <a:spcBef>
                <a:spcPts val="600"/>
              </a:spcBef>
              <a:spcAft>
                <a:spcPts val="0"/>
              </a:spcAft>
              <a:buSzPts val="2800"/>
              <a:buNone/>
            </a:pPr>
            <a:r>
              <a:rPr lang="en" sz="1200">
                <a:solidFill>
                  <a:srgbClr val="333333"/>
                </a:solidFill>
                <a:highlight>
                  <a:srgbClr val="FFFFFF"/>
                </a:highlight>
                <a:latin typeface="Roboto"/>
                <a:ea typeface="Roboto"/>
                <a:cs typeface="Roboto"/>
                <a:sym typeface="Roboto"/>
              </a:rPr>
              <a:t>python </a:t>
            </a:r>
            <a:r>
              <a:rPr b="1" lang="en" sz="1200">
                <a:solidFill>
                  <a:srgbClr val="333333"/>
                </a:solidFill>
                <a:highlight>
                  <a:srgbClr val="FFFFFF"/>
                </a:highlight>
                <a:latin typeface="Roboto"/>
                <a:ea typeface="Roboto"/>
                <a:cs typeface="Roboto"/>
                <a:sym typeface="Roboto"/>
              </a:rPr>
              <a:t>sum()</a:t>
            </a:r>
            <a:r>
              <a:rPr lang="en" sz="1200">
                <a:solidFill>
                  <a:srgbClr val="333333"/>
                </a:solidFill>
                <a:highlight>
                  <a:srgbClr val="FFFFFF"/>
                </a:highlight>
                <a:latin typeface="Roboto"/>
                <a:ea typeface="Roboto"/>
                <a:cs typeface="Roboto"/>
                <a:sym typeface="Roboto"/>
              </a:rPr>
              <a:t> function is used to get the sum of numbers of an iterable, i.e., list.</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t/>
            </a:r>
            <a:endParaRPr b="1" sz="1200">
              <a:solidFill>
                <a:srgbClr val="333333"/>
              </a:solidFill>
              <a:highlight>
                <a:srgbClr val="FFFFFF"/>
              </a:highlight>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1"/>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304800" lvl="0" marL="457200" marR="25400" rtl="0" algn="l">
              <a:lnSpc>
                <a:spcPct val="156250"/>
              </a:lnSpc>
              <a:spcBef>
                <a:spcPts val="9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s = sum([1, 2,4 ])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(s)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s = sum([1, 2, 4], 10)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(s)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7</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Clr>
                <a:schemeClr val="dk1"/>
              </a:buClr>
              <a:buSzPts val="1100"/>
              <a:buFont typeface="Arial"/>
              <a:buNone/>
            </a:pPr>
            <a:r>
              <a:rPr lang="en" sz="1200">
                <a:solidFill>
                  <a:srgbClr val="535559"/>
                </a:solidFill>
                <a:highlight>
                  <a:srgbClr val="EEEEEE"/>
                </a:highlight>
                <a:latin typeface="Roboto"/>
                <a:ea typeface="Roboto"/>
                <a:cs typeface="Roboto"/>
                <a:sym typeface="Roboto"/>
              </a:rPr>
              <a:t>17</a:t>
            </a:r>
            <a:endParaRPr sz="1200">
              <a:solidFill>
                <a:srgbClr val="535559"/>
              </a:solidFill>
              <a:highlight>
                <a:srgbClr val="EEEEEE"/>
              </a:highlight>
              <a:latin typeface="Roboto"/>
              <a:ea typeface="Roboto"/>
              <a:cs typeface="Roboto"/>
              <a:sym typeface="Roboto"/>
            </a:endParaRPr>
          </a:p>
          <a:p>
            <a:pPr indent="0" lvl="0" marL="0" rtl="0" algn="just">
              <a:lnSpc>
                <a:spcPct val="130000"/>
              </a:lnSpc>
              <a:spcBef>
                <a:spcPts val="1800"/>
              </a:spcBef>
              <a:spcAft>
                <a:spcPts val="0"/>
              </a:spcAft>
              <a:buClr>
                <a:schemeClr val="dk1"/>
              </a:buClr>
              <a:buSzPts val="1100"/>
              <a:buFont typeface="Arial"/>
              <a:buNone/>
            </a:pPr>
            <a:r>
              <a:rPr lang="en" sz="1900">
                <a:solidFill>
                  <a:srgbClr val="610B38"/>
                </a:solidFill>
                <a:highlight>
                  <a:srgbClr val="FFFFFF"/>
                </a:highlight>
              </a:rPr>
              <a:t>any() Function</a:t>
            </a:r>
            <a:endParaRPr sz="1900">
              <a:solidFill>
                <a:srgbClr val="610B38"/>
              </a:solidFill>
              <a:highlight>
                <a:srgbClr val="FFFFFF"/>
              </a:highlight>
            </a:endParaRPr>
          </a:p>
          <a:p>
            <a:pPr indent="0" lvl="0" marL="0" rtl="0" algn="just">
              <a:lnSpc>
                <a:spcPct val="115000"/>
              </a:lnSpc>
              <a:spcBef>
                <a:spcPts val="12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The python </a:t>
            </a:r>
            <a:r>
              <a:rPr b="1" lang="en" sz="1200">
                <a:solidFill>
                  <a:srgbClr val="333333"/>
                </a:solidFill>
                <a:highlight>
                  <a:srgbClr val="FFFFFF"/>
                </a:highlight>
                <a:latin typeface="Roboto"/>
                <a:ea typeface="Roboto"/>
                <a:cs typeface="Roboto"/>
                <a:sym typeface="Roboto"/>
              </a:rPr>
              <a:t>any()</a:t>
            </a:r>
            <a:r>
              <a:rPr lang="en" sz="1200">
                <a:solidFill>
                  <a:srgbClr val="333333"/>
                </a:solidFill>
                <a:highlight>
                  <a:srgbClr val="FFFFFF"/>
                </a:highlight>
                <a:latin typeface="Roboto"/>
                <a:ea typeface="Roboto"/>
                <a:cs typeface="Roboto"/>
                <a:sym typeface="Roboto"/>
              </a:rPr>
              <a:t> function returns true if any item in an iterable is true. Otherwise, it returns False.</a:t>
            </a:r>
            <a:endParaRPr sz="1200">
              <a:solidFill>
                <a:srgbClr val="333333"/>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SzPts val="2800"/>
              <a:buNone/>
            </a:pPr>
            <a:r>
              <a:t/>
            </a:r>
            <a:endParaRPr sz="1900">
              <a:solidFill>
                <a:srgbClr val="610B38"/>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1200"/>
              </a:spcBef>
              <a:spcAft>
                <a:spcPts val="0"/>
              </a:spcAft>
              <a:buClr>
                <a:schemeClr val="dk1"/>
              </a:buClr>
              <a:buSzPts val="1100"/>
              <a:buFont typeface="Arial"/>
              <a:buNone/>
            </a:pPr>
            <a:r>
              <a:rPr b="1" lang="en" sz="1200">
                <a:solidFill>
                  <a:srgbClr val="333333"/>
                </a:solidFill>
                <a:highlight>
                  <a:srgbClr val="FFFFFF"/>
                </a:highlight>
                <a:latin typeface="Roboto"/>
                <a:ea typeface="Roboto"/>
                <a:cs typeface="Roboto"/>
                <a:sym typeface="Roboto"/>
              </a:rPr>
              <a:t>Python any() Function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 = [4, 3, 2, 0]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(any(l))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 = [0, False]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(any(l))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 = [0, False, 5]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(any(l))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 = []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(any(l))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0" rtl="0" algn="l">
              <a:lnSpc>
                <a:spcPct val="10000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True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rPr lang="en" sz="1200">
                <a:solidFill>
                  <a:srgbClr val="535559"/>
                </a:solidFill>
                <a:highlight>
                  <a:srgbClr val="EEEEEE"/>
                </a:highlight>
                <a:latin typeface="Roboto"/>
                <a:ea typeface="Roboto"/>
                <a:cs typeface="Roboto"/>
                <a:sym typeface="Roboto"/>
              </a:rPr>
              <a:t>True</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rPr lang="en" sz="1200">
                <a:solidFill>
                  <a:srgbClr val="535559"/>
                </a:solidFill>
                <a:highlight>
                  <a:srgbClr val="EEEEEE"/>
                </a:highlight>
                <a:latin typeface="Roboto"/>
                <a:ea typeface="Roboto"/>
                <a:cs typeface="Roboto"/>
                <a:sym typeface="Roboto"/>
              </a:rPr>
              <a:t>False</a:t>
            </a:r>
            <a:endParaRPr sz="1200">
              <a:solidFill>
                <a:srgbClr val="535559"/>
              </a:solidFill>
              <a:highlight>
                <a:srgbClr val="EEEEEE"/>
              </a:highlight>
              <a:latin typeface="Roboto"/>
              <a:ea typeface="Roboto"/>
              <a:cs typeface="Roboto"/>
              <a:sym typeface="Roboto"/>
            </a:endParaRPr>
          </a:p>
          <a:p>
            <a:pPr indent="0" lvl="0" marL="0" rtl="0" algn="l">
              <a:lnSpc>
                <a:spcPct val="100000"/>
              </a:lnSpc>
              <a:spcBef>
                <a:spcPts val="0"/>
              </a:spcBef>
              <a:spcAft>
                <a:spcPts val="0"/>
              </a:spcAft>
              <a:buSzPts val="2800"/>
              <a:buNone/>
            </a:pPr>
            <a:r>
              <a:t/>
            </a:r>
            <a:endParaRPr sz="12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just">
              <a:lnSpc>
                <a:spcPct val="130000"/>
              </a:lnSpc>
              <a:spcBef>
                <a:spcPts val="1800"/>
              </a:spcBef>
              <a:spcAft>
                <a:spcPts val="0"/>
              </a:spcAft>
              <a:buSzPts val="2800"/>
              <a:buNone/>
            </a:pPr>
            <a:r>
              <a:rPr lang="en" sz="1900">
                <a:solidFill>
                  <a:srgbClr val="610B38"/>
                </a:solidFill>
                <a:highlight>
                  <a:srgbClr val="FFFFFF"/>
                </a:highlight>
              </a:rPr>
              <a:t>len() Function</a:t>
            </a:r>
            <a:endParaRPr sz="1900">
              <a:solidFill>
                <a:srgbClr val="610B38"/>
              </a:solidFill>
              <a:highlight>
                <a:srgbClr val="FFFFFF"/>
              </a:highlight>
            </a:endParaRPr>
          </a:p>
          <a:p>
            <a:pPr indent="0" lvl="0" marL="0" rtl="0" algn="just">
              <a:lnSpc>
                <a:spcPct val="115000"/>
              </a:lnSpc>
              <a:spcBef>
                <a:spcPts val="1200"/>
              </a:spcBef>
              <a:spcAft>
                <a:spcPts val="0"/>
              </a:spcAft>
              <a:buSzPts val="2800"/>
              <a:buNone/>
            </a:pPr>
            <a:r>
              <a:rPr lang="en" sz="1200">
                <a:solidFill>
                  <a:srgbClr val="333333"/>
                </a:solidFill>
                <a:highlight>
                  <a:srgbClr val="FFFFFF"/>
                </a:highlight>
                <a:latin typeface="Roboto"/>
                <a:ea typeface="Roboto"/>
                <a:cs typeface="Roboto"/>
                <a:sym typeface="Roboto"/>
              </a:rPr>
              <a:t>The python </a:t>
            </a:r>
            <a:r>
              <a:rPr b="1" lang="en" sz="1200">
                <a:solidFill>
                  <a:srgbClr val="333333"/>
                </a:solidFill>
                <a:highlight>
                  <a:srgbClr val="FFFFFF"/>
                </a:highlight>
                <a:latin typeface="Roboto"/>
                <a:ea typeface="Roboto"/>
                <a:cs typeface="Roboto"/>
                <a:sym typeface="Roboto"/>
              </a:rPr>
              <a:t>len()</a:t>
            </a:r>
            <a:r>
              <a:rPr lang="en" sz="1200">
                <a:solidFill>
                  <a:srgbClr val="333333"/>
                </a:solidFill>
                <a:highlight>
                  <a:srgbClr val="FFFFFF"/>
                </a:highlight>
                <a:latin typeface="Roboto"/>
                <a:ea typeface="Roboto"/>
                <a:cs typeface="Roboto"/>
                <a:sym typeface="Roboto"/>
              </a:rPr>
              <a:t> function is used to return the length (the number of items) of an object.</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Python len() Function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strA = </a:t>
            </a:r>
            <a:r>
              <a:rPr lang="en" sz="1200">
                <a:solidFill>
                  <a:srgbClr val="0000FF"/>
                </a:solidFill>
                <a:latin typeface="Roboto"/>
                <a:ea typeface="Roboto"/>
                <a:cs typeface="Roboto"/>
                <a:sym typeface="Roboto"/>
              </a:rPr>
              <a:t>'Python'</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(len(strA))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50800" rtl="0" algn="just">
              <a:lnSpc>
                <a:spcPct val="11500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6</a:t>
            </a:r>
            <a:endParaRPr sz="1200">
              <a:solidFill>
                <a:srgbClr val="535559"/>
              </a:solidFill>
              <a:highlight>
                <a:srgbClr val="EEEEEE"/>
              </a:highlight>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30000"/>
              </a:lnSpc>
              <a:spcBef>
                <a:spcPts val="1800"/>
              </a:spcBef>
              <a:spcAft>
                <a:spcPts val="0"/>
              </a:spcAft>
              <a:buSzPts val="2800"/>
              <a:buNone/>
            </a:pPr>
            <a:r>
              <a:rPr lang="en" sz="1900">
                <a:solidFill>
                  <a:srgbClr val="610B38"/>
                </a:solidFill>
                <a:highlight>
                  <a:srgbClr val="FFFFFF"/>
                </a:highlight>
              </a:rPr>
              <a:t>Python list()</a:t>
            </a:r>
            <a:endParaRPr sz="1900">
              <a:solidFill>
                <a:srgbClr val="610B38"/>
              </a:solidFill>
              <a:highlight>
                <a:srgbClr val="FFFFFF"/>
              </a:highlight>
            </a:endParaRPr>
          </a:p>
          <a:p>
            <a:pPr indent="0" lvl="0" marL="0" rtl="0" algn="just">
              <a:lnSpc>
                <a:spcPct val="115000"/>
              </a:lnSpc>
              <a:spcBef>
                <a:spcPts val="1200"/>
              </a:spcBef>
              <a:spcAft>
                <a:spcPts val="0"/>
              </a:spcAft>
              <a:buSzPts val="2800"/>
              <a:buNone/>
            </a:pPr>
            <a:r>
              <a:rPr lang="en" sz="1200">
                <a:solidFill>
                  <a:srgbClr val="333333"/>
                </a:solidFill>
                <a:highlight>
                  <a:srgbClr val="FFFFFF"/>
                </a:highlight>
                <a:latin typeface="Roboto"/>
                <a:ea typeface="Roboto"/>
                <a:cs typeface="Roboto"/>
                <a:sym typeface="Roboto"/>
              </a:rPr>
              <a:t>The python </a:t>
            </a:r>
            <a:r>
              <a:rPr b="1" lang="en" sz="1200">
                <a:solidFill>
                  <a:srgbClr val="333333"/>
                </a:solidFill>
                <a:highlight>
                  <a:srgbClr val="FFFFFF"/>
                </a:highlight>
                <a:latin typeface="Roboto"/>
                <a:ea typeface="Roboto"/>
                <a:cs typeface="Roboto"/>
                <a:sym typeface="Roboto"/>
              </a:rPr>
              <a:t>list()</a:t>
            </a:r>
            <a:r>
              <a:rPr lang="en" sz="1200">
                <a:solidFill>
                  <a:srgbClr val="333333"/>
                </a:solidFill>
                <a:highlight>
                  <a:srgbClr val="FFFFFF"/>
                </a:highlight>
                <a:latin typeface="Roboto"/>
                <a:ea typeface="Roboto"/>
                <a:cs typeface="Roboto"/>
                <a:sym typeface="Roboto"/>
              </a:rPr>
              <a:t> creates a list in python.</a:t>
            </a:r>
            <a:endParaRPr sz="1200">
              <a:solidFill>
                <a:srgbClr val="333333"/>
              </a:solidFill>
              <a:highlight>
                <a:srgbClr val="FFFFFF"/>
              </a:highlight>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Python list() Example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20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empty list</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(list())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string</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String = </a:t>
            </a:r>
            <a:r>
              <a:rPr lang="en" sz="1200">
                <a:solidFill>
                  <a:srgbClr val="0000FF"/>
                </a:solidFill>
                <a:latin typeface="Roboto"/>
                <a:ea typeface="Roboto"/>
                <a:cs typeface="Roboto"/>
                <a:sym typeface="Roboto"/>
              </a:rPr>
              <a:t>'abcde'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(list(String))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tuple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Tuple = (1,2,3,4,5)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(list(Tuple))  </a:t>
            </a:r>
            <a:endParaRPr sz="1200">
              <a:solidFill>
                <a:schemeClr val="dk1"/>
              </a:solidFill>
              <a:latin typeface="Roboto"/>
              <a:ea typeface="Roboto"/>
              <a:cs typeface="Roboto"/>
              <a:sym typeface="Roboto"/>
            </a:endParaRPr>
          </a:p>
          <a:p>
            <a:pPr indent="0" lvl="0" marL="50800" rtl="0" algn="just">
              <a:lnSpc>
                <a:spcPct val="115000"/>
              </a:lnSpc>
              <a:spcBef>
                <a:spcPts val="1200"/>
              </a:spcBef>
              <a:spcAft>
                <a:spcPts val="0"/>
              </a:spcAft>
              <a:buSzPts val="2800"/>
              <a:buNone/>
            </a:pPr>
            <a:r>
              <a:t/>
            </a:r>
            <a:endParaRPr sz="1900">
              <a:solidFill>
                <a:srgbClr val="610B38"/>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304800" lvl="0" marL="457200" marR="25400" rtl="0" algn="l">
              <a:lnSpc>
                <a:spcPct val="156250"/>
              </a:lnSpc>
              <a:spcBef>
                <a:spcPts val="900"/>
              </a:spcBef>
              <a:spcAft>
                <a:spcPts val="0"/>
              </a:spcAft>
              <a:buClr>
                <a:schemeClr val="dk1"/>
              </a:buClr>
              <a:buSzPts val="1200"/>
              <a:buFont typeface="Roboto"/>
              <a:buAutoNum type="arabicPeriod"/>
            </a:pPr>
            <a:r>
              <a:rPr lang="en" sz="1200">
                <a:solidFill>
                  <a:srgbClr val="008200"/>
                </a:solidFill>
                <a:latin typeface="Roboto"/>
                <a:ea typeface="Roboto"/>
                <a:cs typeface="Roboto"/>
                <a:sym typeface="Roboto"/>
              </a:rPr>
              <a:t># list</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List = [1,2,3,4,5]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b="1" lang="en" sz="1200">
                <a:solidFill>
                  <a:srgbClr val="006699"/>
                </a:solidFill>
                <a:latin typeface="Roboto"/>
                <a:ea typeface="Roboto"/>
                <a:cs typeface="Roboto"/>
                <a:sym typeface="Roboto"/>
              </a:rPr>
              <a:t>print</a:t>
            </a:r>
            <a:r>
              <a:rPr lang="en" sz="1200">
                <a:solidFill>
                  <a:schemeClr val="dk1"/>
                </a:solidFill>
                <a:latin typeface="Roboto"/>
                <a:ea typeface="Roboto"/>
                <a:cs typeface="Roboto"/>
                <a:sym typeface="Roboto"/>
              </a:rPr>
              <a:t>(list(List))  </a:t>
            </a:r>
            <a:endParaRPr sz="1200">
              <a:solidFill>
                <a:schemeClr val="dk1"/>
              </a:solidFill>
              <a:latin typeface="Roboto"/>
              <a:ea typeface="Roboto"/>
              <a:cs typeface="Roboto"/>
              <a:sym typeface="Roboto"/>
            </a:endParaRPr>
          </a:p>
          <a:p>
            <a:pPr indent="0" lvl="0" marL="0" rtl="0" algn="just">
              <a:lnSpc>
                <a:spcPct val="115000"/>
              </a:lnSpc>
              <a:spcBef>
                <a:spcPts val="1200"/>
              </a:spcBef>
              <a:spcAft>
                <a:spcPts val="0"/>
              </a:spcAft>
              <a:buSzPts val="2800"/>
              <a:buNone/>
            </a:pPr>
            <a:r>
              <a:rPr b="1" lang="en" sz="1200">
                <a:solidFill>
                  <a:srgbClr val="333333"/>
                </a:solidFill>
                <a:highlight>
                  <a:srgbClr val="FFFFFF"/>
                </a:highlight>
                <a:latin typeface="Roboto"/>
                <a:ea typeface="Roboto"/>
                <a:cs typeface="Roboto"/>
                <a:sym typeface="Roboto"/>
              </a:rPr>
              <a:t>Output:</a:t>
            </a:r>
            <a:endParaRPr b="1" sz="1200">
              <a:solidFill>
                <a:srgbClr val="333333"/>
              </a:solidFill>
              <a:highlight>
                <a:srgbClr val="FFFFFF"/>
              </a:highlight>
              <a:latin typeface="Roboto"/>
              <a:ea typeface="Roboto"/>
              <a:cs typeface="Roboto"/>
              <a:sym typeface="Roboto"/>
            </a:endParaRPr>
          </a:p>
          <a:p>
            <a:pPr indent="0" lvl="0" marL="50800" rtl="0" algn="just">
              <a:lnSpc>
                <a:spcPct val="115000"/>
              </a:lnSpc>
              <a:spcBef>
                <a:spcPts val="1200"/>
              </a:spcBef>
              <a:spcAft>
                <a:spcPts val="0"/>
              </a:spcAft>
              <a:buSzPts val="2800"/>
              <a:buNone/>
            </a:pPr>
            <a:r>
              <a:rPr lang="en" sz="1200">
                <a:solidFill>
                  <a:srgbClr val="535559"/>
                </a:solidFill>
                <a:highlight>
                  <a:srgbClr val="EEEEEE"/>
                </a:highlight>
                <a:latin typeface="Roboto"/>
                <a:ea typeface="Roboto"/>
                <a:cs typeface="Roboto"/>
                <a:sym typeface="Roboto"/>
              </a:rPr>
              <a:t>[]</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rPr lang="en" sz="1200">
                <a:solidFill>
                  <a:srgbClr val="535559"/>
                </a:solidFill>
                <a:highlight>
                  <a:srgbClr val="EEEEEE"/>
                </a:highlight>
                <a:latin typeface="Roboto"/>
                <a:ea typeface="Roboto"/>
                <a:cs typeface="Roboto"/>
                <a:sym typeface="Roboto"/>
              </a:rPr>
              <a:t>['a', 'b', 'c', 'd', 'e']</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rPr lang="en" sz="1200">
                <a:solidFill>
                  <a:srgbClr val="535559"/>
                </a:solidFill>
                <a:highlight>
                  <a:srgbClr val="EEEEEE"/>
                </a:highlight>
                <a:latin typeface="Roboto"/>
                <a:ea typeface="Roboto"/>
                <a:cs typeface="Roboto"/>
                <a:sym typeface="Roboto"/>
              </a:rPr>
              <a:t>[1,2,3,4,5]</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rPr lang="en" sz="1200">
                <a:solidFill>
                  <a:srgbClr val="535559"/>
                </a:solidFill>
                <a:highlight>
                  <a:srgbClr val="EEEEEE"/>
                </a:highlight>
                <a:latin typeface="Roboto"/>
                <a:ea typeface="Roboto"/>
                <a:cs typeface="Roboto"/>
                <a:sym typeface="Roboto"/>
              </a:rPr>
              <a:t>[1,2,3,4,5]</a:t>
            </a:r>
            <a:endParaRPr sz="1200">
              <a:solidFill>
                <a:srgbClr val="535559"/>
              </a:solidFill>
              <a:highlight>
                <a:srgbClr val="EEEEEE"/>
              </a:highlight>
              <a:latin typeface="Roboto"/>
              <a:ea typeface="Roboto"/>
              <a:cs typeface="Roboto"/>
              <a:sym typeface="Roboto"/>
            </a:endParaRPr>
          </a:p>
          <a:p>
            <a:pPr indent="0" lvl="0" marL="50800" rtl="0" algn="just">
              <a:lnSpc>
                <a:spcPct val="115000"/>
              </a:lnSpc>
              <a:spcBef>
                <a:spcPts val="600"/>
              </a:spcBef>
              <a:spcAft>
                <a:spcPts val="0"/>
              </a:spcAft>
              <a:buSzPts val="2800"/>
              <a:buNone/>
            </a:pPr>
            <a:r>
              <a:t/>
            </a:r>
            <a:endParaRPr sz="1900">
              <a:solidFill>
                <a:srgbClr val="610B38"/>
              </a:solidFill>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10000"/>
          </a:bodyPr>
          <a:lstStyle/>
          <a:p>
            <a:pPr indent="0" lvl="0" marL="457200" marR="25400" rtl="0" algn="l">
              <a:lnSpc>
                <a:spcPct val="156250"/>
              </a:lnSpc>
              <a:spcBef>
                <a:spcPts val="900"/>
              </a:spcBef>
              <a:spcAft>
                <a:spcPts val="0"/>
              </a:spcAft>
              <a:buSzPts val="2800"/>
              <a:buNone/>
            </a:pPr>
            <a:r>
              <a:rPr b="1" lang="en" sz="1600">
                <a:solidFill>
                  <a:schemeClr val="dk1"/>
                </a:solidFill>
                <a:latin typeface="Times New Roman"/>
                <a:ea typeface="Times New Roman"/>
                <a:cs typeface="Times New Roman"/>
                <a:sym typeface="Times New Roman"/>
              </a:rPr>
              <a:t>User defined functions</a:t>
            </a:r>
            <a:endParaRPr b="1" sz="1600">
              <a:solidFill>
                <a:schemeClr val="dk1"/>
              </a:solidFill>
              <a:latin typeface="Times New Roman"/>
              <a:ea typeface="Times New Roman"/>
              <a:cs typeface="Times New Roman"/>
              <a:sym typeface="Times New Roman"/>
            </a:endParaRPr>
          </a:p>
          <a:p>
            <a:pPr indent="0" lvl="0" marL="457200" marR="25400" rtl="0" algn="l">
              <a:lnSpc>
                <a:spcPct val="156250"/>
              </a:lnSpc>
              <a:spcBef>
                <a:spcPts val="1200"/>
              </a:spcBef>
              <a:spcAft>
                <a:spcPts val="0"/>
              </a:spcAft>
              <a:buSzPts val="2800"/>
              <a:buNone/>
            </a:pPr>
            <a:r>
              <a:rPr lang="en" sz="1600">
                <a:solidFill>
                  <a:schemeClr val="dk1"/>
                </a:solidFill>
                <a:latin typeface="Times New Roman"/>
                <a:ea typeface="Times New Roman"/>
                <a:cs typeface="Times New Roman"/>
                <a:sym typeface="Times New Roman"/>
              </a:rPr>
              <a:t>A function is a set of statements that take inputs, do some specific computation, and produce output. The idea is to put some commonly or repeatedly done tasks together and make a function so that instead of writing the same code again and again for different inputs, we can call the function.</a:t>
            </a:r>
            <a:endParaRPr sz="1600">
              <a:solidFill>
                <a:schemeClr val="dk1"/>
              </a:solidFill>
              <a:latin typeface="Times New Roman"/>
              <a:ea typeface="Times New Roman"/>
              <a:cs typeface="Times New Roman"/>
              <a:sym typeface="Times New Roman"/>
            </a:endParaRPr>
          </a:p>
          <a:p>
            <a:pPr indent="0" lvl="0" marL="457200" marR="25400" rtl="0" algn="l">
              <a:lnSpc>
                <a:spcPct val="15625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User-defined functions</a:t>
            </a:r>
            <a:endParaRPr sz="1600">
              <a:solidFill>
                <a:schemeClr val="dk1"/>
              </a:solidFill>
              <a:latin typeface="Times New Roman"/>
              <a:ea typeface="Times New Roman"/>
              <a:cs typeface="Times New Roman"/>
              <a:sym typeface="Times New Roman"/>
            </a:endParaRPr>
          </a:p>
          <a:p>
            <a:pPr indent="0" lvl="0" marL="457200" marR="25400" rtl="0" algn="l">
              <a:lnSpc>
                <a:spcPct val="15625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All the functions that are written by any of us come under the category of user-defined functions. Below are the steps for writing user-defined functions in </a:t>
            </a:r>
            <a:r>
              <a:rPr lang="en" sz="1600">
                <a:solidFill>
                  <a:schemeClr val="hlink"/>
                </a:solidFill>
                <a:uFill>
                  <a:noFill/>
                </a:uFill>
                <a:latin typeface="Times New Roman"/>
                <a:ea typeface="Times New Roman"/>
                <a:cs typeface="Times New Roman"/>
                <a:sym typeface="Times New Roman"/>
                <a:hlinkClick r:id="rId3"/>
              </a:rPr>
              <a:t>Python</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0" lvl="0" marL="457200" marR="25400" rtl="0" algn="l">
              <a:lnSpc>
                <a:spcPct val="15625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In Python, a </a:t>
            </a:r>
            <a:r>
              <a:rPr b="1" lang="en" sz="1600">
                <a:solidFill>
                  <a:schemeClr val="hlink"/>
                </a:solidFill>
                <a:uFill>
                  <a:noFill/>
                </a:uFill>
                <a:latin typeface="Times New Roman"/>
                <a:ea typeface="Times New Roman"/>
                <a:cs typeface="Times New Roman"/>
                <a:sym typeface="Times New Roman"/>
                <a:hlinkClick r:id="rId4"/>
              </a:rPr>
              <a:t>def </a:t>
            </a:r>
            <a:r>
              <a:rPr lang="en" sz="1600">
                <a:solidFill>
                  <a:schemeClr val="hlink"/>
                </a:solidFill>
                <a:uFill>
                  <a:noFill/>
                </a:uFill>
                <a:latin typeface="Times New Roman"/>
                <a:ea typeface="Times New Roman"/>
                <a:cs typeface="Times New Roman"/>
                <a:sym typeface="Times New Roman"/>
                <a:hlinkClick r:id="rId5"/>
              </a:rPr>
              <a:t>keyword</a:t>
            </a:r>
            <a:r>
              <a:rPr lang="en" sz="1600">
                <a:solidFill>
                  <a:schemeClr val="dk1"/>
                </a:solidFill>
                <a:latin typeface="Times New Roman"/>
                <a:ea typeface="Times New Roman"/>
                <a:cs typeface="Times New Roman"/>
                <a:sym typeface="Times New Roman"/>
              </a:rPr>
              <a:t> is used to declare user-defined functions. </a:t>
            </a:r>
            <a:endParaRPr sz="1600">
              <a:solidFill>
                <a:schemeClr val="dk1"/>
              </a:solidFill>
              <a:latin typeface="Times New Roman"/>
              <a:ea typeface="Times New Roman"/>
              <a:cs typeface="Times New Roman"/>
              <a:sym typeface="Times New Roman"/>
            </a:endParaRPr>
          </a:p>
          <a:p>
            <a:pPr indent="0" lvl="0" marL="457200" marR="25400" rtl="0" algn="l">
              <a:lnSpc>
                <a:spcPct val="15625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An indented block of statements follows the function name and arguments which contains the body of the function.</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50800" rtl="0" algn="just">
              <a:lnSpc>
                <a:spcPct val="115000"/>
              </a:lnSpc>
              <a:spcBef>
                <a:spcPts val="600"/>
              </a:spcBef>
              <a:spcAft>
                <a:spcPts val="0"/>
              </a:spcAft>
              <a:buSzPts val="2800"/>
              <a:buNone/>
            </a:pPr>
            <a:r>
              <a:t/>
            </a:r>
            <a:endParaRPr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5080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Syntax</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def function_name():</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   statements</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def fun():</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print("Inside function")</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Driver's code</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Calling function</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fun()</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rtl="0" algn="just">
              <a:lnSpc>
                <a:spcPct val="115000"/>
              </a:lnSpc>
              <a:spcBef>
                <a:spcPts val="80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10000"/>
          </a:bodyPr>
          <a:lstStyle/>
          <a:p>
            <a:pPr indent="0" lvl="0" marL="5080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Output: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Inside function</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b="1" lang="en" sz="1600">
                <a:solidFill>
                  <a:schemeClr val="dk1"/>
                </a:solidFill>
                <a:latin typeface="Times New Roman"/>
                <a:ea typeface="Times New Roman"/>
                <a:cs typeface="Times New Roman"/>
                <a:sym typeface="Times New Roman"/>
              </a:rPr>
              <a:t>Parameterized Function</a:t>
            </a:r>
            <a:endParaRPr b="1"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The function may take arguments(s) also called parameters as input within the opening and closing parentheses, just after the function name followed by a colon.</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Syntax: </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def function_name(argument1, argument2, ...):</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statements</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8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def evenOdd( x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if (x % 2 == 0):</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print("even")</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else:</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print("odd")</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Driver code</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evenOdd(2)</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evenOdd(3)</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Output: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even</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odd</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10000"/>
          </a:bodyPr>
          <a:lstStyle/>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Default arguments</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A </a:t>
            </a:r>
            <a:r>
              <a:rPr lang="en" sz="1600">
                <a:solidFill>
                  <a:schemeClr val="hlink"/>
                </a:solidFill>
                <a:uFill>
                  <a:noFill/>
                </a:uFill>
                <a:latin typeface="Times New Roman"/>
                <a:ea typeface="Times New Roman"/>
                <a:cs typeface="Times New Roman"/>
                <a:sym typeface="Times New Roman"/>
                <a:hlinkClick r:id="rId3"/>
              </a:rPr>
              <a:t>default argument</a:t>
            </a:r>
            <a:r>
              <a:rPr lang="en" sz="1600">
                <a:solidFill>
                  <a:schemeClr val="dk1"/>
                </a:solidFill>
                <a:latin typeface="Times New Roman"/>
                <a:ea typeface="Times New Roman"/>
                <a:cs typeface="Times New Roman"/>
                <a:sym typeface="Times New Roman"/>
              </a:rPr>
              <a:t> is a parameter that assumes a default value if a value is not provided in the function call for that argument. The following example illustrates Default arguments.</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def myFun(x, y = 50):</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print("x: ", x)</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print("y: ", y)</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 Driver code</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myFun(10)</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Output:</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x:  10</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600">
                <a:solidFill>
                  <a:schemeClr val="dk1"/>
                </a:solidFill>
                <a:latin typeface="Times New Roman"/>
                <a:ea typeface="Times New Roman"/>
                <a:cs typeface="Times New Roman"/>
                <a:sym typeface="Times New Roman"/>
              </a:rPr>
              <a:t>y:  50</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Clr>
                <a:schemeClr val="dk1"/>
              </a:buClr>
              <a:buSzPts val="1100"/>
              <a:buFont typeface="Arial"/>
              <a:buNone/>
            </a:pPr>
            <a:r>
              <a:rPr b="1" lang="en" sz="2000">
                <a:solidFill>
                  <a:srgbClr val="273239"/>
                </a:solidFill>
                <a:highlight>
                  <a:srgbClr val="FFFFFF"/>
                </a:highlight>
                <a:latin typeface="Times New Roman"/>
                <a:ea typeface="Times New Roman"/>
                <a:cs typeface="Times New Roman"/>
                <a:sym typeface="Times New Roman"/>
              </a:rPr>
              <a:t>Default Arguments: </a:t>
            </a:r>
            <a:endParaRPr b="1" sz="2000">
              <a:solidFill>
                <a:srgbClr val="273239"/>
              </a:solidFill>
              <a:highlight>
                <a:srgbClr val="FFFFFF"/>
              </a:highlight>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 sz="1900">
                <a:solidFill>
                  <a:srgbClr val="273239"/>
                </a:solidFill>
                <a:highlight>
                  <a:srgbClr val="FFFFFF"/>
                </a:highlight>
                <a:latin typeface="Times New Roman"/>
                <a:ea typeface="Times New Roman"/>
                <a:cs typeface="Times New Roman"/>
                <a:sym typeface="Times New Roman"/>
              </a:rPr>
              <a:t>Python has a different way of representing syntax and default values for function arguments. Default values indicate that the function argument will take that value if no argument value is passed during the function call. The default value is assigned by using the assignment(=) operator of the form </a:t>
            </a:r>
            <a:r>
              <a:rPr i="1" lang="en" sz="1900">
                <a:solidFill>
                  <a:srgbClr val="273239"/>
                </a:solidFill>
                <a:highlight>
                  <a:srgbClr val="FFFFFF"/>
                </a:highlight>
                <a:latin typeface="Times New Roman"/>
                <a:ea typeface="Times New Roman"/>
                <a:cs typeface="Times New Roman"/>
                <a:sym typeface="Times New Roman"/>
              </a:rPr>
              <a:t>keywordname</a:t>
            </a:r>
            <a:r>
              <a:rPr lang="en" sz="1900">
                <a:solidFill>
                  <a:srgbClr val="273239"/>
                </a:solidFill>
                <a:highlight>
                  <a:srgbClr val="FFFFFF"/>
                </a:highlight>
                <a:latin typeface="Times New Roman"/>
                <a:ea typeface="Times New Roman"/>
                <a:cs typeface="Times New Roman"/>
                <a:sym typeface="Times New Roman"/>
              </a:rPr>
              <a:t>=value.</a:t>
            </a:r>
            <a:endParaRPr sz="19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ts val="1100"/>
              <a:buFont typeface="Arial"/>
              <a:buNone/>
            </a:pPr>
            <a:r>
              <a:rPr b="1" lang="en" sz="1700">
                <a:solidFill>
                  <a:srgbClr val="006699"/>
                </a:solidFill>
                <a:highlight>
                  <a:srgbClr val="FFFFFF"/>
                </a:highlight>
                <a:latin typeface="Times New Roman"/>
                <a:ea typeface="Times New Roman"/>
                <a:cs typeface="Times New Roman"/>
                <a:sym typeface="Times New Roman"/>
              </a:rPr>
              <a:t>def</a:t>
            </a:r>
            <a:r>
              <a:rPr lang="en" sz="1700">
                <a:solidFill>
                  <a:srgbClr val="273239"/>
                </a:solidFill>
                <a:highlight>
                  <a:srgbClr val="FFFFFF"/>
                </a:highlight>
                <a:latin typeface="Times New Roman"/>
                <a:ea typeface="Times New Roman"/>
                <a:cs typeface="Times New Roman"/>
                <a:sym typeface="Times New Roman"/>
              </a:rPr>
              <a:t> </a:t>
            </a:r>
            <a:r>
              <a:rPr lang="en" sz="1700">
                <a:solidFill>
                  <a:schemeClr val="dk1"/>
                </a:solidFill>
                <a:highlight>
                  <a:srgbClr val="FFFFFF"/>
                </a:highlight>
                <a:latin typeface="Times New Roman"/>
                <a:ea typeface="Times New Roman"/>
                <a:cs typeface="Times New Roman"/>
                <a:sym typeface="Times New Roman"/>
              </a:rPr>
              <a:t>student(firstname, lastname </a:t>
            </a:r>
            <a:r>
              <a:rPr b="1" lang="en" sz="1700">
                <a:solidFill>
                  <a:srgbClr val="006699"/>
                </a:solidFill>
                <a:highlight>
                  <a:srgbClr val="FFFFFF"/>
                </a:highlight>
                <a:latin typeface="Times New Roman"/>
                <a:ea typeface="Times New Roman"/>
                <a:cs typeface="Times New Roman"/>
                <a:sym typeface="Times New Roman"/>
              </a:rPr>
              <a:t>=</a:t>
            </a:r>
            <a:r>
              <a:rPr lang="en" sz="1700">
                <a:solidFill>
                  <a:srgbClr val="0000FF"/>
                </a:solidFill>
                <a:highlight>
                  <a:srgbClr val="FFFFFF"/>
                </a:highlight>
                <a:latin typeface="Times New Roman"/>
                <a:ea typeface="Times New Roman"/>
                <a:cs typeface="Times New Roman"/>
                <a:sym typeface="Times New Roman"/>
              </a:rPr>
              <a:t>'Mark'</a:t>
            </a:r>
            <a:r>
              <a:rPr lang="en" sz="1700">
                <a:solidFill>
                  <a:schemeClr val="dk1"/>
                </a:solidFill>
                <a:highlight>
                  <a:srgbClr val="FFFFFF"/>
                </a:highlight>
                <a:latin typeface="Times New Roman"/>
                <a:ea typeface="Times New Roman"/>
                <a:cs typeface="Times New Roman"/>
                <a:sym typeface="Times New Roman"/>
              </a:rPr>
              <a:t>, standard </a:t>
            </a:r>
            <a:r>
              <a:rPr b="1" lang="en" sz="1700">
                <a:solidFill>
                  <a:srgbClr val="006699"/>
                </a:solidFill>
                <a:highlight>
                  <a:srgbClr val="FFFFFF"/>
                </a:highlight>
                <a:latin typeface="Times New Roman"/>
                <a:ea typeface="Times New Roman"/>
                <a:cs typeface="Times New Roman"/>
                <a:sym typeface="Times New Roman"/>
              </a:rPr>
              <a:t>=</a:t>
            </a:r>
            <a:r>
              <a:rPr lang="en" sz="1700">
                <a:solidFill>
                  <a:srgbClr val="0000FF"/>
                </a:solidFill>
                <a:highlight>
                  <a:srgbClr val="FFFFFF"/>
                </a:highlight>
                <a:latin typeface="Times New Roman"/>
                <a:ea typeface="Times New Roman"/>
                <a:cs typeface="Times New Roman"/>
                <a:sym typeface="Times New Roman"/>
              </a:rPr>
              <a:t>'Fifth'</a:t>
            </a:r>
            <a:r>
              <a:rPr lang="en" sz="1700">
                <a:solidFill>
                  <a:schemeClr val="dk1"/>
                </a:solidFill>
                <a:highlight>
                  <a:srgbClr val="FFFFFF"/>
                </a:highlight>
                <a:latin typeface="Times New Roman"/>
                <a:ea typeface="Times New Roman"/>
                <a:cs typeface="Times New Roman"/>
                <a:sym typeface="Times New Roman"/>
              </a:rPr>
              <a:t>):</a:t>
            </a:r>
            <a:endParaRPr sz="17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273239"/>
                </a:solidFill>
                <a:highlight>
                  <a:srgbClr val="FFFFFF"/>
                </a:highlight>
                <a:latin typeface="Times New Roman"/>
                <a:ea typeface="Times New Roman"/>
                <a:cs typeface="Times New Roman"/>
                <a:sym typeface="Times New Roman"/>
              </a:rPr>
              <a:t> </a:t>
            </a:r>
            <a:endParaRPr sz="17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273239"/>
                </a:solidFill>
                <a:highlight>
                  <a:srgbClr val="FFFFFF"/>
                </a:highlight>
                <a:latin typeface="Times New Roman"/>
                <a:ea typeface="Times New Roman"/>
                <a:cs typeface="Times New Roman"/>
                <a:sym typeface="Times New Roman"/>
              </a:rPr>
              <a:t>     </a:t>
            </a:r>
            <a:r>
              <a:rPr lang="en" sz="1700">
                <a:solidFill>
                  <a:srgbClr val="FF1493"/>
                </a:solidFill>
                <a:highlight>
                  <a:srgbClr val="FFFFFF"/>
                </a:highlight>
                <a:latin typeface="Times New Roman"/>
                <a:ea typeface="Times New Roman"/>
                <a:cs typeface="Times New Roman"/>
                <a:sym typeface="Times New Roman"/>
              </a:rPr>
              <a:t>print</a:t>
            </a:r>
            <a:r>
              <a:rPr lang="en" sz="1700">
                <a:solidFill>
                  <a:schemeClr val="dk1"/>
                </a:solidFill>
                <a:highlight>
                  <a:srgbClr val="FFFFFF"/>
                </a:highlight>
                <a:latin typeface="Times New Roman"/>
                <a:ea typeface="Times New Roman"/>
                <a:cs typeface="Times New Roman"/>
                <a:sym typeface="Times New Roman"/>
              </a:rPr>
              <a:t>(firstname, lastname, </a:t>
            </a:r>
            <a:r>
              <a:rPr lang="en" sz="1700">
                <a:solidFill>
                  <a:srgbClr val="0000FF"/>
                </a:solidFill>
                <a:highlight>
                  <a:srgbClr val="FFFFFF"/>
                </a:highlight>
                <a:latin typeface="Times New Roman"/>
                <a:ea typeface="Times New Roman"/>
                <a:cs typeface="Times New Roman"/>
                <a:sym typeface="Times New Roman"/>
              </a:rPr>
              <a:t>'studies in'</a:t>
            </a:r>
            <a:r>
              <a:rPr lang="en" sz="1700">
                <a:solidFill>
                  <a:schemeClr val="dk1"/>
                </a:solidFill>
                <a:highlight>
                  <a:srgbClr val="FFFFFF"/>
                </a:highlight>
                <a:latin typeface="Times New Roman"/>
                <a:ea typeface="Times New Roman"/>
                <a:cs typeface="Times New Roman"/>
                <a:sym typeface="Times New Roman"/>
              </a:rPr>
              <a:t>, standard, </a:t>
            </a:r>
            <a:r>
              <a:rPr lang="en" sz="1700">
                <a:solidFill>
                  <a:srgbClr val="0000FF"/>
                </a:solidFill>
                <a:highlight>
                  <a:srgbClr val="FFFFFF"/>
                </a:highlight>
                <a:latin typeface="Times New Roman"/>
                <a:ea typeface="Times New Roman"/>
                <a:cs typeface="Times New Roman"/>
                <a:sym typeface="Times New Roman"/>
              </a:rPr>
              <a:t>'Standard'</a:t>
            </a:r>
            <a:r>
              <a:rPr lang="en" sz="1700">
                <a:solidFill>
                  <a:schemeClr val="dk1"/>
                </a:solidFill>
                <a:highlight>
                  <a:srgbClr val="FFFFFF"/>
                </a:highlight>
                <a:latin typeface="Times New Roman"/>
                <a:ea typeface="Times New Roman"/>
                <a:cs typeface="Times New Roman"/>
                <a:sym typeface="Times New Roman"/>
              </a:rPr>
              <a:t>)</a:t>
            </a:r>
            <a:endParaRPr sz="1700">
              <a:solidFill>
                <a:schemeClr val="dk1"/>
              </a:solidFill>
              <a:highlight>
                <a:srgbClr val="FFFFFF"/>
              </a:highlight>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We need to keep the following points in mind while calling functions: </a:t>
            </a:r>
            <a:endParaRPr sz="1800">
              <a:solidFill>
                <a:srgbClr val="273239"/>
              </a:solidFill>
              <a:highlight>
                <a:srgbClr val="FFFFFF"/>
              </a:highlight>
              <a:latin typeface="Times New Roman"/>
              <a:ea typeface="Times New Roman"/>
              <a:cs typeface="Times New Roman"/>
              <a:sym typeface="Times New Roman"/>
            </a:endParaRPr>
          </a:p>
          <a:p>
            <a:pPr indent="-342900" lvl="0" marL="685800" rtl="0" algn="l">
              <a:lnSpc>
                <a:spcPct val="158000"/>
              </a:lnSpc>
              <a:spcBef>
                <a:spcPts val="800"/>
              </a:spcBef>
              <a:spcAft>
                <a:spcPts val="0"/>
              </a:spcAft>
              <a:buClr>
                <a:srgbClr val="273239"/>
              </a:buClr>
              <a:buSzPts val="1800"/>
              <a:buFont typeface="Times New Roman"/>
              <a:buAutoNum type="arabicPeriod"/>
            </a:pPr>
            <a:r>
              <a:rPr lang="en" sz="1800">
                <a:solidFill>
                  <a:srgbClr val="273239"/>
                </a:solidFill>
                <a:highlight>
                  <a:srgbClr val="FFFFFF"/>
                </a:highlight>
                <a:latin typeface="Times New Roman"/>
                <a:ea typeface="Times New Roman"/>
                <a:cs typeface="Times New Roman"/>
                <a:sym typeface="Times New Roman"/>
              </a:rPr>
              <a:t>In the case of passing the keyword arguments, the order of arguments is important.</a:t>
            </a:r>
            <a:endParaRPr sz="1800">
              <a:solidFill>
                <a:srgbClr val="273239"/>
              </a:solidFill>
              <a:highlight>
                <a:srgbClr val="FFFFFF"/>
              </a:highlight>
              <a:latin typeface="Times New Roman"/>
              <a:ea typeface="Times New Roman"/>
              <a:cs typeface="Times New Roman"/>
              <a:sym typeface="Times New Roman"/>
            </a:endParaRPr>
          </a:p>
          <a:p>
            <a:pPr indent="-342900" lvl="0" marL="685800" rtl="0" algn="l">
              <a:lnSpc>
                <a:spcPct val="158000"/>
              </a:lnSpc>
              <a:spcBef>
                <a:spcPts val="0"/>
              </a:spcBef>
              <a:spcAft>
                <a:spcPts val="0"/>
              </a:spcAft>
              <a:buClr>
                <a:srgbClr val="273239"/>
              </a:buClr>
              <a:buSzPts val="1800"/>
              <a:buFont typeface="Times New Roman"/>
              <a:buAutoNum type="arabicPeriod"/>
            </a:pPr>
            <a:r>
              <a:rPr lang="en" sz="1800">
                <a:solidFill>
                  <a:srgbClr val="273239"/>
                </a:solidFill>
                <a:highlight>
                  <a:srgbClr val="FFFFFF"/>
                </a:highlight>
                <a:latin typeface="Times New Roman"/>
                <a:ea typeface="Times New Roman"/>
                <a:cs typeface="Times New Roman"/>
                <a:sym typeface="Times New Roman"/>
              </a:rPr>
              <a:t>There should be only one value for one parameter.</a:t>
            </a:r>
            <a:endParaRPr sz="1800">
              <a:solidFill>
                <a:srgbClr val="273239"/>
              </a:solidFill>
              <a:highlight>
                <a:srgbClr val="FFFFFF"/>
              </a:highlight>
              <a:latin typeface="Times New Roman"/>
              <a:ea typeface="Times New Roman"/>
              <a:cs typeface="Times New Roman"/>
              <a:sym typeface="Times New Roman"/>
            </a:endParaRPr>
          </a:p>
          <a:p>
            <a:pPr indent="-342900" lvl="0" marL="685800" rtl="0" algn="l">
              <a:lnSpc>
                <a:spcPct val="158000"/>
              </a:lnSpc>
              <a:spcBef>
                <a:spcPts val="0"/>
              </a:spcBef>
              <a:spcAft>
                <a:spcPts val="0"/>
              </a:spcAft>
              <a:buClr>
                <a:srgbClr val="273239"/>
              </a:buClr>
              <a:buSzPts val="1800"/>
              <a:buFont typeface="Times New Roman"/>
              <a:buAutoNum type="arabicPeriod"/>
            </a:pPr>
            <a:r>
              <a:rPr lang="en" sz="1800">
                <a:solidFill>
                  <a:srgbClr val="273239"/>
                </a:solidFill>
                <a:highlight>
                  <a:srgbClr val="FFFFFF"/>
                </a:highlight>
                <a:latin typeface="Times New Roman"/>
                <a:ea typeface="Times New Roman"/>
                <a:cs typeface="Times New Roman"/>
                <a:sym typeface="Times New Roman"/>
              </a:rPr>
              <a:t>The passed keyword name should match with the actual keyword name.</a:t>
            </a:r>
            <a:endParaRPr sz="1800">
              <a:solidFill>
                <a:srgbClr val="273239"/>
              </a:solidFill>
              <a:highlight>
                <a:srgbClr val="FFFFFF"/>
              </a:highlight>
              <a:latin typeface="Times New Roman"/>
              <a:ea typeface="Times New Roman"/>
              <a:cs typeface="Times New Roman"/>
              <a:sym typeface="Times New Roman"/>
            </a:endParaRPr>
          </a:p>
          <a:p>
            <a:pPr indent="-342900" lvl="0" marL="685800" rtl="0" algn="l">
              <a:lnSpc>
                <a:spcPct val="158000"/>
              </a:lnSpc>
              <a:spcBef>
                <a:spcPts val="0"/>
              </a:spcBef>
              <a:spcAft>
                <a:spcPts val="0"/>
              </a:spcAft>
              <a:buClr>
                <a:srgbClr val="273239"/>
              </a:buClr>
              <a:buSzPts val="1800"/>
              <a:buFont typeface="Times New Roman"/>
              <a:buAutoNum type="arabicPeriod"/>
            </a:pPr>
            <a:r>
              <a:rPr lang="en" sz="1800">
                <a:solidFill>
                  <a:srgbClr val="273239"/>
                </a:solidFill>
                <a:highlight>
                  <a:srgbClr val="FFFFFF"/>
                </a:highlight>
                <a:latin typeface="Times New Roman"/>
                <a:ea typeface="Times New Roman"/>
                <a:cs typeface="Times New Roman"/>
                <a:sym typeface="Times New Roman"/>
              </a:rPr>
              <a:t>In the case of calling a function containing non-keyword arguments, the order is important.</a:t>
            </a:r>
            <a:endParaRPr sz="1800">
              <a:solidFill>
                <a:srgbClr val="273239"/>
              </a:solidFill>
              <a:highlight>
                <a:srgbClr val="FFFFFF"/>
              </a:highlight>
              <a:latin typeface="Times New Roman"/>
              <a:ea typeface="Times New Roman"/>
              <a:cs typeface="Times New Roman"/>
              <a:sym typeface="Times New Roman"/>
            </a:endParaRPr>
          </a:p>
          <a:p>
            <a:pPr indent="0" lvl="0" marL="50800" marR="0" rtl="0" algn="just">
              <a:lnSpc>
                <a:spcPct val="115000"/>
              </a:lnSpc>
              <a:spcBef>
                <a:spcPts val="1800"/>
              </a:spcBef>
              <a:spcAft>
                <a:spcPts val="0"/>
              </a:spcAft>
              <a:buSzPts val="2800"/>
              <a:buNone/>
            </a:pPr>
            <a:r>
              <a:t/>
            </a:r>
            <a:endParaRPr b="1" sz="25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139700" rtl="0" algn="l">
              <a:lnSpc>
                <a:spcPct val="120000"/>
              </a:lnSpc>
              <a:spcBef>
                <a:spcPts val="0"/>
              </a:spcBef>
              <a:spcAft>
                <a:spcPts val="0"/>
              </a:spcAft>
              <a:buClr>
                <a:schemeClr val="dk1"/>
              </a:buClr>
              <a:buSzPts val="1100"/>
              <a:buFont typeface="Arial"/>
              <a:buNone/>
            </a:pPr>
            <a:r>
              <a:rPr b="1" lang="en" sz="1700">
                <a:solidFill>
                  <a:srgbClr val="006699"/>
                </a:solidFill>
                <a:highlight>
                  <a:srgbClr val="FFFFFF"/>
                </a:highlight>
                <a:latin typeface="Times New Roman"/>
                <a:ea typeface="Times New Roman"/>
                <a:cs typeface="Times New Roman"/>
                <a:sym typeface="Times New Roman"/>
              </a:rPr>
              <a:t>def</a:t>
            </a:r>
            <a:r>
              <a:rPr lang="en" sz="1700">
                <a:solidFill>
                  <a:srgbClr val="273239"/>
                </a:solidFill>
                <a:highlight>
                  <a:srgbClr val="FFFFFF"/>
                </a:highlight>
                <a:latin typeface="Times New Roman"/>
                <a:ea typeface="Times New Roman"/>
                <a:cs typeface="Times New Roman"/>
                <a:sym typeface="Times New Roman"/>
              </a:rPr>
              <a:t> </a:t>
            </a:r>
            <a:r>
              <a:rPr lang="en" sz="1700">
                <a:solidFill>
                  <a:schemeClr val="dk1"/>
                </a:solidFill>
                <a:highlight>
                  <a:srgbClr val="FFFFFF"/>
                </a:highlight>
                <a:latin typeface="Times New Roman"/>
                <a:ea typeface="Times New Roman"/>
                <a:cs typeface="Times New Roman"/>
                <a:sym typeface="Times New Roman"/>
              </a:rPr>
              <a:t>student(firstname, lastname </a:t>
            </a:r>
            <a:r>
              <a:rPr b="1" lang="en" sz="1700">
                <a:solidFill>
                  <a:srgbClr val="006699"/>
                </a:solidFill>
                <a:highlight>
                  <a:srgbClr val="FFFFFF"/>
                </a:highlight>
                <a:latin typeface="Times New Roman"/>
                <a:ea typeface="Times New Roman"/>
                <a:cs typeface="Times New Roman"/>
                <a:sym typeface="Times New Roman"/>
              </a:rPr>
              <a:t>=</a:t>
            </a:r>
            <a:r>
              <a:rPr lang="en" sz="1700">
                <a:solidFill>
                  <a:srgbClr val="0000FF"/>
                </a:solidFill>
                <a:highlight>
                  <a:srgbClr val="FFFFFF"/>
                </a:highlight>
                <a:latin typeface="Times New Roman"/>
                <a:ea typeface="Times New Roman"/>
                <a:cs typeface="Times New Roman"/>
                <a:sym typeface="Times New Roman"/>
              </a:rPr>
              <a:t>'Mark'</a:t>
            </a:r>
            <a:r>
              <a:rPr lang="en" sz="1700">
                <a:solidFill>
                  <a:schemeClr val="dk1"/>
                </a:solidFill>
                <a:highlight>
                  <a:srgbClr val="FFFFFF"/>
                </a:highlight>
                <a:latin typeface="Times New Roman"/>
                <a:ea typeface="Times New Roman"/>
                <a:cs typeface="Times New Roman"/>
                <a:sym typeface="Times New Roman"/>
              </a:rPr>
              <a:t>, standard </a:t>
            </a:r>
            <a:r>
              <a:rPr b="1" lang="en" sz="1700">
                <a:solidFill>
                  <a:srgbClr val="006699"/>
                </a:solidFill>
                <a:highlight>
                  <a:srgbClr val="FFFFFF"/>
                </a:highlight>
                <a:latin typeface="Times New Roman"/>
                <a:ea typeface="Times New Roman"/>
                <a:cs typeface="Times New Roman"/>
                <a:sym typeface="Times New Roman"/>
              </a:rPr>
              <a:t>=</a:t>
            </a:r>
            <a:r>
              <a:rPr lang="en" sz="1700">
                <a:solidFill>
                  <a:srgbClr val="0000FF"/>
                </a:solidFill>
                <a:highlight>
                  <a:srgbClr val="FFFFFF"/>
                </a:highlight>
                <a:latin typeface="Times New Roman"/>
                <a:ea typeface="Times New Roman"/>
                <a:cs typeface="Times New Roman"/>
                <a:sym typeface="Times New Roman"/>
              </a:rPr>
              <a:t>'Fifth'</a:t>
            </a:r>
            <a:r>
              <a:rPr lang="en" sz="1700">
                <a:solidFill>
                  <a:schemeClr val="dk1"/>
                </a:solidFill>
                <a:highlight>
                  <a:srgbClr val="FFFFFF"/>
                </a:highlight>
                <a:latin typeface="Times New Roman"/>
                <a:ea typeface="Times New Roman"/>
                <a:cs typeface="Times New Roman"/>
                <a:sym typeface="Times New Roman"/>
              </a:rPr>
              <a:t>):</a:t>
            </a:r>
            <a:endParaRPr sz="17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273239"/>
                </a:solidFill>
                <a:highlight>
                  <a:srgbClr val="FFFFFF"/>
                </a:highlight>
                <a:latin typeface="Times New Roman"/>
                <a:ea typeface="Times New Roman"/>
                <a:cs typeface="Times New Roman"/>
                <a:sym typeface="Times New Roman"/>
              </a:rPr>
              <a:t>     </a:t>
            </a:r>
            <a:r>
              <a:rPr b="1" lang="en" sz="1700">
                <a:solidFill>
                  <a:srgbClr val="006699"/>
                </a:solidFill>
                <a:highlight>
                  <a:srgbClr val="FFFFFF"/>
                </a:highlight>
                <a:latin typeface="Times New Roman"/>
                <a:ea typeface="Times New Roman"/>
                <a:cs typeface="Times New Roman"/>
                <a:sym typeface="Times New Roman"/>
              </a:rPr>
              <a:t>print</a:t>
            </a:r>
            <a:r>
              <a:rPr lang="en" sz="1700">
                <a:solidFill>
                  <a:schemeClr val="dk1"/>
                </a:solidFill>
                <a:highlight>
                  <a:srgbClr val="FFFFFF"/>
                </a:highlight>
                <a:latin typeface="Times New Roman"/>
                <a:ea typeface="Times New Roman"/>
                <a:cs typeface="Times New Roman"/>
                <a:sym typeface="Times New Roman"/>
              </a:rPr>
              <a:t>(firstname, lastname, </a:t>
            </a:r>
            <a:r>
              <a:rPr lang="en" sz="1700">
                <a:solidFill>
                  <a:srgbClr val="0000FF"/>
                </a:solidFill>
                <a:highlight>
                  <a:srgbClr val="FFFFFF"/>
                </a:highlight>
                <a:latin typeface="Times New Roman"/>
                <a:ea typeface="Times New Roman"/>
                <a:cs typeface="Times New Roman"/>
                <a:sym typeface="Times New Roman"/>
              </a:rPr>
              <a:t>'studies in'</a:t>
            </a:r>
            <a:r>
              <a:rPr lang="en" sz="1700">
                <a:solidFill>
                  <a:schemeClr val="dk1"/>
                </a:solidFill>
                <a:highlight>
                  <a:srgbClr val="FFFFFF"/>
                </a:highlight>
                <a:latin typeface="Times New Roman"/>
                <a:ea typeface="Times New Roman"/>
                <a:cs typeface="Times New Roman"/>
                <a:sym typeface="Times New Roman"/>
              </a:rPr>
              <a:t>, standard, </a:t>
            </a:r>
            <a:r>
              <a:rPr lang="en" sz="1700">
                <a:solidFill>
                  <a:srgbClr val="0000FF"/>
                </a:solidFill>
                <a:highlight>
                  <a:srgbClr val="FFFFFF"/>
                </a:highlight>
                <a:latin typeface="Times New Roman"/>
                <a:ea typeface="Times New Roman"/>
                <a:cs typeface="Times New Roman"/>
                <a:sym typeface="Times New Roman"/>
              </a:rPr>
              <a:t>'Standard'</a:t>
            </a:r>
            <a:r>
              <a:rPr lang="en" sz="1700">
                <a:solidFill>
                  <a:schemeClr val="dk1"/>
                </a:solidFill>
                <a:highlight>
                  <a:srgbClr val="FFFFFF"/>
                </a:highlight>
                <a:latin typeface="Times New Roman"/>
                <a:ea typeface="Times New Roman"/>
                <a:cs typeface="Times New Roman"/>
                <a:sym typeface="Times New Roman"/>
              </a:rPr>
              <a:t>)</a:t>
            </a:r>
            <a:endParaRPr sz="17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273239"/>
                </a:solidFill>
                <a:highlight>
                  <a:srgbClr val="FFFFFF"/>
                </a:highlight>
                <a:latin typeface="Times New Roman"/>
                <a:ea typeface="Times New Roman"/>
                <a:cs typeface="Times New Roman"/>
                <a:sym typeface="Times New Roman"/>
              </a:rPr>
              <a:t> </a:t>
            </a:r>
            <a:endParaRPr sz="17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008200"/>
                </a:solidFill>
                <a:highlight>
                  <a:srgbClr val="FFFFFF"/>
                </a:highlight>
                <a:latin typeface="Times New Roman"/>
                <a:ea typeface="Times New Roman"/>
                <a:cs typeface="Times New Roman"/>
                <a:sym typeface="Times New Roman"/>
              </a:rPr>
              <a:t># 1 positional argument</a:t>
            </a:r>
            <a:endParaRPr sz="1700">
              <a:solidFill>
                <a:srgbClr val="0082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chemeClr val="dk1"/>
                </a:solidFill>
                <a:highlight>
                  <a:srgbClr val="FFFFFF"/>
                </a:highlight>
                <a:latin typeface="Times New Roman"/>
                <a:ea typeface="Times New Roman"/>
                <a:cs typeface="Times New Roman"/>
                <a:sym typeface="Times New Roman"/>
              </a:rPr>
              <a:t>student(</a:t>
            </a:r>
            <a:r>
              <a:rPr lang="en" sz="1700">
                <a:solidFill>
                  <a:srgbClr val="0000FF"/>
                </a:solidFill>
                <a:highlight>
                  <a:srgbClr val="FFFFFF"/>
                </a:highlight>
                <a:latin typeface="Times New Roman"/>
                <a:ea typeface="Times New Roman"/>
                <a:cs typeface="Times New Roman"/>
                <a:sym typeface="Times New Roman"/>
              </a:rPr>
              <a:t>'John'</a:t>
            </a:r>
            <a:r>
              <a:rPr lang="en" sz="1700">
                <a:solidFill>
                  <a:schemeClr val="dk1"/>
                </a:solidFill>
                <a:highlight>
                  <a:srgbClr val="FFFFFF"/>
                </a:highlight>
                <a:latin typeface="Times New Roman"/>
                <a:ea typeface="Times New Roman"/>
                <a:cs typeface="Times New Roman"/>
                <a:sym typeface="Times New Roman"/>
              </a:rPr>
              <a:t>)</a:t>
            </a:r>
            <a:endParaRPr sz="17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273239"/>
                </a:solidFill>
                <a:highlight>
                  <a:srgbClr val="FFFFFF"/>
                </a:highlight>
                <a:latin typeface="Times New Roman"/>
                <a:ea typeface="Times New Roman"/>
                <a:cs typeface="Times New Roman"/>
                <a:sym typeface="Times New Roman"/>
              </a:rPr>
              <a:t> </a:t>
            </a:r>
            <a:endParaRPr sz="17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008200"/>
                </a:solidFill>
                <a:highlight>
                  <a:srgbClr val="FFFFFF"/>
                </a:highlight>
                <a:latin typeface="Times New Roman"/>
                <a:ea typeface="Times New Roman"/>
                <a:cs typeface="Times New Roman"/>
                <a:sym typeface="Times New Roman"/>
              </a:rPr>
              <a:t># 3 positional arguments                     	</a:t>
            </a:r>
            <a:endParaRPr sz="1700">
              <a:solidFill>
                <a:srgbClr val="0082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chemeClr val="dk1"/>
                </a:solidFill>
                <a:highlight>
                  <a:srgbClr val="FFFFFF"/>
                </a:highlight>
                <a:latin typeface="Times New Roman"/>
                <a:ea typeface="Times New Roman"/>
                <a:cs typeface="Times New Roman"/>
                <a:sym typeface="Times New Roman"/>
              </a:rPr>
              <a:t>student(</a:t>
            </a:r>
            <a:r>
              <a:rPr lang="en" sz="1700">
                <a:solidFill>
                  <a:srgbClr val="0000FF"/>
                </a:solidFill>
                <a:highlight>
                  <a:srgbClr val="FFFFFF"/>
                </a:highlight>
                <a:latin typeface="Times New Roman"/>
                <a:ea typeface="Times New Roman"/>
                <a:cs typeface="Times New Roman"/>
                <a:sym typeface="Times New Roman"/>
              </a:rPr>
              <a:t>'John'</a:t>
            </a:r>
            <a:r>
              <a:rPr lang="en" sz="1700">
                <a:solidFill>
                  <a:schemeClr val="dk1"/>
                </a:solidFill>
                <a:highlight>
                  <a:srgbClr val="FFFFFF"/>
                </a:highlight>
                <a:latin typeface="Times New Roman"/>
                <a:ea typeface="Times New Roman"/>
                <a:cs typeface="Times New Roman"/>
                <a:sym typeface="Times New Roman"/>
              </a:rPr>
              <a:t>, </a:t>
            </a:r>
            <a:r>
              <a:rPr lang="en" sz="1700">
                <a:solidFill>
                  <a:srgbClr val="0000FF"/>
                </a:solidFill>
                <a:highlight>
                  <a:srgbClr val="FFFFFF"/>
                </a:highlight>
                <a:latin typeface="Times New Roman"/>
                <a:ea typeface="Times New Roman"/>
                <a:cs typeface="Times New Roman"/>
                <a:sym typeface="Times New Roman"/>
              </a:rPr>
              <a:t>'Gates'</a:t>
            </a:r>
            <a:r>
              <a:rPr lang="en" sz="1700">
                <a:solidFill>
                  <a:schemeClr val="dk1"/>
                </a:solidFill>
                <a:highlight>
                  <a:srgbClr val="FFFFFF"/>
                </a:highlight>
                <a:latin typeface="Times New Roman"/>
                <a:ea typeface="Times New Roman"/>
                <a:cs typeface="Times New Roman"/>
                <a:sym typeface="Times New Roman"/>
              </a:rPr>
              <a:t>, </a:t>
            </a:r>
            <a:r>
              <a:rPr lang="en" sz="1700">
                <a:solidFill>
                  <a:srgbClr val="0000FF"/>
                </a:solidFill>
                <a:highlight>
                  <a:srgbClr val="FFFFFF"/>
                </a:highlight>
                <a:latin typeface="Times New Roman"/>
                <a:ea typeface="Times New Roman"/>
                <a:cs typeface="Times New Roman"/>
                <a:sym typeface="Times New Roman"/>
              </a:rPr>
              <a:t>'Seventh'</a:t>
            </a:r>
            <a:r>
              <a:rPr lang="en" sz="1700">
                <a:solidFill>
                  <a:schemeClr val="dk1"/>
                </a:solidFill>
                <a:highlight>
                  <a:srgbClr val="FFFFFF"/>
                </a:highlight>
                <a:latin typeface="Times New Roman"/>
                <a:ea typeface="Times New Roman"/>
                <a:cs typeface="Times New Roman"/>
                <a:sym typeface="Times New Roman"/>
              </a:rPr>
              <a:t>) 	</a:t>
            </a:r>
            <a:endParaRPr sz="17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273239"/>
                </a:solidFill>
                <a:highlight>
                  <a:srgbClr val="FFFFFF"/>
                </a:highlight>
                <a:latin typeface="Times New Roman"/>
                <a:ea typeface="Times New Roman"/>
                <a:cs typeface="Times New Roman"/>
                <a:sym typeface="Times New Roman"/>
              </a:rPr>
              <a:t> </a:t>
            </a:r>
            <a:endParaRPr sz="17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rgbClr val="008200"/>
                </a:solidFill>
                <a:highlight>
                  <a:srgbClr val="FFFFFF"/>
                </a:highlight>
                <a:latin typeface="Times New Roman"/>
                <a:ea typeface="Times New Roman"/>
                <a:cs typeface="Times New Roman"/>
                <a:sym typeface="Times New Roman"/>
              </a:rPr>
              <a:t># 2 positional arguments </a:t>
            </a:r>
            <a:endParaRPr sz="1700">
              <a:solidFill>
                <a:srgbClr val="0082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chemeClr val="dk1"/>
                </a:solidFill>
                <a:highlight>
                  <a:srgbClr val="FFFFFF"/>
                </a:highlight>
                <a:latin typeface="Times New Roman"/>
                <a:ea typeface="Times New Roman"/>
                <a:cs typeface="Times New Roman"/>
                <a:sym typeface="Times New Roman"/>
              </a:rPr>
              <a:t>student(</a:t>
            </a:r>
            <a:r>
              <a:rPr lang="en" sz="1700">
                <a:solidFill>
                  <a:srgbClr val="0000FF"/>
                </a:solidFill>
                <a:highlight>
                  <a:srgbClr val="FFFFFF"/>
                </a:highlight>
                <a:latin typeface="Times New Roman"/>
                <a:ea typeface="Times New Roman"/>
                <a:cs typeface="Times New Roman"/>
                <a:sym typeface="Times New Roman"/>
              </a:rPr>
              <a:t>'John'</a:t>
            </a:r>
            <a:r>
              <a:rPr lang="en" sz="1700">
                <a:solidFill>
                  <a:schemeClr val="dk1"/>
                </a:solidFill>
                <a:highlight>
                  <a:srgbClr val="FFFFFF"/>
                </a:highlight>
                <a:latin typeface="Times New Roman"/>
                <a:ea typeface="Times New Roman"/>
                <a:cs typeface="Times New Roman"/>
                <a:sym typeface="Times New Roman"/>
              </a:rPr>
              <a:t>, </a:t>
            </a:r>
            <a:r>
              <a:rPr lang="en" sz="1700">
                <a:solidFill>
                  <a:srgbClr val="0000FF"/>
                </a:solidFill>
                <a:highlight>
                  <a:srgbClr val="FFFFFF"/>
                </a:highlight>
                <a:latin typeface="Times New Roman"/>
                <a:ea typeface="Times New Roman"/>
                <a:cs typeface="Times New Roman"/>
                <a:sym typeface="Times New Roman"/>
              </a:rPr>
              <a:t>'Gates'</a:t>
            </a:r>
            <a:r>
              <a:rPr lang="en" sz="1700">
                <a:solidFill>
                  <a:schemeClr val="dk1"/>
                </a:solidFill>
                <a:highlight>
                  <a:srgbClr val="FFFFFF"/>
                </a:highlight>
                <a:latin typeface="Times New Roman"/>
                <a:ea typeface="Times New Roman"/>
                <a:cs typeface="Times New Roman"/>
                <a:sym typeface="Times New Roman"/>
              </a:rPr>
              <a:t>)              	</a:t>
            </a:r>
            <a:endParaRPr sz="17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700">
                <a:solidFill>
                  <a:schemeClr val="dk1"/>
                </a:solidFill>
                <a:highlight>
                  <a:srgbClr val="FFFFFF"/>
                </a:highlight>
                <a:latin typeface="Times New Roman"/>
                <a:ea typeface="Times New Roman"/>
                <a:cs typeface="Times New Roman"/>
                <a:sym typeface="Times New Roman"/>
              </a:rPr>
              <a:t>student(</a:t>
            </a:r>
            <a:r>
              <a:rPr lang="en" sz="1700">
                <a:solidFill>
                  <a:srgbClr val="0000FF"/>
                </a:solidFill>
                <a:highlight>
                  <a:srgbClr val="FFFFFF"/>
                </a:highlight>
                <a:latin typeface="Times New Roman"/>
                <a:ea typeface="Times New Roman"/>
                <a:cs typeface="Times New Roman"/>
                <a:sym typeface="Times New Roman"/>
              </a:rPr>
              <a:t>'John'</a:t>
            </a:r>
            <a:r>
              <a:rPr lang="en" sz="1700">
                <a:solidFill>
                  <a:schemeClr val="dk1"/>
                </a:solidFill>
                <a:highlight>
                  <a:srgbClr val="FFFFFF"/>
                </a:highlight>
                <a:latin typeface="Times New Roman"/>
                <a:ea typeface="Times New Roman"/>
                <a:cs typeface="Times New Roman"/>
                <a:sym typeface="Times New Roman"/>
              </a:rPr>
              <a:t>, </a:t>
            </a:r>
            <a:r>
              <a:rPr lang="en" sz="1700">
                <a:solidFill>
                  <a:srgbClr val="0000FF"/>
                </a:solidFill>
                <a:highlight>
                  <a:srgbClr val="FFFFFF"/>
                </a:highlight>
                <a:latin typeface="Times New Roman"/>
                <a:ea typeface="Times New Roman"/>
                <a:cs typeface="Times New Roman"/>
                <a:sym typeface="Times New Roman"/>
              </a:rPr>
              <a:t>'Seventh'</a:t>
            </a:r>
            <a:r>
              <a:rPr lang="en" sz="1700">
                <a:solidFill>
                  <a:schemeClr val="dk1"/>
                </a:solidFill>
                <a:highlight>
                  <a:srgbClr val="FFFFFF"/>
                </a:highlight>
                <a:latin typeface="Times New Roman"/>
                <a:ea typeface="Times New Roman"/>
                <a:cs typeface="Times New Roman"/>
                <a:sym typeface="Times New Roman"/>
              </a:rPr>
              <a:t>)</a:t>
            </a:r>
            <a:endParaRPr sz="1700">
              <a:solidFill>
                <a:schemeClr val="dk1"/>
              </a:solidFill>
              <a:highlight>
                <a:srgbClr val="FFFFFF"/>
              </a:highlight>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24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900">
                <a:solidFill>
                  <a:srgbClr val="273239"/>
                </a:solidFill>
                <a:highlight>
                  <a:srgbClr val="FFFFFF"/>
                </a:highlight>
                <a:latin typeface="Times New Roman"/>
                <a:ea typeface="Times New Roman"/>
                <a:cs typeface="Times New Roman"/>
                <a:sym typeface="Times New Roman"/>
              </a:rPr>
              <a:t>Output: </a:t>
            </a:r>
            <a:br>
              <a:rPr b="1" lang="en" sz="1900">
                <a:solidFill>
                  <a:srgbClr val="273239"/>
                </a:solidFill>
                <a:highlight>
                  <a:srgbClr val="FFFFFF"/>
                </a:highlight>
                <a:latin typeface="Times New Roman"/>
                <a:ea typeface="Times New Roman"/>
                <a:cs typeface="Times New Roman"/>
                <a:sym typeface="Times New Roman"/>
              </a:rPr>
            </a:br>
            <a:r>
              <a:rPr lang="en" sz="1900">
                <a:solidFill>
                  <a:srgbClr val="273239"/>
                </a:solidFill>
                <a:highlight>
                  <a:srgbClr val="FFFFFF"/>
                </a:highlight>
                <a:latin typeface="Times New Roman"/>
                <a:ea typeface="Times New Roman"/>
                <a:cs typeface="Times New Roman"/>
                <a:sym typeface="Times New Roman"/>
              </a:rPr>
              <a:t> </a:t>
            </a:r>
            <a:endParaRPr sz="1900">
              <a:solidFill>
                <a:srgbClr val="273239"/>
              </a:solidFill>
              <a:highlight>
                <a:srgbClr val="FFFFFF"/>
              </a:highlight>
              <a:latin typeface="Times New Roman"/>
              <a:ea typeface="Times New Roman"/>
              <a:cs typeface="Times New Roman"/>
              <a:sym typeface="Times New Roman"/>
            </a:endParaRPr>
          </a:p>
          <a:p>
            <a:pPr indent="0" lvl="0" marL="50800" marR="0" rtl="0" algn="just">
              <a:lnSpc>
                <a:spcPct val="115000"/>
              </a:lnSpc>
              <a:spcBef>
                <a:spcPts val="800"/>
              </a:spcBef>
              <a:spcAft>
                <a:spcPts val="0"/>
              </a:spcAft>
              <a:buSzPts val="2800"/>
              <a:buNone/>
            </a:pPr>
            <a:r>
              <a:rPr lang="en" sz="1800">
                <a:solidFill>
                  <a:srgbClr val="273239"/>
                </a:solidFill>
                <a:latin typeface="Times New Roman"/>
                <a:ea typeface="Times New Roman"/>
                <a:cs typeface="Times New Roman"/>
                <a:sym typeface="Times New Roman"/>
              </a:rPr>
              <a:t>John Mark studies in Fifth Standard</a:t>
            </a:r>
            <a:endParaRPr sz="1800">
              <a:solidFill>
                <a:srgbClr val="273239"/>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800">
                <a:solidFill>
                  <a:srgbClr val="273239"/>
                </a:solidFill>
                <a:latin typeface="Times New Roman"/>
                <a:ea typeface="Times New Roman"/>
                <a:cs typeface="Times New Roman"/>
                <a:sym typeface="Times New Roman"/>
              </a:rPr>
              <a:t>John Gates studies in Seventh Standard</a:t>
            </a:r>
            <a:endParaRPr sz="1800">
              <a:solidFill>
                <a:srgbClr val="273239"/>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lang="en" sz="1800">
                <a:solidFill>
                  <a:srgbClr val="273239"/>
                </a:solidFill>
                <a:latin typeface="Times New Roman"/>
                <a:ea typeface="Times New Roman"/>
                <a:cs typeface="Times New Roman"/>
                <a:sym typeface="Times New Roman"/>
              </a:rPr>
              <a:t>John Gates studies in Fifth Standard</a:t>
            </a:r>
            <a:endParaRPr sz="1800">
              <a:solidFill>
                <a:srgbClr val="273239"/>
              </a:solidFill>
              <a:latin typeface="Times New Roman"/>
              <a:ea typeface="Times New Roman"/>
              <a:cs typeface="Times New Roman"/>
              <a:sym typeface="Times New Roman"/>
            </a:endParaRPr>
          </a:p>
          <a:p>
            <a:pPr indent="0" lvl="0" marL="190500" marR="190500" rtl="0" algn="l">
              <a:lnSpc>
                <a:spcPct val="115000"/>
              </a:lnSpc>
              <a:spcBef>
                <a:spcPts val="0"/>
              </a:spcBef>
              <a:spcAft>
                <a:spcPts val="0"/>
              </a:spcAft>
              <a:buClr>
                <a:schemeClr val="dk1"/>
              </a:buClr>
              <a:buSzPts val="1100"/>
              <a:buFont typeface="Arial"/>
              <a:buNone/>
            </a:pPr>
            <a:r>
              <a:rPr lang="en" sz="1800">
                <a:solidFill>
                  <a:srgbClr val="273239"/>
                </a:solidFill>
                <a:latin typeface="Times New Roman"/>
                <a:ea typeface="Times New Roman"/>
                <a:cs typeface="Times New Roman"/>
                <a:sym typeface="Times New Roman"/>
              </a:rPr>
              <a:t>John Seventh studies in Fifth Standard</a:t>
            </a:r>
            <a:endParaRPr sz="1800">
              <a:solidFill>
                <a:srgbClr val="273239"/>
              </a:solidFill>
              <a:latin typeface="Times New Roman"/>
              <a:ea typeface="Times New Roman"/>
              <a:cs typeface="Times New Roman"/>
              <a:sym typeface="Times New Roman"/>
            </a:endParaRPr>
          </a:p>
          <a:p>
            <a:pPr indent="0" lvl="0" marL="50800" marR="0" rtl="0" algn="just">
              <a:lnSpc>
                <a:spcPct val="115000"/>
              </a:lnSpc>
              <a:spcBef>
                <a:spcPts val="800"/>
              </a:spcBef>
              <a:spcAft>
                <a:spcPts val="0"/>
              </a:spcAft>
              <a:buSzPts val="2800"/>
              <a:buNone/>
            </a:pPr>
            <a:r>
              <a:t/>
            </a:r>
            <a:endParaRPr b="1" sz="2300">
              <a:solidFill>
                <a:srgbClr val="00669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800"/>
              </a:spcBef>
              <a:spcAft>
                <a:spcPts val="0"/>
              </a:spcAft>
              <a:buSzPts val="2800"/>
              <a:buNone/>
            </a:pPr>
            <a:r>
              <a:rPr b="1" lang="en" sz="1600">
                <a:solidFill>
                  <a:schemeClr val="dk1"/>
                </a:solidFill>
                <a:latin typeface="Times New Roman"/>
                <a:ea typeface="Times New Roman"/>
                <a:cs typeface="Times New Roman"/>
                <a:sym typeface="Times New Roman"/>
              </a:rPr>
              <a:t>Keyword arguments</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ts val="2800"/>
              <a:buNone/>
            </a:pPr>
            <a:r>
              <a:rPr lang="en" sz="1600">
                <a:solidFill>
                  <a:schemeClr val="dk1"/>
                </a:solidFill>
                <a:latin typeface="Times New Roman"/>
                <a:ea typeface="Times New Roman"/>
                <a:cs typeface="Times New Roman"/>
                <a:sym typeface="Times New Roman"/>
              </a:rPr>
              <a:t>The idea is to allow the caller to specify the argument name with values so that the caller does not need to remember the order of parameters.</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def student(firstname, lastname):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print(firstname, lastname)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 Keyword arguments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student(firstname ='Geeks', lastname ='Practice') 	</a:t>
            </a:r>
            <a:endParaRPr sz="16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student(lastname ='Practice', firstname ='Geeks')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800"/>
              <a:buNone/>
            </a:pPr>
            <a:r>
              <a:rPr lang="en" sz="1600">
                <a:solidFill>
                  <a:schemeClr val="dk1"/>
                </a:solidFill>
                <a:latin typeface="Times New Roman"/>
                <a:ea typeface="Times New Roman"/>
                <a:cs typeface="Times New Roman"/>
                <a:sym typeface="Times New Roman"/>
              </a:rPr>
              <a:t>Output:</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Geeks Practice</a:t>
            </a:r>
            <a:endParaRPr sz="16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600">
                <a:solidFill>
                  <a:schemeClr val="dk1"/>
                </a:solidFill>
                <a:latin typeface="Times New Roman"/>
                <a:ea typeface="Times New Roman"/>
                <a:cs typeface="Times New Roman"/>
                <a:sym typeface="Times New Roman"/>
              </a:rPr>
              <a:t>Geeks Practice</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8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50800" rtl="0" algn="just">
              <a:lnSpc>
                <a:spcPct val="115000"/>
              </a:lnSpc>
              <a:spcBef>
                <a:spcPts val="6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def my_function(child3, child2, child1):</a:t>
            </a:r>
            <a:endParaRPr sz="1600">
              <a:solidFill>
                <a:schemeClr val="dk1"/>
              </a:solidFill>
              <a:latin typeface="Times New Roman"/>
              <a:ea typeface="Times New Roman"/>
              <a:cs typeface="Times New Roman"/>
              <a:sym typeface="Times New Roman"/>
            </a:endParaRPr>
          </a:p>
          <a:p>
            <a:pPr indent="0" lvl="0" marL="50800" rtl="0" algn="just">
              <a:lnSpc>
                <a:spcPct val="115000"/>
              </a:lnSpc>
              <a:spcBef>
                <a:spcPts val="6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print("The youngest child is " + child3)</a:t>
            </a:r>
            <a:endParaRPr sz="1600">
              <a:solidFill>
                <a:schemeClr val="dk1"/>
              </a:solidFill>
              <a:latin typeface="Times New Roman"/>
              <a:ea typeface="Times New Roman"/>
              <a:cs typeface="Times New Roman"/>
              <a:sym typeface="Times New Roman"/>
            </a:endParaRPr>
          </a:p>
          <a:p>
            <a:pPr indent="0" lvl="0" marL="50800" rtl="0" algn="just">
              <a:lnSpc>
                <a:spcPct val="115000"/>
              </a:lnSpc>
              <a:spcBef>
                <a:spcPts val="60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50800" rtl="0" algn="just">
              <a:lnSpc>
                <a:spcPct val="115000"/>
              </a:lnSpc>
              <a:spcBef>
                <a:spcPts val="6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my_function(child1 = "Emil", child2 = "Tobias", child3 = "Linus")</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b="1" lang="en" sz="1600">
                <a:solidFill>
                  <a:schemeClr val="dk1"/>
                </a:solidFill>
                <a:latin typeface="Times New Roman"/>
                <a:ea typeface="Times New Roman"/>
                <a:cs typeface="Times New Roman"/>
                <a:sym typeface="Times New Roman"/>
              </a:rPr>
              <a:t>Output:</a:t>
            </a:r>
            <a:endParaRPr b="1"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b="1"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rPr b="1" lang="en" sz="1600">
                <a:solidFill>
                  <a:schemeClr val="dk1"/>
                </a:solidFill>
                <a:latin typeface="Times New Roman"/>
                <a:ea typeface="Times New Roman"/>
                <a:cs typeface="Times New Roman"/>
                <a:sym typeface="Times New Roman"/>
              </a:rPr>
              <a:t>The youngest child is Linus</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2800"/>
              <a:buNone/>
            </a:pPr>
            <a:r>
              <a:rPr b="1" lang="en" sz="1600">
                <a:solidFill>
                  <a:schemeClr val="dk1"/>
                </a:solidFill>
                <a:latin typeface="Times New Roman"/>
                <a:ea typeface="Times New Roman"/>
                <a:cs typeface="Times New Roman"/>
                <a:sym typeface="Times New Roman"/>
              </a:rPr>
              <a:t> Variable Length Arguments</a:t>
            </a:r>
            <a:endParaRPr b="1" sz="16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ts val="2800"/>
              <a:buNone/>
            </a:pPr>
            <a:r>
              <a:rPr lang="en" sz="1600">
                <a:solidFill>
                  <a:schemeClr val="dk1"/>
                </a:solidFill>
                <a:latin typeface="Times New Roman"/>
                <a:ea typeface="Times New Roman"/>
                <a:cs typeface="Times New Roman"/>
                <a:sym typeface="Times New Roman"/>
              </a:rPr>
              <a:t>We can have both normal and keyword variable numbers of arguments. </a:t>
            </a:r>
            <a:endParaRPr sz="16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ts val="2800"/>
              <a:buNone/>
            </a:pPr>
            <a:r>
              <a:rPr lang="en" sz="1600">
                <a:solidFill>
                  <a:schemeClr val="dk1"/>
                </a:solidFill>
                <a:latin typeface="Times New Roman"/>
                <a:ea typeface="Times New Roman"/>
                <a:cs typeface="Times New Roman"/>
                <a:sym typeface="Times New Roman"/>
              </a:rPr>
              <a:t>The special syntax </a:t>
            </a:r>
            <a:r>
              <a:rPr lang="en" sz="1600">
                <a:solidFill>
                  <a:schemeClr val="hlink"/>
                </a:solidFill>
                <a:uFill>
                  <a:noFill/>
                </a:uFill>
                <a:latin typeface="Times New Roman"/>
                <a:ea typeface="Times New Roman"/>
                <a:cs typeface="Times New Roman"/>
                <a:sym typeface="Times New Roman"/>
                <a:hlinkClick r:id="rId3"/>
              </a:rPr>
              <a:t>*args in function</a:t>
            </a:r>
            <a:r>
              <a:rPr lang="en" sz="1600">
                <a:solidFill>
                  <a:schemeClr val="dk1"/>
                </a:solidFill>
                <a:latin typeface="Times New Roman"/>
                <a:ea typeface="Times New Roman"/>
                <a:cs typeface="Times New Roman"/>
                <a:sym typeface="Times New Roman"/>
              </a:rPr>
              <a:t> definitions in Python is used to pass a variable number of arguments to a function. It is used to pass a non-keyworded, variable-length argument list.  </a:t>
            </a:r>
            <a:endParaRPr sz="16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ts val="2800"/>
              <a:buNone/>
            </a:pPr>
            <a:r>
              <a:rPr lang="en" sz="1600">
                <a:solidFill>
                  <a:schemeClr val="dk1"/>
                </a:solidFill>
                <a:latin typeface="Times New Roman"/>
                <a:ea typeface="Times New Roman"/>
                <a:cs typeface="Times New Roman"/>
                <a:sym typeface="Times New Roman"/>
              </a:rPr>
              <a:t>The special syntax **kwargs in function definitions in Python is used to pass a keyworded, variable-length argument list. We use the name kwargs with the double star. The reason is that the double star allows us to pass through keyword arguments (and any number of them).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800"/>
              </a:spcBef>
              <a:spcAft>
                <a:spcPts val="0"/>
              </a:spcAft>
              <a:buSzPts val="2800"/>
              <a:buNone/>
            </a:pPr>
            <a:r>
              <a:t/>
            </a:r>
            <a:endParaRPr sz="1600">
              <a:solidFill>
                <a:schemeClr val="dk1"/>
              </a:solidFill>
              <a:latin typeface="Times New Roman"/>
              <a:ea typeface="Times New Roman"/>
              <a:cs typeface="Times New Roman"/>
              <a:sym typeface="Times New Roman"/>
            </a:endParaRPr>
          </a:p>
          <a:p>
            <a:pPr indent="0" lvl="0" marL="50800" marR="0" rtl="0" algn="just">
              <a:lnSpc>
                <a:spcPct val="115000"/>
              </a:lnSpc>
              <a:spcBef>
                <a:spcPts val="60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1800"/>
              </a:spcBef>
              <a:spcAft>
                <a:spcPts val="0"/>
              </a:spcAft>
              <a:buSzPts val="2800"/>
              <a:buNone/>
            </a:pPr>
            <a:r>
              <a:rPr lang="en" sz="1600">
                <a:solidFill>
                  <a:schemeClr val="dk1"/>
                </a:solidFill>
                <a:latin typeface="Times New Roman"/>
                <a:ea typeface="Times New Roman"/>
                <a:cs typeface="Times New Roman"/>
                <a:sym typeface="Times New Roman"/>
              </a:rPr>
              <a:t> </a:t>
            </a:r>
            <a:r>
              <a:rPr b="1" lang="en" sz="1800">
                <a:solidFill>
                  <a:srgbClr val="006699"/>
                </a:solidFill>
                <a:highlight>
                  <a:srgbClr val="FFFFFF"/>
                </a:highlight>
                <a:latin typeface="Courier New"/>
                <a:ea typeface="Courier New"/>
                <a:cs typeface="Courier New"/>
                <a:sym typeface="Courier New"/>
              </a:rPr>
              <a:t>d</a:t>
            </a:r>
            <a:r>
              <a:rPr b="1" lang="en" sz="1800">
                <a:solidFill>
                  <a:srgbClr val="006699"/>
                </a:solidFill>
                <a:highlight>
                  <a:srgbClr val="FFFFFF"/>
                </a:highlight>
                <a:latin typeface="Times New Roman"/>
                <a:ea typeface="Times New Roman"/>
                <a:cs typeface="Times New Roman"/>
                <a:sym typeface="Times New Roman"/>
              </a:rPr>
              <a:t>ef</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sum_all(</a:t>
            </a:r>
            <a:r>
              <a:rPr b="1" lang="en" sz="1800">
                <a:solidFill>
                  <a:srgbClr val="006699"/>
                </a:solidFill>
                <a:highlight>
                  <a:srgbClr val="FFFFFF"/>
                </a:highlight>
                <a:latin typeface="Times New Roman"/>
                <a:ea typeface="Times New Roman"/>
                <a:cs typeface="Times New Roman"/>
                <a:sym typeface="Times New Roman"/>
              </a:rPr>
              <a:t>*</a:t>
            </a:r>
            <a:r>
              <a:rPr lang="en" sz="1800">
                <a:solidFill>
                  <a:schemeClr val="dk1"/>
                </a:solidFill>
                <a:highlight>
                  <a:srgbClr val="FFFFFF"/>
                </a:highlight>
                <a:latin typeface="Times New Roman"/>
                <a:ea typeface="Times New Roman"/>
                <a:cs typeface="Times New Roman"/>
                <a:sym typeface="Times New Roman"/>
              </a:rPr>
              <a:t>args):</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180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result </a:t>
            </a:r>
            <a:r>
              <a:rPr b="1" lang="en" sz="1800">
                <a:solidFill>
                  <a:srgbClr val="006699"/>
                </a:solidFill>
                <a:highlight>
                  <a:srgbClr val="FFFFFF"/>
                </a:highlight>
                <a:latin typeface="Times New Roman"/>
                <a:ea typeface="Times New Roman"/>
                <a:cs typeface="Times New Roman"/>
                <a:sym typeface="Times New Roman"/>
              </a:rPr>
              <a:t>=</a:t>
            </a:r>
            <a:r>
              <a:rPr lang="en" sz="1800">
                <a:solidFill>
                  <a:srgbClr val="273239"/>
                </a:solidFill>
                <a:highlight>
                  <a:srgbClr val="FFFFFF"/>
                </a:highlight>
                <a:latin typeface="Times New Roman"/>
                <a:ea typeface="Times New Roman"/>
                <a:cs typeface="Times New Roman"/>
                <a:sym typeface="Times New Roman"/>
              </a:rPr>
              <a:t> </a:t>
            </a:r>
            <a:r>
              <a:rPr lang="en" sz="1800">
                <a:solidFill>
                  <a:srgbClr val="009900"/>
                </a:solidFill>
                <a:highlight>
                  <a:srgbClr val="FFFFFF"/>
                </a:highlight>
                <a:latin typeface="Times New Roman"/>
                <a:ea typeface="Times New Roman"/>
                <a:cs typeface="Times New Roman"/>
                <a:sym typeface="Times New Roman"/>
              </a:rPr>
              <a:t>0</a:t>
            </a:r>
            <a:endParaRPr sz="1800">
              <a:solidFill>
                <a:srgbClr val="0099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r>
              <a:rPr b="1" lang="en" sz="1800">
                <a:solidFill>
                  <a:srgbClr val="006699"/>
                </a:solidFill>
                <a:highlight>
                  <a:srgbClr val="FFFFFF"/>
                </a:highlight>
                <a:latin typeface="Times New Roman"/>
                <a:ea typeface="Times New Roman"/>
                <a:cs typeface="Times New Roman"/>
                <a:sym typeface="Times New Roman"/>
              </a:rPr>
              <a:t>for</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num </a:t>
            </a:r>
            <a:r>
              <a:rPr b="1" lang="en" sz="1800">
                <a:solidFill>
                  <a:srgbClr val="006699"/>
                </a:solidFill>
                <a:highlight>
                  <a:srgbClr val="FFFFFF"/>
                </a:highlight>
                <a:latin typeface="Times New Roman"/>
                <a:ea typeface="Times New Roman"/>
                <a:cs typeface="Times New Roman"/>
                <a:sym typeface="Times New Roman"/>
              </a:rPr>
              <a:t>in</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args:</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result </a:t>
            </a:r>
            <a:r>
              <a:rPr b="1" lang="en" sz="1800">
                <a:solidFill>
                  <a:srgbClr val="006699"/>
                </a:solidFill>
                <a:highlight>
                  <a:srgbClr val="FFFFFF"/>
                </a:highlight>
                <a:latin typeface="Times New Roman"/>
                <a:ea typeface="Times New Roman"/>
                <a:cs typeface="Times New Roman"/>
                <a:sym typeface="Times New Roman"/>
              </a:rPr>
              <a:t>+=</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num</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r>
              <a:rPr b="1" lang="en" sz="1800">
                <a:solidFill>
                  <a:srgbClr val="006699"/>
                </a:solidFill>
                <a:highlight>
                  <a:srgbClr val="FFFFFF"/>
                </a:highlight>
                <a:latin typeface="Times New Roman"/>
                <a:ea typeface="Times New Roman"/>
                <a:cs typeface="Times New Roman"/>
                <a:sym typeface="Times New Roman"/>
              </a:rPr>
              <a:t>return</a:t>
            </a:r>
            <a:r>
              <a:rPr lang="en" sz="1800">
                <a:solidFill>
                  <a:srgbClr val="273239"/>
                </a:solidFill>
                <a:highlight>
                  <a:srgbClr val="FFFFFF"/>
                </a:highlight>
                <a:latin typeface="Times New Roman"/>
                <a:ea typeface="Times New Roman"/>
                <a:cs typeface="Times New Roman"/>
                <a:sym typeface="Times New Roman"/>
              </a:rPr>
              <a:t> </a:t>
            </a:r>
            <a:r>
              <a:rPr lang="en" sz="1800">
                <a:solidFill>
                  <a:schemeClr val="dk1"/>
                </a:solidFill>
                <a:highlight>
                  <a:srgbClr val="FFFFFF"/>
                </a:highlight>
                <a:latin typeface="Times New Roman"/>
                <a:ea typeface="Times New Roman"/>
                <a:cs typeface="Times New Roman"/>
                <a:sym typeface="Times New Roman"/>
              </a:rPr>
              <a:t>result</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rgbClr val="273239"/>
                </a:solidFill>
                <a:highlight>
                  <a:srgbClr val="FFFFFF"/>
                </a:highlight>
                <a:latin typeface="Times New Roman"/>
                <a:ea typeface="Times New Roman"/>
                <a:cs typeface="Times New Roman"/>
                <a:sym typeface="Times New Roman"/>
              </a:rPr>
              <a:t> </a:t>
            </a:r>
            <a:endParaRPr sz="18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b="1" lang="en" sz="1800">
                <a:solidFill>
                  <a:srgbClr val="006699"/>
                </a:solidFill>
                <a:highlight>
                  <a:srgbClr val="FFFFFF"/>
                </a:highlight>
                <a:latin typeface="Times New Roman"/>
                <a:ea typeface="Times New Roman"/>
                <a:cs typeface="Times New Roman"/>
                <a:sym typeface="Times New Roman"/>
              </a:rPr>
              <a:t>print</a:t>
            </a:r>
            <a:r>
              <a:rPr lang="en" sz="1800">
                <a:solidFill>
                  <a:schemeClr val="dk1"/>
                </a:solidFill>
                <a:highlight>
                  <a:srgbClr val="FFFFFF"/>
                </a:highlight>
                <a:latin typeface="Times New Roman"/>
                <a:ea typeface="Times New Roman"/>
                <a:cs typeface="Times New Roman"/>
                <a:sym typeface="Times New Roman"/>
              </a:rPr>
              <a:t>(sum_all(</a:t>
            </a:r>
            <a:r>
              <a:rPr lang="en" sz="1800">
                <a:solidFill>
                  <a:srgbClr val="009900"/>
                </a:solidFill>
                <a:highlight>
                  <a:srgbClr val="FFFFFF"/>
                </a:highlight>
                <a:latin typeface="Times New Roman"/>
                <a:ea typeface="Times New Roman"/>
                <a:cs typeface="Times New Roman"/>
                <a:sym typeface="Times New Roman"/>
              </a:rPr>
              <a:t>1</a:t>
            </a:r>
            <a:r>
              <a:rPr lang="en" sz="1800">
                <a:solidFill>
                  <a:schemeClr val="dk1"/>
                </a:solidFill>
                <a:highlight>
                  <a:srgbClr val="FFFFFF"/>
                </a:highlight>
                <a:latin typeface="Times New Roman"/>
                <a:ea typeface="Times New Roman"/>
                <a:cs typeface="Times New Roman"/>
                <a:sym typeface="Times New Roman"/>
              </a:rPr>
              <a:t>, </a:t>
            </a:r>
            <a:r>
              <a:rPr lang="en" sz="1800">
                <a:solidFill>
                  <a:srgbClr val="009900"/>
                </a:solidFill>
                <a:highlight>
                  <a:srgbClr val="FFFFFF"/>
                </a:highlight>
                <a:latin typeface="Times New Roman"/>
                <a:ea typeface="Times New Roman"/>
                <a:cs typeface="Times New Roman"/>
                <a:sym typeface="Times New Roman"/>
              </a:rPr>
              <a:t>2</a:t>
            </a:r>
            <a:r>
              <a:rPr lang="en" sz="1800">
                <a:solidFill>
                  <a:schemeClr val="dk1"/>
                </a:solidFill>
                <a:highlight>
                  <a:srgbClr val="FFFFFF"/>
                </a:highlight>
                <a:latin typeface="Times New Roman"/>
                <a:ea typeface="Times New Roman"/>
                <a:cs typeface="Times New Roman"/>
                <a:sym typeface="Times New Roman"/>
              </a:rPr>
              <a:t>, </a:t>
            </a:r>
            <a:r>
              <a:rPr lang="en" sz="1800">
                <a:solidFill>
                  <a:srgbClr val="009900"/>
                </a:solidFill>
                <a:highlight>
                  <a:srgbClr val="FFFFFF"/>
                </a:highlight>
                <a:latin typeface="Times New Roman"/>
                <a:ea typeface="Times New Roman"/>
                <a:cs typeface="Times New Roman"/>
                <a:sym typeface="Times New Roman"/>
              </a:rPr>
              <a:t>3</a:t>
            </a:r>
            <a:r>
              <a:rPr lang="en" sz="1800">
                <a:solidFill>
                  <a:schemeClr val="dk1"/>
                </a:solidFill>
                <a:highlight>
                  <a:srgbClr val="FFFFFF"/>
                </a:highlight>
                <a:latin typeface="Times New Roman"/>
                <a:ea typeface="Times New Roman"/>
                <a:cs typeface="Times New Roman"/>
                <a:sym typeface="Times New Roman"/>
              </a:rPr>
              <a:t>, </a:t>
            </a:r>
            <a:r>
              <a:rPr lang="en" sz="1800">
                <a:solidFill>
                  <a:srgbClr val="009900"/>
                </a:solidFill>
                <a:highlight>
                  <a:srgbClr val="FFFFFF"/>
                </a:highlight>
                <a:latin typeface="Times New Roman"/>
                <a:ea typeface="Times New Roman"/>
                <a:cs typeface="Times New Roman"/>
                <a:sym typeface="Times New Roman"/>
              </a:rPr>
              <a:t>4</a:t>
            </a:r>
            <a:r>
              <a:rPr lang="en" sz="1800">
                <a:solidFill>
                  <a:schemeClr val="dk1"/>
                </a:solidFill>
                <a:highlight>
                  <a:srgbClr val="FFFFFF"/>
                </a:highlight>
                <a:latin typeface="Times New Roman"/>
                <a:ea typeface="Times New Roman"/>
                <a:cs typeface="Times New Roman"/>
                <a:sym typeface="Times New Roman"/>
              </a:rPr>
              <a:t>, </a:t>
            </a:r>
            <a:r>
              <a:rPr lang="en" sz="1800">
                <a:solidFill>
                  <a:srgbClr val="009900"/>
                </a:solidFill>
                <a:highlight>
                  <a:srgbClr val="FFFFFF"/>
                </a:highlight>
                <a:latin typeface="Times New Roman"/>
                <a:ea typeface="Times New Roman"/>
                <a:cs typeface="Times New Roman"/>
                <a:sym typeface="Times New Roman"/>
              </a:rPr>
              <a:t>5</a:t>
            </a:r>
            <a:r>
              <a:rPr lang="en" sz="1800">
                <a:solidFill>
                  <a:schemeClr val="dk1"/>
                </a:solidFill>
                <a:highlight>
                  <a:srgbClr val="FFFFFF"/>
                </a:highlight>
                <a:latin typeface="Times New Roman"/>
                <a:ea typeface="Times New Roman"/>
                <a:cs typeface="Times New Roman"/>
                <a:sym typeface="Times New Roman"/>
              </a:rPr>
              <a:t>))</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800">
                <a:solidFill>
                  <a:schemeClr val="dk1"/>
                </a:solidFill>
                <a:highlight>
                  <a:srgbClr val="FFFFFF"/>
                </a:highlight>
                <a:latin typeface="Times New Roman"/>
                <a:ea typeface="Times New Roman"/>
                <a:cs typeface="Times New Roman"/>
                <a:sym typeface="Times New Roman"/>
              </a:rPr>
              <a:t>Output </a:t>
            </a:r>
            <a:endParaRPr sz="18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15</a:t>
            </a:r>
            <a:endParaRPr sz="18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800"/>
              </a:spcBef>
              <a:spcAft>
                <a:spcPts val="0"/>
              </a:spcAft>
              <a:buSzPts val="2800"/>
              <a:buNone/>
            </a:pPr>
            <a:r>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180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def my_function(*kids):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  print("The youngest child is " + kids[2])</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my_function("Emil", "Tobias", "Linus")</a:t>
            </a:r>
            <a:endParaRPr sz="16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ts val="2800"/>
              <a:buNone/>
            </a:pPr>
            <a:r>
              <a:rPr lang="en" sz="1600">
                <a:solidFill>
                  <a:schemeClr val="dk1"/>
                </a:solidFill>
                <a:latin typeface="Times New Roman"/>
                <a:ea typeface="Times New Roman"/>
                <a:cs typeface="Times New Roman"/>
                <a:sym typeface="Times New Roman"/>
              </a:rPr>
              <a:t>Output </a:t>
            </a:r>
            <a:endParaRPr sz="16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1800"/>
              </a:spcAft>
              <a:buSzPts val="2800"/>
              <a:buNone/>
            </a:pPr>
            <a:r>
              <a:rPr lang="en" sz="1600">
                <a:solidFill>
                  <a:schemeClr val="dk1"/>
                </a:solidFill>
                <a:latin typeface="Times New Roman"/>
                <a:ea typeface="Times New Roman"/>
                <a:cs typeface="Times New Roman"/>
                <a:sym typeface="Times New Roman"/>
              </a:rPr>
              <a:t>The youngest child is Linus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92500"/>
          </a:bodyPr>
          <a:lstStyle/>
          <a:p>
            <a:pPr indent="0" lvl="0" marL="0" marR="0" rtl="0" algn="l">
              <a:lnSpc>
                <a:spcPct val="115000"/>
              </a:lnSpc>
              <a:spcBef>
                <a:spcPts val="1800"/>
              </a:spcBef>
              <a:spcAft>
                <a:spcPts val="0"/>
              </a:spcAft>
              <a:buSzPct val="159317"/>
              <a:buNone/>
            </a:pPr>
            <a:r>
              <a:rPr lang="en" sz="1900">
                <a:solidFill>
                  <a:schemeClr val="dk1"/>
                </a:solidFill>
                <a:latin typeface="Times New Roman"/>
                <a:ea typeface="Times New Roman"/>
                <a:cs typeface="Times New Roman"/>
                <a:sym typeface="Times New Roman"/>
              </a:rPr>
              <a:t>Anonymous Function:</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ct val="159317"/>
              <a:buNone/>
            </a:pPr>
            <a:r>
              <a:rPr lang="en" sz="1900">
                <a:solidFill>
                  <a:schemeClr val="dk1"/>
                </a:solidFill>
                <a:latin typeface="Times New Roman"/>
                <a:ea typeface="Times New Roman"/>
                <a:cs typeface="Times New Roman"/>
                <a:sym typeface="Times New Roman"/>
              </a:rPr>
              <a:t>Python Lambda Functions are anonymous function means that the function is without a name. </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lang="en" sz="1900">
                <a:solidFill>
                  <a:schemeClr val="dk1"/>
                </a:solidFill>
                <a:latin typeface="Times New Roman"/>
                <a:ea typeface="Times New Roman"/>
                <a:cs typeface="Times New Roman"/>
                <a:sym typeface="Times New Roman"/>
              </a:rPr>
              <a:t>def keyword is used to define a normal function in Python. Similarly, the lambda keyword is used to define an anonymous function</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lang="en" sz="1900">
                <a:solidFill>
                  <a:schemeClr val="dk1"/>
                </a:solidFill>
                <a:latin typeface="Times New Roman"/>
                <a:ea typeface="Times New Roman"/>
                <a:cs typeface="Times New Roman"/>
                <a:sym typeface="Times New Roman"/>
              </a:rPr>
              <a:t>We use the lambda keyword in Python to define an unnamed function.</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lang="en" sz="1900">
                <a:solidFill>
                  <a:schemeClr val="dk1"/>
                </a:solidFill>
                <a:latin typeface="Times New Roman"/>
                <a:ea typeface="Times New Roman"/>
                <a:cs typeface="Times New Roman"/>
                <a:sym typeface="Times New Roman"/>
              </a:rPr>
              <a:t>Syntax</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b="1" lang="en" sz="1900">
                <a:solidFill>
                  <a:schemeClr val="dk1"/>
                </a:solidFill>
                <a:latin typeface="Times New Roman"/>
                <a:ea typeface="Times New Roman"/>
                <a:cs typeface="Times New Roman"/>
                <a:sym typeface="Times New Roman"/>
              </a:rPr>
              <a:t>lambda arguments : expression</a:t>
            </a:r>
            <a:endParaRPr b="1"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lang="en" sz="1900">
                <a:solidFill>
                  <a:schemeClr val="dk1"/>
                </a:solidFill>
                <a:latin typeface="Times New Roman"/>
                <a:ea typeface="Times New Roman"/>
                <a:cs typeface="Times New Roman"/>
                <a:sym typeface="Times New Roman"/>
              </a:rPr>
              <a:t>This function can have any number of arguments but only one expression, which is evaluated and returned ie This function accepts any count of inputs but only evaluates and returns one expression. That means it takes many inputs but returns only one output.</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lang="en" sz="1900">
                <a:solidFill>
                  <a:schemeClr val="dk1"/>
                </a:solidFill>
                <a:latin typeface="Times New Roman"/>
                <a:ea typeface="Times New Roman"/>
                <a:cs typeface="Times New Roman"/>
                <a:sym typeface="Times New Roman"/>
              </a:rPr>
              <a:t>One is free to use lambda functions wherever function objects are required.</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rPr lang="en" sz="1900">
                <a:solidFill>
                  <a:schemeClr val="dk1"/>
                </a:solidFill>
                <a:latin typeface="Times New Roman"/>
                <a:ea typeface="Times New Roman"/>
                <a:cs typeface="Times New Roman"/>
                <a:sym typeface="Times New Roman"/>
              </a:rPr>
              <a:t>lambda functions are syntactically restricted to a single expression.</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ct val="159317"/>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 Example</a:t>
            </a:r>
            <a:endParaRPr sz="1900">
              <a:solidFill>
                <a:schemeClr val="dk1"/>
              </a:solidFill>
              <a:latin typeface="Times New Roman"/>
              <a:ea typeface="Times New Roman"/>
              <a:cs typeface="Times New Roman"/>
              <a:sym typeface="Times New Roman"/>
            </a:endParaRPr>
          </a:p>
          <a:p>
            <a:pPr indent="0" lvl="0" marL="0" marR="139700" rtl="0" algn="l">
              <a:lnSpc>
                <a:spcPct val="100000"/>
              </a:lnSpc>
              <a:spcBef>
                <a:spcPts val="180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str1 = 'GeeksforGeeks'</a:t>
            </a:r>
            <a:endParaRPr sz="1900">
              <a:solidFill>
                <a:schemeClr val="dk1"/>
              </a:solidFill>
              <a:latin typeface="Times New Roman"/>
              <a:ea typeface="Times New Roman"/>
              <a:cs typeface="Times New Roman"/>
              <a:sym typeface="Times New Roman"/>
            </a:endParaRPr>
          </a:p>
          <a:p>
            <a:pPr indent="0" lvl="0" marL="0" marR="139700" rtl="0" algn="l">
              <a:lnSpc>
                <a:spcPct val="100000"/>
              </a:lnSpc>
              <a:spcBef>
                <a:spcPts val="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 </a:t>
            </a:r>
            <a:endParaRPr sz="1900">
              <a:solidFill>
                <a:schemeClr val="dk1"/>
              </a:solidFill>
              <a:latin typeface="Times New Roman"/>
              <a:ea typeface="Times New Roman"/>
              <a:cs typeface="Times New Roman"/>
              <a:sym typeface="Times New Roman"/>
            </a:endParaRPr>
          </a:p>
          <a:p>
            <a:pPr indent="0" lvl="0" marL="0" marR="139700" rtl="0" algn="l">
              <a:lnSpc>
                <a:spcPct val="100000"/>
              </a:lnSpc>
              <a:spcBef>
                <a:spcPts val="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upper = lambda string: string.upper()</a:t>
            </a:r>
            <a:endParaRPr sz="1900">
              <a:solidFill>
                <a:schemeClr val="dk1"/>
              </a:solidFill>
              <a:latin typeface="Times New Roman"/>
              <a:ea typeface="Times New Roman"/>
              <a:cs typeface="Times New Roman"/>
              <a:sym typeface="Times New Roman"/>
            </a:endParaRPr>
          </a:p>
          <a:p>
            <a:pPr indent="0" lvl="0" marL="0" marR="139700" rtl="0" algn="l">
              <a:lnSpc>
                <a:spcPct val="100000"/>
              </a:lnSpc>
              <a:spcBef>
                <a:spcPts val="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print(upper(str1))</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Output:</a:t>
            </a:r>
            <a:endParaRPr sz="1900">
              <a:solidFill>
                <a:schemeClr val="dk1"/>
              </a:solidFill>
              <a:latin typeface="Times New Roman"/>
              <a:ea typeface="Times New Roman"/>
              <a:cs typeface="Times New Roman"/>
              <a:sym typeface="Times New Roman"/>
            </a:endParaRPr>
          </a:p>
          <a:p>
            <a:pPr indent="0" lvl="0" marL="190500" marR="190500" rtl="0" algn="l">
              <a:lnSpc>
                <a:spcPct val="100000"/>
              </a:lnSpc>
              <a:spcBef>
                <a:spcPts val="800"/>
              </a:spcBef>
              <a:spcAft>
                <a:spcPts val="0"/>
              </a:spcAft>
              <a:buSzPts val="2800"/>
              <a:buNone/>
            </a:pPr>
            <a:r>
              <a:rPr lang="en" sz="1900">
                <a:solidFill>
                  <a:schemeClr val="dk1"/>
                </a:solidFill>
                <a:latin typeface="Times New Roman"/>
                <a:ea typeface="Times New Roman"/>
                <a:cs typeface="Times New Roman"/>
                <a:sym typeface="Times New Roman"/>
              </a:rPr>
              <a:t>GEEKSFORGEEKS</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Clr>
                <a:schemeClr val="dk1"/>
              </a:buClr>
              <a:buSzPts val="1100"/>
              <a:buFont typeface="Arial"/>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ts val="2800"/>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t/>
            </a:r>
            <a:endParaRPr b="1" sz="1100">
              <a:solidFill>
                <a:schemeClr val="dk1"/>
              </a:solidFill>
            </a:endParaRPr>
          </a:p>
          <a:p>
            <a:pPr indent="0" lvl="0" marL="0" marR="0" rtl="0" algn="l">
              <a:lnSpc>
                <a:spcPct val="115000"/>
              </a:lnSpc>
              <a:spcBef>
                <a:spcPts val="0"/>
              </a:spcBef>
              <a:spcAft>
                <a:spcPts val="0"/>
              </a:spcAft>
              <a:buSzPts val="2800"/>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139700" rtl="0" algn="l">
              <a:lnSpc>
                <a:spcPct val="120000"/>
              </a:lnSpc>
              <a:spcBef>
                <a:spcPts val="0"/>
              </a:spcBef>
              <a:spcAft>
                <a:spcPts val="0"/>
              </a:spcAft>
              <a:buSzPts val="2800"/>
              <a:buNone/>
            </a:pPr>
            <a:r>
              <a:rPr b="1" lang="en" sz="1600">
                <a:solidFill>
                  <a:srgbClr val="006699"/>
                </a:solidFill>
                <a:highlight>
                  <a:srgbClr val="FFFFFF"/>
                </a:highlight>
                <a:latin typeface="Times New Roman"/>
                <a:ea typeface="Times New Roman"/>
                <a:cs typeface="Times New Roman"/>
                <a:sym typeface="Times New Roman"/>
              </a:rPr>
              <a:t>#program using lambda and def keywords</a:t>
            </a:r>
            <a:endParaRPr b="1" sz="1600">
              <a:solidFill>
                <a:srgbClr val="00669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t/>
            </a:r>
            <a:endParaRPr b="1" sz="1600">
              <a:solidFill>
                <a:srgbClr val="00669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b="1" lang="en" sz="1600">
                <a:solidFill>
                  <a:srgbClr val="006699"/>
                </a:solidFill>
                <a:highlight>
                  <a:srgbClr val="FFFFFF"/>
                </a:highlight>
                <a:latin typeface="Times New Roman"/>
                <a:ea typeface="Times New Roman"/>
                <a:cs typeface="Times New Roman"/>
                <a:sym typeface="Times New Roman"/>
              </a:rPr>
              <a:t>def</a:t>
            </a:r>
            <a:r>
              <a:rPr lang="en" sz="1600">
                <a:solidFill>
                  <a:srgbClr val="273239"/>
                </a:solidFill>
                <a:highlight>
                  <a:srgbClr val="FFFFFF"/>
                </a:highlight>
                <a:latin typeface="Times New Roman"/>
                <a:ea typeface="Times New Roman"/>
                <a:cs typeface="Times New Roman"/>
                <a:sym typeface="Times New Roman"/>
              </a:rPr>
              <a:t> </a:t>
            </a:r>
            <a:r>
              <a:rPr lang="en" sz="1600">
                <a:solidFill>
                  <a:schemeClr val="dk1"/>
                </a:solidFill>
                <a:highlight>
                  <a:srgbClr val="FFFFFF"/>
                </a:highlight>
                <a:latin typeface="Times New Roman"/>
                <a:ea typeface="Times New Roman"/>
                <a:cs typeface="Times New Roman"/>
                <a:sym typeface="Times New Roman"/>
              </a:rPr>
              <a:t>cube(y):</a:t>
            </a:r>
            <a:endParaRPr sz="16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600">
                <a:solidFill>
                  <a:srgbClr val="273239"/>
                </a:solidFill>
                <a:highlight>
                  <a:srgbClr val="FFFFFF"/>
                </a:highlight>
                <a:latin typeface="Times New Roman"/>
                <a:ea typeface="Times New Roman"/>
                <a:cs typeface="Times New Roman"/>
                <a:sym typeface="Times New Roman"/>
              </a:rPr>
              <a:t>    </a:t>
            </a:r>
            <a:r>
              <a:rPr b="1" lang="en" sz="1600">
                <a:solidFill>
                  <a:srgbClr val="006699"/>
                </a:solidFill>
                <a:highlight>
                  <a:srgbClr val="FFFFFF"/>
                </a:highlight>
                <a:latin typeface="Times New Roman"/>
                <a:ea typeface="Times New Roman"/>
                <a:cs typeface="Times New Roman"/>
                <a:sym typeface="Times New Roman"/>
              </a:rPr>
              <a:t>return</a:t>
            </a:r>
            <a:r>
              <a:rPr lang="en" sz="1600">
                <a:solidFill>
                  <a:srgbClr val="273239"/>
                </a:solidFill>
                <a:highlight>
                  <a:srgbClr val="FFFFFF"/>
                </a:highlight>
                <a:latin typeface="Times New Roman"/>
                <a:ea typeface="Times New Roman"/>
                <a:cs typeface="Times New Roman"/>
                <a:sym typeface="Times New Roman"/>
              </a:rPr>
              <a:t> </a:t>
            </a:r>
            <a:r>
              <a:rPr lang="en" sz="1600">
                <a:solidFill>
                  <a:schemeClr val="dk1"/>
                </a:solidFill>
                <a:highlight>
                  <a:srgbClr val="FFFFFF"/>
                </a:highlight>
                <a:latin typeface="Times New Roman"/>
                <a:ea typeface="Times New Roman"/>
                <a:cs typeface="Times New Roman"/>
                <a:sym typeface="Times New Roman"/>
              </a:rPr>
              <a:t>y</a:t>
            </a:r>
            <a:r>
              <a:rPr b="1" lang="en" sz="1600">
                <a:solidFill>
                  <a:srgbClr val="006699"/>
                </a:solidFill>
                <a:highlight>
                  <a:srgbClr val="FFFFFF"/>
                </a:highlight>
                <a:latin typeface="Times New Roman"/>
                <a:ea typeface="Times New Roman"/>
                <a:cs typeface="Times New Roman"/>
                <a:sym typeface="Times New Roman"/>
              </a:rPr>
              <a:t>*</a:t>
            </a:r>
            <a:r>
              <a:rPr lang="en" sz="1600">
                <a:solidFill>
                  <a:schemeClr val="dk1"/>
                </a:solidFill>
                <a:highlight>
                  <a:srgbClr val="FFFFFF"/>
                </a:highlight>
                <a:latin typeface="Times New Roman"/>
                <a:ea typeface="Times New Roman"/>
                <a:cs typeface="Times New Roman"/>
                <a:sym typeface="Times New Roman"/>
              </a:rPr>
              <a:t>y</a:t>
            </a:r>
            <a:r>
              <a:rPr b="1" lang="en" sz="1600">
                <a:solidFill>
                  <a:srgbClr val="006699"/>
                </a:solidFill>
                <a:highlight>
                  <a:srgbClr val="FFFFFF"/>
                </a:highlight>
                <a:latin typeface="Times New Roman"/>
                <a:ea typeface="Times New Roman"/>
                <a:cs typeface="Times New Roman"/>
                <a:sym typeface="Times New Roman"/>
              </a:rPr>
              <a:t>*</a:t>
            </a:r>
            <a:r>
              <a:rPr lang="en" sz="1600">
                <a:solidFill>
                  <a:schemeClr val="dk1"/>
                </a:solidFill>
                <a:highlight>
                  <a:srgbClr val="FFFFFF"/>
                </a:highlight>
                <a:latin typeface="Times New Roman"/>
                <a:ea typeface="Times New Roman"/>
                <a:cs typeface="Times New Roman"/>
                <a:sym typeface="Times New Roman"/>
              </a:rPr>
              <a:t>y</a:t>
            </a:r>
            <a:endParaRPr sz="16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600">
                <a:solidFill>
                  <a:srgbClr val="273239"/>
                </a:solidFill>
                <a:highlight>
                  <a:srgbClr val="FFFFFF"/>
                </a:highlight>
                <a:latin typeface="Times New Roman"/>
                <a:ea typeface="Times New Roman"/>
                <a:cs typeface="Times New Roman"/>
                <a:sym typeface="Times New Roman"/>
              </a:rPr>
              <a:t> </a:t>
            </a:r>
            <a:endParaRPr sz="16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600">
                <a:solidFill>
                  <a:schemeClr val="dk1"/>
                </a:solidFill>
                <a:highlight>
                  <a:srgbClr val="FFFFFF"/>
                </a:highlight>
                <a:latin typeface="Times New Roman"/>
                <a:ea typeface="Times New Roman"/>
                <a:cs typeface="Times New Roman"/>
                <a:sym typeface="Times New Roman"/>
              </a:rPr>
              <a:t>lambda_cube </a:t>
            </a:r>
            <a:r>
              <a:rPr b="1" lang="en" sz="1600">
                <a:solidFill>
                  <a:srgbClr val="006699"/>
                </a:solidFill>
                <a:highlight>
                  <a:srgbClr val="FFFFFF"/>
                </a:highlight>
                <a:latin typeface="Times New Roman"/>
                <a:ea typeface="Times New Roman"/>
                <a:cs typeface="Times New Roman"/>
                <a:sym typeface="Times New Roman"/>
              </a:rPr>
              <a:t>=</a:t>
            </a:r>
            <a:r>
              <a:rPr lang="en" sz="1600">
                <a:solidFill>
                  <a:srgbClr val="273239"/>
                </a:solidFill>
                <a:highlight>
                  <a:srgbClr val="FFFFFF"/>
                </a:highlight>
                <a:latin typeface="Times New Roman"/>
                <a:ea typeface="Times New Roman"/>
                <a:cs typeface="Times New Roman"/>
                <a:sym typeface="Times New Roman"/>
              </a:rPr>
              <a:t> </a:t>
            </a:r>
            <a:r>
              <a:rPr b="1" lang="en" sz="1600">
                <a:solidFill>
                  <a:srgbClr val="006699"/>
                </a:solidFill>
                <a:highlight>
                  <a:srgbClr val="FFFFFF"/>
                </a:highlight>
                <a:latin typeface="Times New Roman"/>
                <a:ea typeface="Times New Roman"/>
                <a:cs typeface="Times New Roman"/>
                <a:sym typeface="Times New Roman"/>
              </a:rPr>
              <a:t>lambda</a:t>
            </a:r>
            <a:r>
              <a:rPr lang="en" sz="1600">
                <a:solidFill>
                  <a:srgbClr val="273239"/>
                </a:solidFill>
                <a:highlight>
                  <a:srgbClr val="FFFFFF"/>
                </a:highlight>
                <a:latin typeface="Times New Roman"/>
                <a:ea typeface="Times New Roman"/>
                <a:cs typeface="Times New Roman"/>
                <a:sym typeface="Times New Roman"/>
              </a:rPr>
              <a:t> </a:t>
            </a:r>
            <a:r>
              <a:rPr lang="en" sz="1600">
                <a:solidFill>
                  <a:schemeClr val="dk1"/>
                </a:solidFill>
                <a:highlight>
                  <a:srgbClr val="FFFFFF"/>
                </a:highlight>
                <a:latin typeface="Times New Roman"/>
                <a:ea typeface="Times New Roman"/>
                <a:cs typeface="Times New Roman"/>
                <a:sym typeface="Times New Roman"/>
              </a:rPr>
              <a:t>y: y</a:t>
            </a:r>
            <a:r>
              <a:rPr b="1" lang="en" sz="1600">
                <a:solidFill>
                  <a:srgbClr val="006699"/>
                </a:solidFill>
                <a:highlight>
                  <a:srgbClr val="FFFFFF"/>
                </a:highlight>
                <a:latin typeface="Times New Roman"/>
                <a:ea typeface="Times New Roman"/>
                <a:cs typeface="Times New Roman"/>
                <a:sym typeface="Times New Roman"/>
              </a:rPr>
              <a:t>*</a:t>
            </a:r>
            <a:r>
              <a:rPr lang="en" sz="1600">
                <a:solidFill>
                  <a:schemeClr val="dk1"/>
                </a:solidFill>
                <a:highlight>
                  <a:srgbClr val="FFFFFF"/>
                </a:highlight>
                <a:latin typeface="Times New Roman"/>
                <a:ea typeface="Times New Roman"/>
                <a:cs typeface="Times New Roman"/>
                <a:sym typeface="Times New Roman"/>
              </a:rPr>
              <a:t>y</a:t>
            </a:r>
            <a:r>
              <a:rPr b="1" lang="en" sz="1600">
                <a:solidFill>
                  <a:srgbClr val="006699"/>
                </a:solidFill>
                <a:highlight>
                  <a:srgbClr val="FFFFFF"/>
                </a:highlight>
                <a:latin typeface="Times New Roman"/>
                <a:ea typeface="Times New Roman"/>
                <a:cs typeface="Times New Roman"/>
                <a:sym typeface="Times New Roman"/>
              </a:rPr>
              <a:t>*</a:t>
            </a:r>
            <a:r>
              <a:rPr lang="en" sz="1600">
                <a:solidFill>
                  <a:schemeClr val="dk1"/>
                </a:solidFill>
                <a:highlight>
                  <a:srgbClr val="FFFFFF"/>
                </a:highlight>
                <a:latin typeface="Times New Roman"/>
                <a:ea typeface="Times New Roman"/>
                <a:cs typeface="Times New Roman"/>
                <a:sym typeface="Times New Roman"/>
              </a:rPr>
              <a:t>y</a:t>
            </a:r>
            <a:endParaRPr sz="16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600">
                <a:solidFill>
                  <a:srgbClr val="FF1493"/>
                </a:solidFill>
                <a:highlight>
                  <a:srgbClr val="FFFFFF"/>
                </a:highlight>
                <a:latin typeface="Times New Roman"/>
                <a:ea typeface="Times New Roman"/>
                <a:cs typeface="Times New Roman"/>
                <a:sym typeface="Times New Roman"/>
              </a:rPr>
              <a:t>print</a:t>
            </a:r>
            <a:r>
              <a:rPr lang="en" sz="1600">
                <a:solidFill>
                  <a:schemeClr val="dk1"/>
                </a:solidFill>
                <a:highlight>
                  <a:srgbClr val="FFFFFF"/>
                </a:highlight>
                <a:latin typeface="Times New Roman"/>
                <a:ea typeface="Times New Roman"/>
                <a:cs typeface="Times New Roman"/>
                <a:sym typeface="Times New Roman"/>
              </a:rPr>
              <a:t>(</a:t>
            </a:r>
            <a:r>
              <a:rPr lang="en" sz="1600">
                <a:solidFill>
                  <a:srgbClr val="0000FF"/>
                </a:solidFill>
                <a:highlight>
                  <a:srgbClr val="FFFFFF"/>
                </a:highlight>
                <a:latin typeface="Times New Roman"/>
                <a:ea typeface="Times New Roman"/>
                <a:cs typeface="Times New Roman"/>
                <a:sym typeface="Times New Roman"/>
              </a:rPr>
              <a:t>"Using function defined with `def` keyword, cube:"</a:t>
            </a:r>
            <a:r>
              <a:rPr lang="en" sz="1600">
                <a:solidFill>
                  <a:schemeClr val="dk1"/>
                </a:solidFill>
                <a:highlight>
                  <a:srgbClr val="FFFFFF"/>
                </a:highlight>
                <a:latin typeface="Times New Roman"/>
                <a:ea typeface="Times New Roman"/>
                <a:cs typeface="Times New Roman"/>
                <a:sym typeface="Times New Roman"/>
              </a:rPr>
              <a:t>, cube(</a:t>
            </a:r>
            <a:r>
              <a:rPr lang="en" sz="1600">
                <a:solidFill>
                  <a:srgbClr val="009900"/>
                </a:solidFill>
                <a:highlight>
                  <a:srgbClr val="FFFFFF"/>
                </a:highlight>
                <a:latin typeface="Times New Roman"/>
                <a:ea typeface="Times New Roman"/>
                <a:cs typeface="Times New Roman"/>
                <a:sym typeface="Times New Roman"/>
              </a:rPr>
              <a:t>5</a:t>
            </a:r>
            <a:r>
              <a:rPr lang="en" sz="1600">
                <a:solidFill>
                  <a:schemeClr val="dk1"/>
                </a:solidFill>
                <a:highlight>
                  <a:srgbClr val="FFFFFF"/>
                </a:highlight>
                <a:latin typeface="Times New Roman"/>
                <a:ea typeface="Times New Roman"/>
                <a:cs typeface="Times New Roman"/>
                <a:sym typeface="Times New Roman"/>
              </a:rPr>
              <a:t>))</a:t>
            </a:r>
            <a:endParaRPr sz="16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600">
                <a:solidFill>
                  <a:srgbClr val="FF1493"/>
                </a:solidFill>
                <a:highlight>
                  <a:srgbClr val="FFFFFF"/>
                </a:highlight>
                <a:latin typeface="Times New Roman"/>
                <a:ea typeface="Times New Roman"/>
                <a:cs typeface="Times New Roman"/>
                <a:sym typeface="Times New Roman"/>
              </a:rPr>
              <a:t>print</a:t>
            </a:r>
            <a:r>
              <a:rPr lang="en" sz="1600">
                <a:solidFill>
                  <a:schemeClr val="dk1"/>
                </a:solidFill>
                <a:highlight>
                  <a:srgbClr val="FFFFFF"/>
                </a:highlight>
                <a:latin typeface="Times New Roman"/>
                <a:ea typeface="Times New Roman"/>
                <a:cs typeface="Times New Roman"/>
                <a:sym typeface="Times New Roman"/>
              </a:rPr>
              <a:t>(</a:t>
            </a:r>
            <a:r>
              <a:rPr lang="en" sz="1600">
                <a:solidFill>
                  <a:srgbClr val="0000FF"/>
                </a:solidFill>
                <a:highlight>
                  <a:srgbClr val="FFFFFF"/>
                </a:highlight>
                <a:latin typeface="Times New Roman"/>
                <a:ea typeface="Times New Roman"/>
                <a:cs typeface="Times New Roman"/>
                <a:sym typeface="Times New Roman"/>
              </a:rPr>
              <a:t>"Using lambda function, cube:"</a:t>
            </a:r>
            <a:r>
              <a:rPr lang="en" sz="1600">
                <a:solidFill>
                  <a:schemeClr val="dk1"/>
                </a:solidFill>
                <a:highlight>
                  <a:srgbClr val="FFFFFF"/>
                </a:highlight>
                <a:latin typeface="Times New Roman"/>
                <a:ea typeface="Times New Roman"/>
                <a:cs typeface="Times New Roman"/>
                <a:sym typeface="Times New Roman"/>
              </a:rPr>
              <a:t>, lambda_cube(</a:t>
            </a:r>
            <a:r>
              <a:rPr lang="en" sz="1600">
                <a:solidFill>
                  <a:srgbClr val="009900"/>
                </a:solidFill>
                <a:highlight>
                  <a:srgbClr val="FFFFFF"/>
                </a:highlight>
                <a:latin typeface="Times New Roman"/>
                <a:ea typeface="Times New Roman"/>
                <a:cs typeface="Times New Roman"/>
                <a:sym typeface="Times New Roman"/>
              </a:rPr>
              <a:t>5</a:t>
            </a:r>
            <a:r>
              <a:rPr lang="en" sz="1600">
                <a:solidFill>
                  <a:schemeClr val="dk1"/>
                </a:solidFill>
                <a:highlight>
                  <a:srgbClr val="FFFFFF"/>
                </a:highlight>
                <a:latin typeface="Times New Roman"/>
                <a:ea typeface="Times New Roman"/>
                <a:cs typeface="Times New Roman"/>
                <a:sym typeface="Times New Roman"/>
              </a:rPr>
              <a:t>))</a:t>
            </a:r>
            <a:endParaRPr sz="16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SzPts val="2800"/>
              <a:buNone/>
            </a:pPr>
            <a:r>
              <a:rPr b="1" lang="en" sz="1800">
                <a:solidFill>
                  <a:srgbClr val="273239"/>
                </a:solidFill>
                <a:highlight>
                  <a:srgbClr val="FFFFFF"/>
                </a:highlight>
                <a:latin typeface="Times New Roman"/>
                <a:ea typeface="Times New Roman"/>
                <a:cs typeface="Times New Roman"/>
                <a:sym typeface="Times New Roman"/>
              </a:rPr>
              <a:t>Output:</a:t>
            </a:r>
            <a:endParaRPr b="1" sz="1800">
              <a:solidFill>
                <a:srgbClr val="273239"/>
              </a:solidFill>
              <a:highlight>
                <a:srgbClr val="FFFFFF"/>
              </a:highlight>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800">
                <a:solidFill>
                  <a:srgbClr val="273239"/>
                </a:solidFill>
                <a:latin typeface="Times New Roman"/>
                <a:ea typeface="Times New Roman"/>
                <a:cs typeface="Times New Roman"/>
                <a:sym typeface="Times New Roman"/>
              </a:rPr>
              <a:t>Using function defined with `def` keyword, cube: 125</a:t>
            </a:r>
            <a:endParaRPr sz="1800">
              <a:solidFill>
                <a:srgbClr val="273239"/>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800">
                <a:solidFill>
                  <a:srgbClr val="273239"/>
                </a:solidFill>
                <a:latin typeface="Times New Roman"/>
                <a:ea typeface="Times New Roman"/>
                <a:cs typeface="Times New Roman"/>
                <a:sym typeface="Times New Roman"/>
              </a:rPr>
              <a:t>Using lambda function, cube: 125</a:t>
            </a:r>
            <a:endParaRPr sz="1800">
              <a:solidFill>
                <a:srgbClr val="273239"/>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ts val="1100"/>
              <a:buFont typeface="Arial"/>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10000"/>
          </a:bodyPr>
          <a:lstStyle/>
          <a:p>
            <a:pPr indent="0" lvl="0" marL="0" marR="25400" rtl="0" algn="l">
              <a:lnSpc>
                <a:spcPct val="156250"/>
              </a:lnSpc>
              <a:spcBef>
                <a:spcPts val="300"/>
              </a:spcBef>
              <a:spcAft>
                <a:spcPts val="0"/>
              </a:spcAft>
              <a:buSzPts val="2800"/>
              <a:buNone/>
            </a:pPr>
            <a:r>
              <a:rPr lang="en" sz="1800">
                <a:solidFill>
                  <a:schemeClr val="dk1"/>
                </a:solidFill>
                <a:latin typeface="Times New Roman"/>
                <a:ea typeface="Times New Roman"/>
                <a:cs typeface="Times New Roman"/>
                <a:sym typeface="Times New Roman"/>
              </a:rPr>
              <a:t>add = </a:t>
            </a:r>
            <a:r>
              <a:rPr b="1" lang="en" sz="1800">
                <a:solidFill>
                  <a:srgbClr val="006699"/>
                </a:solidFill>
                <a:latin typeface="Times New Roman"/>
                <a:ea typeface="Times New Roman"/>
                <a:cs typeface="Times New Roman"/>
                <a:sym typeface="Times New Roman"/>
              </a:rPr>
              <a:t>lambda</a:t>
            </a:r>
            <a:r>
              <a:rPr lang="en" sz="1800">
                <a:solidFill>
                  <a:schemeClr val="dk1"/>
                </a:solidFill>
                <a:latin typeface="Times New Roman"/>
                <a:ea typeface="Times New Roman"/>
                <a:cs typeface="Times New Roman"/>
                <a:sym typeface="Times New Roman"/>
              </a:rPr>
              <a:t> num: num + 4    </a:t>
            </a:r>
            <a:endParaRPr sz="1800">
              <a:solidFill>
                <a:schemeClr val="dk1"/>
              </a:solidFill>
              <a:latin typeface="Times New Roman"/>
              <a:ea typeface="Times New Roman"/>
              <a:cs typeface="Times New Roman"/>
              <a:sym typeface="Times New Roman"/>
            </a:endParaRPr>
          </a:p>
          <a:p>
            <a:pPr indent="0" lvl="0" marL="0" marR="25400" rtl="0" algn="l">
              <a:lnSpc>
                <a:spcPct val="156250"/>
              </a:lnSpc>
              <a:spcBef>
                <a:spcPts val="300"/>
              </a:spcBef>
              <a:spcAft>
                <a:spcPts val="0"/>
              </a:spcAft>
              <a:buSzPts val="2800"/>
              <a:buNone/>
            </a:pPr>
            <a:r>
              <a:rPr b="1" lang="en" sz="1800">
                <a:solidFill>
                  <a:srgbClr val="006699"/>
                </a:solidFill>
                <a:latin typeface="Times New Roman"/>
                <a:ea typeface="Times New Roman"/>
                <a:cs typeface="Times New Roman"/>
                <a:sym typeface="Times New Roman"/>
              </a:rPr>
              <a:t>print</a:t>
            </a:r>
            <a:r>
              <a:rPr lang="en" sz="1800">
                <a:solidFill>
                  <a:schemeClr val="dk1"/>
                </a:solidFill>
                <a:latin typeface="Times New Roman"/>
                <a:ea typeface="Times New Roman"/>
                <a:cs typeface="Times New Roman"/>
                <a:sym typeface="Times New Roman"/>
              </a:rPr>
              <a:t>( add(6) )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rPr lang="en"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rPr lang="en" sz="1800">
                <a:solidFill>
                  <a:schemeClr val="dk1"/>
                </a:solidFill>
                <a:latin typeface="Times New Roman"/>
                <a:ea typeface="Times New Roman"/>
                <a:cs typeface="Times New Roman"/>
                <a:sym typeface="Times New Roman"/>
              </a:rPr>
              <a:t>Using def</a:t>
            </a:r>
            <a:endParaRPr sz="1800">
              <a:solidFill>
                <a:schemeClr val="dk1"/>
              </a:solidFill>
              <a:latin typeface="Times New Roman"/>
              <a:ea typeface="Times New Roman"/>
              <a:cs typeface="Times New Roman"/>
              <a:sym typeface="Times New Roman"/>
            </a:endParaRPr>
          </a:p>
          <a:p>
            <a:pPr indent="0" lvl="0" marL="0" marR="25400" rtl="0" algn="l">
              <a:lnSpc>
                <a:spcPct val="156250"/>
              </a:lnSpc>
              <a:spcBef>
                <a:spcPts val="300"/>
              </a:spcBef>
              <a:spcAft>
                <a:spcPts val="0"/>
              </a:spcAft>
              <a:buSzPts val="2800"/>
              <a:buNone/>
            </a:pPr>
            <a:r>
              <a:rPr lang="en" sz="1800">
                <a:solidFill>
                  <a:schemeClr val="dk1"/>
                </a:solidFill>
                <a:latin typeface="Times New Roman"/>
                <a:ea typeface="Times New Roman"/>
                <a:cs typeface="Times New Roman"/>
                <a:sym typeface="Times New Roman"/>
              </a:rPr>
              <a:t>def add( num ):  </a:t>
            </a:r>
            <a:endParaRPr sz="1800">
              <a:solidFill>
                <a:schemeClr val="dk1"/>
              </a:solidFill>
              <a:latin typeface="Times New Roman"/>
              <a:ea typeface="Times New Roman"/>
              <a:cs typeface="Times New Roman"/>
              <a:sym typeface="Times New Roman"/>
            </a:endParaRPr>
          </a:p>
          <a:p>
            <a:pPr indent="0" lvl="0" marL="0" marR="25400" rtl="0" algn="l">
              <a:lnSpc>
                <a:spcPct val="156250"/>
              </a:lnSpc>
              <a:spcBef>
                <a:spcPts val="300"/>
              </a:spcBef>
              <a:spcAft>
                <a:spcPts val="0"/>
              </a:spcAft>
              <a:buSzPts val="2800"/>
              <a:buNone/>
            </a:pPr>
            <a:r>
              <a:rPr lang="en" sz="1800">
                <a:solidFill>
                  <a:schemeClr val="dk1"/>
                </a:solidFill>
                <a:latin typeface="Times New Roman"/>
                <a:ea typeface="Times New Roman"/>
                <a:cs typeface="Times New Roman"/>
                <a:sym typeface="Times New Roman"/>
              </a:rPr>
              <a:t>   return num + 4  </a:t>
            </a:r>
            <a:endParaRPr sz="1800">
              <a:solidFill>
                <a:schemeClr val="dk1"/>
              </a:solidFill>
              <a:latin typeface="Times New Roman"/>
              <a:ea typeface="Times New Roman"/>
              <a:cs typeface="Times New Roman"/>
              <a:sym typeface="Times New Roman"/>
            </a:endParaRPr>
          </a:p>
          <a:p>
            <a:pPr indent="0" lvl="0" marL="0" marR="25400" rtl="0" algn="l">
              <a:lnSpc>
                <a:spcPct val="156250"/>
              </a:lnSpc>
              <a:spcBef>
                <a:spcPts val="300"/>
              </a:spcBef>
              <a:spcAft>
                <a:spcPts val="0"/>
              </a:spcAft>
              <a:buSzPts val="2800"/>
              <a:buNone/>
            </a:pPr>
            <a:r>
              <a:rPr lang="en" sz="1800">
                <a:solidFill>
                  <a:schemeClr val="dk1"/>
                </a:solidFill>
                <a:latin typeface="Times New Roman"/>
                <a:ea typeface="Times New Roman"/>
                <a:cs typeface="Times New Roman"/>
                <a:sym typeface="Times New Roman"/>
              </a:rPr>
              <a:t>print( add(6) )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25400" rtl="0" algn="l">
              <a:lnSpc>
                <a:spcPct val="156250"/>
              </a:lnSpc>
              <a:spcBef>
                <a:spcPts val="300"/>
              </a:spcBef>
              <a:spcAft>
                <a:spcPts val="0"/>
              </a:spcAft>
              <a:buSzPts val="2800"/>
              <a:buNone/>
            </a:pPr>
            <a:r>
              <a:rPr lang="en" sz="1800">
                <a:solidFill>
                  <a:schemeClr val="dk1"/>
                </a:solidFill>
                <a:latin typeface="Times New Roman"/>
                <a:ea typeface="Times New Roman"/>
                <a:cs typeface="Times New Roman"/>
                <a:sym typeface="Times New Roman"/>
              </a:rPr>
              <a:t>a = lambda x, y : (x * y)  </a:t>
            </a:r>
            <a:endParaRPr sz="1800">
              <a:solidFill>
                <a:schemeClr val="dk1"/>
              </a:solidFill>
              <a:latin typeface="Times New Roman"/>
              <a:ea typeface="Times New Roman"/>
              <a:cs typeface="Times New Roman"/>
              <a:sym typeface="Times New Roman"/>
            </a:endParaRPr>
          </a:p>
          <a:p>
            <a:pPr indent="0" lvl="0" marL="0" marR="25400" rtl="0" algn="l">
              <a:lnSpc>
                <a:spcPct val="156250"/>
              </a:lnSpc>
              <a:spcBef>
                <a:spcPts val="300"/>
              </a:spcBef>
              <a:spcAft>
                <a:spcPts val="0"/>
              </a:spcAft>
              <a:buSzPts val="2800"/>
              <a:buNone/>
            </a:pPr>
            <a:r>
              <a:rPr lang="en" sz="1800">
                <a:solidFill>
                  <a:schemeClr val="dk1"/>
                </a:solidFill>
                <a:latin typeface="Times New Roman"/>
                <a:ea typeface="Times New Roman"/>
                <a:cs typeface="Times New Roman"/>
                <a:sym typeface="Times New Roman"/>
              </a:rPr>
              <a:t>print(a(4, 5))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rPr lang="en" sz="1800">
                <a:solidFill>
                  <a:schemeClr val="dk1"/>
                </a:solidFill>
                <a:latin typeface="Times New Roman"/>
                <a:ea typeface="Times New Roman"/>
                <a:cs typeface="Times New Roman"/>
                <a:sym typeface="Times New Roman"/>
              </a:rPr>
              <a:t>Output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SzPts val="2800"/>
              <a:buNone/>
            </a:pPr>
            <a:r>
              <a:rPr lang="en" sz="1800">
                <a:solidFill>
                  <a:schemeClr val="dk1"/>
                </a:solidFill>
                <a:latin typeface="Times New Roman"/>
                <a:ea typeface="Times New Roman"/>
                <a:cs typeface="Times New Roman"/>
                <a:sym typeface="Times New Roman"/>
              </a:rPr>
              <a:t>20</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85000" lnSpcReduction="20000"/>
          </a:bodyPr>
          <a:lstStyle/>
          <a:p>
            <a:pPr indent="0" lvl="0" marL="0" marR="0" rtl="0" algn="l">
              <a:lnSpc>
                <a:spcPct val="100000"/>
              </a:lnSpc>
              <a:spcBef>
                <a:spcPts val="1800"/>
              </a:spcBef>
              <a:spcAft>
                <a:spcPts val="0"/>
              </a:spcAft>
              <a:buSzPct val="173374"/>
              <a:buNone/>
            </a:pPr>
            <a:r>
              <a:rPr lang="en" sz="1900">
                <a:solidFill>
                  <a:schemeClr val="dk1"/>
                </a:solidFill>
                <a:latin typeface="Times New Roman"/>
                <a:ea typeface="Times New Roman"/>
                <a:cs typeface="Times New Roman"/>
                <a:sym typeface="Times New Roman"/>
              </a:rPr>
              <a:t> Global and Local Variables in Python</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173374"/>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Python Global variables are those which are not defined inside any function and have a global scope whereas Python local variables are those which are defined inside a function and their scope is limited to that function only. In other words, we can say that local variables are accessible only inside the function in which it was initialized whereas the global variables are accessible throughout the program and inside every function.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SzPct val="173374"/>
              <a:buNone/>
            </a:pPr>
            <a:r>
              <a:rPr b="1" lang="en" sz="1900">
                <a:solidFill>
                  <a:schemeClr val="dk1"/>
                </a:solidFill>
                <a:latin typeface="Times New Roman"/>
                <a:ea typeface="Times New Roman"/>
                <a:cs typeface="Times New Roman"/>
                <a:sym typeface="Times New Roman"/>
              </a:rPr>
              <a:t>Python Local Variables</a:t>
            </a:r>
            <a:endParaRPr b="1" sz="19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Local variables in Python are those which are initialized inside a function and belong only to that particular function. It cannot be accessed anywhere outside the function. Let’s see how to create a local variable.</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SzPct val="173374"/>
              <a:buNone/>
            </a:pPr>
            <a:r>
              <a:t/>
            </a:r>
            <a:endParaRPr sz="1900">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SzPct val="173374"/>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299465"/>
              <a:buNone/>
            </a:pPr>
            <a:r>
              <a:t/>
            </a:r>
            <a:endParaRPr b="1" sz="1100">
              <a:solidFill>
                <a:schemeClr val="dk1"/>
              </a:solidFill>
            </a:endParaRPr>
          </a:p>
          <a:p>
            <a:pPr indent="0" lvl="0" marL="0" marR="0" rtl="0" algn="l">
              <a:lnSpc>
                <a:spcPct val="115000"/>
              </a:lnSpc>
              <a:spcBef>
                <a:spcPts val="0"/>
              </a:spcBef>
              <a:spcAft>
                <a:spcPts val="0"/>
              </a:spcAft>
              <a:buSzPct val="173374"/>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00000"/>
              </a:lnSpc>
              <a:spcBef>
                <a:spcPts val="0"/>
              </a:spcBef>
              <a:spcAft>
                <a:spcPts val="0"/>
              </a:spcAft>
              <a:buSzPts val="2800"/>
              <a:buNone/>
            </a:pPr>
            <a:r>
              <a:rPr lang="en" sz="1900">
                <a:solidFill>
                  <a:schemeClr val="dk1"/>
                </a:solidFill>
                <a:latin typeface="Times New Roman"/>
                <a:ea typeface="Times New Roman"/>
                <a:cs typeface="Times New Roman"/>
                <a:sym typeface="Times New Roman"/>
              </a:rPr>
              <a:t>def f():</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    # local variable</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    s = "I love Geeksforgeeks"</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    print(s)</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 f()</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Output</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I love Geeksforgeeks</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1800"/>
              </a:spcAft>
              <a:buSzPts val="2800"/>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85000" lnSpcReduction="20000"/>
          </a:bodyPr>
          <a:lstStyle/>
          <a:p>
            <a:pPr indent="0" lvl="0" marL="0" marR="0" rtl="0" algn="l">
              <a:lnSpc>
                <a:spcPct val="100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    </a:t>
            </a:r>
            <a:r>
              <a:rPr b="1" lang="en" sz="1900">
                <a:solidFill>
                  <a:schemeClr val="dk1"/>
                </a:solidFill>
                <a:latin typeface="Times New Roman"/>
                <a:ea typeface="Times New Roman"/>
                <a:cs typeface="Times New Roman"/>
                <a:sym typeface="Times New Roman"/>
              </a:rPr>
              <a:t>Python Global Variables</a:t>
            </a:r>
            <a:endParaRPr b="1"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These are those which are defined outside any function and which are accessible throughout the program, i.e., inside and outside of every function. Let’s see how to create a Python global variable.</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def f():</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    print("Inside Function", s)</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 </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 Global scope</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s = "I love Geeksforgeeks"</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f()</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print("Outside Function", s)</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Output</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ct val="173374"/>
              <a:buNone/>
            </a:pPr>
            <a:r>
              <a:rPr lang="en" sz="1900">
                <a:solidFill>
                  <a:schemeClr val="dk1"/>
                </a:solidFill>
                <a:latin typeface="Times New Roman"/>
                <a:ea typeface="Times New Roman"/>
                <a:cs typeface="Times New Roman"/>
                <a:sym typeface="Times New Roman"/>
              </a:rPr>
              <a:t>Inside Function I love Geeksforgeeks</a:t>
            </a:r>
            <a:endParaRPr sz="1900">
              <a:solidFill>
                <a:schemeClr val="dk1"/>
              </a:solidFill>
              <a:latin typeface="Times New Roman"/>
              <a:ea typeface="Times New Roman"/>
              <a:cs typeface="Times New Roman"/>
              <a:sym typeface="Times New Roman"/>
            </a:endParaRPr>
          </a:p>
          <a:p>
            <a:pPr indent="0" lvl="0" marL="190500" marR="190500" rtl="0" algn="l">
              <a:lnSpc>
                <a:spcPct val="115000"/>
              </a:lnSpc>
              <a:spcBef>
                <a:spcPts val="180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Outside Function I love Geeksforgeeks</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SzPct val="173374"/>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1800"/>
              </a:spcAft>
              <a:buSzPct val="173374"/>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Modules in Python can be of two types:</a:t>
            </a:r>
            <a:endParaRPr sz="1800">
              <a:solidFill>
                <a:srgbClr val="444444"/>
              </a:solidFill>
              <a:highlight>
                <a:srgbClr val="FFFFFF"/>
              </a:highlight>
              <a:latin typeface="Times New Roman"/>
              <a:ea typeface="Times New Roman"/>
              <a:cs typeface="Times New Roman"/>
              <a:sym typeface="Times New Roman"/>
            </a:endParaRPr>
          </a:p>
          <a:p>
            <a:pPr indent="-342900" lvl="0" marL="749300" rtl="0" algn="l">
              <a:lnSpc>
                <a:spcPct val="115000"/>
              </a:lnSpc>
              <a:spcBef>
                <a:spcPts val="1400"/>
              </a:spcBef>
              <a:spcAft>
                <a:spcPts val="0"/>
              </a:spcAft>
              <a:buClr>
                <a:srgbClr val="444444"/>
              </a:buClr>
              <a:buSzPts val="1800"/>
              <a:buFont typeface="Times New Roman"/>
              <a:buChar char="●"/>
            </a:pPr>
            <a:r>
              <a:rPr lang="en" sz="1800">
                <a:solidFill>
                  <a:srgbClr val="444444"/>
                </a:solidFill>
                <a:highlight>
                  <a:srgbClr val="FFFFFF"/>
                </a:highlight>
                <a:latin typeface="Times New Roman"/>
                <a:ea typeface="Times New Roman"/>
                <a:cs typeface="Times New Roman"/>
                <a:sym typeface="Times New Roman"/>
              </a:rPr>
              <a:t>Built-in Modules.</a:t>
            </a:r>
            <a:endParaRPr sz="1800">
              <a:solidFill>
                <a:srgbClr val="444444"/>
              </a:solidFill>
              <a:highlight>
                <a:srgbClr val="FFFFFF"/>
              </a:highlight>
              <a:latin typeface="Times New Roman"/>
              <a:ea typeface="Times New Roman"/>
              <a:cs typeface="Times New Roman"/>
              <a:sym typeface="Times New Roman"/>
            </a:endParaRPr>
          </a:p>
          <a:p>
            <a:pPr indent="-342900" lvl="0" marL="749300" rtl="0" algn="l">
              <a:lnSpc>
                <a:spcPct val="115000"/>
              </a:lnSpc>
              <a:spcBef>
                <a:spcPts val="0"/>
              </a:spcBef>
              <a:spcAft>
                <a:spcPts val="0"/>
              </a:spcAft>
              <a:buClr>
                <a:srgbClr val="444444"/>
              </a:buClr>
              <a:buSzPts val="1800"/>
              <a:buFont typeface="Times New Roman"/>
              <a:buChar char="●"/>
            </a:pPr>
            <a:r>
              <a:rPr lang="en" sz="1800">
                <a:solidFill>
                  <a:srgbClr val="444444"/>
                </a:solidFill>
                <a:highlight>
                  <a:srgbClr val="FFFFFF"/>
                </a:highlight>
                <a:latin typeface="Times New Roman"/>
                <a:ea typeface="Times New Roman"/>
                <a:cs typeface="Times New Roman"/>
                <a:sym typeface="Times New Roman"/>
              </a:rPr>
              <a:t>User-defined Modules.</a:t>
            </a:r>
            <a:endParaRPr sz="1800">
              <a:solidFill>
                <a:srgbClr val="444444"/>
              </a:solidFill>
              <a:highlight>
                <a:srgbClr val="FFFFFF"/>
              </a:highlight>
              <a:latin typeface="Times New Roman"/>
              <a:ea typeface="Times New Roman"/>
              <a:cs typeface="Times New Roman"/>
              <a:sym typeface="Times New Roman"/>
            </a:endParaRPr>
          </a:p>
          <a:p>
            <a:pPr indent="0" lvl="0" marL="0" rtl="0" algn="l">
              <a:lnSpc>
                <a:spcPct val="115000"/>
              </a:lnSpc>
              <a:spcBef>
                <a:spcPts val="11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In Python, Modules are simply files with the “. py” extension containing Python code that can be imported inside another Python Program. In simple terms, we can consider a module to be the same as a code library or a file that contains a set of functions that you want to include in your application.</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100"/>
              </a:spcBef>
              <a:spcAft>
                <a:spcPts val="1800"/>
              </a:spcAft>
              <a:buSzPts val="2800"/>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30000"/>
              </a:lnSpc>
              <a:spcBef>
                <a:spcPts val="0"/>
              </a:spcBef>
              <a:spcAft>
                <a:spcPts val="0"/>
              </a:spcAft>
              <a:buClr>
                <a:schemeClr val="dk1"/>
              </a:buClr>
              <a:buSzPct val="46808"/>
              <a:buFont typeface="Arial"/>
              <a:buNone/>
            </a:pPr>
            <a:r>
              <a:rPr lang="en" sz="2350">
                <a:solidFill>
                  <a:srgbClr val="444444"/>
                </a:solidFill>
                <a:highlight>
                  <a:srgbClr val="FFFFFF"/>
                </a:highlight>
                <a:latin typeface="Georgia"/>
                <a:ea typeface="Georgia"/>
                <a:cs typeface="Georgia"/>
                <a:sym typeface="Georgia"/>
              </a:rPr>
              <a:t>User-Defined Modules</a:t>
            </a:r>
            <a:endParaRPr sz="2350">
              <a:solidFill>
                <a:srgbClr val="444444"/>
              </a:solidFill>
              <a:highlight>
                <a:srgbClr val="FFFFFF"/>
              </a:highlight>
              <a:latin typeface="Georgia"/>
              <a:ea typeface="Georgia"/>
              <a:cs typeface="Georgia"/>
              <a:sym typeface="Georgia"/>
            </a:endParaRPr>
          </a:p>
          <a:p>
            <a:pPr indent="0" lvl="0" marL="0" rtl="0" algn="l">
              <a:lnSpc>
                <a:spcPct val="115000"/>
              </a:lnSpc>
              <a:spcBef>
                <a:spcPts val="1100"/>
              </a:spcBef>
              <a:spcAft>
                <a:spcPts val="0"/>
              </a:spcAft>
              <a:buClr>
                <a:schemeClr val="dk1"/>
              </a:buClr>
              <a:buSzPct val="57893"/>
              <a:buFont typeface="Arial"/>
              <a:buNone/>
            </a:pPr>
            <a:r>
              <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A </a:t>
            </a:r>
            <a:r>
              <a:rPr lang="en" sz="1900">
                <a:solidFill>
                  <a:schemeClr val="hlink"/>
                </a:solidFill>
                <a:uFill>
                  <a:noFill/>
                </a:uFill>
                <a:latin typeface="Times New Roman"/>
                <a:ea typeface="Times New Roman"/>
                <a:cs typeface="Times New Roman"/>
                <a:sym typeface="Times New Roman"/>
                <a:hlinkClick r:id="rId3"/>
              </a:rPr>
              <a:t>Python</a:t>
            </a:r>
            <a:r>
              <a:rPr lang="en" sz="1900">
                <a:solidFill>
                  <a:schemeClr val="dk1"/>
                </a:solidFill>
                <a:latin typeface="Times New Roman"/>
                <a:ea typeface="Times New Roman"/>
                <a:cs typeface="Times New Roman"/>
                <a:sym typeface="Times New Roman"/>
              </a:rPr>
              <a:t> module is a file containing Python definitions and statements. A module can define functions, classes, and variables. A module can also include runnable code. Grouping related code into a module makes the code easier to understand and use. It also makes the code logically organized.</a:t>
            </a:r>
            <a:endParaRPr sz="19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ct val="173374"/>
              <a:buNone/>
            </a:pPr>
            <a:r>
              <a:rPr lang="en" sz="1900">
                <a:solidFill>
                  <a:schemeClr val="dk1"/>
                </a:solidFill>
                <a:latin typeface="Times New Roman"/>
                <a:ea typeface="Times New Roman"/>
                <a:cs typeface="Times New Roman"/>
                <a:sym typeface="Times New Roman"/>
              </a:rPr>
              <a:t>Let’s create a simple calc.py in which we define two functions, one add and another subtract.</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1800"/>
              </a:spcBef>
              <a:spcAft>
                <a:spcPts val="0"/>
              </a:spcAft>
              <a:buSzPct val="173374"/>
              <a:buNone/>
            </a:pPr>
            <a:r>
              <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def add(x, y):</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    return (x+y)</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 </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ct val="57893"/>
              <a:buFont typeface="Arial"/>
              <a:buNone/>
            </a:pPr>
            <a:r>
              <a:rPr lang="en" sz="1900">
                <a:solidFill>
                  <a:schemeClr val="dk1"/>
                </a:solidFill>
                <a:latin typeface="Times New Roman"/>
                <a:ea typeface="Times New Roman"/>
                <a:cs typeface="Times New Roman"/>
                <a:sym typeface="Times New Roman"/>
              </a:rPr>
              <a:t>def subtract(x, y):</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    return (x-y)</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Import module in Python</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We can import the functions, and classes defined in a module to another module using the </a:t>
            </a:r>
            <a:r>
              <a:rPr lang="en" sz="1900">
                <a:solidFill>
                  <a:schemeClr val="hlink"/>
                </a:solidFill>
                <a:uFill>
                  <a:noFill/>
                </a:uFill>
                <a:latin typeface="Times New Roman"/>
                <a:ea typeface="Times New Roman"/>
                <a:cs typeface="Times New Roman"/>
                <a:sym typeface="Times New Roman"/>
                <a:hlinkClick r:id="rId4"/>
              </a:rPr>
              <a:t>import statement</a:t>
            </a:r>
            <a:r>
              <a:rPr lang="en" sz="1900">
                <a:solidFill>
                  <a:schemeClr val="dk1"/>
                </a:solidFill>
                <a:latin typeface="Times New Roman"/>
                <a:ea typeface="Times New Roman"/>
                <a:cs typeface="Times New Roman"/>
                <a:sym typeface="Times New Roman"/>
              </a:rPr>
              <a:t> in some other Python source file.</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ct val="100000"/>
              <a:buFont typeface="Arial"/>
              <a:buNone/>
            </a:pPr>
            <a:r>
              <a:t/>
            </a:r>
            <a:endParaRPr sz="1100">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1800"/>
              </a:spcAft>
              <a:buSzPct val="253393"/>
              <a:buNone/>
            </a:pPr>
            <a:r>
              <a:t/>
            </a:r>
            <a:endParaRPr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00000"/>
              </a:lnSpc>
              <a:spcBef>
                <a:spcPts val="0"/>
              </a:spcBef>
              <a:spcAft>
                <a:spcPts val="0"/>
              </a:spcAft>
              <a:buSzPts val="2800"/>
              <a:buNone/>
            </a:pPr>
            <a:r>
              <a:rPr lang="en" sz="1900">
                <a:solidFill>
                  <a:schemeClr val="dk1"/>
                </a:solidFill>
                <a:latin typeface="Times New Roman"/>
                <a:ea typeface="Times New Roman"/>
                <a:cs typeface="Times New Roman"/>
                <a:sym typeface="Times New Roman"/>
              </a:rPr>
              <a:t>When the interpreter encounters an import statement, it imports the module if the module is present in the search path. A search path is a list of directories that the interpreter searches for importing a module. For example, to import the module calc.py, we need to put the following command at the top of the script.</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180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Syntax of Python Import</a:t>
            </a:r>
            <a:endParaRPr sz="1900">
              <a:solidFill>
                <a:schemeClr val="dk1"/>
              </a:solidFill>
              <a:latin typeface="Times New Roman"/>
              <a:ea typeface="Times New Roman"/>
              <a:cs typeface="Times New Roman"/>
              <a:sym typeface="Times New Roman"/>
            </a:endParaRPr>
          </a:p>
          <a:p>
            <a:pPr indent="0" lvl="0" marL="190500" marR="190500" rtl="0" algn="l">
              <a:lnSpc>
                <a:spcPct val="115000"/>
              </a:lnSpc>
              <a:spcBef>
                <a:spcPts val="1800"/>
              </a:spcBef>
              <a:spcAft>
                <a:spcPts val="0"/>
              </a:spcAft>
              <a:buSzPts val="2800"/>
              <a:buNone/>
            </a:pPr>
            <a:r>
              <a:rPr lang="en" sz="1900">
                <a:solidFill>
                  <a:schemeClr val="dk1"/>
                </a:solidFill>
                <a:latin typeface="Times New Roman"/>
                <a:ea typeface="Times New Roman"/>
                <a:cs typeface="Times New Roman"/>
                <a:sym typeface="Times New Roman"/>
              </a:rPr>
              <a:t>import module</a:t>
            </a:r>
            <a:endParaRPr sz="19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800"/>
              </a:spcBef>
              <a:spcAft>
                <a:spcPts val="0"/>
              </a:spcAft>
              <a:buSzPts val="2800"/>
              <a:buNone/>
            </a:pPr>
            <a:r>
              <a:rPr lang="en" sz="1900">
                <a:solidFill>
                  <a:schemeClr val="dk1"/>
                </a:solidFill>
                <a:latin typeface="Times New Roman"/>
                <a:ea typeface="Times New Roman"/>
                <a:cs typeface="Times New Roman"/>
                <a:sym typeface="Times New Roman"/>
              </a:rPr>
              <a:t>Note: This does not import the functions or classes directly instead imports the module only. To access the functions inside the module the dot(.) operator is used.</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800"/>
              </a:spcBef>
              <a:spcAft>
                <a:spcPts val="0"/>
              </a:spcAft>
              <a:buSzPts val="2800"/>
              <a:buNone/>
            </a:pPr>
            <a:r>
              <a:rPr lang="en" sz="1900">
                <a:solidFill>
                  <a:schemeClr val="dk1"/>
                </a:solidFill>
                <a:latin typeface="Times New Roman"/>
                <a:ea typeface="Times New Roman"/>
                <a:cs typeface="Times New Roman"/>
                <a:sym typeface="Times New Roman"/>
              </a:rPr>
              <a:t>Importing modules in Python Example</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800"/>
              </a:spcBef>
              <a:spcAft>
                <a:spcPts val="0"/>
              </a:spcAft>
              <a:buSzPts val="2800"/>
              <a:buNone/>
            </a:pPr>
            <a:r>
              <a:rPr lang="en" sz="1900">
                <a:solidFill>
                  <a:schemeClr val="dk1"/>
                </a:solidFill>
                <a:latin typeface="Times New Roman"/>
                <a:ea typeface="Times New Roman"/>
                <a:cs typeface="Times New Roman"/>
                <a:sym typeface="Times New Roman"/>
              </a:rPr>
              <a:t>Now, we are importing the calc that we created earlier to perform add operation.</a:t>
            </a:r>
            <a:endParaRPr sz="19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t/>
            </a:r>
            <a:endParaRPr sz="1200">
              <a:solidFill>
                <a:srgbClr val="FFFFFF"/>
              </a:solidFill>
              <a:latin typeface="Courier New"/>
              <a:ea typeface="Courier New"/>
              <a:cs typeface="Courier New"/>
              <a:sym typeface="Courier New"/>
            </a:endParaRPr>
          </a:p>
          <a:p>
            <a:pPr indent="0" lvl="0" marL="0" marR="0" rtl="0" algn="l">
              <a:lnSpc>
                <a:spcPct val="100000"/>
              </a:lnSpc>
              <a:spcBef>
                <a:spcPts val="800"/>
              </a:spcBef>
              <a:spcAft>
                <a:spcPts val="1800"/>
              </a:spcAft>
              <a:buSzPts val="2800"/>
              <a:buNone/>
            </a:pPr>
            <a:r>
              <a:t/>
            </a:r>
            <a:endParaRPr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139700" rtl="0" algn="l">
              <a:lnSpc>
                <a:spcPct val="120000"/>
              </a:lnSpc>
              <a:spcBef>
                <a:spcPts val="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 importing  module calc.py</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import calc</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900">
                <a:solidFill>
                  <a:schemeClr val="dk1"/>
                </a:solidFill>
                <a:latin typeface="Times New Roman"/>
                <a:ea typeface="Times New Roman"/>
                <a:cs typeface="Times New Roman"/>
                <a:sym typeface="Times New Roman"/>
              </a:rPr>
              <a:t>print(calc.add(10, 2))</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ts val="2800"/>
              <a:buNone/>
            </a:pPr>
            <a:r>
              <a:rPr lang="en" sz="1900">
                <a:solidFill>
                  <a:schemeClr val="dk1"/>
                </a:solidFill>
                <a:latin typeface="Times New Roman"/>
                <a:ea typeface="Times New Roman"/>
                <a:cs typeface="Times New Roman"/>
                <a:sym typeface="Times New Roman"/>
              </a:rPr>
              <a:t>print(calc.subtract(12,2))</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2800"/>
              <a:buNone/>
            </a:pPr>
            <a:r>
              <a:rPr lang="en" sz="1900">
                <a:solidFill>
                  <a:schemeClr val="dk1"/>
                </a:solidFill>
                <a:latin typeface="Times New Roman"/>
                <a:ea typeface="Times New Roman"/>
                <a:cs typeface="Times New Roman"/>
                <a:sym typeface="Times New Roman"/>
              </a:rPr>
              <a:t>Output:</a:t>
            </a:r>
            <a:endParaRPr sz="19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900">
                <a:solidFill>
                  <a:schemeClr val="dk1"/>
                </a:solidFill>
                <a:latin typeface="Times New Roman"/>
                <a:ea typeface="Times New Roman"/>
                <a:cs typeface="Times New Roman"/>
                <a:sym typeface="Times New Roman"/>
              </a:rPr>
              <a:t>12</a:t>
            </a:r>
            <a:endParaRPr sz="1900">
              <a:solidFill>
                <a:schemeClr val="dk1"/>
              </a:solidFill>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SzPts val="2800"/>
              <a:buNone/>
            </a:pPr>
            <a:r>
              <a:rPr lang="en" sz="1900">
                <a:solidFill>
                  <a:schemeClr val="dk1"/>
                </a:solidFill>
                <a:latin typeface="Times New Roman"/>
                <a:ea typeface="Times New Roman"/>
                <a:cs typeface="Times New Roman"/>
                <a:sym typeface="Times New Roman"/>
              </a:rPr>
              <a:t>10</a:t>
            </a:r>
            <a:endParaRPr sz="1900">
              <a:solidFill>
                <a:schemeClr val="dk1"/>
              </a:solidFill>
              <a:latin typeface="Times New Roman"/>
              <a:ea typeface="Times New Roman"/>
              <a:cs typeface="Times New Roman"/>
              <a:sym typeface="Times New Roman"/>
            </a:endParaRPr>
          </a:p>
          <a:p>
            <a:pPr indent="0" lvl="0" marL="0" rtl="0" algn="just">
              <a:lnSpc>
                <a:spcPct val="156521"/>
              </a:lnSpc>
              <a:spcBef>
                <a:spcPts val="1200"/>
              </a:spcBef>
              <a:spcAft>
                <a:spcPts val="0"/>
              </a:spcAft>
              <a:buClr>
                <a:schemeClr val="dk1"/>
              </a:buClr>
              <a:buSzPts val="1100"/>
              <a:buFont typeface="Arial"/>
              <a:buNone/>
            </a:pPr>
            <a:r>
              <a:t/>
            </a:r>
            <a:endParaRPr sz="1700">
              <a:solidFill>
                <a:schemeClr val="dk1"/>
              </a:solidFill>
            </a:endParaRPr>
          </a:p>
          <a:p>
            <a:pPr indent="0" lvl="0" marL="0" marR="139700" rtl="0" algn="l">
              <a:lnSpc>
                <a:spcPct val="120000"/>
              </a:lnSpc>
              <a:spcBef>
                <a:spcPts val="1200"/>
              </a:spcBef>
              <a:spcAft>
                <a:spcPts val="0"/>
              </a:spcAft>
              <a:buClr>
                <a:schemeClr val="dk1"/>
              </a:buClr>
              <a:buSzPts val="1100"/>
              <a:buFont typeface="Arial"/>
              <a:buNone/>
            </a:pPr>
            <a:r>
              <a:t/>
            </a:r>
            <a:endParaRPr sz="1700">
              <a:solidFill>
                <a:schemeClr val="dk1"/>
              </a:solidFill>
            </a:endParaRPr>
          </a:p>
          <a:p>
            <a:pPr indent="0" lvl="0" marL="0" marR="139700" rtl="0" algn="l">
              <a:lnSpc>
                <a:spcPct val="120000"/>
              </a:lnSpc>
              <a:spcBef>
                <a:spcPts val="0"/>
              </a:spcBef>
              <a:spcAft>
                <a:spcPts val="0"/>
              </a:spcAft>
              <a:buClr>
                <a:schemeClr val="dk1"/>
              </a:buClr>
              <a:buSzPts val="1100"/>
              <a:buFont typeface="Arial"/>
              <a:buNone/>
            </a:pPr>
            <a:r>
              <a:t/>
            </a:r>
            <a:endParaRPr sz="1100">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1800"/>
              </a:spcAft>
              <a:buSzPts val="2800"/>
              <a:buNone/>
            </a:pPr>
            <a:r>
              <a:t/>
            </a:r>
            <a:endParaRPr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marR="139700" rtl="0" algn="l">
              <a:lnSpc>
                <a:spcPct val="100000"/>
              </a:lnSpc>
              <a:spcBef>
                <a:spcPts val="0"/>
              </a:spcBef>
              <a:spcAft>
                <a:spcPts val="0"/>
              </a:spcAft>
              <a:buClr>
                <a:schemeClr val="dk1"/>
              </a:buClr>
              <a:buSzPts val="1100"/>
              <a:buFont typeface="Arial"/>
              <a:buNone/>
            </a:pPr>
            <a:r>
              <a:rPr b="1" lang="en" sz="2100">
                <a:solidFill>
                  <a:schemeClr val="dk1"/>
                </a:solidFill>
                <a:latin typeface="Times New Roman"/>
                <a:ea typeface="Times New Roman"/>
                <a:cs typeface="Times New Roman"/>
                <a:sym typeface="Times New Roman"/>
              </a:rPr>
              <a:t>Built-in module</a:t>
            </a:r>
            <a:endParaRPr b="1" sz="2100">
              <a:solidFill>
                <a:schemeClr val="dk1"/>
              </a:solidFill>
              <a:latin typeface="Times New Roman"/>
              <a:ea typeface="Times New Roman"/>
              <a:cs typeface="Times New Roman"/>
              <a:sym typeface="Times New Roman"/>
            </a:endParaRPr>
          </a:p>
          <a:p>
            <a:pPr indent="0" lvl="0" marL="0" marR="139700" rtl="0" algn="l">
              <a:lnSpc>
                <a:spcPct val="100000"/>
              </a:lnSpc>
              <a:spcBef>
                <a:spcPts val="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#Import specific functions from a module</a:t>
            </a:r>
            <a:endParaRPr sz="21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Sometimes you may only need to use one or a few functions from a module, rather than importing the entire module. To do this, you can use the from ... import syntax to import specific functions from the module.</a:t>
            </a:r>
            <a:endParaRPr sz="21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from math import sqrt</a:t>
            </a:r>
            <a:endParaRPr sz="21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 Now you can use the sqrt() function directly</a:t>
            </a:r>
            <a:endParaRPr sz="21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print(sqrt(36))  </a:t>
            </a:r>
            <a:endParaRPr sz="2100">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Output</a:t>
            </a:r>
            <a:endParaRPr sz="2100">
              <a:solidFill>
                <a:schemeClr val="dk1"/>
              </a:solidFill>
              <a:latin typeface="Times New Roman"/>
              <a:ea typeface="Times New Roman"/>
              <a:cs typeface="Times New Roman"/>
              <a:sym typeface="Times New Roman"/>
            </a:endParaRPr>
          </a:p>
          <a:p>
            <a:pPr indent="0" lvl="0" marL="139700" marR="139700" rtl="0" algn="l">
              <a:lnSpc>
                <a:spcPct val="100000"/>
              </a:lnSpc>
              <a:spcBef>
                <a:spcPts val="4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6.0</a:t>
            </a:r>
            <a:endParaRPr sz="21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dk1"/>
              </a:buClr>
              <a:buSzPts val="1100"/>
              <a:buFont typeface="Arial"/>
              <a:buNone/>
            </a:pPr>
            <a:r>
              <a:t/>
            </a:r>
            <a:endParaRPr sz="2100">
              <a:solidFill>
                <a:schemeClr val="dk1"/>
              </a:solidFill>
              <a:latin typeface="Times New Roman"/>
              <a:ea typeface="Times New Roman"/>
              <a:cs typeface="Times New Roman"/>
              <a:sym typeface="Times New Roman"/>
            </a:endParaRPr>
          </a:p>
          <a:p>
            <a:pPr indent="0" lvl="0" marL="0" marR="139700" rtl="0" algn="l">
              <a:lnSpc>
                <a:spcPct val="100000"/>
              </a:lnSpc>
              <a:spcBef>
                <a:spcPts val="1200"/>
              </a:spcBef>
              <a:spcAft>
                <a:spcPts val="0"/>
              </a:spcAft>
              <a:buClr>
                <a:schemeClr val="dk1"/>
              </a:buClr>
              <a:buSzPts val="1100"/>
              <a:buFont typeface="Arial"/>
              <a:buNone/>
            </a:pPr>
            <a:r>
              <a:t/>
            </a:r>
            <a:endParaRPr sz="2100">
              <a:solidFill>
                <a:schemeClr val="dk1"/>
              </a:solidFill>
              <a:latin typeface="Times New Roman"/>
              <a:ea typeface="Times New Roman"/>
              <a:cs typeface="Times New Roman"/>
              <a:sym typeface="Times New Roman"/>
            </a:endParaRPr>
          </a:p>
          <a:p>
            <a:pPr indent="0" lvl="0" marL="0" marR="139700" rtl="0" algn="l">
              <a:lnSpc>
                <a:spcPct val="100000"/>
              </a:lnSpc>
              <a:spcBef>
                <a:spcPts val="0"/>
              </a:spcBef>
              <a:spcAft>
                <a:spcPts val="0"/>
              </a:spcAft>
              <a:buClr>
                <a:schemeClr val="dk1"/>
              </a:buClr>
              <a:buSzPts val="1100"/>
              <a:buFont typeface="Arial"/>
              <a:buNone/>
            </a:pPr>
            <a:r>
              <a:t/>
            </a:r>
            <a:endParaRPr sz="2100">
              <a:solidFill>
                <a:srgbClr val="F8F8F2"/>
              </a:solidFill>
              <a:highlight>
                <a:srgbClr val="272822"/>
              </a:highlight>
              <a:latin typeface="Times New Roman"/>
              <a:ea typeface="Times New Roman"/>
              <a:cs typeface="Times New Roman"/>
              <a:sym typeface="Times New Roman"/>
            </a:endParaRPr>
          </a:p>
          <a:p>
            <a:pPr indent="0" lvl="0" marL="0" marR="0" rtl="0" algn="l">
              <a:lnSpc>
                <a:spcPct val="100000"/>
              </a:lnSpc>
              <a:spcBef>
                <a:spcPts val="0"/>
              </a:spcBef>
              <a:spcAft>
                <a:spcPts val="1800"/>
              </a:spcAft>
              <a:buSzPts val="2800"/>
              <a:buNone/>
            </a:pPr>
            <a:r>
              <a:t/>
            </a:r>
            <a:endParaRPr sz="2100">
              <a:solidFill>
                <a:srgbClr val="FFFFFF"/>
              </a:solidFill>
              <a:highlight>
                <a:srgbClr val="131417"/>
              </a:highlight>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139700" rtl="0" algn="l">
              <a:lnSpc>
                <a:spcPct val="120000"/>
              </a:lnSpc>
              <a:spcBef>
                <a:spcPts val="0"/>
              </a:spcBef>
              <a:spcAft>
                <a:spcPts val="0"/>
              </a:spcAft>
              <a:buClr>
                <a:schemeClr val="dk1"/>
              </a:buClr>
              <a:buSzPts val="1100"/>
              <a:buFont typeface="Arial"/>
              <a:buNone/>
            </a:pPr>
            <a:r>
              <a:rPr b="1" lang="en" sz="1900">
                <a:solidFill>
                  <a:srgbClr val="006699"/>
                </a:solidFill>
                <a:highlight>
                  <a:srgbClr val="FFFFFF"/>
                </a:highlight>
                <a:latin typeface="Times New Roman"/>
                <a:ea typeface="Times New Roman"/>
                <a:cs typeface="Times New Roman"/>
                <a:sym typeface="Times New Roman"/>
              </a:rPr>
              <a:t>from</a:t>
            </a:r>
            <a:r>
              <a:rPr lang="en" sz="1900">
                <a:solidFill>
                  <a:srgbClr val="273239"/>
                </a:solidFill>
                <a:highlight>
                  <a:srgbClr val="FFFFFF"/>
                </a:highlight>
                <a:latin typeface="Times New Roman"/>
                <a:ea typeface="Times New Roman"/>
                <a:cs typeface="Times New Roman"/>
                <a:sym typeface="Times New Roman"/>
              </a:rPr>
              <a:t> </a:t>
            </a:r>
            <a:r>
              <a:rPr lang="en" sz="1900">
                <a:solidFill>
                  <a:schemeClr val="dk1"/>
                </a:solidFill>
                <a:highlight>
                  <a:srgbClr val="FFFFFF"/>
                </a:highlight>
                <a:latin typeface="Times New Roman"/>
                <a:ea typeface="Times New Roman"/>
                <a:cs typeface="Times New Roman"/>
                <a:sym typeface="Times New Roman"/>
              </a:rPr>
              <a:t>math </a:t>
            </a:r>
            <a:r>
              <a:rPr b="1" lang="en" sz="1900">
                <a:solidFill>
                  <a:srgbClr val="006699"/>
                </a:solidFill>
                <a:highlight>
                  <a:srgbClr val="FFFFFF"/>
                </a:highlight>
                <a:latin typeface="Times New Roman"/>
                <a:ea typeface="Times New Roman"/>
                <a:cs typeface="Times New Roman"/>
                <a:sym typeface="Times New Roman"/>
              </a:rPr>
              <a:t>import</a:t>
            </a:r>
            <a:r>
              <a:rPr lang="en" sz="1900">
                <a:solidFill>
                  <a:srgbClr val="273239"/>
                </a:solidFill>
                <a:highlight>
                  <a:srgbClr val="FFFFFF"/>
                </a:highlight>
                <a:latin typeface="Times New Roman"/>
                <a:ea typeface="Times New Roman"/>
                <a:cs typeface="Times New Roman"/>
                <a:sym typeface="Times New Roman"/>
              </a:rPr>
              <a:t> </a:t>
            </a:r>
            <a:r>
              <a:rPr lang="en" sz="1900">
                <a:solidFill>
                  <a:schemeClr val="dk1"/>
                </a:solidFill>
                <a:highlight>
                  <a:srgbClr val="FFFFFF"/>
                </a:highlight>
                <a:latin typeface="Times New Roman"/>
                <a:ea typeface="Times New Roman"/>
                <a:cs typeface="Times New Roman"/>
                <a:sym typeface="Times New Roman"/>
              </a:rPr>
              <a:t>sqrt, factorial</a:t>
            </a:r>
            <a:endParaRPr sz="19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900">
                <a:solidFill>
                  <a:srgbClr val="273239"/>
                </a:solidFill>
                <a:highlight>
                  <a:srgbClr val="FFFFFF"/>
                </a:highlight>
                <a:latin typeface="Times New Roman"/>
                <a:ea typeface="Times New Roman"/>
                <a:cs typeface="Times New Roman"/>
                <a:sym typeface="Times New Roman"/>
              </a:rPr>
              <a:t> </a:t>
            </a:r>
            <a:endParaRPr sz="1900">
              <a:solidFill>
                <a:srgbClr val="273239"/>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900">
                <a:solidFill>
                  <a:srgbClr val="008200"/>
                </a:solidFill>
                <a:highlight>
                  <a:srgbClr val="FFFFFF"/>
                </a:highlight>
                <a:latin typeface="Times New Roman"/>
                <a:ea typeface="Times New Roman"/>
                <a:cs typeface="Times New Roman"/>
                <a:sym typeface="Times New Roman"/>
              </a:rPr>
              <a:t># if we simply do "import math", then</a:t>
            </a:r>
            <a:endParaRPr sz="1900">
              <a:solidFill>
                <a:srgbClr val="0082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900">
                <a:solidFill>
                  <a:srgbClr val="008200"/>
                </a:solidFill>
                <a:highlight>
                  <a:srgbClr val="FFFFFF"/>
                </a:highlight>
                <a:latin typeface="Times New Roman"/>
                <a:ea typeface="Times New Roman"/>
                <a:cs typeface="Times New Roman"/>
                <a:sym typeface="Times New Roman"/>
              </a:rPr>
              <a:t># math.sqrt(16) and math.factorial()</a:t>
            </a:r>
            <a:endParaRPr sz="1900">
              <a:solidFill>
                <a:srgbClr val="0082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900">
                <a:solidFill>
                  <a:srgbClr val="008200"/>
                </a:solidFill>
                <a:highlight>
                  <a:srgbClr val="FFFFFF"/>
                </a:highlight>
                <a:latin typeface="Times New Roman"/>
                <a:ea typeface="Times New Roman"/>
                <a:cs typeface="Times New Roman"/>
                <a:sym typeface="Times New Roman"/>
              </a:rPr>
              <a:t># are required.</a:t>
            </a:r>
            <a:endParaRPr sz="1900">
              <a:solidFill>
                <a:srgbClr val="008200"/>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b="1" lang="en" sz="1900">
                <a:solidFill>
                  <a:srgbClr val="006699"/>
                </a:solidFill>
                <a:highlight>
                  <a:srgbClr val="FFFFFF"/>
                </a:highlight>
                <a:latin typeface="Times New Roman"/>
                <a:ea typeface="Times New Roman"/>
                <a:cs typeface="Times New Roman"/>
                <a:sym typeface="Times New Roman"/>
              </a:rPr>
              <a:t>print</a:t>
            </a:r>
            <a:r>
              <a:rPr lang="en" sz="1900">
                <a:solidFill>
                  <a:schemeClr val="dk1"/>
                </a:solidFill>
                <a:highlight>
                  <a:srgbClr val="FFFFFF"/>
                </a:highlight>
                <a:latin typeface="Times New Roman"/>
                <a:ea typeface="Times New Roman"/>
                <a:cs typeface="Times New Roman"/>
                <a:sym typeface="Times New Roman"/>
              </a:rPr>
              <a:t>(sqrt(</a:t>
            </a:r>
            <a:r>
              <a:rPr lang="en" sz="1900">
                <a:solidFill>
                  <a:srgbClr val="009900"/>
                </a:solidFill>
                <a:highlight>
                  <a:srgbClr val="FFFFFF"/>
                </a:highlight>
                <a:latin typeface="Times New Roman"/>
                <a:ea typeface="Times New Roman"/>
                <a:cs typeface="Times New Roman"/>
                <a:sym typeface="Times New Roman"/>
              </a:rPr>
              <a:t>16</a:t>
            </a:r>
            <a:r>
              <a:rPr lang="en" sz="1900">
                <a:solidFill>
                  <a:schemeClr val="dk1"/>
                </a:solidFill>
                <a:highlight>
                  <a:srgbClr val="FFFFFF"/>
                </a:highlight>
                <a:latin typeface="Times New Roman"/>
                <a:ea typeface="Times New Roman"/>
                <a:cs typeface="Times New Roman"/>
                <a:sym typeface="Times New Roman"/>
              </a:rPr>
              <a:t>))</a:t>
            </a:r>
            <a:endParaRPr sz="1900">
              <a:solidFill>
                <a:schemeClr val="dk1"/>
              </a:solidFill>
              <a:highlight>
                <a:srgbClr val="FFFFFF"/>
              </a:highlight>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b="1" lang="en" sz="1900">
                <a:solidFill>
                  <a:srgbClr val="006699"/>
                </a:solidFill>
                <a:highlight>
                  <a:srgbClr val="FFFFFF"/>
                </a:highlight>
                <a:latin typeface="Times New Roman"/>
                <a:ea typeface="Times New Roman"/>
                <a:cs typeface="Times New Roman"/>
                <a:sym typeface="Times New Roman"/>
              </a:rPr>
              <a:t>print</a:t>
            </a:r>
            <a:r>
              <a:rPr lang="en" sz="1900">
                <a:solidFill>
                  <a:schemeClr val="dk1"/>
                </a:solidFill>
                <a:highlight>
                  <a:srgbClr val="FFFFFF"/>
                </a:highlight>
                <a:latin typeface="Times New Roman"/>
                <a:ea typeface="Times New Roman"/>
                <a:cs typeface="Times New Roman"/>
                <a:sym typeface="Times New Roman"/>
              </a:rPr>
              <a:t>(factorial(</a:t>
            </a:r>
            <a:r>
              <a:rPr lang="en" sz="1900">
                <a:solidFill>
                  <a:srgbClr val="009900"/>
                </a:solidFill>
                <a:highlight>
                  <a:srgbClr val="FFFFFF"/>
                </a:highlight>
                <a:latin typeface="Times New Roman"/>
                <a:ea typeface="Times New Roman"/>
                <a:cs typeface="Times New Roman"/>
                <a:sym typeface="Times New Roman"/>
              </a:rPr>
              <a:t>6</a:t>
            </a:r>
            <a:r>
              <a:rPr lang="en" sz="1900">
                <a:solidFill>
                  <a:schemeClr val="dk1"/>
                </a:solidFill>
                <a:highlight>
                  <a:srgbClr val="FFFFFF"/>
                </a:highlight>
                <a:latin typeface="Times New Roman"/>
                <a:ea typeface="Times New Roman"/>
                <a:cs typeface="Times New Roman"/>
                <a:sym typeface="Times New Roman"/>
              </a:rPr>
              <a:t>))</a:t>
            </a:r>
            <a:endParaRPr sz="19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SzPts val="2800"/>
              <a:buNone/>
            </a:pPr>
            <a:r>
              <a:t/>
            </a:r>
            <a:endParaRPr sz="1900">
              <a:solidFill>
                <a:schemeClr val="dk1"/>
              </a:solidFill>
              <a:latin typeface="Times New Roman"/>
              <a:ea typeface="Times New Roman"/>
              <a:cs typeface="Times New Roman"/>
              <a:sym typeface="Times New Roman"/>
            </a:endParaRPr>
          </a:p>
          <a:p>
            <a:pPr indent="0" lvl="0" marL="0" rtl="0" algn="just">
              <a:lnSpc>
                <a:spcPct val="115000"/>
              </a:lnSpc>
              <a:spcBef>
                <a:spcPts val="1800"/>
              </a:spcBef>
              <a:spcAft>
                <a:spcPts val="0"/>
              </a:spcAft>
              <a:buClr>
                <a:schemeClr val="dk1"/>
              </a:buClr>
              <a:buSzPts val="1100"/>
              <a:buFont typeface="Arial"/>
              <a:buNone/>
            </a:pPr>
            <a:r>
              <a:rPr lang="en" sz="1900">
                <a:solidFill>
                  <a:schemeClr val="dk1"/>
                </a:solidFill>
                <a:highlight>
                  <a:srgbClr val="FFFFFF"/>
                </a:highlight>
                <a:latin typeface="Times New Roman"/>
                <a:ea typeface="Times New Roman"/>
                <a:cs typeface="Times New Roman"/>
                <a:sym typeface="Times New Roman"/>
              </a:rPr>
              <a:t>Output: </a:t>
            </a:r>
            <a:endParaRPr sz="1900">
              <a:solidFill>
                <a:schemeClr val="dk1"/>
              </a:solidFill>
              <a:highlight>
                <a:srgbClr val="FFFFFF"/>
              </a:highlight>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rPr lang="en" sz="1900">
                <a:solidFill>
                  <a:schemeClr val="dk1"/>
                </a:solidFill>
                <a:highlight>
                  <a:srgbClr val="FFFFFF"/>
                </a:highlight>
                <a:latin typeface="Times New Roman"/>
                <a:ea typeface="Times New Roman"/>
                <a:cs typeface="Times New Roman"/>
                <a:sym typeface="Times New Roman"/>
              </a:rPr>
              <a:t>4.0</a:t>
            </a:r>
            <a:endParaRPr sz="1900">
              <a:solidFill>
                <a:schemeClr val="dk1"/>
              </a:solidFill>
              <a:highlight>
                <a:srgbClr val="FFFFFF"/>
              </a:highlight>
              <a:latin typeface="Times New Roman"/>
              <a:ea typeface="Times New Roman"/>
              <a:cs typeface="Times New Roman"/>
              <a:sym typeface="Times New Roman"/>
            </a:endParaRPr>
          </a:p>
          <a:p>
            <a:pPr indent="0" lvl="0" marL="190500" marR="190500" rtl="0" algn="l">
              <a:lnSpc>
                <a:spcPct val="115000"/>
              </a:lnSpc>
              <a:spcBef>
                <a:spcPts val="800"/>
              </a:spcBef>
              <a:spcAft>
                <a:spcPts val="0"/>
              </a:spcAft>
              <a:buClr>
                <a:schemeClr val="dk1"/>
              </a:buClr>
              <a:buSzPts val="1100"/>
              <a:buFont typeface="Arial"/>
              <a:buNone/>
            </a:pPr>
            <a:r>
              <a:rPr lang="en" sz="1900">
                <a:solidFill>
                  <a:schemeClr val="dk1"/>
                </a:solidFill>
                <a:highlight>
                  <a:srgbClr val="FFFFFF"/>
                </a:highlight>
                <a:latin typeface="Times New Roman"/>
                <a:ea typeface="Times New Roman"/>
                <a:cs typeface="Times New Roman"/>
                <a:sym typeface="Times New Roman"/>
              </a:rPr>
              <a:t>720</a:t>
            </a:r>
            <a:endParaRPr sz="19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800"/>
              </a:spcBef>
              <a:spcAft>
                <a:spcPts val="1800"/>
              </a:spcAft>
              <a:buSzPts val="2800"/>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4"/>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30000"/>
              </a:lnSpc>
              <a:spcBef>
                <a:spcPts val="0"/>
              </a:spcBef>
              <a:spcAft>
                <a:spcPts val="0"/>
              </a:spcAft>
              <a:buClr>
                <a:schemeClr val="dk1"/>
              </a:buClr>
              <a:buSzPts val="1100"/>
              <a:buFont typeface="Arial"/>
              <a:buNone/>
            </a:pPr>
            <a:r>
              <a:rPr lang="en" sz="2350">
                <a:solidFill>
                  <a:srgbClr val="444444"/>
                </a:solidFill>
                <a:highlight>
                  <a:srgbClr val="FFFFFF"/>
                </a:highlight>
                <a:latin typeface="Georgia"/>
                <a:ea typeface="Georgia"/>
                <a:cs typeface="Georgia"/>
                <a:sym typeface="Georgia"/>
              </a:rPr>
              <a:t>Using from…import statement</a:t>
            </a:r>
            <a:endParaRPr sz="2350">
              <a:solidFill>
                <a:srgbClr val="444444"/>
              </a:solidFill>
              <a:highlight>
                <a:srgbClr val="FFFFFF"/>
              </a:highlight>
              <a:latin typeface="Georgia"/>
              <a:ea typeface="Georgia"/>
              <a:cs typeface="Georgia"/>
              <a:sym typeface="Georgia"/>
            </a:endParaRPr>
          </a:p>
          <a:p>
            <a:pPr indent="0" lvl="0" marL="0" rtl="0" algn="l">
              <a:lnSpc>
                <a:spcPct val="100000"/>
              </a:lnSpc>
              <a:spcBef>
                <a:spcPts val="110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You can import a specific function, class, or attribute from a module rather than importing the entire module. Follow the syntax below,</a:t>
            </a:r>
            <a:endParaRPr sz="1800">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00000"/>
              </a:lnSpc>
              <a:spcBef>
                <a:spcPts val="23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from &lt;modulename&gt; import &lt;function&gt;</a:t>
            </a:r>
            <a:endParaRPr sz="1800">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00000"/>
              </a:lnSpc>
              <a:spcBef>
                <a:spcPts val="2300"/>
              </a:spcBef>
              <a:spcAft>
                <a:spcPts val="0"/>
              </a:spcAft>
              <a:buSzPts val="2800"/>
              <a:buNone/>
            </a:pPr>
            <a:r>
              <a:rPr lang="en" sz="2025">
                <a:solidFill>
                  <a:srgbClr val="444444"/>
                </a:solidFill>
                <a:highlight>
                  <a:srgbClr val="FFFFFF"/>
                </a:highlight>
                <a:latin typeface="Times New Roman"/>
                <a:ea typeface="Times New Roman"/>
                <a:cs typeface="Times New Roman"/>
                <a:sym typeface="Times New Roman"/>
              </a:rPr>
              <a:t>example:</a:t>
            </a:r>
            <a:endParaRPr sz="2025">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00000"/>
              </a:lnSpc>
              <a:spcBef>
                <a:spcPts val="0"/>
              </a:spcBef>
              <a:spcAft>
                <a:spcPts val="0"/>
              </a:spcAft>
              <a:buSzPts val="2800"/>
              <a:buNone/>
            </a:pPr>
            <a:r>
              <a:rPr lang="en" sz="2025">
                <a:solidFill>
                  <a:srgbClr val="444444"/>
                </a:solidFill>
                <a:highlight>
                  <a:srgbClr val="FFFFFF"/>
                </a:highlight>
                <a:latin typeface="Times New Roman"/>
                <a:ea typeface="Times New Roman"/>
                <a:cs typeface="Times New Roman"/>
                <a:sym typeface="Times New Roman"/>
              </a:rPr>
              <a:t>from random import randint</a:t>
            </a:r>
            <a:endParaRPr sz="2025">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00000"/>
              </a:lnSpc>
              <a:spcBef>
                <a:spcPts val="0"/>
              </a:spcBef>
              <a:spcAft>
                <a:spcPts val="0"/>
              </a:spcAft>
              <a:buSzPts val="2800"/>
              <a:buNone/>
            </a:pPr>
            <a:r>
              <a:rPr lang="en" sz="2025">
                <a:solidFill>
                  <a:srgbClr val="444444"/>
                </a:solidFill>
                <a:highlight>
                  <a:srgbClr val="FFFFFF"/>
                </a:highlight>
                <a:latin typeface="Times New Roman"/>
                <a:ea typeface="Times New Roman"/>
                <a:cs typeface="Times New Roman"/>
                <a:sym typeface="Times New Roman"/>
              </a:rPr>
              <a:t>&gt;&gt;&gt; randint(20, 100)</a:t>
            </a:r>
            <a:endParaRPr sz="2025">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50000"/>
              </a:lnSpc>
              <a:spcBef>
                <a:spcPts val="0"/>
              </a:spcBef>
              <a:spcAft>
                <a:spcPts val="0"/>
              </a:spcAft>
              <a:buSzPts val="2800"/>
              <a:buNone/>
            </a:pPr>
            <a:r>
              <a:rPr lang="en" sz="2025">
                <a:solidFill>
                  <a:srgbClr val="444444"/>
                </a:solidFill>
                <a:highlight>
                  <a:srgbClr val="FFFFFF"/>
                </a:highlight>
                <a:latin typeface="Times New Roman"/>
                <a:ea typeface="Times New Roman"/>
                <a:cs typeface="Times New Roman"/>
                <a:sym typeface="Times New Roman"/>
              </a:rPr>
              <a:t>69</a:t>
            </a:r>
            <a:endParaRPr sz="2025">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00000"/>
              </a:lnSpc>
              <a:spcBef>
                <a:spcPts val="0"/>
              </a:spcBef>
              <a:spcAft>
                <a:spcPts val="0"/>
              </a:spcAft>
              <a:buClr>
                <a:schemeClr val="dk1"/>
              </a:buClr>
              <a:buSzPts val="1100"/>
              <a:buFont typeface="Arial"/>
              <a:buNone/>
            </a:pPr>
            <a:r>
              <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1800"/>
              </a:spcAft>
              <a:buSzPts val="2800"/>
              <a:buNone/>
            </a:pPr>
            <a:r>
              <a:t/>
            </a:r>
            <a:endParaRPr b="1" sz="1900">
              <a:solidFill>
                <a:srgbClr val="00669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You can also import multiple attributes and functions from a module:</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&gt;&gt;&gt; from math import pi, sqrt</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&gt;&gt;&gt; print(3 * pi)</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9.42477796076938</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&gt;&gt;&gt; print(sqrt(100))</a:t>
            </a:r>
            <a:endParaRPr sz="1800">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50000"/>
              </a:lnSpc>
              <a:spcBef>
                <a:spcPts val="230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10.0</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2300"/>
              </a:spcBef>
              <a:spcAft>
                <a:spcPts val="1800"/>
              </a:spcAft>
              <a:buSzPts val="2800"/>
              <a:buNone/>
            </a:pPr>
            <a:r>
              <a:t/>
            </a:r>
            <a:endParaRPr sz="1800">
              <a:solidFill>
                <a:srgbClr val="444444"/>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Importing everything from Python module</a:t>
            </a:r>
            <a:endParaRPr sz="1800">
              <a:solidFill>
                <a:srgbClr val="444444"/>
              </a:solidFill>
              <a:highlight>
                <a:srgbClr val="FFFFFF"/>
              </a:highlight>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If we need to import everything from a module and we don’t want to use the dot operator, do this:</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&gt;&gt;&gt; from math import *</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&gt;&gt;&gt; print(3 * pi)</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9.42477796076938</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&gt;&gt;&gt; print(sqrt(100))</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800">
                <a:solidFill>
                  <a:srgbClr val="444444"/>
                </a:solidFill>
                <a:highlight>
                  <a:srgbClr val="FFFFFF"/>
                </a:highlight>
                <a:latin typeface="Times New Roman"/>
                <a:ea typeface="Times New Roman"/>
                <a:cs typeface="Times New Roman"/>
                <a:sym typeface="Times New Roman"/>
              </a:rPr>
              <a:t>10.0</a:t>
            </a:r>
            <a:endParaRPr sz="1800">
              <a:solidFill>
                <a:srgbClr val="444444"/>
              </a:solidFill>
              <a:highlight>
                <a:srgbClr val="FFFFFF"/>
              </a:highlight>
              <a:latin typeface="Times New Roman"/>
              <a:ea typeface="Times New Roman"/>
              <a:cs typeface="Times New Roman"/>
              <a:sym typeface="Times New Roman"/>
            </a:endParaRPr>
          </a:p>
          <a:p>
            <a:pPr indent="0" lvl="0" marL="190500" marR="190500" rtl="0" algn="l">
              <a:lnSpc>
                <a:spcPct val="150000"/>
              </a:lnSpc>
              <a:spcBef>
                <a:spcPts val="2300"/>
              </a:spcBef>
              <a:spcAft>
                <a:spcPts val="0"/>
              </a:spcAft>
              <a:buClr>
                <a:schemeClr val="dk1"/>
              </a:buClr>
              <a:buSzPts val="1100"/>
              <a:buFont typeface="Arial"/>
              <a:buNone/>
            </a:pPr>
            <a:r>
              <a:rPr lang="en" sz="1800">
                <a:solidFill>
                  <a:srgbClr val="444444"/>
                </a:solidFill>
                <a:highlight>
                  <a:srgbClr val="FFFFFF"/>
                </a:highlight>
                <a:latin typeface="Times New Roman"/>
                <a:ea typeface="Times New Roman"/>
                <a:cs typeface="Times New Roman"/>
                <a:sym typeface="Times New Roman"/>
              </a:rPr>
              <a:t>&gt;&gt;&gt;</a:t>
            </a:r>
            <a:endParaRPr sz="1800">
              <a:solidFill>
                <a:srgbClr val="44444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2300"/>
              </a:spcBef>
              <a:spcAft>
                <a:spcPts val="1800"/>
              </a:spcAft>
              <a:buSzPts val="2800"/>
              <a:buNone/>
            </a:pPr>
            <a:r>
              <a:t/>
            </a:r>
            <a:endParaRPr sz="1800">
              <a:solidFill>
                <a:srgbClr val="444444"/>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7"/>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2400"/>
              </a:spcBef>
              <a:spcAft>
                <a:spcPts val="0"/>
              </a:spcAft>
              <a:buClr>
                <a:schemeClr val="dk1"/>
              </a:buClr>
              <a:buSzPts val="1100"/>
              <a:buFont typeface="Arial"/>
              <a:buNone/>
            </a:pPr>
            <a:r>
              <a:rPr b="1" lang="en" sz="1800">
                <a:solidFill>
                  <a:srgbClr val="181717"/>
                </a:solidFill>
                <a:highlight>
                  <a:srgbClr val="FFFFFF"/>
                </a:highlight>
                <a:latin typeface="Times New Roman"/>
                <a:ea typeface="Times New Roman"/>
                <a:cs typeface="Times New Roman"/>
                <a:sym typeface="Times New Roman"/>
              </a:rPr>
              <a:t>Python Module Attributes: name, doc, file, dict</a:t>
            </a:r>
            <a:endParaRPr b="1" sz="1800">
              <a:solidFill>
                <a:srgbClr val="181717"/>
              </a:solidFill>
              <a:highlight>
                <a:srgbClr val="FFFFFF"/>
              </a:highlight>
              <a:latin typeface="Times New Roman"/>
              <a:ea typeface="Times New Roman"/>
              <a:cs typeface="Times New Roman"/>
              <a:sym typeface="Times New Roman"/>
            </a:endParaRPr>
          </a:p>
          <a:p>
            <a:pPr indent="0" lvl="0" marL="0" marR="0" rtl="0" algn="l">
              <a:lnSpc>
                <a:spcPct val="100000"/>
              </a:lnSpc>
              <a:spcBef>
                <a:spcPts val="600"/>
              </a:spcBef>
              <a:spcAft>
                <a:spcPts val="0"/>
              </a:spcAft>
              <a:buSzPts val="2800"/>
              <a:buNone/>
            </a:pPr>
            <a:r>
              <a:rPr lang="en" sz="1800">
                <a:solidFill>
                  <a:srgbClr val="181717"/>
                </a:solidFill>
                <a:highlight>
                  <a:srgbClr val="FFFFFF"/>
                </a:highlight>
                <a:latin typeface="Times New Roman"/>
                <a:ea typeface="Times New Roman"/>
                <a:cs typeface="Times New Roman"/>
                <a:sym typeface="Times New Roman"/>
              </a:rPr>
              <a:t>Python module has its attributes that describes it. Attributes perform some tasks or contain some information about the module. Some of the important attributes are</a:t>
            </a:r>
            <a:endParaRPr sz="1800">
              <a:solidFill>
                <a:srgbClr val="181717"/>
              </a:solidFill>
              <a:highlight>
                <a:srgbClr val="FFFFFF"/>
              </a:highlight>
              <a:latin typeface="Times New Roman"/>
              <a:ea typeface="Times New Roman"/>
              <a:cs typeface="Times New Roman"/>
              <a:sym typeface="Times New Roman"/>
            </a:endParaRPr>
          </a:p>
          <a:p>
            <a:pPr indent="0" lvl="0" marL="0" rtl="0" algn="l">
              <a:lnSpc>
                <a:spcPct val="120000"/>
              </a:lnSpc>
              <a:spcBef>
                <a:spcPts val="1800"/>
              </a:spcBef>
              <a:spcAft>
                <a:spcPts val="0"/>
              </a:spcAft>
              <a:buClr>
                <a:schemeClr val="dk1"/>
              </a:buClr>
              <a:buSzPts val="1100"/>
              <a:buFont typeface="Arial"/>
              <a:buNone/>
            </a:pPr>
            <a:r>
              <a:rPr b="1" lang="en" sz="1800">
                <a:solidFill>
                  <a:srgbClr val="181717"/>
                </a:solidFill>
                <a:highlight>
                  <a:srgbClr val="FFFFFF"/>
                </a:highlight>
                <a:latin typeface="Times New Roman"/>
                <a:ea typeface="Times New Roman"/>
                <a:cs typeface="Times New Roman"/>
                <a:sym typeface="Times New Roman"/>
              </a:rPr>
              <a:t>__name__ Attribute</a:t>
            </a:r>
            <a:endParaRPr b="1" sz="1800">
              <a:solidFill>
                <a:srgbClr val="181717"/>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0"/>
              </a:spcAft>
              <a:buClr>
                <a:schemeClr val="dk1"/>
              </a:buClr>
              <a:buSzPts val="1100"/>
              <a:buFont typeface="Arial"/>
              <a:buNone/>
            </a:pPr>
            <a:r>
              <a:rPr lang="en" sz="1800">
                <a:solidFill>
                  <a:srgbClr val="181717"/>
                </a:solidFill>
                <a:highlight>
                  <a:srgbClr val="FFFFFF"/>
                </a:highlight>
                <a:latin typeface="Times New Roman"/>
                <a:ea typeface="Times New Roman"/>
                <a:cs typeface="Times New Roman"/>
                <a:sym typeface="Times New Roman"/>
              </a:rPr>
              <a:t>The </a:t>
            </a:r>
            <a:r>
              <a:rPr lang="en" sz="1800">
                <a:solidFill>
                  <a:schemeClr val="dk1"/>
                </a:solidFill>
                <a:highlight>
                  <a:srgbClr val="D9E5F3"/>
                </a:highlight>
                <a:latin typeface="Times New Roman"/>
                <a:ea typeface="Times New Roman"/>
                <a:cs typeface="Times New Roman"/>
                <a:sym typeface="Times New Roman"/>
              </a:rPr>
              <a:t>__name__</a:t>
            </a:r>
            <a:r>
              <a:rPr lang="en" sz="1800">
                <a:solidFill>
                  <a:srgbClr val="181717"/>
                </a:solidFill>
                <a:highlight>
                  <a:srgbClr val="FFFFFF"/>
                </a:highlight>
                <a:latin typeface="Times New Roman"/>
                <a:ea typeface="Times New Roman"/>
                <a:cs typeface="Times New Roman"/>
                <a:sym typeface="Times New Roman"/>
              </a:rPr>
              <a:t> attribute returns the name of the module. By default, the name of the file (excluding the extension .py) is the value of __name__attribute.</a:t>
            </a:r>
            <a:endParaRPr sz="1800">
              <a:solidFill>
                <a:srgbClr val="181717"/>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0"/>
              </a:spcAft>
              <a:buClr>
                <a:schemeClr val="dk1"/>
              </a:buClr>
              <a:buSzPts val="1100"/>
              <a:buFont typeface="Arial"/>
              <a:buNone/>
            </a:pPr>
            <a:r>
              <a:rPr lang="en" sz="1800">
                <a:solidFill>
                  <a:srgbClr val="3A3737"/>
                </a:solidFill>
                <a:highlight>
                  <a:srgbClr val="D8E5EE"/>
                </a:highlight>
                <a:latin typeface="Times New Roman"/>
                <a:ea typeface="Times New Roman"/>
                <a:cs typeface="Times New Roman"/>
                <a:sym typeface="Times New Roman"/>
              </a:rPr>
              <a:t>Example: __name__ Attribute</a:t>
            </a:r>
            <a:r>
              <a:rPr lang="en" sz="1800">
                <a:solidFill>
                  <a:srgbClr val="507590"/>
                </a:solidFill>
                <a:highlight>
                  <a:srgbClr val="D8E5EE"/>
                </a:highlight>
                <a:latin typeface="Times New Roman"/>
                <a:ea typeface="Times New Roman"/>
                <a:cs typeface="Times New Roman"/>
                <a:sym typeface="Times New Roman"/>
              </a:rPr>
              <a:t> Copy</a:t>
            </a:r>
            <a:endParaRPr sz="1800">
              <a:solidFill>
                <a:srgbClr val="507590"/>
              </a:solidFill>
              <a:highlight>
                <a:srgbClr val="D8E5EE"/>
              </a:highlight>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AutoNum type="arabicParenR"/>
            </a:pPr>
            <a:r>
              <a:rPr lang="en" sz="1800">
                <a:solidFill>
                  <a:schemeClr val="dk1"/>
                </a:solidFill>
                <a:highlight>
                  <a:srgbClr val="FFFFFF"/>
                </a:highlight>
                <a:latin typeface="Times New Roman"/>
                <a:ea typeface="Times New Roman"/>
                <a:cs typeface="Times New Roman"/>
                <a:sym typeface="Times New Roman"/>
              </a:rPr>
              <a:t>import math</a:t>
            </a:r>
            <a:endParaRPr sz="1800">
              <a:solidFill>
                <a:schemeClr val="dk1"/>
              </a:solidFill>
              <a:highlight>
                <a:srgbClr val="FFFFFF"/>
              </a:highlight>
              <a:latin typeface="Times New Roman"/>
              <a:ea typeface="Times New Roman"/>
              <a:cs typeface="Times New Roman"/>
              <a:sym typeface="Times New Roman"/>
            </a:endParaRPr>
          </a:p>
          <a:p>
            <a:pPr indent="0" lvl="0" marL="152400" marR="152400" rtl="0" algn="l">
              <a:lnSpc>
                <a:spcPct val="150000"/>
              </a:lnSpc>
              <a:spcBef>
                <a:spcPts val="180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print(math.__name__)  #'math'</a:t>
            </a:r>
            <a:endParaRPr sz="1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1800"/>
              </a:spcAft>
              <a:buSzPts val="2800"/>
              <a:buNone/>
            </a:pPr>
            <a:r>
              <a:t/>
            </a:r>
            <a:endParaRPr sz="1800">
              <a:solidFill>
                <a:srgbClr val="181717"/>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lang="en" sz="2400">
                <a:solidFill>
                  <a:schemeClr val="dk1"/>
                </a:solidFill>
                <a:highlight>
                  <a:srgbClr val="FFFFFF"/>
                </a:highlight>
                <a:latin typeface="Times New Roman"/>
                <a:ea typeface="Times New Roman"/>
                <a:cs typeface="Times New Roman"/>
                <a:sym typeface="Times New Roman"/>
              </a:rPr>
              <a:t>2) import calc </a:t>
            </a:r>
            <a:endParaRPr sz="2400">
              <a:solidFill>
                <a:schemeClr val="dk1"/>
              </a:solidFill>
              <a:highlight>
                <a:srgbClr val="FFFFFF"/>
              </a:highlight>
              <a:latin typeface="Times New Roman"/>
              <a:ea typeface="Times New Roman"/>
              <a:cs typeface="Times New Roman"/>
              <a:sym typeface="Times New Roman"/>
            </a:endParaRPr>
          </a:p>
          <a:p>
            <a:pPr indent="0" lvl="0" marL="152400" marR="152400" rtl="0" algn="l">
              <a:lnSpc>
                <a:spcPct val="150000"/>
              </a:lnSpc>
              <a:spcBef>
                <a:spcPts val="18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print(calc.__name__)  #'calc'</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SzPts val="2800"/>
              <a:buNone/>
            </a:pPr>
            <a:r>
              <a:t/>
            </a:r>
            <a:endParaRPr b="1" sz="1800">
              <a:solidFill>
                <a:srgbClr val="181717"/>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t/>
            </a:r>
            <a:endParaRPr b="1" sz="1800">
              <a:solidFill>
                <a:srgbClr val="181717"/>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9"/>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800"/>
              </a:spcBef>
              <a:spcAft>
                <a:spcPts val="0"/>
              </a:spcAft>
              <a:buClr>
                <a:schemeClr val="dk1"/>
              </a:buClr>
              <a:buSzPts val="1100"/>
              <a:buFont typeface="Arial"/>
              <a:buNone/>
            </a:pPr>
            <a:r>
              <a:rPr lang="en" sz="2000">
                <a:solidFill>
                  <a:schemeClr val="dk1"/>
                </a:solidFill>
                <a:highlight>
                  <a:srgbClr val="FFFFFF"/>
                </a:highlight>
                <a:latin typeface="Verdana"/>
                <a:ea typeface="Verdana"/>
                <a:cs typeface="Verdana"/>
                <a:sym typeface="Verdana"/>
              </a:rPr>
              <a:t>_</a:t>
            </a:r>
            <a:r>
              <a:rPr lang="en" sz="2000">
                <a:solidFill>
                  <a:schemeClr val="dk1"/>
                </a:solidFill>
                <a:highlight>
                  <a:srgbClr val="FFFFFF"/>
                </a:highlight>
                <a:latin typeface="Times New Roman"/>
                <a:ea typeface="Times New Roman"/>
                <a:cs typeface="Times New Roman"/>
                <a:sym typeface="Times New Roman"/>
              </a:rPr>
              <a:t>_doc__ Attribute</a:t>
            </a:r>
            <a:endParaRPr sz="2000">
              <a:solidFill>
                <a:schemeClr val="dk1"/>
              </a:solidFill>
              <a:highlight>
                <a:srgbClr val="FFFFFF"/>
              </a:highlight>
              <a:latin typeface="Times New Roman"/>
              <a:ea typeface="Times New Roman"/>
              <a:cs typeface="Times New Roman"/>
              <a:sym typeface="Times New Roman"/>
            </a:endParaRPr>
          </a:p>
          <a:p>
            <a:pPr indent="0" lvl="0" marL="0" rtl="0" algn="just">
              <a:lnSpc>
                <a:spcPct val="100000"/>
              </a:lnSpc>
              <a:spcBef>
                <a:spcPts val="18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The __doc__ attribute denotes the documentation string (docstring) line written in a module code.</a:t>
            </a:r>
            <a:endParaRPr sz="2000">
              <a:solidFill>
                <a:schemeClr val="dk1"/>
              </a:solidFill>
              <a:highlight>
                <a:srgbClr val="FFFFFF"/>
              </a:highlight>
              <a:latin typeface="Times New Roman"/>
              <a:ea typeface="Times New Roman"/>
              <a:cs typeface="Times New Roman"/>
              <a:sym typeface="Times New Roman"/>
            </a:endParaRPr>
          </a:p>
          <a:p>
            <a:pPr indent="0" lvl="0" marL="0" rtl="0" algn="just">
              <a:lnSpc>
                <a:spcPct val="100000"/>
              </a:lnSpc>
              <a:spcBef>
                <a:spcPts val="1800"/>
              </a:spcBef>
              <a:spcAft>
                <a:spcPts val="0"/>
              </a:spcAft>
              <a:buClr>
                <a:schemeClr val="dk1"/>
              </a:buClr>
              <a:buSzPts val="1100"/>
              <a:buFont typeface="Arial"/>
              <a:buNone/>
            </a:pPr>
            <a:r>
              <a:t/>
            </a:r>
            <a:endParaRPr sz="2000">
              <a:solidFill>
                <a:schemeClr val="dk1"/>
              </a:solidFill>
              <a:highlight>
                <a:srgbClr val="D8E5EE"/>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SzPts val="2800"/>
              <a:buNone/>
            </a:pPr>
            <a:r>
              <a:rPr lang="en" sz="2000">
                <a:solidFill>
                  <a:schemeClr val="dk1"/>
                </a:solidFill>
                <a:highlight>
                  <a:srgbClr val="FFFFFF"/>
                </a:highlight>
                <a:latin typeface="Times New Roman"/>
                <a:ea typeface="Times New Roman"/>
                <a:cs typeface="Times New Roman"/>
                <a:sym typeface="Times New Roman"/>
              </a:rPr>
              <a:t>import math  </a:t>
            </a:r>
            <a:endParaRPr sz="2000">
              <a:solidFill>
                <a:schemeClr val="dk1"/>
              </a:solidFill>
              <a:highlight>
                <a:srgbClr val="FFFFFF"/>
              </a:highlight>
              <a:latin typeface="Times New Roman"/>
              <a:ea typeface="Times New Roman"/>
              <a:cs typeface="Times New Roman"/>
              <a:sym typeface="Times New Roman"/>
            </a:endParaRPr>
          </a:p>
          <a:p>
            <a:pPr indent="0" lvl="0" marL="152400" marR="152400" rtl="0" algn="l">
              <a:lnSpc>
                <a:spcPct val="100000"/>
              </a:lnSpc>
              <a:spcBef>
                <a:spcPts val="1800"/>
              </a:spcBef>
              <a:spcAft>
                <a:spcPts val="0"/>
              </a:spcAft>
              <a:buSzPts val="2800"/>
              <a:buNone/>
            </a:pPr>
            <a:r>
              <a:rPr lang="en" sz="2000">
                <a:solidFill>
                  <a:schemeClr val="dk1"/>
                </a:solidFill>
                <a:highlight>
                  <a:srgbClr val="FFFFFF"/>
                </a:highlight>
                <a:latin typeface="Times New Roman"/>
                <a:ea typeface="Times New Roman"/>
                <a:cs typeface="Times New Roman"/>
                <a:sym typeface="Times New Roman"/>
              </a:rPr>
              <a:t>print(math.__doc__)</a:t>
            </a:r>
            <a:endParaRPr sz="2000">
              <a:solidFill>
                <a:schemeClr val="dk1"/>
              </a:solidFill>
              <a:highlight>
                <a:srgbClr val="FFFFFF"/>
              </a:highlight>
              <a:latin typeface="Times New Roman"/>
              <a:ea typeface="Times New Roman"/>
              <a:cs typeface="Times New Roman"/>
              <a:sym typeface="Times New Roman"/>
            </a:endParaRPr>
          </a:p>
          <a:p>
            <a:pPr indent="0" lvl="0" marL="152400" marR="152400" rtl="0" algn="l">
              <a:lnSpc>
                <a:spcPct val="100000"/>
              </a:lnSpc>
              <a:spcBef>
                <a:spcPts val="0"/>
              </a:spcBef>
              <a:spcAft>
                <a:spcPts val="0"/>
              </a:spcAft>
              <a:buSzPts val="2800"/>
              <a:buNone/>
            </a:pPr>
            <a:r>
              <a:rPr lang="en" sz="2000">
                <a:solidFill>
                  <a:schemeClr val="dk1"/>
                </a:solidFill>
                <a:highlight>
                  <a:srgbClr val="FFFFFF"/>
                </a:highlight>
                <a:latin typeface="Times New Roman"/>
                <a:ea typeface="Times New Roman"/>
                <a:cs typeface="Times New Roman"/>
                <a:sym typeface="Times New Roman"/>
              </a:rPr>
              <a:t>Output:</a:t>
            </a:r>
            <a:endParaRPr sz="1050">
              <a:solidFill>
                <a:schemeClr val="dk1"/>
              </a:solidFill>
              <a:highlight>
                <a:srgbClr val="FFFFFF"/>
              </a:highlight>
            </a:endParaRPr>
          </a:p>
          <a:p>
            <a:pPr indent="0" lvl="0" marL="152400" marR="152400" rtl="0" algn="l">
              <a:lnSpc>
                <a:spcPct val="100000"/>
              </a:lnSpc>
              <a:spcBef>
                <a:spcPts val="0"/>
              </a:spcBef>
              <a:spcAft>
                <a:spcPts val="0"/>
              </a:spcAft>
              <a:buSzPts val="2800"/>
              <a:buNone/>
            </a:pPr>
            <a:r>
              <a:rPr lang="en" sz="2000">
                <a:solidFill>
                  <a:schemeClr val="dk1"/>
                </a:solidFill>
                <a:highlight>
                  <a:srgbClr val="FFFFFF"/>
                </a:highlight>
                <a:latin typeface="Times New Roman"/>
                <a:ea typeface="Times New Roman"/>
                <a:cs typeface="Times New Roman"/>
                <a:sym typeface="Times New Roman"/>
              </a:rPr>
              <a:t>This module provides access to the mathematical functions</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SzPts val="2800"/>
              <a:buNone/>
            </a:pPr>
            <a:r>
              <a:rPr lang="en" sz="2000">
                <a:solidFill>
                  <a:schemeClr val="dk1"/>
                </a:solidFill>
                <a:highlight>
                  <a:srgbClr val="FFFFFF"/>
                </a:highlight>
                <a:latin typeface="Times New Roman"/>
                <a:ea typeface="Times New Roman"/>
                <a:cs typeface="Times New Roman"/>
                <a:sym typeface="Times New Roman"/>
              </a:rPr>
              <a:t>defined by the C standard.</a:t>
            </a:r>
            <a:endParaRPr sz="2000">
              <a:solidFill>
                <a:schemeClr val="dk1"/>
              </a:solidFill>
              <a:highlight>
                <a:srgbClr val="FFFFFF"/>
              </a:highlight>
              <a:latin typeface="Times New Roman"/>
              <a:ea typeface="Times New Roman"/>
              <a:cs typeface="Times New Roman"/>
              <a:sym typeface="Times New Roman"/>
            </a:endParaRPr>
          </a:p>
          <a:p>
            <a:pPr indent="0" lvl="0" marL="152400" marR="1524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1800"/>
              </a:spcAft>
              <a:buSzPts val="2800"/>
              <a:buNone/>
            </a:pPr>
            <a:r>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0"/>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lang="en" sz="2400">
                <a:solidFill>
                  <a:schemeClr val="dk1"/>
                </a:solidFill>
                <a:highlight>
                  <a:srgbClr val="FFFFFF"/>
                </a:highlight>
                <a:latin typeface="Times New Roman"/>
                <a:ea typeface="Times New Roman"/>
                <a:cs typeface="Times New Roman"/>
                <a:sym typeface="Times New Roman"/>
              </a:rPr>
              <a:t>There are a lot of built-in modules in Python. Some of the important ones are - </a:t>
            </a:r>
            <a:r>
              <a:rPr lang="en" sz="2400">
                <a:solidFill>
                  <a:schemeClr val="dk1"/>
                </a:solidFill>
                <a:latin typeface="Times New Roman"/>
                <a:ea typeface="Times New Roman"/>
                <a:cs typeface="Times New Roman"/>
                <a:sym typeface="Times New Roman"/>
              </a:rPr>
              <a:t>collections, datetime, logging, math, numpy, os, pip,</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2400">
                <a:solidFill>
                  <a:schemeClr val="dk1"/>
                </a:solidFill>
                <a:latin typeface="Times New Roman"/>
                <a:ea typeface="Times New Roman"/>
                <a:cs typeface="Times New Roman"/>
                <a:sym typeface="Times New Roman"/>
              </a:rPr>
              <a:t> sys, and time</a:t>
            </a:r>
            <a:r>
              <a:rPr lang="en" sz="2400">
                <a:solidFill>
                  <a:schemeClr val="dk1"/>
                </a:solidFill>
                <a:highlight>
                  <a:srgbClr val="FFFFFF"/>
                </a:highlight>
                <a:latin typeface="Times New Roman"/>
                <a:ea typeface="Times New Roman"/>
                <a:cs typeface="Times New Roman"/>
                <a:sym typeface="Times New Roman"/>
              </a:rPr>
              <a:t>.</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20000"/>
              </a:lnSpc>
              <a:spcBef>
                <a:spcPts val="1800"/>
              </a:spcBef>
              <a:spcAft>
                <a:spcPts val="0"/>
              </a:spcAft>
              <a:buClr>
                <a:schemeClr val="dk1"/>
              </a:buClr>
              <a:buSzPts val="1100"/>
              <a:buFont typeface="Arial"/>
              <a:buNone/>
            </a:pPr>
            <a:r>
              <a:rPr lang="en" sz="2100">
                <a:solidFill>
                  <a:srgbClr val="181717"/>
                </a:solidFill>
                <a:highlight>
                  <a:srgbClr val="FFFFFF"/>
                </a:highlight>
                <a:latin typeface="Verdana"/>
                <a:ea typeface="Verdana"/>
                <a:cs typeface="Verdana"/>
                <a:sym typeface="Verdana"/>
              </a:rPr>
              <a:t>__file__ Attribute</a:t>
            </a:r>
            <a:endParaRPr sz="2100">
              <a:solidFill>
                <a:srgbClr val="181717"/>
              </a:solidFill>
              <a:highlight>
                <a:srgbClr val="FFFFFF"/>
              </a:highlight>
              <a:latin typeface="Verdana"/>
              <a:ea typeface="Verdana"/>
              <a:cs typeface="Verdana"/>
              <a:sym typeface="Verdana"/>
            </a:endParaRPr>
          </a:p>
          <a:p>
            <a:pPr indent="0" lvl="0" marL="0" rtl="0" algn="just">
              <a:lnSpc>
                <a:spcPct val="115000"/>
              </a:lnSpc>
              <a:spcBef>
                <a:spcPts val="1800"/>
              </a:spcBef>
              <a:spcAft>
                <a:spcPts val="0"/>
              </a:spcAft>
              <a:buClr>
                <a:schemeClr val="dk1"/>
              </a:buClr>
              <a:buSzPts val="1100"/>
              <a:buFont typeface="Arial"/>
              <a:buNone/>
            </a:pPr>
            <a:r>
              <a:rPr lang="en" sz="2100">
                <a:solidFill>
                  <a:schemeClr val="dk1"/>
                </a:solidFill>
                <a:highlight>
                  <a:srgbClr val="FFFFFF"/>
                </a:highlight>
                <a:latin typeface="Verdana"/>
                <a:ea typeface="Verdana"/>
                <a:cs typeface="Verdana"/>
                <a:sym typeface="Verdana"/>
              </a:rPr>
              <a:t>__file__ is an optional attribute which holds the name and path of the module file from which it is loaded.</a:t>
            </a:r>
            <a:endParaRPr sz="2100">
              <a:solidFill>
                <a:schemeClr val="dk1"/>
              </a:solidFill>
              <a:highlight>
                <a:srgbClr val="FFFFFF"/>
              </a:highlight>
              <a:latin typeface="Verdana"/>
              <a:ea typeface="Verdana"/>
              <a:cs typeface="Verdana"/>
              <a:sym typeface="Verdana"/>
            </a:endParaRPr>
          </a:p>
          <a:p>
            <a:pPr indent="0" lvl="0" marL="0" rtl="0" algn="just">
              <a:lnSpc>
                <a:spcPct val="115000"/>
              </a:lnSpc>
              <a:spcBef>
                <a:spcPts val="1800"/>
              </a:spcBef>
              <a:spcAft>
                <a:spcPts val="0"/>
              </a:spcAft>
              <a:buClr>
                <a:schemeClr val="dk1"/>
              </a:buClr>
              <a:buSzPts val="1100"/>
              <a:buFont typeface="Arial"/>
              <a:buNone/>
            </a:pPr>
            <a:r>
              <a:rPr lang="en" sz="2100">
                <a:solidFill>
                  <a:schemeClr val="dk1"/>
                </a:solidFill>
                <a:highlight>
                  <a:srgbClr val="FFFFFF"/>
                </a:highlight>
                <a:latin typeface="Verdana"/>
                <a:ea typeface="Verdana"/>
                <a:cs typeface="Verdana"/>
                <a:sym typeface="Verdana"/>
              </a:rPr>
              <a:t>Example: __file__ Attribute</a:t>
            </a:r>
            <a:endParaRPr sz="2100">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1800"/>
              </a:spcAft>
              <a:buSzPts val="2800"/>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1"/>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Clr>
                <a:schemeClr val="dk1"/>
              </a:buClr>
              <a:buSzPts val="2400"/>
              <a:buFont typeface="Times New Roman"/>
              <a:buAutoNum type="arabicParenR"/>
            </a:pPr>
            <a:r>
              <a:rPr lang="en" sz="2400">
                <a:solidFill>
                  <a:schemeClr val="dk1"/>
                </a:solidFill>
                <a:highlight>
                  <a:srgbClr val="FFFFFF"/>
                </a:highlight>
                <a:latin typeface="Times New Roman"/>
                <a:ea typeface="Times New Roman"/>
                <a:cs typeface="Times New Roman"/>
                <a:sym typeface="Times New Roman"/>
              </a:rPr>
              <a:t>import io</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print(io.__file__)</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2400">
                <a:solidFill>
                  <a:schemeClr val="dk1"/>
                </a:solidFill>
                <a:highlight>
                  <a:srgbClr val="FFFFFF"/>
                </a:highlight>
                <a:latin typeface="Times New Roman"/>
                <a:ea typeface="Times New Roman"/>
                <a:cs typeface="Times New Roman"/>
                <a:sym typeface="Times New Roman"/>
              </a:rPr>
              <a:t>Output</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2400">
                <a:solidFill>
                  <a:schemeClr val="dk1"/>
                </a:solidFill>
                <a:highlight>
                  <a:srgbClr val="FFFFFF"/>
                </a:highlight>
                <a:latin typeface="Times New Roman"/>
                <a:ea typeface="Times New Roman"/>
                <a:cs typeface="Times New Roman"/>
                <a:sym typeface="Times New Roman"/>
              </a:rPr>
              <a:t>C:\Program Files\IBM\SPSS\Statistics\26\Python3\lib\io.py</a:t>
            </a:r>
            <a:endParaRPr sz="2400">
              <a:solidFill>
                <a:schemeClr val="dk1"/>
              </a:solidFill>
              <a:highlight>
                <a:srgbClr val="FFFFFF"/>
              </a:highlight>
              <a:latin typeface="Times New Roman"/>
              <a:ea typeface="Times New Roman"/>
              <a:cs typeface="Times New Roman"/>
              <a:sym typeface="Times New Roman"/>
            </a:endParaRPr>
          </a:p>
          <a:p>
            <a:pPr indent="-381000" lvl="0" marL="457200" rtl="0" algn="l">
              <a:lnSpc>
                <a:spcPct val="100000"/>
              </a:lnSpc>
              <a:spcBef>
                <a:spcPts val="1800"/>
              </a:spcBef>
              <a:spcAft>
                <a:spcPts val="0"/>
              </a:spcAft>
              <a:buClr>
                <a:schemeClr val="dk1"/>
              </a:buClr>
              <a:buSzPts val="2400"/>
              <a:buFont typeface="Times New Roman"/>
              <a:buAutoNum type="arabicParenR"/>
            </a:pPr>
            <a:r>
              <a:rPr lang="en" sz="2400">
                <a:solidFill>
                  <a:schemeClr val="dk1"/>
                </a:solidFill>
                <a:highlight>
                  <a:srgbClr val="FFFFFF"/>
                </a:highlight>
                <a:latin typeface="Times New Roman"/>
                <a:ea typeface="Times New Roman"/>
                <a:cs typeface="Times New Roman"/>
                <a:sym typeface="Times New Roman"/>
              </a:rPr>
              <a:t>import keyword</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800"/>
              </a:spcBef>
              <a:spcAft>
                <a:spcPts val="0"/>
              </a:spcAft>
              <a:buSzPts val="2800"/>
              <a:buNone/>
            </a:pPr>
            <a:r>
              <a:rPr lang="en" sz="2400">
                <a:solidFill>
                  <a:schemeClr val="dk1"/>
                </a:solidFill>
                <a:highlight>
                  <a:srgbClr val="FFFFFF"/>
                </a:highlight>
                <a:latin typeface="Times New Roman"/>
                <a:ea typeface="Times New Roman"/>
                <a:cs typeface="Times New Roman"/>
                <a:sym typeface="Times New Roman"/>
              </a:rPr>
              <a:t>print(keyword.__file__)</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800"/>
              </a:spcBef>
              <a:spcAft>
                <a:spcPts val="0"/>
              </a:spcAft>
              <a:buSzPts val="2800"/>
              <a:buNone/>
            </a:pPr>
            <a:r>
              <a:rPr lang="en" sz="2400">
                <a:solidFill>
                  <a:schemeClr val="dk1"/>
                </a:solidFill>
                <a:highlight>
                  <a:srgbClr val="FFFFFF"/>
                </a:highlight>
                <a:latin typeface="Times New Roman"/>
                <a:ea typeface="Times New Roman"/>
                <a:cs typeface="Times New Roman"/>
                <a:sym typeface="Times New Roman"/>
              </a:rPr>
              <a:t>Output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C:\Program Files\IBM\SPSS\Statistics\26\Python3\lib\keyword.py</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1800"/>
              </a:spcAft>
              <a:buSzPts val="2800"/>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180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__dict__ Attribute</a:t>
            </a:r>
            <a:endParaRPr sz="18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The </a:t>
            </a:r>
            <a:r>
              <a:rPr lang="en" sz="1800">
                <a:solidFill>
                  <a:schemeClr val="dk1"/>
                </a:solidFill>
                <a:highlight>
                  <a:srgbClr val="D9E5F3"/>
                </a:highlight>
                <a:latin typeface="Times New Roman"/>
                <a:ea typeface="Times New Roman"/>
                <a:cs typeface="Times New Roman"/>
                <a:sym typeface="Times New Roman"/>
              </a:rPr>
              <a:t>__dict__</a:t>
            </a:r>
            <a:r>
              <a:rPr lang="en" sz="1800">
                <a:solidFill>
                  <a:schemeClr val="dk1"/>
                </a:solidFill>
                <a:highlight>
                  <a:srgbClr val="FFFFFF"/>
                </a:highlight>
                <a:latin typeface="Times New Roman"/>
                <a:ea typeface="Times New Roman"/>
                <a:cs typeface="Times New Roman"/>
                <a:sym typeface="Times New Roman"/>
              </a:rPr>
              <a:t> attribute will return a dictionary object of module attributes, functions and other definitions and their respective values.</a:t>
            </a:r>
            <a:endParaRPr sz="18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800"/>
              </a:spcBef>
              <a:spcAft>
                <a:spcPts val="0"/>
              </a:spcAft>
              <a:buClr>
                <a:schemeClr val="dk1"/>
              </a:buClr>
              <a:buSzPts val="1100"/>
              <a:buFont typeface="Arial"/>
              <a:buNone/>
            </a:pPr>
            <a:r>
              <a:rPr lang="en" sz="1800">
                <a:solidFill>
                  <a:schemeClr val="dk1"/>
                </a:solidFill>
                <a:highlight>
                  <a:srgbClr val="D8E5EE"/>
                </a:highlight>
                <a:latin typeface="Times New Roman"/>
                <a:ea typeface="Times New Roman"/>
                <a:cs typeface="Times New Roman"/>
                <a:sym typeface="Times New Roman"/>
              </a:rPr>
              <a:t>Example: __dict__ Attribute</a:t>
            </a:r>
            <a:endParaRPr sz="1800">
              <a:solidFill>
                <a:schemeClr val="dk1"/>
              </a:solidFill>
              <a:highlight>
                <a:srgbClr val="D8E5EE"/>
              </a:highlight>
              <a:latin typeface="Times New Roman"/>
              <a:ea typeface="Times New Roman"/>
              <a:cs typeface="Times New Roman"/>
              <a:sym typeface="Times New Roman"/>
            </a:endParaRPr>
          </a:p>
          <a:p>
            <a:pPr indent="-355600" lvl="0" marL="457200" rtl="0" algn="l">
              <a:lnSpc>
                <a:spcPct val="100000"/>
              </a:lnSpc>
              <a:spcBef>
                <a:spcPts val="0"/>
              </a:spcBef>
              <a:spcAft>
                <a:spcPts val="0"/>
              </a:spcAft>
              <a:buClr>
                <a:schemeClr val="dk1"/>
              </a:buClr>
              <a:buSzPts val="2000"/>
              <a:buFont typeface="Times New Roman"/>
              <a:buAutoNum type="arabicParenR"/>
            </a:pPr>
            <a:r>
              <a:rPr lang="en" sz="2000">
                <a:solidFill>
                  <a:schemeClr val="dk1"/>
                </a:solidFill>
                <a:highlight>
                  <a:srgbClr val="FFFFFF"/>
                </a:highlight>
                <a:latin typeface="Times New Roman"/>
                <a:ea typeface="Times New Roman"/>
                <a:cs typeface="Times New Roman"/>
                <a:sym typeface="Times New Roman"/>
              </a:rPr>
              <a:t>import math</a:t>
            </a:r>
            <a:endParaRPr sz="2000">
              <a:solidFill>
                <a:schemeClr val="dk1"/>
              </a:solidFill>
              <a:highlight>
                <a:srgbClr val="FFFFFF"/>
              </a:highlight>
              <a:latin typeface="Times New Roman"/>
              <a:ea typeface="Times New Roman"/>
              <a:cs typeface="Times New Roman"/>
              <a:sym typeface="Times New Roman"/>
            </a:endParaRPr>
          </a:p>
          <a:p>
            <a:pPr indent="0" lvl="0" marL="457200" rtl="0" algn="l">
              <a:lnSpc>
                <a:spcPct val="100000"/>
              </a:lnSpc>
              <a:spcBef>
                <a:spcPts val="0"/>
              </a:spcBef>
              <a:spcAft>
                <a:spcPts val="0"/>
              </a:spcAft>
              <a:buSzPts val="2800"/>
              <a:buNone/>
            </a:pPr>
            <a:r>
              <a:rPr lang="en" sz="2000">
                <a:solidFill>
                  <a:schemeClr val="dk1"/>
                </a:solidFill>
                <a:highlight>
                  <a:srgbClr val="FFFFFF"/>
                </a:highlight>
                <a:latin typeface="Times New Roman"/>
                <a:ea typeface="Times New Roman"/>
                <a:cs typeface="Times New Roman"/>
                <a:sym typeface="Times New Roman"/>
              </a:rPr>
              <a:t>print(math.__dict__)</a:t>
            </a:r>
            <a:endParaRPr sz="2000">
              <a:solidFill>
                <a:schemeClr val="dk1"/>
              </a:solidFill>
              <a:highlight>
                <a:srgbClr val="FFFFFF"/>
              </a:highlight>
              <a:latin typeface="Times New Roman"/>
              <a:ea typeface="Times New Roman"/>
              <a:cs typeface="Times New Roman"/>
              <a:sym typeface="Times New Roman"/>
            </a:endParaRPr>
          </a:p>
          <a:p>
            <a:pPr indent="0" lvl="0" marL="457200" marR="0" rtl="0" algn="l">
              <a:lnSpc>
                <a:spcPct val="100000"/>
              </a:lnSpc>
              <a:spcBef>
                <a:spcPts val="0"/>
              </a:spcBef>
              <a:spcAft>
                <a:spcPts val="1800"/>
              </a:spcAft>
              <a:buSzPts val="2800"/>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18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Output:</a:t>
            </a:r>
            <a:endParaRPr sz="2000">
              <a:solidFill>
                <a:schemeClr val="dk1"/>
              </a:solidFill>
              <a:highlight>
                <a:srgbClr val="FFFFFF"/>
              </a:highlight>
              <a:latin typeface="Times New Roman"/>
              <a:ea typeface="Times New Roman"/>
              <a:cs typeface="Times New Roman"/>
              <a:sym typeface="Times New Roman"/>
            </a:endParaRPr>
          </a:p>
          <a:p>
            <a:pPr indent="0" lvl="0" marL="457200" rtl="0" algn="l">
              <a:lnSpc>
                <a:spcPct val="100000"/>
              </a:lnSpc>
              <a:spcBef>
                <a:spcPts val="400"/>
              </a:spcBef>
              <a:spcAft>
                <a:spcPts val="0"/>
              </a:spcAft>
              <a:buSzPts val="2800"/>
              <a:buNone/>
            </a:pPr>
            <a:r>
              <a:rPr lang="en" sz="1400">
                <a:solidFill>
                  <a:schemeClr val="dk1"/>
                </a:solidFill>
                <a:highlight>
                  <a:srgbClr val="FFFFFF"/>
                </a:highlight>
                <a:latin typeface="Times New Roman"/>
                <a:ea typeface="Times New Roman"/>
                <a:cs typeface="Times New Roman"/>
                <a:sym typeface="Times New Roman"/>
              </a:rPr>
              <a:t>{'__name__': 'math', '__doc__': 'This module provides access to the mathematical functions\ndefined by the C standard.', '__package__': '', '__loader__': &lt;class '_frozen_importlib.BuiltinImporter'&gt;, '__spec__': ModuleSpec(name='math', loader=&lt;class '_frozen_importlib.BuiltinImporter'&gt;, origin='built-in'), 'acos': &lt;built-in function acos&gt;, 'acosh': &lt;built-in function acosh&gt;, 'asin': &lt;built-in function asin&gt;, 'asinh': &lt;built-in function asinh&gt;, 'atan': &lt;built-in function atan&gt;, 'atan2': &lt;built-in function atan2&gt;, 'atanh': &lt;built-in function atanh&gt;, 'ceil': &lt;built-in function ceil&gt;, 'copysign': &lt;built-in function copysign&gt;, 'cos': &lt;built-in function cos&gt;, 'cosh': &lt;built-in function cosh&gt;, 'degrees': &lt;built-in function degrees&gt;, 'dist': &lt;built-in function dist&gt;, 'erf': &lt;built-in function erf&gt;, 'erfc': &lt;built-in function erfc&gt;, 'exp': &lt;built-in function exp&gt;, 'expm1': &lt;built-in function expm1&gt;, 'fabs': &lt;built-in function fabs&gt;, 'factorial': &lt;built-in function factorial&gt;, 'floor': &lt;built-in function floor&gt;, 'fmod': &lt;built-in function fmod&gt;, 'frexp': &lt;built-in function frexp&gt;, 'fsum': &lt;built-in function fsum&gt;, 'gamma': &lt;built-in function gamma&gt;, 'gcd': &lt;built-in function gcd&gt;, 'hypot': &lt;built-in function hypot&gt;, 'isclose': &lt;built-in function isclose&gt;, 'isfinite': &lt;built-in function isfinite&gt;, 'isinf': &lt;built-in function isinf&gt;, 'isnan': &lt;built-in function isnan&gt;, 'isqrt': &lt;built-in function isqrt&gt;, 'ldexp': &lt;built-in function ldexp&gt;, 'lgamma': &lt;built-in function lgamma&gt;, 'log': &lt;built-in function log&gt;, 'log1p': &lt;built-in function log1p&gt;, 'log10': &lt;built-in function log10&gt;, 'log2': &lt;built-in function log2&gt;, 'modf': &lt;built-in function modf&gt;, 'pow': &lt;built-in function pow&gt;, 'radians': &lt;built-in function radians&gt;, 'remainder': &lt;built-in function remainder&gt;, 'sin': &lt;built-in function sin&gt;, 'sinh': &lt;built-in function sinh&gt;, 'sqrt': &lt;built-in function sqrt&gt;, 'tan': &lt;built-in function tan&gt;, 'tanh': &lt;built-in function tanh&gt;, 'trunc': &lt;built-in function trunc&gt;, 'prod': &lt;built-in function prod&gt;, 'perm': &lt;built-in function perm&gt;, 'comb': &lt;built-in function comb&gt;, 'pi': 3.141592653589793, 'e': 2.718281828459045, 'tau': 6.283185307179586, 'inf': inf, 'nan': nan}</a:t>
            </a:r>
            <a:endParaRPr sz="1400">
              <a:solidFill>
                <a:schemeClr val="dk1"/>
              </a:solidFill>
              <a:highlight>
                <a:srgbClr val="FFFFFF"/>
              </a:highlight>
              <a:latin typeface="Times New Roman"/>
              <a:ea typeface="Times New Roman"/>
              <a:cs typeface="Times New Roman"/>
              <a:sym typeface="Times New Roman"/>
            </a:endParaRPr>
          </a:p>
          <a:p>
            <a:pPr indent="0" lvl="0" marL="457200" rtl="0" algn="l">
              <a:lnSpc>
                <a:spcPct val="100000"/>
              </a:lnSpc>
              <a:spcBef>
                <a:spcPts val="0"/>
              </a:spcBef>
              <a:spcAft>
                <a:spcPts val="0"/>
              </a:spcAft>
              <a:buSzPts val="2800"/>
              <a:buNone/>
            </a:pPr>
            <a:r>
              <a:t/>
            </a:r>
            <a:endParaRPr sz="1400">
              <a:solidFill>
                <a:schemeClr val="dk1"/>
              </a:solidFill>
              <a:highlight>
                <a:srgbClr val="FFFFFF"/>
              </a:highlight>
              <a:latin typeface="Times New Roman"/>
              <a:ea typeface="Times New Roman"/>
              <a:cs typeface="Times New Roman"/>
              <a:sym typeface="Times New Roman"/>
            </a:endParaRPr>
          </a:p>
          <a:p>
            <a:pPr indent="0" lvl="0" marL="457200" marR="0" rtl="0" algn="l">
              <a:lnSpc>
                <a:spcPct val="100000"/>
              </a:lnSpc>
              <a:spcBef>
                <a:spcPts val="0"/>
              </a:spcBef>
              <a:spcAft>
                <a:spcPts val="1800"/>
              </a:spcAft>
              <a:buSzPts val="2800"/>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4"/>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1800"/>
              </a:spcBef>
              <a:spcAft>
                <a:spcPts val="0"/>
              </a:spcAft>
              <a:buClr>
                <a:schemeClr val="dk1"/>
              </a:buClr>
              <a:buSzPts val="1100"/>
              <a:buFont typeface="Arial"/>
              <a:buNone/>
            </a:pPr>
            <a:r>
              <a:rPr lang="en" sz="1800">
                <a:solidFill>
                  <a:schemeClr val="dk1"/>
                </a:solidFill>
                <a:highlight>
                  <a:srgbClr val="FFFFFF"/>
                </a:highlight>
                <a:latin typeface="Times New Roman"/>
                <a:ea typeface="Times New Roman"/>
                <a:cs typeface="Times New Roman"/>
                <a:sym typeface="Times New Roman"/>
              </a:rPr>
              <a:t>2) </a:t>
            </a:r>
            <a:r>
              <a:rPr lang="en" sz="2100">
                <a:solidFill>
                  <a:schemeClr val="dk1"/>
                </a:solidFill>
                <a:highlight>
                  <a:srgbClr val="FFFFFF"/>
                </a:highlight>
                <a:latin typeface="Times New Roman"/>
                <a:ea typeface="Times New Roman"/>
                <a:cs typeface="Times New Roman"/>
                <a:sym typeface="Times New Roman"/>
              </a:rPr>
              <a:t>import string</a:t>
            </a:r>
            <a:endParaRPr sz="2100">
              <a:solidFill>
                <a:schemeClr val="dk1"/>
              </a:solidFill>
              <a:highlight>
                <a:srgbClr val="FFFFFF"/>
              </a:highlight>
              <a:latin typeface="Times New Roman"/>
              <a:ea typeface="Times New Roman"/>
              <a:cs typeface="Times New Roman"/>
              <a:sym typeface="Times New Roman"/>
            </a:endParaRPr>
          </a:p>
          <a:p>
            <a:pPr indent="0" lvl="0" marL="457200" rtl="0" algn="l">
              <a:lnSpc>
                <a:spcPct val="100000"/>
              </a:lnSpc>
              <a:spcBef>
                <a:spcPts val="400"/>
              </a:spcBef>
              <a:spcAft>
                <a:spcPts val="0"/>
              </a:spcAft>
              <a:buSzPts val="2800"/>
              <a:buNone/>
            </a:pPr>
            <a:r>
              <a:rPr lang="en" sz="2100">
                <a:solidFill>
                  <a:schemeClr val="dk1"/>
                </a:solidFill>
                <a:highlight>
                  <a:srgbClr val="FFFFFF"/>
                </a:highlight>
                <a:latin typeface="Times New Roman"/>
                <a:ea typeface="Times New Roman"/>
                <a:cs typeface="Times New Roman"/>
                <a:sym typeface="Times New Roman"/>
              </a:rPr>
              <a:t>print(string.__dict__)</a:t>
            </a:r>
            <a:endParaRPr sz="2100">
              <a:solidFill>
                <a:schemeClr val="dk1"/>
              </a:solidFill>
              <a:highlight>
                <a:srgbClr val="FFFFFF"/>
              </a:highlight>
              <a:latin typeface="Times New Roman"/>
              <a:ea typeface="Times New Roman"/>
              <a:cs typeface="Times New Roman"/>
              <a:sym typeface="Times New Roman"/>
            </a:endParaRPr>
          </a:p>
          <a:p>
            <a:pPr indent="0" lvl="0" marL="457200" marR="0" rtl="0" algn="l">
              <a:lnSpc>
                <a:spcPct val="100000"/>
              </a:lnSpc>
              <a:spcBef>
                <a:spcPts val="0"/>
              </a:spcBef>
              <a:spcAft>
                <a:spcPts val="1800"/>
              </a:spcAft>
              <a:buSzPts val="2800"/>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5"/>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Namespaces and Scope in Python</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What is namespace:</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A namespace is a system that has a unique name for each and every object in Python. An object might be a variable or a method. Python itself maintains a namespace in the form of a Python dictionary.</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How to create namespace in Python?</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 sz="1900">
                <a:solidFill>
                  <a:schemeClr val="dk1"/>
                </a:solidFill>
                <a:latin typeface="Times New Roman"/>
                <a:ea typeface="Times New Roman"/>
                <a:cs typeface="Times New Roman"/>
                <a:sym typeface="Times New Roman"/>
              </a:rPr>
              <a:t>A namespace gets created automatically when a module or package starts execution. Hence, create namespace in python, all you have to do is call a function/ object or import a module/package.</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9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ts val="1100"/>
              <a:buFont typeface="Arial"/>
              <a:buNone/>
            </a:pPr>
            <a:r>
              <a:t/>
            </a:r>
            <a:endParaRPr sz="1700">
              <a:solidFill>
                <a:schemeClr val="dk1"/>
              </a:solidFill>
            </a:endParaRPr>
          </a:p>
          <a:p>
            <a:pPr indent="0" lvl="0" marL="0" marR="139700" rtl="0" algn="l">
              <a:lnSpc>
                <a:spcPct val="120000"/>
              </a:lnSpc>
              <a:spcBef>
                <a:spcPts val="0"/>
              </a:spcBef>
              <a:spcAft>
                <a:spcPts val="0"/>
              </a:spcAft>
              <a:buClr>
                <a:schemeClr val="dk1"/>
              </a:buClr>
              <a:buSzPts val="1100"/>
              <a:buFont typeface="Arial"/>
              <a:buNone/>
            </a:pPr>
            <a:r>
              <a:t/>
            </a:r>
            <a:endParaRPr sz="1100">
              <a:solidFill>
                <a:srgbClr val="F8F8F2"/>
              </a:solidFill>
              <a:highlight>
                <a:srgbClr val="272822"/>
              </a:highlight>
              <a:latin typeface="Courier New"/>
              <a:ea typeface="Courier New"/>
              <a:cs typeface="Courier New"/>
              <a:sym typeface="Courier New"/>
            </a:endParaRPr>
          </a:p>
          <a:p>
            <a:pPr indent="0" lvl="0" marL="0" marR="0" rtl="0" algn="l">
              <a:lnSpc>
                <a:spcPct val="100000"/>
              </a:lnSpc>
              <a:spcBef>
                <a:spcPts val="0"/>
              </a:spcBef>
              <a:spcAft>
                <a:spcPts val="1800"/>
              </a:spcAft>
              <a:buSzPts val="2800"/>
              <a:buNone/>
            </a:pPr>
            <a:r>
              <a:t/>
            </a:r>
            <a:endParaRPr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6"/>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SzPts val="2800"/>
              <a:buNone/>
            </a:pPr>
            <a:r>
              <a:rPr lang="en" sz="1700">
                <a:solidFill>
                  <a:srgbClr val="202124"/>
                </a:solidFill>
                <a:highlight>
                  <a:srgbClr val="FFFFFF"/>
                </a:highlight>
                <a:latin typeface="Times New Roman"/>
                <a:ea typeface="Times New Roman"/>
                <a:cs typeface="Times New Roman"/>
                <a:sym typeface="Times New Roman"/>
              </a:rPr>
              <a:t>How namespace useful?</a:t>
            </a:r>
            <a:endParaRPr sz="1700">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rPr lang="en" sz="1700">
                <a:solidFill>
                  <a:srgbClr val="202124"/>
                </a:solidFill>
                <a:highlight>
                  <a:srgbClr val="FFFFFF"/>
                </a:highlight>
                <a:latin typeface="Times New Roman"/>
                <a:ea typeface="Times New Roman"/>
                <a:cs typeface="Times New Roman"/>
                <a:sym typeface="Times New Roman"/>
              </a:rPr>
              <a:t>This </a:t>
            </a:r>
            <a:r>
              <a:rPr lang="en" sz="1700">
                <a:solidFill>
                  <a:srgbClr val="040C28"/>
                </a:solidFill>
                <a:latin typeface="Times New Roman"/>
                <a:ea typeface="Times New Roman"/>
                <a:cs typeface="Times New Roman"/>
                <a:sym typeface="Times New Roman"/>
              </a:rPr>
              <a:t>allows you to organize your code and avoid naming conflicts</a:t>
            </a:r>
            <a:r>
              <a:rPr lang="en" sz="1700">
                <a:solidFill>
                  <a:srgbClr val="202124"/>
                </a:solidFill>
                <a:highlight>
                  <a:srgbClr val="FFFFFF"/>
                </a:highlight>
                <a:latin typeface="Times New Roman"/>
                <a:ea typeface="Times New Roman"/>
                <a:cs typeface="Times New Roman"/>
                <a:sym typeface="Times New Roman"/>
              </a:rPr>
              <a:t> by creating unique namespaces for each module or package. By doing so, you can use the same variable name in different parts of your code without causing issues. A module is a file containing Python definitions and statements.</a:t>
            </a:r>
            <a:endParaRPr sz="1700">
              <a:solidFill>
                <a:srgbClr val="202124"/>
              </a:solidFill>
              <a:highlight>
                <a:srgbClr val="FFFFFF"/>
              </a:highlight>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 sz="1700">
                <a:solidFill>
                  <a:srgbClr val="202124"/>
                </a:solidFill>
                <a:highlight>
                  <a:srgbClr val="FFFFFF"/>
                </a:highlight>
                <a:latin typeface="Times New Roman"/>
                <a:ea typeface="Times New Roman"/>
                <a:cs typeface="Times New Roman"/>
                <a:sym typeface="Times New Roman"/>
              </a:rPr>
              <a:t>There are four types of namespaces:</a:t>
            </a:r>
            <a:endParaRPr sz="1700">
              <a:solidFill>
                <a:srgbClr val="202124"/>
              </a:solidFill>
              <a:highlight>
                <a:srgbClr val="FFFFFF"/>
              </a:highlight>
              <a:latin typeface="Times New Roman"/>
              <a:ea typeface="Times New Roman"/>
              <a:cs typeface="Times New Roman"/>
              <a:sym typeface="Times New Roman"/>
            </a:endParaRPr>
          </a:p>
          <a:p>
            <a:pPr indent="-314325" lvl="0" marL="457200" rtl="0" algn="l">
              <a:lnSpc>
                <a:spcPct val="115000"/>
              </a:lnSpc>
              <a:spcBef>
                <a:spcPts val="1400"/>
              </a:spcBef>
              <a:spcAft>
                <a:spcPts val="0"/>
              </a:spcAft>
              <a:buClr>
                <a:srgbClr val="222222"/>
              </a:buClr>
              <a:buSzPts val="1350"/>
              <a:buFont typeface="Roboto"/>
              <a:buAutoNum type="arabicPeriod"/>
            </a:pPr>
            <a:r>
              <a:rPr lang="en" sz="1700">
                <a:solidFill>
                  <a:srgbClr val="202124"/>
                </a:solidFill>
                <a:highlight>
                  <a:srgbClr val="FFFFFF"/>
                </a:highlight>
                <a:latin typeface="Times New Roman"/>
                <a:ea typeface="Times New Roman"/>
                <a:cs typeface="Times New Roman"/>
                <a:sym typeface="Times New Roman"/>
              </a:rPr>
              <a:t>Built-In</a:t>
            </a:r>
            <a:endParaRPr sz="1700">
              <a:solidFill>
                <a:srgbClr val="202124"/>
              </a:solidFill>
              <a:highlight>
                <a:srgbClr val="FFFFFF"/>
              </a:highlight>
              <a:latin typeface="Times New Roman"/>
              <a:ea typeface="Times New Roman"/>
              <a:cs typeface="Times New Roman"/>
              <a:sym typeface="Times New Roman"/>
            </a:endParaRPr>
          </a:p>
          <a:p>
            <a:pPr indent="-314325" lvl="0" marL="457200" rtl="0" algn="l">
              <a:lnSpc>
                <a:spcPct val="115000"/>
              </a:lnSpc>
              <a:spcBef>
                <a:spcPts val="0"/>
              </a:spcBef>
              <a:spcAft>
                <a:spcPts val="0"/>
              </a:spcAft>
              <a:buClr>
                <a:srgbClr val="222222"/>
              </a:buClr>
              <a:buSzPts val="1350"/>
              <a:buFont typeface="Roboto"/>
              <a:buAutoNum type="arabicPeriod"/>
            </a:pPr>
            <a:r>
              <a:rPr lang="en" sz="1700">
                <a:solidFill>
                  <a:srgbClr val="202124"/>
                </a:solidFill>
                <a:highlight>
                  <a:srgbClr val="FFFFFF"/>
                </a:highlight>
                <a:latin typeface="Times New Roman"/>
                <a:ea typeface="Times New Roman"/>
                <a:cs typeface="Times New Roman"/>
                <a:sym typeface="Times New Roman"/>
              </a:rPr>
              <a:t>Global</a:t>
            </a:r>
            <a:endParaRPr sz="1700">
              <a:solidFill>
                <a:srgbClr val="202124"/>
              </a:solidFill>
              <a:highlight>
                <a:srgbClr val="FFFFFF"/>
              </a:highlight>
              <a:latin typeface="Times New Roman"/>
              <a:ea typeface="Times New Roman"/>
              <a:cs typeface="Times New Roman"/>
              <a:sym typeface="Times New Roman"/>
            </a:endParaRPr>
          </a:p>
          <a:p>
            <a:pPr indent="-314325" lvl="0" marL="457200" rtl="0" algn="l">
              <a:lnSpc>
                <a:spcPct val="115000"/>
              </a:lnSpc>
              <a:spcBef>
                <a:spcPts val="0"/>
              </a:spcBef>
              <a:spcAft>
                <a:spcPts val="0"/>
              </a:spcAft>
              <a:buClr>
                <a:srgbClr val="222222"/>
              </a:buClr>
              <a:buSzPts val="1350"/>
              <a:buFont typeface="Roboto"/>
              <a:buAutoNum type="arabicPeriod"/>
            </a:pPr>
            <a:r>
              <a:rPr lang="en" sz="1700">
                <a:solidFill>
                  <a:srgbClr val="202124"/>
                </a:solidFill>
                <a:highlight>
                  <a:srgbClr val="FFFFFF"/>
                </a:highlight>
                <a:latin typeface="Times New Roman"/>
                <a:ea typeface="Times New Roman"/>
                <a:cs typeface="Times New Roman"/>
                <a:sym typeface="Times New Roman"/>
              </a:rPr>
              <a:t>Enclosing</a:t>
            </a:r>
            <a:endParaRPr sz="1700">
              <a:solidFill>
                <a:srgbClr val="202124"/>
              </a:solidFill>
              <a:highlight>
                <a:srgbClr val="FFFFFF"/>
              </a:highlight>
              <a:latin typeface="Times New Roman"/>
              <a:ea typeface="Times New Roman"/>
              <a:cs typeface="Times New Roman"/>
              <a:sym typeface="Times New Roman"/>
            </a:endParaRPr>
          </a:p>
          <a:p>
            <a:pPr indent="-314325" lvl="0" marL="457200" rtl="0" algn="l">
              <a:lnSpc>
                <a:spcPct val="115000"/>
              </a:lnSpc>
              <a:spcBef>
                <a:spcPts val="0"/>
              </a:spcBef>
              <a:spcAft>
                <a:spcPts val="0"/>
              </a:spcAft>
              <a:buClr>
                <a:srgbClr val="222222"/>
              </a:buClr>
              <a:buSzPts val="1350"/>
              <a:buFont typeface="Roboto"/>
              <a:buAutoNum type="arabicPeriod"/>
            </a:pPr>
            <a:r>
              <a:rPr lang="en" sz="1700">
                <a:solidFill>
                  <a:srgbClr val="202124"/>
                </a:solidFill>
                <a:highlight>
                  <a:srgbClr val="FFFFFF"/>
                </a:highlight>
                <a:latin typeface="Times New Roman"/>
                <a:ea typeface="Times New Roman"/>
                <a:cs typeface="Times New Roman"/>
                <a:sym typeface="Times New Roman"/>
              </a:rPr>
              <a:t>Local</a:t>
            </a:r>
            <a:endParaRPr sz="1700">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0"/>
              </a:spcAft>
              <a:buSzPts val="2800"/>
              <a:buNone/>
            </a:pPr>
            <a:r>
              <a:t/>
            </a:r>
            <a:endParaRPr sz="1700">
              <a:solidFill>
                <a:srgbClr val="202124"/>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800"/>
              </a:spcBef>
              <a:spcAft>
                <a:spcPts val="1800"/>
              </a:spcAft>
              <a:buSzPts val="2800"/>
              <a:buNone/>
            </a:pPr>
            <a:r>
              <a:t/>
            </a:r>
            <a:endParaRPr sz="1700">
              <a:solidFill>
                <a:srgbClr val="202124"/>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7"/>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1400"/>
              </a:spcBef>
              <a:spcAft>
                <a:spcPts val="0"/>
              </a:spcAft>
              <a:buClr>
                <a:schemeClr val="dk1"/>
              </a:buClr>
              <a:buSzPts val="1100"/>
              <a:buFont typeface="Arial"/>
              <a:buNone/>
            </a:pPr>
            <a:r>
              <a:rPr lang="en" sz="2400">
                <a:solidFill>
                  <a:srgbClr val="222222"/>
                </a:solidFill>
                <a:highlight>
                  <a:srgbClr val="FFFFFF"/>
                </a:highlight>
                <a:latin typeface="Times New Roman"/>
                <a:ea typeface="Times New Roman"/>
                <a:cs typeface="Times New Roman"/>
                <a:sym typeface="Times New Roman"/>
              </a:rPr>
              <a:t>The Built-In Namespace</a:t>
            </a:r>
            <a:endParaRPr sz="24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ts val="1100"/>
              <a:buFont typeface="Arial"/>
              <a:buNone/>
            </a:pPr>
            <a:r>
              <a:rPr lang="en" sz="2400">
                <a:solidFill>
                  <a:srgbClr val="222222"/>
                </a:solidFill>
                <a:highlight>
                  <a:srgbClr val="FFFFFF"/>
                </a:highlight>
                <a:latin typeface="Times New Roman"/>
                <a:ea typeface="Times New Roman"/>
                <a:cs typeface="Times New Roman"/>
                <a:sym typeface="Times New Roman"/>
              </a:rPr>
              <a:t>The built-in namespace contains the names of all of Python’s built-in objects. These are available at all times when Python is running.</a:t>
            </a:r>
            <a:endParaRPr sz="2400">
              <a:solidFill>
                <a:srgbClr val="2222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0"/>
              </a:spcAft>
              <a:buSzPts val="2800"/>
              <a:buNone/>
            </a:pPr>
            <a:r>
              <a:rPr lang="en" sz="2400">
                <a:solidFill>
                  <a:srgbClr val="222222"/>
                </a:solidFill>
                <a:highlight>
                  <a:srgbClr val="FFFFFF"/>
                </a:highlight>
                <a:latin typeface="Times New Roman"/>
                <a:ea typeface="Times New Roman"/>
                <a:cs typeface="Times New Roman"/>
                <a:sym typeface="Times New Roman"/>
              </a:rPr>
              <a:t>You can list the objects in the built-in namespace with the following command:</a:t>
            </a:r>
            <a:endParaRPr sz="2400">
              <a:solidFill>
                <a:srgbClr val="222222"/>
              </a:solidFill>
              <a:highlight>
                <a:srgbClr val="FFFFFF"/>
              </a:highlight>
              <a:latin typeface="Times New Roman"/>
              <a:ea typeface="Times New Roman"/>
              <a:cs typeface="Times New Roman"/>
              <a:sym typeface="Times New Roman"/>
            </a:endParaRPr>
          </a:p>
          <a:p>
            <a:pPr indent="0" lvl="0" marL="139700" marR="139700" rtl="0" algn="l">
              <a:lnSpc>
                <a:spcPct val="150000"/>
              </a:lnSpc>
              <a:spcBef>
                <a:spcPts val="1800"/>
              </a:spcBef>
              <a:spcAft>
                <a:spcPts val="0"/>
              </a:spcAft>
              <a:buClr>
                <a:schemeClr val="dk1"/>
              </a:buClr>
              <a:buSzPts val="1100"/>
              <a:buFont typeface="Arial"/>
              <a:buNone/>
            </a:pPr>
            <a:r>
              <a:rPr lang="en" sz="2400">
                <a:solidFill>
                  <a:srgbClr val="8F5902"/>
                </a:solidFill>
                <a:highlight>
                  <a:srgbClr val="F6F6F6"/>
                </a:highlight>
                <a:latin typeface="Times New Roman"/>
                <a:ea typeface="Times New Roman"/>
                <a:cs typeface="Times New Roman"/>
                <a:sym typeface="Times New Roman"/>
              </a:rPr>
              <a:t>&gt;&gt;&gt; </a:t>
            </a:r>
            <a:r>
              <a:rPr lang="en" sz="2400">
                <a:solidFill>
                  <a:srgbClr val="204A87"/>
                </a:solidFill>
                <a:highlight>
                  <a:srgbClr val="F6F6F6"/>
                </a:highlight>
                <a:latin typeface="Times New Roman"/>
                <a:ea typeface="Times New Roman"/>
                <a:cs typeface="Times New Roman"/>
                <a:sym typeface="Times New Roman"/>
              </a:rPr>
              <a:t>dir</a:t>
            </a:r>
            <a:r>
              <a:rPr lang="en" sz="2400">
                <a:solidFill>
                  <a:schemeClr val="dk1"/>
                </a:solidFill>
                <a:highlight>
                  <a:srgbClr val="F6F6F6"/>
                </a:highlight>
                <a:latin typeface="Times New Roman"/>
                <a:ea typeface="Times New Roman"/>
                <a:cs typeface="Times New Roman"/>
                <a:sym typeface="Times New Roman"/>
              </a:rPr>
              <a:t>(__builtins__)</a:t>
            </a:r>
            <a:endParaRPr sz="2400">
              <a:solidFill>
                <a:schemeClr val="dk1"/>
              </a:solidFill>
              <a:highlight>
                <a:srgbClr val="F6F6F6"/>
              </a:highlight>
              <a:latin typeface="Times New Roman"/>
              <a:ea typeface="Times New Roman"/>
              <a:cs typeface="Times New Roman"/>
              <a:sym typeface="Times New Roman"/>
            </a:endParaRPr>
          </a:p>
          <a:p>
            <a:pPr indent="0" lvl="0" marL="0" marR="0" rtl="0" algn="l">
              <a:lnSpc>
                <a:spcPct val="100000"/>
              </a:lnSpc>
              <a:spcBef>
                <a:spcPts val="0"/>
              </a:spcBef>
              <a:spcAft>
                <a:spcPts val="1800"/>
              </a:spcAft>
              <a:buSzPts val="2800"/>
              <a:buNone/>
            </a:pPr>
            <a:r>
              <a:t/>
            </a:r>
            <a:endParaRPr sz="24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8"/>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1400"/>
              </a:spcBef>
              <a:spcAft>
                <a:spcPts val="0"/>
              </a:spcAft>
              <a:buClr>
                <a:schemeClr val="dk1"/>
              </a:buClr>
              <a:buSzPts val="1100"/>
              <a:buFont typeface="Arial"/>
              <a:buNone/>
            </a:pPr>
            <a:r>
              <a:rPr lang="en" sz="1700">
                <a:solidFill>
                  <a:srgbClr val="222222"/>
                </a:solidFill>
                <a:highlight>
                  <a:srgbClr val="FFFFFF"/>
                </a:highlight>
                <a:latin typeface="Times New Roman"/>
                <a:ea typeface="Times New Roman"/>
                <a:cs typeface="Times New Roman"/>
                <a:sym typeface="Times New Roman"/>
              </a:rPr>
              <a:t>The Global Namespace</a:t>
            </a:r>
            <a:endParaRPr sz="17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ts val="1100"/>
              <a:buFont typeface="Arial"/>
              <a:buNone/>
            </a:pPr>
            <a:r>
              <a:rPr lang="en" sz="1700">
                <a:solidFill>
                  <a:srgbClr val="222222"/>
                </a:solidFill>
                <a:highlight>
                  <a:srgbClr val="FFFFFF"/>
                </a:highlight>
                <a:latin typeface="Times New Roman"/>
                <a:ea typeface="Times New Roman"/>
                <a:cs typeface="Times New Roman"/>
                <a:sym typeface="Times New Roman"/>
              </a:rPr>
              <a:t>The global namespace contains any names defined at the level of the main program. Python creates the global namespace when the main program body starts, and it remains in existence until the interpreter terminates.</a:t>
            </a:r>
            <a:endParaRPr sz="1700">
              <a:solidFill>
                <a:srgbClr val="222222"/>
              </a:solidFill>
              <a:highlight>
                <a:srgbClr val="FFFFFF"/>
              </a:highlight>
              <a:latin typeface="Times New Roman"/>
              <a:ea typeface="Times New Roman"/>
              <a:cs typeface="Times New Roman"/>
              <a:sym typeface="Times New Roman"/>
            </a:endParaRPr>
          </a:p>
          <a:p>
            <a:pPr indent="0" lvl="0" marL="0" rtl="0" algn="l">
              <a:lnSpc>
                <a:spcPct val="120000"/>
              </a:lnSpc>
              <a:spcBef>
                <a:spcPts val="1400"/>
              </a:spcBef>
              <a:spcAft>
                <a:spcPts val="0"/>
              </a:spcAft>
              <a:buClr>
                <a:schemeClr val="dk1"/>
              </a:buClr>
              <a:buSzPts val="1100"/>
              <a:buFont typeface="Arial"/>
              <a:buNone/>
            </a:pPr>
            <a:r>
              <a:rPr lang="en" sz="1700">
                <a:solidFill>
                  <a:srgbClr val="222222"/>
                </a:solidFill>
                <a:highlight>
                  <a:srgbClr val="FFFFFF"/>
                </a:highlight>
                <a:latin typeface="Times New Roman"/>
                <a:ea typeface="Times New Roman"/>
                <a:cs typeface="Times New Roman"/>
                <a:sym typeface="Times New Roman"/>
              </a:rPr>
              <a:t>The Local and Enclosing Namespaces</a:t>
            </a:r>
            <a:endParaRPr sz="1700">
              <a:solidFill>
                <a:srgbClr val="222222"/>
              </a:solidFill>
              <a:highlight>
                <a:srgbClr val="FFFFFF"/>
              </a:highlight>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ts val="1100"/>
              <a:buFont typeface="Arial"/>
              <a:buNone/>
            </a:pPr>
            <a:r>
              <a:rPr lang="en" sz="1700">
                <a:solidFill>
                  <a:srgbClr val="222222"/>
                </a:solidFill>
                <a:highlight>
                  <a:srgbClr val="FFFFFF"/>
                </a:highlight>
                <a:latin typeface="Times New Roman"/>
                <a:ea typeface="Times New Roman"/>
                <a:cs typeface="Times New Roman"/>
                <a:sym typeface="Times New Roman"/>
              </a:rPr>
              <a:t>the interpreter creates a new namespace whenever a function executes. That namespace is local to the function and remains in existence until the function terminates.</a:t>
            </a:r>
            <a:endParaRPr sz="1700">
              <a:solidFill>
                <a:srgbClr val="222222"/>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1800"/>
              </a:spcAft>
              <a:buSzPts val="2800"/>
              <a:buNone/>
            </a:pPr>
            <a:r>
              <a:t/>
            </a:r>
            <a:endParaRPr sz="17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9"/>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73374"/>
              <a:buNone/>
            </a:pPr>
            <a:r>
              <a:rPr lang="en" sz="1900">
                <a:solidFill>
                  <a:schemeClr val="dk1"/>
                </a:solidFill>
                <a:latin typeface="Times New Roman"/>
                <a:ea typeface="Times New Roman"/>
                <a:cs typeface="Times New Roman"/>
                <a:sym typeface="Times New Roman"/>
              </a:rPr>
              <a:t>Python Packages </a:t>
            </a:r>
            <a:r>
              <a:rPr lang="en" sz="1900">
                <a:solidFill>
                  <a:schemeClr val="hlink"/>
                </a:solidFill>
                <a:uFill>
                  <a:noFill/>
                </a:uFill>
                <a:latin typeface="Times New Roman"/>
                <a:ea typeface="Times New Roman"/>
                <a:cs typeface="Times New Roman"/>
                <a:sym typeface="Times New Roman"/>
                <a:hlinkClick r:id="rId3"/>
              </a:rPr>
              <a:t>Python Packages - GeeksforGeeks</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57893"/>
              <a:buFont typeface="Arial"/>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ct val="173374"/>
              <a:buNone/>
            </a:pPr>
            <a:r>
              <a:rPr lang="en" sz="1900">
                <a:solidFill>
                  <a:schemeClr val="hlink"/>
                </a:solidFill>
                <a:uFill>
                  <a:noFill/>
                </a:uFill>
                <a:latin typeface="Times New Roman"/>
                <a:ea typeface="Times New Roman"/>
                <a:cs typeface="Times New Roman"/>
                <a:sym typeface="Times New Roman"/>
                <a:hlinkClick r:id="rId4"/>
              </a:rPr>
              <a:t>Python modules</a:t>
            </a:r>
            <a:r>
              <a:rPr lang="en" sz="1900">
                <a:solidFill>
                  <a:schemeClr val="dk1"/>
                </a:solidFill>
                <a:latin typeface="Times New Roman"/>
                <a:ea typeface="Times New Roman"/>
                <a:cs typeface="Times New Roman"/>
                <a:sym typeface="Times New Roman"/>
              </a:rPr>
              <a:t> may contain several classes, functions, variables, etc. whereas Python packages contain several modules. In simpler terms, Package in Python is a folder that contains various modules as files.</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SzPct val="173374"/>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173374"/>
              <a:buNone/>
            </a:pPr>
            <a:r>
              <a:rPr lang="en" sz="1900">
                <a:solidFill>
                  <a:schemeClr val="dk1"/>
                </a:solidFill>
                <a:latin typeface="Times New Roman"/>
                <a:ea typeface="Times New Roman"/>
                <a:cs typeface="Times New Roman"/>
                <a:sym typeface="Times New Roman"/>
              </a:rPr>
              <a:t>Creating Package</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173374"/>
              <a:buNone/>
            </a:pPr>
            <a:r>
              <a:rPr lang="en" sz="1900">
                <a:solidFill>
                  <a:schemeClr val="dk1"/>
                </a:solidFill>
                <a:latin typeface="Times New Roman"/>
                <a:ea typeface="Times New Roman"/>
                <a:cs typeface="Times New Roman"/>
                <a:sym typeface="Times New Roman"/>
              </a:rPr>
              <a:t>Let’s create a package in Python named mypckg that will contain two modules mod1 and mod2. To create this module follow the below steps:</a:t>
            </a:r>
            <a:endParaRPr sz="1900">
              <a:solidFill>
                <a:schemeClr val="dk1"/>
              </a:solidFill>
              <a:latin typeface="Times New Roman"/>
              <a:ea typeface="Times New Roman"/>
              <a:cs typeface="Times New Roman"/>
              <a:sym typeface="Times New Roman"/>
            </a:endParaRPr>
          </a:p>
          <a:p>
            <a:pPr indent="-331152" lvl="0" marL="457200" rtl="0" algn="l">
              <a:lnSpc>
                <a:spcPct val="158000"/>
              </a:lnSpc>
              <a:spcBef>
                <a:spcPts val="800"/>
              </a:spcBef>
              <a:spcAft>
                <a:spcPts val="0"/>
              </a:spcAft>
              <a:buClr>
                <a:schemeClr val="dk1"/>
              </a:buClr>
              <a:buSzPct val="100000"/>
              <a:buFont typeface="Times New Roman"/>
              <a:buChar char="●"/>
            </a:pPr>
            <a:r>
              <a:rPr lang="en" sz="1900">
                <a:solidFill>
                  <a:schemeClr val="dk1"/>
                </a:solidFill>
                <a:latin typeface="Times New Roman"/>
                <a:ea typeface="Times New Roman"/>
                <a:cs typeface="Times New Roman"/>
                <a:sym typeface="Times New Roman"/>
              </a:rPr>
              <a:t>Create a folder named mypckg.</a:t>
            </a:r>
            <a:endParaRPr sz="1900">
              <a:solidFill>
                <a:schemeClr val="dk1"/>
              </a:solidFill>
              <a:latin typeface="Times New Roman"/>
              <a:ea typeface="Times New Roman"/>
              <a:cs typeface="Times New Roman"/>
              <a:sym typeface="Times New Roman"/>
            </a:endParaRPr>
          </a:p>
          <a:p>
            <a:pPr indent="-331152" lvl="0" marL="457200" rtl="0" algn="l">
              <a:lnSpc>
                <a:spcPct val="158000"/>
              </a:lnSpc>
              <a:spcBef>
                <a:spcPts val="0"/>
              </a:spcBef>
              <a:spcAft>
                <a:spcPts val="0"/>
              </a:spcAft>
              <a:buClr>
                <a:schemeClr val="dk1"/>
              </a:buClr>
              <a:buSzPct val="100000"/>
              <a:buFont typeface="Times New Roman"/>
              <a:buChar char="●"/>
            </a:pPr>
            <a:r>
              <a:rPr lang="en" sz="1900">
                <a:solidFill>
                  <a:schemeClr val="dk1"/>
                </a:solidFill>
                <a:latin typeface="Times New Roman"/>
                <a:ea typeface="Times New Roman"/>
                <a:cs typeface="Times New Roman"/>
                <a:sym typeface="Times New Roman"/>
              </a:rPr>
              <a:t>Inside this folder create an empty Python file i.e. __init__.py</a:t>
            </a:r>
            <a:endParaRPr sz="1900">
              <a:solidFill>
                <a:schemeClr val="dk1"/>
              </a:solidFill>
              <a:latin typeface="Times New Roman"/>
              <a:ea typeface="Times New Roman"/>
              <a:cs typeface="Times New Roman"/>
              <a:sym typeface="Times New Roman"/>
            </a:endParaRPr>
          </a:p>
          <a:p>
            <a:pPr indent="-331152" lvl="0" marL="457200" rtl="0" algn="l">
              <a:lnSpc>
                <a:spcPct val="158000"/>
              </a:lnSpc>
              <a:spcBef>
                <a:spcPts val="0"/>
              </a:spcBef>
              <a:spcAft>
                <a:spcPts val="0"/>
              </a:spcAft>
              <a:buClr>
                <a:schemeClr val="dk1"/>
              </a:buClr>
              <a:buSzPct val="100000"/>
              <a:buFont typeface="Times New Roman"/>
              <a:buChar char="●"/>
            </a:pPr>
            <a:r>
              <a:rPr lang="en" sz="1900">
                <a:solidFill>
                  <a:schemeClr val="dk1"/>
                </a:solidFill>
                <a:latin typeface="Times New Roman"/>
                <a:ea typeface="Times New Roman"/>
                <a:cs typeface="Times New Roman"/>
                <a:sym typeface="Times New Roman"/>
              </a:rPr>
              <a:t>Then create two modules mod1 and mod2 in this folder.</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ct val="84615"/>
              <a:buFont typeface="Arial"/>
              <a:buNone/>
            </a:pPr>
            <a:r>
              <a:t/>
            </a:r>
            <a:endParaRPr sz="1300">
              <a:solidFill>
                <a:srgbClr val="FFFFFF"/>
              </a:solidFill>
              <a:highlight>
                <a:srgbClr val="131417"/>
              </a:highlight>
              <a:latin typeface="Nunito"/>
              <a:ea typeface="Nunito"/>
              <a:cs typeface="Nunito"/>
              <a:sym typeface="Nunito"/>
            </a:endParaRPr>
          </a:p>
          <a:p>
            <a:pPr indent="0" lvl="0" marL="0" marR="0" rtl="0" algn="l">
              <a:lnSpc>
                <a:spcPct val="100000"/>
              </a:lnSpc>
              <a:spcBef>
                <a:spcPts val="800"/>
              </a:spcBef>
              <a:spcAft>
                <a:spcPts val="1800"/>
              </a:spcAft>
              <a:buSzPct val="183005"/>
              <a:buNone/>
            </a:pPr>
            <a:r>
              <a:t/>
            </a:r>
            <a:endParaRPr b="1" sz="1800">
              <a:solidFill>
                <a:srgbClr val="FF0000"/>
              </a:solidFill>
              <a:highlight>
                <a:srgbClr val="131417"/>
              </a:highlight>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0"/>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fontScale="55000" lnSpcReduction="20000"/>
          </a:bodyPr>
          <a:lstStyle/>
          <a:p>
            <a:pPr indent="0" lvl="0" marL="0" marR="0" rtl="0" algn="l">
              <a:lnSpc>
                <a:spcPct val="100000"/>
              </a:lnSpc>
              <a:spcBef>
                <a:spcPts val="0"/>
              </a:spcBef>
              <a:spcAft>
                <a:spcPts val="0"/>
              </a:spcAft>
              <a:buSzPct val="199643"/>
              <a:buNone/>
            </a:pPr>
            <a:r>
              <a:rPr lang="en" sz="2550">
                <a:solidFill>
                  <a:schemeClr val="dk1"/>
                </a:solidFill>
                <a:latin typeface="Times New Roman"/>
                <a:ea typeface="Times New Roman"/>
                <a:cs typeface="Times New Roman"/>
                <a:sym typeface="Times New Roman"/>
              </a:rPr>
              <a:t>Mod1.py</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1800"/>
              </a:spcBef>
              <a:spcAft>
                <a:spcPts val="0"/>
              </a:spcAft>
              <a:buClr>
                <a:schemeClr val="dk1"/>
              </a:buClr>
              <a:buSzPct val="43137"/>
              <a:buFont typeface="Arial"/>
              <a:buNone/>
            </a:pPr>
            <a:r>
              <a:rPr lang="en" sz="2550">
                <a:solidFill>
                  <a:schemeClr val="dk1"/>
                </a:solidFill>
                <a:latin typeface="Times New Roman"/>
                <a:ea typeface="Times New Roman"/>
                <a:cs typeface="Times New Roman"/>
                <a:sym typeface="Times New Roman"/>
              </a:rPr>
              <a:t>def gfg():</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99643"/>
              <a:buNone/>
            </a:pPr>
            <a:r>
              <a:rPr lang="en" sz="2550">
                <a:solidFill>
                  <a:schemeClr val="dk1"/>
                </a:solidFill>
                <a:latin typeface="Times New Roman"/>
                <a:ea typeface="Times New Roman"/>
                <a:cs typeface="Times New Roman"/>
                <a:sym typeface="Times New Roman"/>
              </a:rPr>
              <a:t>    print("Welcome to GFG")</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99643"/>
              <a:buNone/>
            </a:pPr>
            <a:r>
              <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99643"/>
              <a:buNone/>
            </a:pPr>
            <a:r>
              <a:rPr lang="en" sz="2550">
                <a:solidFill>
                  <a:schemeClr val="dk1"/>
                </a:solidFill>
                <a:latin typeface="Times New Roman"/>
                <a:ea typeface="Times New Roman"/>
                <a:cs typeface="Times New Roman"/>
                <a:sym typeface="Times New Roman"/>
              </a:rPr>
              <a:t>Mod2.py </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99643"/>
              <a:buNone/>
            </a:pPr>
            <a:r>
              <a:rPr lang="en" sz="2550">
                <a:solidFill>
                  <a:schemeClr val="dk1"/>
                </a:solidFill>
                <a:latin typeface="Times New Roman"/>
                <a:ea typeface="Times New Roman"/>
                <a:cs typeface="Times New Roman"/>
                <a:sym typeface="Times New Roman"/>
              </a:rPr>
              <a:t>def sum(a, b):</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99643"/>
              <a:buNone/>
            </a:pPr>
            <a:r>
              <a:rPr lang="en" sz="2550">
                <a:solidFill>
                  <a:schemeClr val="dk1"/>
                </a:solidFill>
                <a:latin typeface="Times New Roman"/>
                <a:ea typeface="Times New Roman"/>
                <a:cs typeface="Times New Roman"/>
                <a:sym typeface="Times New Roman"/>
              </a:rPr>
              <a:t>    return a+b</a:t>
            </a:r>
            <a:endParaRPr sz="255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SzPct val="199643"/>
              <a:buNone/>
            </a:pPr>
            <a:r>
              <a:t/>
            </a:r>
            <a:endParaRPr sz="255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199643"/>
              <a:buNone/>
            </a:pPr>
            <a:r>
              <a:rPr lang="en" sz="2550">
                <a:solidFill>
                  <a:schemeClr val="dk1"/>
                </a:solidFill>
                <a:latin typeface="Times New Roman"/>
                <a:ea typeface="Times New Roman"/>
                <a:cs typeface="Times New Roman"/>
                <a:sym typeface="Times New Roman"/>
              </a:rPr>
              <a:t>Understanding __init__.py</a:t>
            </a:r>
            <a:endParaRPr sz="255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199643"/>
              <a:buNone/>
            </a:pPr>
            <a:r>
              <a:rPr lang="en" sz="2550">
                <a:solidFill>
                  <a:schemeClr val="dk1"/>
                </a:solidFill>
                <a:latin typeface="Times New Roman"/>
                <a:ea typeface="Times New Roman"/>
                <a:cs typeface="Times New Roman"/>
                <a:sym typeface="Times New Roman"/>
              </a:rPr>
              <a:t>__init__.py helps the Python interpreter recognize the folder as a package. It also specifies the resources to be imported from the modules. If the __init__.py is empty this means that all the functions of the modules will be imported. We can also specify the functions from each module to be made available.</a:t>
            </a:r>
            <a:endParaRPr sz="255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SzPct val="267942"/>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SzPct val="391608"/>
              <a:buNone/>
            </a:pPr>
            <a:r>
              <a:t/>
            </a:r>
            <a:endParaRPr sz="1300">
              <a:solidFill>
                <a:srgbClr val="FFFFFF"/>
              </a:solidFill>
              <a:highlight>
                <a:srgbClr val="131417"/>
              </a:highlight>
              <a:latin typeface="Nunito"/>
              <a:ea typeface="Nunito"/>
              <a:cs typeface="Nunito"/>
              <a:sym typeface="Nunito"/>
            </a:endParaRPr>
          </a:p>
          <a:p>
            <a:pPr indent="0" lvl="0" marL="0" marR="139700" rtl="0" algn="l">
              <a:lnSpc>
                <a:spcPct val="120000"/>
              </a:lnSpc>
              <a:spcBef>
                <a:spcPts val="1800"/>
              </a:spcBef>
              <a:spcAft>
                <a:spcPts val="0"/>
              </a:spcAft>
              <a:buSzPts val="2800"/>
              <a:buNone/>
            </a:pPr>
            <a:r>
              <a:t/>
            </a:r>
            <a:endParaRPr sz="1100">
              <a:solidFill>
                <a:srgbClr val="F8F8F2"/>
              </a:solidFill>
              <a:highlight>
                <a:srgbClr val="272822"/>
              </a:highlight>
              <a:latin typeface="Courier New"/>
              <a:ea typeface="Courier New"/>
              <a:cs typeface="Courier New"/>
              <a:sym typeface="Courier New"/>
            </a:endParaRPr>
          </a:p>
          <a:p>
            <a:pPr indent="0" lvl="0" marL="0" marR="139700" rtl="0" algn="l">
              <a:lnSpc>
                <a:spcPct val="120000"/>
              </a:lnSpc>
              <a:spcBef>
                <a:spcPts val="0"/>
              </a:spcBef>
              <a:spcAft>
                <a:spcPts val="0"/>
              </a:spcAft>
              <a:buClr>
                <a:schemeClr val="dk1"/>
              </a:buClr>
              <a:buSzPct val="84615"/>
              <a:buFont typeface="Arial"/>
              <a:buNone/>
            </a:pPr>
            <a:r>
              <a:t/>
            </a:r>
            <a:endParaRPr b="1" sz="1300">
              <a:solidFill>
                <a:srgbClr val="FFFFFF"/>
              </a:solidFill>
              <a:highlight>
                <a:srgbClr val="131417"/>
              </a:highlight>
              <a:latin typeface="Nunito"/>
              <a:ea typeface="Nunito"/>
              <a:cs typeface="Nunito"/>
              <a:sym typeface="Nunito"/>
            </a:endParaRPr>
          </a:p>
          <a:p>
            <a:pPr indent="0" lvl="0" marL="0" marR="0" rtl="0" algn="l">
              <a:lnSpc>
                <a:spcPct val="100000"/>
              </a:lnSpc>
              <a:spcBef>
                <a:spcPts val="0"/>
              </a:spcBef>
              <a:spcAft>
                <a:spcPts val="1800"/>
              </a:spcAft>
              <a:buSzPct val="391608"/>
              <a:buNone/>
            </a:pPr>
            <a:r>
              <a:t/>
            </a:r>
            <a:endParaRPr b="1"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1"/>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Clr>
                <a:schemeClr val="dk1"/>
              </a:buClr>
              <a:buSzPts val="1100"/>
              <a:buFont typeface="Arial"/>
              <a:buNone/>
            </a:pPr>
            <a:r>
              <a:rPr lang="en" sz="1508">
                <a:solidFill>
                  <a:schemeClr val="dk1"/>
                </a:solidFill>
                <a:latin typeface="Times New Roman"/>
                <a:ea typeface="Times New Roman"/>
                <a:cs typeface="Times New Roman"/>
                <a:sym typeface="Times New Roman"/>
              </a:rPr>
              <a:t>For example, we can also create the __init__.py file for the above module as: </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SzPts val="2800"/>
              <a:buNone/>
            </a:pPr>
            <a:r>
              <a:rPr lang="en" sz="1508">
                <a:solidFill>
                  <a:schemeClr val="dk1"/>
                </a:solidFill>
                <a:latin typeface="Times New Roman"/>
                <a:ea typeface="Times New Roman"/>
                <a:cs typeface="Times New Roman"/>
                <a:sym typeface="Times New Roman"/>
              </a:rPr>
              <a:t>__init__.py</a:t>
            </a:r>
            <a:endParaRPr sz="1508">
              <a:solidFill>
                <a:schemeClr val="dk1"/>
              </a:solidFill>
              <a:latin typeface="Times New Roman"/>
              <a:ea typeface="Times New Roman"/>
              <a:cs typeface="Times New Roman"/>
              <a:sym typeface="Times New Roman"/>
            </a:endParaRPr>
          </a:p>
          <a:p>
            <a:pPr indent="0" lvl="0" marL="0" marR="139700" rtl="0" algn="l">
              <a:lnSpc>
                <a:spcPct val="100000"/>
              </a:lnSpc>
              <a:spcBef>
                <a:spcPts val="800"/>
              </a:spcBef>
              <a:spcAft>
                <a:spcPts val="0"/>
              </a:spcAft>
              <a:buSzPts val="2800"/>
              <a:buNone/>
            </a:pPr>
            <a:r>
              <a:rPr lang="en" sz="1508">
                <a:solidFill>
                  <a:schemeClr val="dk1"/>
                </a:solidFill>
                <a:latin typeface="Times New Roman"/>
                <a:ea typeface="Times New Roman"/>
                <a:cs typeface="Times New Roman"/>
                <a:sym typeface="Times New Roman"/>
              </a:rPr>
              <a:t>from .mod1 import gfg</a:t>
            </a:r>
            <a:endParaRPr sz="1508">
              <a:solidFill>
                <a:schemeClr val="dk1"/>
              </a:solidFill>
              <a:latin typeface="Times New Roman"/>
              <a:ea typeface="Times New Roman"/>
              <a:cs typeface="Times New Roman"/>
              <a:sym typeface="Times New Roman"/>
            </a:endParaRPr>
          </a:p>
          <a:p>
            <a:pPr indent="0" lvl="0" marL="0" marR="139700" rtl="0" algn="l">
              <a:lnSpc>
                <a:spcPct val="100000"/>
              </a:lnSpc>
              <a:spcBef>
                <a:spcPts val="0"/>
              </a:spcBef>
              <a:spcAft>
                <a:spcPts val="0"/>
              </a:spcAft>
              <a:buSzPts val="2800"/>
              <a:buNone/>
            </a:pPr>
            <a:r>
              <a:rPr lang="en" sz="1508">
                <a:solidFill>
                  <a:schemeClr val="dk1"/>
                </a:solidFill>
                <a:latin typeface="Times New Roman"/>
                <a:ea typeface="Times New Roman"/>
                <a:cs typeface="Times New Roman"/>
                <a:sym typeface="Times New Roman"/>
              </a:rPr>
              <a:t>from .mod2 import sum</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Clr>
                <a:schemeClr val="dk1"/>
              </a:buClr>
              <a:buSzPts val="1100"/>
              <a:buFont typeface="Arial"/>
              <a:buNone/>
            </a:pPr>
            <a:r>
              <a:rPr lang="en" sz="1508">
                <a:solidFill>
                  <a:schemeClr val="dk1"/>
                </a:solidFill>
                <a:latin typeface="Times New Roman"/>
                <a:ea typeface="Times New Roman"/>
                <a:cs typeface="Times New Roman"/>
                <a:sym typeface="Times New Roman"/>
              </a:rPr>
              <a:t>This __init__.py will only allow the gfg and sum functions from the mod1 and mod2 modules to be imported.</a:t>
            </a:r>
            <a:endParaRPr sz="1508">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SzPts val="2800"/>
              <a:buNone/>
            </a:pPr>
            <a:r>
              <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lang="en" sz="1508">
                <a:solidFill>
                  <a:schemeClr val="dk1"/>
                </a:solidFill>
                <a:latin typeface="Times New Roman"/>
                <a:ea typeface="Times New Roman"/>
                <a:cs typeface="Times New Roman"/>
                <a:sym typeface="Times New Roman"/>
              </a:rPr>
              <a:t>Import Modules from a Package</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lang="en" sz="1508">
                <a:solidFill>
                  <a:schemeClr val="dk1"/>
                </a:solidFill>
                <a:latin typeface="Times New Roman"/>
                <a:ea typeface="Times New Roman"/>
                <a:cs typeface="Times New Roman"/>
                <a:sym typeface="Times New Roman"/>
              </a:rPr>
              <a:t>We can import these Python modules using the </a:t>
            </a:r>
            <a:r>
              <a:rPr lang="en" sz="1508">
                <a:solidFill>
                  <a:schemeClr val="hlink"/>
                </a:solidFill>
                <a:uFill>
                  <a:noFill/>
                </a:uFill>
                <a:latin typeface="Times New Roman"/>
                <a:ea typeface="Times New Roman"/>
                <a:cs typeface="Times New Roman"/>
                <a:sym typeface="Times New Roman"/>
                <a:hlinkClick r:id="rId3"/>
              </a:rPr>
              <a:t>from…import statement</a:t>
            </a:r>
            <a:r>
              <a:rPr lang="en" sz="1508">
                <a:solidFill>
                  <a:schemeClr val="dk1"/>
                </a:solidFill>
                <a:latin typeface="Times New Roman"/>
                <a:ea typeface="Times New Roman"/>
                <a:cs typeface="Times New Roman"/>
                <a:sym typeface="Times New Roman"/>
              </a:rPr>
              <a:t> and the dot(.) operator. </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SzPts val="2800"/>
              <a:buNone/>
            </a:pPr>
            <a:r>
              <a:rPr lang="en" sz="1508">
                <a:solidFill>
                  <a:schemeClr val="dk1"/>
                </a:solidFill>
                <a:latin typeface="Times New Roman"/>
                <a:ea typeface="Times New Roman"/>
                <a:cs typeface="Times New Roman"/>
                <a:sym typeface="Times New Roman"/>
              </a:rPr>
              <a:t>Syntax:</a:t>
            </a:r>
            <a:endParaRPr sz="1508">
              <a:solidFill>
                <a:schemeClr val="dk1"/>
              </a:solidFill>
              <a:latin typeface="Times New Roman"/>
              <a:ea typeface="Times New Roman"/>
              <a:cs typeface="Times New Roman"/>
              <a:sym typeface="Times New Roman"/>
            </a:endParaRPr>
          </a:p>
          <a:p>
            <a:pPr indent="0" lvl="0" marL="190500" marR="190500" rtl="0" algn="l">
              <a:lnSpc>
                <a:spcPct val="100000"/>
              </a:lnSpc>
              <a:spcBef>
                <a:spcPts val="800"/>
              </a:spcBef>
              <a:spcAft>
                <a:spcPts val="0"/>
              </a:spcAft>
              <a:buSzPts val="2800"/>
              <a:buNone/>
            </a:pPr>
            <a:r>
              <a:rPr lang="en" sz="1508">
                <a:solidFill>
                  <a:schemeClr val="dk1"/>
                </a:solidFill>
                <a:latin typeface="Times New Roman"/>
                <a:ea typeface="Times New Roman"/>
                <a:cs typeface="Times New Roman"/>
                <a:sym typeface="Times New Roman"/>
              </a:rPr>
              <a:t>import package_name.module_name</a:t>
            </a:r>
            <a:endParaRPr sz="1508">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Clr>
                <a:schemeClr val="dk1"/>
              </a:buClr>
              <a:buSzPts val="1100"/>
              <a:buFont typeface="Arial"/>
              <a:buNone/>
            </a:pPr>
            <a:r>
              <a:t/>
            </a:r>
            <a:endParaRPr sz="1508">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SzPts val="2800"/>
              <a:buNone/>
            </a:pPr>
            <a:r>
              <a:t/>
            </a:r>
            <a:endParaRPr b="1" sz="1508">
              <a:solidFill>
                <a:schemeClr val="dk1"/>
              </a:solidFill>
              <a:highlight>
                <a:srgbClr val="131417"/>
              </a:highlight>
              <a:latin typeface="Times New Roman"/>
              <a:ea typeface="Times New Roman"/>
              <a:cs typeface="Times New Roman"/>
              <a:sym typeface="Times New Roman"/>
            </a:endParaRPr>
          </a:p>
          <a:p>
            <a:pPr indent="0" lvl="0" marL="0" marR="0" rtl="0" algn="l">
              <a:lnSpc>
                <a:spcPct val="100000"/>
              </a:lnSpc>
              <a:spcBef>
                <a:spcPts val="1800"/>
              </a:spcBef>
              <a:spcAft>
                <a:spcPts val="0"/>
              </a:spcAft>
              <a:buSzPts val="2800"/>
              <a:buNone/>
            </a:pPr>
            <a:r>
              <a:t/>
            </a:r>
            <a:endParaRPr b="1" sz="1300">
              <a:solidFill>
                <a:srgbClr val="FFFFFF"/>
              </a:solidFill>
              <a:highlight>
                <a:srgbClr val="131417"/>
              </a:highlight>
              <a:latin typeface="Nunito"/>
              <a:ea typeface="Nunito"/>
              <a:cs typeface="Nunito"/>
              <a:sym typeface="Nunito"/>
            </a:endParaRPr>
          </a:p>
          <a:p>
            <a:pPr indent="0" lvl="0" marL="0" marR="0" rtl="0" algn="l">
              <a:lnSpc>
                <a:spcPct val="100000"/>
              </a:lnSpc>
              <a:spcBef>
                <a:spcPts val="1800"/>
              </a:spcBef>
              <a:spcAft>
                <a:spcPts val="1800"/>
              </a:spcAft>
              <a:buSzPts val="2800"/>
              <a:buNone/>
            </a:pPr>
            <a:r>
              <a:t/>
            </a:r>
            <a:endParaRPr b="1" sz="1300">
              <a:solidFill>
                <a:srgbClr val="FFFFFF"/>
              </a:solidFill>
              <a:highlight>
                <a:srgbClr val="131417"/>
              </a:highlight>
              <a:latin typeface="Nunito"/>
              <a:ea typeface="Nunito"/>
              <a:cs typeface="Nunito"/>
              <a:sym typeface="Nuni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2"/>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Example 1:</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We will import the modules from the above-created package and will use the functions inside those modules.</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from mypckg import mod1</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from mypckg import mod2</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mod1.gfg()</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res = mod2.sum(1, 2)</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print(res)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SzPts val="2800"/>
              <a:buNone/>
            </a:pPr>
            <a:r>
              <a:rPr lang="en" sz="1800">
                <a:solidFill>
                  <a:schemeClr val="dk1"/>
                </a:solidFill>
                <a:latin typeface="Times New Roman"/>
                <a:ea typeface="Times New Roman"/>
                <a:cs typeface="Times New Roman"/>
                <a:sym typeface="Times New Roman"/>
              </a:rPr>
              <a:t>Welcome to GFG</a:t>
            </a:r>
            <a:endParaRPr sz="1800">
              <a:solidFill>
                <a:schemeClr val="dk1"/>
              </a:solidFill>
              <a:latin typeface="Times New Roman"/>
              <a:ea typeface="Times New Roman"/>
              <a:cs typeface="Times New Roman"/>
              <a:sym typeface="Times New Roman"/>
            </a:endParaRPr>
          </a:p>
          <a:p>
            <a:pPr indent="0" lvl="0" marL="190500" marR="190500" rtl="0" algn="l">
              <a:lnSpc>
                <a:spcPct val="115000"/>
              </a:lnSpc>
              <a:spcBef>
                <a:spcPts val="1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3</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1800"/>
              </a:spcAft>
              <a:buSzPts val="2800"/>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3"/>
          <p:cNvSpPr txBox="1"/>
          <p:nvPr>
            <p:ph idx="1" type="subTitle"/>
          </p:nvPr>
        </p:nvSpPr>
        <p:spPr>
          <a:xfrm>
            <a:off x="267000" y="263900"/>
            <a:ext cx="8610000" cy="472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Example 2:</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We can also import the specific function also using the same syntax.</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from mypckg.mod1 import gfg</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from mypckg.mod2 import sum</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gfg()</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res = sum(1, 2)</a:t>
            </a:r>
            <a:endParaRPr sz="1800">
              <a:solidFill>
                <a:schemeClr val="dk1"/>
              </a:solidFill>
              <a:latin typeface="Times New Roman"/>
              <a:ea typeface="Times New Roman"/>
              <a:cs typeface="Times New Roman"/>
              <a:sym typeface="Times New Roman"/>
            </a:endParaRPr>
          </a:p>
          <a:p>
            <a:pPr indent="0" lvl="0" marL="0" marR="139700" rtl="0" algn="l">
              <a:lnSpc>
                <a:spcPct val="120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print(res)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SzPts val="2800"/>
              <a:buNone/>
            </a:pPr>
            <a:r>
              <a:rPr lang="en" sz="1800">
                <a:solidFill>
                  <a:schemeClr val="dk1"/>
                </a:solidFill>
                <a:latin typeface="Times New Roman"/>
                <a:ea typeface="Times New Roman"/>
                <a:cs typeface="Times New Roman"/>
                <a:sym typeface="Times New Roman"/>
              </a:rPr>
              <a:t>Welcome to GFG</a:t>
            </a:r>
            <a:endParaRPr sz="1800">
              <a:solidFill>
                <a:schemeClr val="dk1"/>
              </a:solidFill>
              <a:latin typeface="Times New Roman"/>
              <a:ea typeface="Times New Roman"/>
              <a:cs typeface="Times New Roman"/>
              <a:sym typeface="Times New Roman"/>
            </a:endParaRPr>
          </a:p>
          <a:p>
            <a:pPr indent="0" lvl="0" marL="190500" marR="190500" rtl="0" algn="l">
              <a:lnSpc>
                <a:spcPct val="115000"/>
              </a:lnSpc>
              <a:spcBef>
                <a:spcPts val="18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3</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1800"/>
              </a:spcAft>
              <a:buSzPts val="2800"/>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