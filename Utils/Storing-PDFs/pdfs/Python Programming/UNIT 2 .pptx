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9144000" cy="5143500" type="screen16x9"/>
  <p:notesSz cx="6858000" cy="9144000"/>
  <p:embeddedFontLst>
    <p:embeddedFont>
      <p:font typeface="Georgia" panose="02040502050405020303" pitchFamily="18" charset="0"/>
      <p:regular r:id="rId68"/>
      <p:bold r:id="rId69"/>
      <p:italic r:id="rId70"/>
      <p:boldItalic r:id="rId71"/>
    </p:embeddedFont>
    <p:embeddedFont>
      <p:font typeface="Nunito" pitchFamily="2" charset="0"/>
      <p:regular r:id="rId72"/>
      <p:bold r:id="rId73"/>
      <p:italic r:id="rId74"/>
      <p:boldItalic r:id="rId75"/>
    </p:embeddedFont>
    <p:embeddedFont>
      <p:font typeface="Roboto" panose="02000000000000000000" pitchFamily="2" charset="0"/>
      <p:regular r:id="rId76"/>
      <p:bold r:id="rId77"/>
      <p:italic r:id="rId78"/>
      <p:boldItalic r:id="rId79"/>
    </p:embeddedFont>
    <p:embeddedFont>
      <p:font typeface="Verdana" panose="020B0604030504040204" pitchFamily="34" charset="0"/>
      <p:regular r:id="rId80"/>
      <p:bold r:id="rId81"/>
      <p:italic r:id="rId82"/>
      <p:boldItalic r:id="rId8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font" Target="fonts/font1.fntdata"/><Relationship Id="rId76" Type="http://schemas.openxmlformats.org/officeDocument/2006/relationships/font" Target="fonts/font9.fntdata"/><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7.fntdata"/><Relationship Id="rId79" Type="http://schemas.openxmlformats.org/officeDocument/2006/relationships/font" Target="fonts/font12.fntdata"/><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15.fntdata"/><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2.fntdata"/><Relationship Id="rId77"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5.fntdata"/><Relationship Id="rId80" Type="http://schemas.openxmlformats.org/officeDocument/2006/relationships/font" Target="fonts/font13.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3.fntdata"/><Relationship Id="rId75" Type="http://schemas.openxmlformats.org/officeDocument/2006/relationships/font" Target="fonts/font8.fntdata"/><Relationship Id="rId83"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6.fntdata"/><Relationship Id="rId78" Type="http://schemas.openxmlformats.org/officeDocument/2006/relationships/font" Target="fonts/font11.fntdata"/><Relationship Id="rId81" Type="http://schemas.openxmlformats.org/officeDocument/2006/relationships/font" Target="fonts/font14.fntdata"/><Relationship Id="rId8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94b9fc645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4b9fc645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95c6f963e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5c6f963e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95cc53110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95cc53110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95cc531100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295cc531100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95cc531100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95cc531100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95cc531100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295cc531100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9697b78eda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9697b78ed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9697b78eda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9697b78eda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a901ce397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a901ce397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9697b78eda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9697b78eda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9697b78eda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9697b78eda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95cc531100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95cc531100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95cc531100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95cc53110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9697b78eda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9697b78eda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9697b78eda_0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9697b78eda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ab85b6c7d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ab85b6c7d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9697b78eda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9697b78eda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ab85b6c7d8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ab85b6c7d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b85b6c7d8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b85b6c7d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ab85b6c7d8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ab85b6c7d8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ab85b6c7d8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ab85b6c7d8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9697b78eda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9697b78eda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ab85b6c7d8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ab85b6c7d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ab85b6c7d8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ab85b6c7d8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9697b78eda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9697b78eda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9697b78eda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9697b78eda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9697b78eda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9697b78eda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95cc531100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95cc531100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95cc531100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295cc531100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265dc592c2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265dc592c2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95cc531100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95cc531100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ab85b6c7d8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ab85b6c7d8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ab85b6c7d8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ab85b6c7d8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ab85b6c7d8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ab85b6c7d8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ab85b6c7d8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ab85b6c7d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ab85b6c7d8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ab85b6c7d8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ab85b6c7d8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ab85b6c7d8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9697b78eda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29697b78eda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9697b78eda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9697b78eda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9697b78eda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29697b78eda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9697b78eda_0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29697b78eda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9697b78eda_0_1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9697b78eda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9697b78eda_0_1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9697b78eda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9697b78eda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9697b78eda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9697b78eda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9697b78eda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9697b78eda_0_1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29697b78eda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9697b78eda_0_1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29697b78eda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29697b78eda_0_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29697b78eda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9697b78eda_0_2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9697b78eda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95cc531100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95cc531100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295cc531100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295cc531100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ab85b6c7d8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ab85b6c7d8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9697b78eda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29697b78eda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ab85b6c7d8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ab85b6c7d8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2ab85b6c7d8_1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2ab85b6c7d8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2ab85b6c7d8_1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2ab85b6c7d8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ab85b6c7d8_1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2ab85b6c7d8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ab85b6c7d8_1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2ab85b6c7d8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265dc592c2a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265dc592c2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b0599e303b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2b0599e303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2b0599e303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2b0599e303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2b0599e303b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2b0599e303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2b0599e303b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b0599e303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b0599e303b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b0599e303b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eeksforgeeks.org/python-list/"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hyperlink" Target="https://pynative.com/python-break-continue-pass/#h-break-statement-in-python" TargetMode="External"/><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hyperlink" Target="https://pynative.com/python-break-continue-pass/#h-continue-statement-in-python" TargetMode="External"/><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hyperlink" Target="https://pynative.com/python-break-continue-pass/#h-pass-statement-in-python" TargetMode="External"/><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hyperlink" Target="https://www.geeksforgeeks.org/python-list/" TargetMode="External"/><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hyperlink" Target="https://www.geeksforgeeks.org/zip-in-python/" TargetMode="Externa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792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3600">
                <a:latin typeface="Times New Roman"/>
                <a:ea typeface="Times New Roman"/>
                <a:cs typeface="Times New Roman"/>
                <a:sym typeface="Times New Roman"/>
              </a:rPr>
              <a:t>							UNIT II</a:t>
            </a:r>
            <a:endParaRPr sz="3600">
              <a:latin typeface="Times New Roman"/>
              <a:ea typeface="Times New Roman"/>
              <a:cs typeface="Times New Roman"/>
              <a:sym typeface="Times New Roman"/>
            </a:endParaRPr>
          </a:p>
        </p:txBody>
      </p:sp>
      <p:sp>
        <p:nvSpPr>
          <p:cNvPr id="55" name="Google Shape;55;p13"/>
          <p:cNvSpPr txBox="1">
            <a:spLocks noGrp="1"/>
          </p:cNvSpPr>
          <p:nvPr>
            <p:ph type="subTitle" idx="1"/>
          </p:nvPr>
        </p:nvSpPr>
        <p:spPr>
          <a:xfrm>
            <a:off x="311700" y="2131200"/>
            <a:ext cx="8520600" cy="1230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600" dirty="0">
                <a:latin typeface="Times New Roman"/>
                <a:ea typeface="Times New Roman"/>
                <a:cs typeface="Times New Roman"/>
                <a:sym typeface="Times New Roman"/>
              </a:rPr>
              <a:t>   Data Structures &amp; Control Flow Statements</a:t>
            </a:r>
            <a:endParaRPr sz="3600" dirty="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subTitle" idx="1"/>
          </p:nvPr>
        </p:nvSpPr>
        <p:spPr>
          <a:xfrm>
            <a:off x="412350" y="275075"/>
            <a:ext cx="8520600" cy="46515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Python Data Structures</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Data Structures are a way of organizing data so that it can be accessed more efficiently depending upon the situation.</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Lists</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uFill>
                  <a:noFill/>
                </a:u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Python Lists</a:t>
            </a:r>
            <a:r>
              <a:rPr lang="en" sz="1800">
                <a:solidFill>
                  <a:schemeClr val="dk1"/>
                </a:solidFill>
                <a:latin typeface="Times New Roman"/>
                <a:ea typeface="Times New Roman"/>
                <a:cs typeface="Times New Roman"/>
                <a:sym typeface="Times New Roman"/>
              </a:rPr>
              <a:t> are just like the arrays, declared in other languages which is an ordered collection of data. It is very flexible as the items in a list do not need to be of the same type.</a:t>
            </a: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r>
              <a:rPr lang="en" sz="1800">
                <a:solidFill>
                  <a:schemeClr val="dk1"/>
                </a:solidFill>
                <a:latin typeface="Times New Roman"/>
                <a:ea typeface="Times New Roman"/>
                <a:cs typeface="Times New Roman"/>
                <a:sym typeface="Times New Roman"/>
              </a:rPr>
              <a:t>Example : </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List = [1, 2,  3, "GFG", 2.3]</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print(List)</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[1, 2, 3, 'GFG', 2.3]</a:t>
            </a: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subTitle" idx="1"/>
          </p:nvPr>
        </p:nvSpPr>
        <p:spPr>
          <a:xfrm>
            <a:off x="412350" y="275075"/>
            <a:ext cx="8520600" cy="465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Example</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List = ["Geeks", "For", "Geeks"]</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print("\nList containing multiple values: ")</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print(List)</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List2 = [['Geeks', 'For'], ['Geeks']]</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print("\nMulti-Dimensional List: ")</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print(List2)</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print("Accessing element from the list")</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print(List[0]) </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print(List[2])</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 print the last element of list</a:t>
            </a:r>
            <a:r>
              <a:rPr lang="en" sz="1100">
                <a:solidFill>
                  <a:srgbClr val="75715E"/>
                </a:solidFill>
                <a:highlight>
                  <a:srgbClr val="272822"/>
                </a:highlight>
                <a:latin typeface="Courier New"/>
                <a:ea typeface="Courier New"/>
                <a:cs typeface="Courier New"/>
                <a:sym typeface="Courier New"/>
              </a:rPr>
              <a:t> </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print(List[-1])</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 print the third last element of list </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print(List[-3])</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6"/>
          <p:cNvSpPr txBox="1">
            <a:spLocks noGrp="1"/>
          </p:cNvSpPr>
          <p:nvPr>
            <p:ph type="subTitle" idx="1"/>
          </p:nvPr>
        </p:nvSpPr>
        <p:spPr>
          <a:xfrm>
            <a:off x="412350" y="275075"/>
            <a:ext cx="8520600" cy="465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List containing multiple values: </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['Geeks', 'For', 'Geeks']</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Multi-Dimensional List: </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[['Geeks', 'For'], ['Geeks']]</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Accessing element from the list</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Geeks</a:t>
            </a: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Geeks</a:t>
            </a: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800"/>
              </a:spcBef>
              <a:spcAft>
                <a:spcPts val="0"/>
              </a:spcAft>
              <a:buSzPts val="1100"/>
              <a:buNone/>
            </a:pPr>
            <a:r>
              <a:rPr lang="en" sz="1800">
                <a:solidFill>
                  <a:schemeClr val="dk1"/>
                </a:solidFill>
                <a:latin typeface="Times New Roman"/>
                <a:ea typeface="Times New Roman"/>
                <a:cs typeface="Times New Roman"/>
                <a:sym typeface="Times New Roman"/>
              </a:rPr>
              <a:t>Geeks</a:t>
            </a: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800"/>
              </a:spcBef>
              <a:spcAft>
                <a:spcPts val="0"/>
              </a:spcAft>
              <a:buSzPts val="1100"/>
              <a:buNone/>
            </a:pPr>
            <a:r>
              <a:rPr lang="en" sz="1800">
                <a:solidFill>
                  <a:schemeClr val="dk1"/>
                </a:solidFill>
                <a:latin typeface="Times New Roman"/>
                <a:ea typeface="Times New Roman"/>
                <a:cs typeface="Times New Roman"/>
                <a:sym typeface="Times New Roman"/>
              </a:rPr>
              <a:t>Geeks</a:t>
            </a: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8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7"/>
          <p:cNvSpPr txBox="1">
            <a:spLocks noGrp="1"/>
          </p:cNvSpPr>
          <p:nvPr>
            <p:ph type="subTitle" idx="1"/>
          </p:nvPr>
        </p:nvSpPr>
        <p:spPr>
          <a:xfrm>
            <a:off x="412350" y="275075"/>
            <a:ext cx="8520600" cy="4651500"/>
          </a:xfrm>
          <a:prstGeom prst="rect">
            <a:avLst/>
          </a:prstGeom>
        </p:spPr>
        <p:txBody>
          <a:bodyPr spcFirstLastPara="1" wrap="square" lIns="91425" tIns="91425" rIns="91425" bIns="91425" anchor="t" anchorCtr="0">
            <a:noAutofit/>
          </a:bodyPr>
          <a:lstStyle/>
          <a:p>
            <a:pPr marL="0" marR="19050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Lists Methods</a:t>
            </a: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endParaRPr sz="1800">
              <a:solidFill>
                <a:schemeClr val="dk1"/>
              </a:solidFill>
              <a:latin typeface="Times New Roman"/>
              <a:ea typeface="Times New Roman"/>
              <a:cs typeface="Times New Roman"/>
              <a:sym typeface="Times New Roman"/>
            </a:endParaRPr>
          </a:p>
        </p:txBody>
      </p:sp>
      <p:pic>
        <p:nvPicPr>
          <p:cNvPr id="76" name="Google Shape;76;p17"/>
          <p:cNvPicPr preferRelativeResize="0"/>
          <p:nvPr/>
        </p:nvPicPr>
        <p:blipFill rotWithShape="1">
          <a:blip r:embed="rId3">
            <a:alphaModFix/>
          </a:blip>
          <a:srcRect l="22847" t="17505" r="28238" b="13113"/>
          <a:stretch/>
        </p:blipFill>
        <p:spPr>
          <a:xfrm>
            <a:off x="490775" y="733525"/>
            <a:ext cx="7815900" cy="4193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8"/>
          <p:cNvSpPr txBox="1">
            <a:spLocks noGrp="1"/>
          </p:cNvSpPr>
          <p:nvPr>
            <p:ph type="subTitle" idx="1"/>
          </p:nvPr>
        </p:nvSpPr>
        <p:spPr>
          <a:xfrm>
            <a:off x="412350" y="275075"/>
            <a:ext cx="8520600" cy="4651500"/>
          </a:xfrm>
          <a:prstGeom prst="rect">
            <a:avLst/>
          </a:prstGeom>
        </p:spPr>
        <p:txBody>
          <a:bodyPr spcFirstLastPara="1" wrap="square" lIns="91425" tIns="91425" rIns="91425" bIns="91425" anchor="t" anchorCtr="0">
            <a:noAutofit/>
          </a:bodyPr>
          <a:lstStyle/>
          <a:p>
            <a:pPr marL="0" marR="19050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Lists Methods</a:t>
            </a: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endParaRPr sz="1800">
              <a:solidFill>
                <a:schemeClr val="dk1"/>
              </a:solidFill>
              <a:latin typeface="Times New Roman"/>
              <a:ea typeface="Times New Roman"/>
              <a:cs typeface="Times New Roman"/>
              <a:sym typeface="Times New Roman"/>
            </a:endParaRPr>
          </a:p>
        </p:txBody>
      </p:sp>
      <p:pic>
        <p:nvPicPr>
          <p:cNvPr id="82" name="Google Shape;82;p18"/>
          <p:cNvPicPr preferRelativeResize="0"/>
          <p:nvPr/>
        </p:nvPicPr>
        <p:blipFill rotWithShape="1">
          <a:blip r:embed="rId3">
            <a:alphaModFix/>
          </a:blip>
          <a:srcRect l="22852" t="14245" r="28233" b="46823"/>
          <a:stretch/>
        </p:blipFill>
        <p:spPr>
          <a:xfrm>
            <a:off x="647325" y="778250"/>
            <a:ext cx="7312724" cy="3272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9"/>
          <p:cNvSpPr txBox="1">
            <a:spLocks noGrp="1"/>
          </p:cNvSpPr>
          <p:nvPr>
            <p:ph type="subTitle" idx="1"/>
          </p:nvPr>
        </p:nvSpPr>
        <p:spPr>
          <a:xfrm>
            <a:off x="412350" y="275075"/>
            <a:ext cx="8520600" cy="46515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append() : Used for appending and adding elements to the List. It is used to add elements to the last position of the List</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Syntax: list.append (element)</a:t>
            </a:r>
            <a:endParaRPr sz="18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insert() : Inserts an element at the specified position. </a:t>
            </a:r>
            <a:endParaRPr sz="18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list.insert(&lt;position, element)</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extend() Adds contents to List2 to the end of List1. </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Syntax: List1.extend(List2)</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sum()</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Calculates the sum of all the elements of the List. </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Syntax: sum(List)</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count()</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Calculates the total occurrence of a given element of the List. </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Syntax: List.count(element)</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length</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Calculates the total length of the List. </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Syntax: len(list_name)</a:t>
            </a:r>
            <a:endParaRPr sz="1800">
              <a:solidFill>
                <a:schemeClr val="dk1"/>
              </a:solidFill>
              <a:latin typeface="Times New Roman"/>
              <a:ea typeface="Times New Roman"/>
              <a:cs typeface="Times New Roman"/>
              <a:sym typeface="Times New Roman"/>
            </a:endParaRPr>
          </a:p>
          <a:p>
            <a:pPr marL="0" marR="228600" lvl="0" indent="0" algn="l" rtl="0">
              <a:lnSpc>
                <a:spcPct val="115000"/>
              </a:lnSpc>
              <a:spcBef>
                <a:spcPts val="800"/>
              </a:spcBef>
              <a:spcAft>
                <a:spcPts val="0"/>
              </a:spcAft>
              <a:buSzPts val="1100"/>
              <a:buNone/>
            </a:pPr>
            <a:endParaRPr sz="1300" i="1">
              <a:solidFill>
                <a:schemeClr val="dk1"/>
              </a:solidFill>
              <a:latin typeface="Nunito"/>
              <a:ea typeface="Nunito"/>
              <a:cs typeface="Nunito"/>
              <a:sym typeface="Nunito"/>
            </a:endParaRPr>
          </a:p>
          <a:p>
            <a:pPr marL="228600" marR="228600" lvl="0" indent="0" algn="l" rtl="0">
              <a:lnSpc>
                <a:spcPct val="115000"/>
              </a:lnSpc>
              <a:spcBef>
                <a:spcPts val="2600"/>
              </a:spcBef>
              <a:spcAft>
                <a:spcPts val="0"/>
              </a:spcAft>
              <a:buSzPts val="1100"/>
              <a:buNone/>
            </a:pPr>
            <a:endParaRPr sz="1300" i="1">
              <a:solidFill>
                <a:schemeClr val="dk1"/>
              </a:solidFill>
              <a:latin typeface="Nunito"/>
              <a:ea typeface="Nunito"/>
              <a:cs typeface="Nunito"/>
              <a:sym typeface="Nunito"/>
            </a:endParaRPr>
          </a:p>
          <a:p>
            <a:pPr marL="0" lvl="0" indent="0" algn="l" rtl="0">
              <a:lnSpc>
                <a:spcPct val="115000"/>
              </a:lnSpc>
              <a:spcBef>
                <a:spcPts val="2600"/>
              </a:spcBef>
              <a:spcAft>
                <a:spcPts val="0"/>
              </a:spcAft>
              <a:buSzPts val="1100"/>
              <a:buNone/>
            </a:pPr>
            <a:endParaRPr sz="1300" i="1">
              <a:solidFill>
                <a:srgbClr val="FFFFFF"/>
              </a:solidFill>
              <a:highlight>
                <a:srgbClr val="2A2A2C"/>
              </a:highlight>
              <a:latin typeface="Nunito"/>
              <a:ea typeface="Nunito"/>
              <a:cs typeface="Nunito"/>
              <a:sym typeface="Nunito"/>
            </a:endParaRPr>
          </a:p>
          <a:p>
            <a:pPr marL="0" lvl="0" indent="0" algn="l" rtl="0">
              <a:lnSpc>
                <a:spcPct val="115000"/>
              </a:lnSpc>
              <a:spcBef>
                <a:spcPts val="1800"/>
              </a:spcBef>
              <a:spcAft>
                <a:spcPts val="0"/>
              </a:spcAft>
              <a:buSzPts val="1100"/>
              <a:buNone/>
            </a:pPr>
            <a:endParaRPr sz="1300" i="1">
              <a:solidFill>
                <a:srgbClr val="FFFFFF"/>
              </a:solidFill>
              <a:highlight>
                <a:srgbClr val="2A2A2C"/>
              </a:highlight>
              <a:latin typeface="Nunito"/>
              <a:ea typeface="Nunito"/>
              <a:cs typeface="Nunito"/>
              <a:sym typeface="Nunito"/>
            </a:endParaRPr>
          </a:p>
          <a:p>
            <a:pPr marL="0" lvl="0" indent="0" algn="l" rtl="0">
              <a:lnSpc>
                <a:spcPct val="115000"/>
              </a:lnSpc>
              <a:spcBef>
                <a:spcPts val="1800"/>
              </a:spcBef>
              <a:spcAft>
                <a:spcPts val="0"/>
              </a:spcAft>
              <a:buSzPts val="1100"/>
              <a:buNone/>
            </a:pPr>
            <a:endParaRPr sz="1300" i="1">
              <a:solidFill>
                <a:srgbClr val="FFFFFF"/>
              </a:solidFill>
              <a:highlight>
                <a:srgbClr val="2A2A2C"/>
              </a:highlight>
              <a:latin typeface="Nunito"/>
              <a:ea typeface="Nunito"/>
              <a:cs typeface="Nunito"/>
              <a:sym typeface="Nunito"/>
            </a:endParaRPr>
          </a:p>
          <a:p>
            <a:pPr marL="0" marR="139700" lvl="0" indent="0" algn="l" rtl="0">
              <a:lnSpc>
                <a:spcPct val="120000"/>
              </a:lnSpc>
              <a:spcBef>
                <a:spcPts val="1800"/>
              </a:spcBef>
              <a:spcAft>
                <a:spcPts val="0"/>
              </a:spcAft>
              <a:buSzPts val="1100"/>
              <a:buNone/>
            </a:pPr>
            <a:endParaRPr sz="1100">
              <a:solidFill>
                <a:srgbClr val="66D9EF"/>
              </a:solidFill>
              <a:highlight>
                <a:srgbClr val="272822"/>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endParaRPr sz="1100">
              <a:solidFill>
                <a:srgbClr val="66D9EF"/>
              </a:solidFill>
              <a:highlight>
                <a:srgbClr val="272822"/>
              </a:highlight>
              <a:latin typeface="Courier New"/>
              <a:ea typeface="Courier New"/>
              <a:cs typeface="Courier New"/>
              <a:sym typeface="Courier New"/>
            </a:endParaRPr>
          </a:p>
          <a:p>
            <a:pPr marL="0" marR="190500" lvl="0" indent="0" algn="l" rtl="0">
              <a:lnSpc>
                <a:spcPct val="115000"/>
              </a:lnSpc>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800"/>
              </a:spcBef>
              <a:spcAft>
                <a:spcPts val="0"/>
              </a:spcAft>
              <a:buSzPts val="1100"/>
              <a:buNone/>
            </a:pPr>
            <a:r>
              <a:rPr lang="e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0"/>
          <p:cNvSpPr txBox="1">
            <a:spLocks noGrp="1"/>
          </p:cNvSpPr>
          <p:nvPr>
            <p:ph type="subTitle" idx="1"/>
          </p:nvPr>
        </p:nvSpPr>
        <p:spPr>
          <a:xfrm>
            <a:off x="412350" y="275075"/>
            <a:ext cx="8520600" cy="50205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index()</a:t>
            </a:r>
            <a:endParaRPr sz="18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Returns the index of the first occurrence. The start and end indexes are not necessary parameters. </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Syntax: List.index(element[,start[,end]])</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min()</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Calculates minimum of all the elements of List.</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Syntax: min(iterable, *iterables[, key])</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max()</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Calculates the maximum of all the elements of the List.</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Syntax: max(iterable, *iterables[, key])</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reverse()</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Sort the given data structure (both tuple and list) in ascending order. Key and reverse_flag are not necessary parameter and reverse_flag is set to False if nothing is passed through sorted().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Syntax</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sorted([list[,key[,Reverse_Flag]]])</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 list.sort([key,[Reverse_flag]])</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1"/>
          <p:cNvSpPr txBox="1">
            <a:spLocks noGrp="1"/>
          </p:cNvSpPr>
          <p:nvPr>
            <p:ph type="subTitle" idx="1"/>
          </p:nvPr>
        </p:nvSpPr>
        <p:spPr>
          <a:xfrm>
            <a:off x="311700" y="61500"/>
            <a:ext cx="8520600" cy="50205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PROGRAM</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List = ['Mathematics', 'chemistry', 1997, 2000]</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List.append(20544)</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print(List)</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List.insert(2, 10087)</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print(List)</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List1 = [1, 2, 3]</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List2 = [2, 3, 4, 5]</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 List1.extend(List2)</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print(List1)</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 List2.extend(List1)</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print(List2)</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List = [1, 2, 3, 4, 5]</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print(sum(List))</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List = [1, 2, 3, 1, 2, 1, 2, 3, 2, 1]</a:t>
            </a:r>
            <a:endParaRPr sz="15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print(List.count(1))</a:t>
            </a:r>
            <a:endParaRPr sz="15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500">
                <a:solidFill>
                  <a:schemeClr val="dk1"/>
                </a:solidFill>
                <a:latin typeface="Times New Roman"/>
                <a:ea typeface="Times New Roman"/>
                <a:cs typeface="Times New Roman"/>
                <a:sym typeface="Times New Roman"/>
              </a:rPr>
              <a:t>print(len(List))</a:t>
            </a:r>
            <a:endParaRPr sz="15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500">
                <a:solidFill>
                  <a:schemeClr val="dk1"/>
                </a:solidFill>
                <a:latin typeface="Times New Roman"/>
                <a:ea typeface="Times New Roman"/>
                <a:cs typeface="Times New Roman"/>
                <a:sym typeface="Times New Roman"/>
              </a:rPr>
              <a:t>print(List.index(2))</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2"/>
          <p:cNvSpPr txBox="1">
            <a:spLocks noGrp="1"/>
          </p:cNvSpPr>
          <p:nvPr>
            <p:ph type="subTitle" idx="1"/>
          </p:nvPr>
        </p:nvSpPr>
        <p:spPr>
          <a:xfrm>
            <a:off x="311700" y="61500"/>
            <a:ext cx="8520600" cy="502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['Mathematics', 'chemistry', 1997, 2000, 20544]</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['Mathematics', 'chemistry', 10087, 1997, 2000, 20544]</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[1, 2, 3, 2, 3, 4, 5]</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[2, 3, 4, 5, 1, 2, 3, 2, 3, 4, 5]</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15</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4</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10</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1</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3"/>
          <p:cNvSpPr txBox="1">
            <a:spLocks noGrp="1"/>
          </p:cNvSpPr>
          <p:nvPr>
            <p:ph type="subTitle" idx="1"/>
          </p:nvPr>
        </p:nvSpPr>
        <p:spPr>
          <a:xfrm>
            <a:off x="412350" y="275075"/>
            <a:ext cx="8520600" cy="502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Times New Roman"/>
                <a:ea typeface="Times New Roman"/>
                <a:cs typeface="Times New Roman"/>
                <a:sym typeface="Times New Roman"/>
              </a:rPr>
              <a:t>PROGRAM</a:t>
            </a:r>
            <a:endParaRPr sz="1100">
              <a:solidFill>
                <a:srgbClr val="F8F8F2"/>
              </a:solidFill>
              <a:highlight>
                <a:srgbClr val="272822"/>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numbers = [5, 2, 8, 1, 9]</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print(min(numbers))</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print(max(numbers))</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List = [2.3, 4.445, 3, 5.33, 1.054, 2.5]</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#Reverse flag is set True</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List.sort(reverse=True)</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#List.sort().reverse(), reverses the sorted list </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print(List)   </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4"/>
          <p:cNvSpPr txBox="1">
            <a:spLocks noGrp="1"/>
          </p:cNvSpPr>
          <p:nvPr>
            <p:ph type="subTitle" idx="1"/>
          </p:nvPr>
        </p:nvSpPr>
        <p:spPr>
          <a:xfrm>
            <a:off x="412350" y="275075"/>
            <a:ext cx="8520600" cy="50205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['Mathematics', 'chemistry', 1997, 2000, 20544]</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['Mathematics', 'chemistry', 10087, 1997, 2000, 20544]</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800"/>
              </a:spcBef>
              <a:spcAft>
                <a:spcPts val="0"/>
              </a:spcAft>
              <a:buNone/>
            </a:pPr>
            <a:r>
              <a:rPr lang="en" sz="1800">
                <a:solidFill>
                  <a:schemeClr val="dk1"/>
                </a:solidFill>
                <a:latin typeface="Times New Roman"/>
                <a:ea typeface="Times New Roman"/>
                <a:cs typeface="Times New Roman"/>
                <a:sym typeface="Times New Roman"/>
              </a:rPr>
              <a:t>[1, 2, 3, 2, 3, 4, 5]</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[2, 3, 4, 5, 1, 2, 3, 2, 3, 4, 5]</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15</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4</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10</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1</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1</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9</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[5.33, 4.445, 3, 2.5, 2.3, 1.054]</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800"/>
              </a:spcBef>
              <a:spcAft>
                <a:spcPts val="0"/>
              </a:spcAft>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5"/>
          <p:cNvSpPr txBox="1">
            <a:spLocks noGrp="1"/>
          </p:cNvSpPr>
          <p:nvPr>
            <p:ph type="subTitle" idx="1"/>
          </p:nvPr>
        </p:nvSpPr>
        <p:spPr>
          <a:xfrm>
            <a:off x="412350" y="275075"/>
            <a:ext cx="8520600" cy="4808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Dictionary : Dictionary holds the key:value pair. </a:t>
            </a: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Example:</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800"/>
              </a:spcBef>
              <a:spcAft>
                <a:spcPts val="0"/>
              </a:spcAft>
              <a:buSzPts val="1100"/>
              <a:buNone/>
            </a:pPr>
            <a:r>
              <a:rPr lang="en" sz="1800">
                <a:solidFill>
                  <a:schemeClr val="dk1"/>
                </a:solidFill>
                <a:latin typeface="Times New Roman"/>
                <a:ea typeface="Times New Roman"/>
                <a:cs typeface="Times New Roman"/>
                <a:sym typeface="Times New Roman"/>
              </a:rPr>
              <a:t>Dict = {'Name': 'Geeks', 1: [1, 2, 3, 4]}</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print("Creating Dictionary: ")</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print(Dict)</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 # accessing a element using key</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print("Accessing a element using key:")</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print(Dict['Name'])</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 # accessing a element using get() # method</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print("Accessing a element using get:")</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print(Dict.get(1))</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 # creation using Dictionary comprehension</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myDict = {x: x**2 for x in [1,2,3,4,5]}</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print(myDict)</a:t>
            </a: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0"/>
              </a:spcBef>
              <a:spcAft>
                <a:spcPts val="0"/>
              </a:spcAft>
              <a:buSzPts val="1100"/>
              <a:buNone/>
            </a:pPr>
            <a:endParaRPr sz="1300">
              <a:solidFill>
                <a:srgbClr val="FFFFFF"/>
              </a:solidFill>
              <a:highlight>
                <a:srgbClr val="131417"/>
              </a:highlight>
              <a:latin typeface="Nunito"/>
              <a:ea typeface="Nunito"/>
              <a:cs typeface="Nunito"/>
              <a:sym typeface="Nunito"/>
            </a:endParaRPr>
          </a:p>
          <a:p>
            <a:pPr marL="0" lvl="0" indent="0" algn="l" rtl="0">
              <a:spcBef>
                <a:spcPts val="800"/>
              </a:spcBef>
              <a:spcAft>
                <a:spcPts val="0"/>
              </a:spcAft>
              <a:buSzPts val="605"/>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6"/>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Creating Dictionary: </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{'Name': 'Geeks', 1: [1, 2, 3, 4]}</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Accessing a element using key:</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Geeks</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Accessing a element using get:</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[1, 2, 3, 4]</a:t>
            </a: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{1: 1, 2: 4, 3: 9, 4: 16, 5: 25}</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SzPts val="1100"/>
              <a:buNone/>
            </a:pPr>
            <a:r>
              <a:rPr lang="en" sz="1200">
                <a:solidFill>
                  <a:srgbClr val="FFFFFF"/>
                </a:solidFill>
                <a:latin typeface="Courier New"/>
                <a:ea typeface="Courier New"/>
                <a:cs typeface="Courier New"/>
                <a:sym typeface="Courier New"/>
              </a:rPr>
              <a:t>tuple.count(element)</a:t>
            </a:r>
            <a:endParaRPr sz="1200">
              <a:solidFill>
                <a:srgbClr val="FFFFFF"/>
              </a:solidFill>
              <a:latin typeface="Courier New"/>
              <a:ea typeface="Courier New"/>
              <a:cs typeface="Courier New"/>
              <a:sym typeface="Courier New"/>
            </a:endParaRPr>
          </a:p>
          <a:p>
            <a:pPr marL="0" lvl="0" indent="0" algn="l" rtl="0">
              <a:lnSpc>
                <a:spcPct val="115000"/>
              </a:lnSpc>
              <a:spcBef>
                <a:spcPts val="800"/>
              </a:spcBef>
              <a:spcAft>
                <a:spcPts val="0"/>
              </a:spcAft>
              <a:buClr>
                <a:schemeClr val="dk1"/>
              </a:buClr>
              <a:buSzPts val="1100"/>
              <a:buFont typeface="Arial"/>
              <a:buNone/>
            </a:pPr>
            <a:endParaRPr sz="1800" b="1">
              <a:solidFill>
                <a:srgbClr val="FFFFFF"/>
              </a:solidFill>
              <a:highlight>
                <a:srgbClr val="131417"/>
              </a:highlight>
              <a:latin typeface="Nunito"/>
              <a:ea typeface="Nunito"/>
              <a:cs typeface="Nunito"/>
              <a:sym typeface="Nunito"/>
            </a:endParaRPr>
          </a:p>
          <a:p>
            <a:pPr marL="0" marR="190500" lvl="0" indent="0" algn="l" rtl="0">
              <a:lnSpc>
                <a:spcPct val="115000"/>
              </a:lnSpc>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8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7"/>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b="1">
                <a:solidFill>
                  <a:srgbClr val="FFFFFF"/>
                </a:solidFill>
                <a:highlight>
                  <a:srgbClr val="131417"/>
                </a:highlight>
                <a:latin typeface="Nunito"/>
                <a:ea typeface="Nunito"/>
                <a:cs typeface="Nunito"/>
                <a:sym typeface="Nunito"/>
              </a:rPr>
              <a:t>Dictionary Methods</a:t>
            </a:r>
            <a:endParaRPr sz="1800" b="1">
              <a:solidFill>
                <a:srgbClr val="FFFFFF"/>
              </a:solidFill>
              <a:highlight>
                <a:srgbClr val="131417"/>
              </a:highlight>
              <a:latin typeface="Nunito"/>
              <a:ea typeface="Nunito"/>
              <a:cs typeface="Nunito"/>
              <a:sym typeface="Nunito"/>
            </a:endParaRPr>
          </a:p>
          <a:p>
            <a:pPr marL="0" lvl="0" indent="0" algn="l" rtl="0">
              <a:spcBef>
                <a:spcPts val="0"/>
              </a:spcBef>
              <a:spcAft>
                <a:spcPts val="0"/>
              </a:spcAft>
              <a:buSzPts val="605"/>
              <a:buNone/>
            </a:pPr>
            <a:endParaRPr sz="1800">
              <a:solidFill>
                <a:schemeClr val="dk1"/>
              </a:solidFill>
              <a:latin typeface="Times New Roman"/>
              <a:ea typeface="Times New Roman"/>
              <a:cs typeface="Times New Roman"/>
              <a:sym typeface="Times New Roman"/>
            </a:endParaRPr>
          </a:p>
        </p:txBody>
      </p:sp>
      <p:pic>
        <p:nvPicPr>
          <p:cNvPr id="128" name="Google Shape;128;p27"/>
          <p:cNvPicPr preferRelativeResize="0"/>
          <p:nvPr/>
        </p:nvPicPr>
        <p:blipFill rotWithShape="1">
          <a:blip r:embed="rId3">
            <a:alphaModFix/>
          </a:blip>
          <a:srcRect l="22852" t="18373" r="27499" b="24425"/>
          <a:stretch/>
        </p:blipFill>
        <p:spPr>
          <a:xfrm>
            <a:off x="736775" y="722350"/>
            <a:ext cx="7133798" cy="37793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8"/>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clear() Method</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The clear() method in Python is a built-in method that is used to remove all the elements (key-value pairs) from a dictionary. It essentially empties the dictionary, leaving it with no key-value pairs.</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 car =	{</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  "brand": "Ford",</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  "model": "Mustang",</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  "year": 1964</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car.clear()</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print(car)</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SzPts val="1100"/>
              <a:buNone/>
            </a:pP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800"/>
              </a:spcBef>
              <a:spcAft>
                <a:spcPts val="0"/>
              </a:spcAft>
              <a:buSzPts val="1100"/>
              <a:buNone/>
            </a:pPr>
            <a:endParaRPr sz="1300">
              <a:solidFill>
                <a:srgbClr val="FFFFFF"/>
              </a:solidFill>
              <a:highlight>
                <a:srgbClr val="131417"/>
              </a:highlight>
              <a:latin typeface="Nunito"/>
              <a:ea typeface="Nunito"/>
              <a:cs typeface="Nunito"/>
              <a:sym typeface="Nunito"/>
            </a:endParaRPr>
          </a:p>
          <a:p>
            <a:pPr marL="0" lvl="0" indent="0" algn="l" rtl="0">
              <a:lnSpc>
                <a:spcPct val="115000"/>
              </a:lnSpc>
              <a:spcBef>
                <a:spcPts val="800"/>
              </a:spcBef>
              <a:spcAft>
                <a:spcPts val="0"/>
              </a:spcAft>
              <a:buSzPts val="1100"/>
              <a:buNone/>
            </a:pPr>
            <a:endParaRPr sz="1800" b="1">
              <a:solidFill>
                <a:srgbClr val="FFFFFF"/>
              </a:solidFill>
              <a:highlight>
                <a:srgbClr val="131417"/>
              </a:highlight>
              <a:latin typeface="Nunito"/>
              <a:ea typeface="Nunito"/>
              <a:cs typeface="Nunito"/>
              <a:sym typeface="Nunito"/>
            </a:endParaRPr>
          </a:p>
          <a:p>
            <a:pPr marL="0" lvl="0" indent="0" algn="l" rtl="0">
              <a:spcBef>
                <a:spcPts val="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9"/>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1800"/>
              </a:spcBef>
              <a:spcAft>
                <a:spcPts val="0"/>
              </a:spcAft>
              <a:buSzPts val="1100"/>
              <a:buNone/>
            </a:pPr>
            <a:r>
              <a:rPr lang="en" sz="1800">
                <a:solidFill>
                  <a:schemeClr val="dk1"/>
                </a:solidFill>
                <a:latin typeface="Times New Roman"/>
                <a:ea typeface="Times New Roman"/>
                <a:cs typeface="Times New Roman"/>
                <a:sym typeface="Times New Roman"/>
              </a:rPr>
              <a:t>get() Method</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800"/>
              </a:spcBef>
              <a:spcAft>
                <a:spcPts val="0"/>
              </a:spcAft>
              <a:buSzPts val="1100"/>
              <a:buNone/>
            </a:pPr>
            <a:r>
              <a:rPr lang="en" sz="1800">
                <a:solidFill>
                  <a:schemeClr val="dk1"/>
                </a:solidFill>
                <a:latin typeface="Times New Roman"/>
                <a:ea typeface="Times New Roman"/>
                <a:cs typeface="Times New Roman"/>
                <a:sym typeface="Times New Roman"/>
              </a:rPr>
              <a:t>In Python, the get() method is a pre-built dictionary function that enables you to obtain the value linked to a particular key in a dictionary. It is a secure method to access dictionary values without causing a KeyError if the key isn’t present.</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800"/>
              </a:spcBef>
              <a:spcAft>
                <a:spcPts val="0"/>
              </a:spcAft>
              <a:buSzPts val="1100"/>
              <a:buNone/>
            </a:pPr>
            <a:endParaRPr sz="1300">
              <a:solidFill>
                <a:srgbClr val="FFFFFF"/>
              </a:solidFill>
              <a:highlight>
                <a:srgbClr val="131417"/>
              </a:highlight>
              <a:latin typeface="Nunito"/>
              <a:ea typeface="Nunito"/>
              <a:cs typeface="Nunito"/>
              <a:sym typeface="Nunito"/>
            </a:endParaRPr>
          </a:p>
          <a:p>
            <a:pPr marL="0" lvl="0" indent="0" algn="l" rtl="0">
              <a:lnSpc>
                <a:spcPct val="115000"/>
              </a:lnSpc>
              <a:spcBef>
                <a:spcPts val="800"/>
              </a:spcBef>
              <a:spcAft>
                <a:spcPts val="0"/>
              </a:spcAft>
              <a:buSzPts val="1100"/>
              <a:buNone/>
            </a:pPr>
            <a:endParaRPr sz="1800" b="1">
              <a:solidFill>
                <a:srgbClr val="FFFFFF"/>
              </a:solidFill>
              <a:highlight>
                <a:srgbClr val="131417"/>
              </a:highlight>
              <a:latin typeface="Nunito"/>
              <a:ea typeface="Nunito"/>
              <a:cs typeface="Nunito"/>
              <a:sym typeface="Nunito"/>
            </a:endParaRPr>
          </a:p>
          <a:p>
            <a:pPr marL="0" lvl="0" indent="0" algn="l" rtl="0">
              <a:spcBef>
                <a:spcPts val="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0"/>
          <p:cNvSpPr txBox="1">
            <a:spLocks noGrp="1"/>
          </p:cNvSpPr>
          <p:nvPr>
            <p:ph type="subTitle" idx="1"/>
          </p:nvPr>
        </p:nvSpPr>
        <p:spPr>
          <a:xfrm>
            <a:off x="155325" y="129725"/>
            <a:ext cx="8777700" cy="5013900"/>
          </a:xfrm>
          <a:prstGeom prst="rect">
            <a:avLst/>
          </a:prstGeom>
        </p:spPr>
        <p:txBody>
          <a:bodyPr spcFirstLastPara="1" wrap="square" lIns="91425" tIns="91425" rIns="91425" bIns="91425" anchor="t" anchorCtr="0">
            <a:noAutofit/>
          </a:bodyPr>
          <a:lstStyle/>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PROGRAM</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d = {'Name': 'Ram', 'Age': '19', 'Country': 'India'}</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print(d.get('Name'))</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print(d.get('Gender'))</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605"/>
              <a:buNone/>
            </a:pPr>
            <a:r>
              <a:rPr lang="en" sz="1800">
                <a:solidFill>
                  <a:schemeClr val="dk1"/>
                </a:solidFill>
                <a:latin typeface="Times New Roman"/>
                <a:ea typeface="Times New Roman"/>
                <a:cs typeface="Times New Roman"/>
                <a:sym typeface="Times New Roman"/>
              </a:rPr>
              <a:t>Ram</a:t>
            </a:r>
            <a:endParaRPr sz="1800">
              <a:solidFill>
                <a:schemeClr val="dk1"/>
              </a:solidFill>
              <a:latin typeface="Times New Roman"/>
              <a:ea typeface="Times New Roman"/>
              <a:cs typeface="Times New Roman"/>
              <a:sym typeface="Times New Roman"/>
            </a:endParaRPr>
          </a:p>
          <a:p>
            <a:pPr marL="190500" marR="190500" lvl="0" indent="0" algn="l" rtl="0">
              <a:lnSpc>
                <a:spcPct val="10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None</a:t>
            </a:r>
            <a:endParaRPr sz="1800">
              <a:solidFill>
                <a:schemeClr val="dk1"/>
              </a:solidFill>
              <a:latin typeface="Times New Roman"/>
              <a:ea typeface="Times New Roman"/>
              <a:cs typeface="Times New Roman"/>
              <a:sym typeface="Times New Roman"/>
            </a:endParaRPr>
          </a:p>
          <a:p>
            <a:pPr marL="0" lvl="0" indent="0" algn="l" rtl="0">
              <a:lnSpc>
                <a:spcPct val="100000"/>
              </a:lnSpc>
              <a:spcBef>
                <a:spcPts val="5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items() Method</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5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In Python, the items() method is a built-in dictionary function that retrieves a view object containing a list of tuples. Each tuple represents a key-value pair from the dictionary. This method is a convenient way to access both the keys and values of a dictionary simultaneously, and it is highly efficient.</a:t>
            </a: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1"/>
          <p:cNvSpPr txBox="1">
            <a:spLocks noGrp="1"/>
          </p:cNvSpPr>
          <p:nvPr>
            <p:ph type="subTitle" idx="1"/>
          </p:nvPr>
        </p:nvSpPr>
        <p:spPr>
          <a:xfrm>
            <a:off x="155325" y="129725"/>
            <a:ext cx="8777700" cy="5013900"/>
          </a:xfrm>
          <a:prstGeom prst="rect">
            <a:avLst/>
          </a:prstGeom>
        </p:spPr>
        <p:txBody>
          <a:bodyPr spcFirstLastPara="1" wrap="square" lIns="91425" tIns="91425" rIns="91425" bIns="91425" anchor="t" anchorCtr="0">
            <a:noAutofit/>
          </a:bodyPr>
          <a:lstStyle/>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PROGRAM</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d = {'Name': 'Ram', 'Age': '19', 'Country': 'India'}</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print(d.get('Name'))</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print(d.get('Gender'))</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605"/>
              <a:buNone/>
            </a:pPr>
            <a:r>
              <a:rPr lang="en" sz="1800">
                <a:solidFill>
                  <a:schemeClr val="dk1"/>
                </a:solidFill>
                <a:latin typeface="Times New Roman"/>
                <a:ea typeface="Times New Roman"/>
                <a:cs typeface="Times New Roman"/>
                <a:sym typeface="Times New Roman"/>
              </a:rPr>
              <a:t>Ram</a:t>
            </a:r>
            <a:endParaRPr sz="1800">
              <a:solidFill>
                <a:schemeClr val="dk1"/>
              </a:solidFill>
              <a:latin typeface="Times New Roman"/>
              <a:ea typeface="Times New Roman"/>
              <a:cs typeface="Times New Roman"/>
              <a:sym typeface="Times New Roman"/>
            </a:endParaRPr>
          </a:p>
          <a:p>
            <a:pPr marL="190500" marR="190500" lvl="0" indent="0" algn="l" rtl="0">
              <a:lnSpc>
                <a:spcPct val="10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None</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None/>
            </a:pPr>
            <a:r>
              <a:rPr lang="en" sz="1800" b="1" u="sng">
                <a:solidFill>
                  <a:schemeClr val="dk1"/>
                </a:solidFill>
                <a:latin typeface="Times New Roman"/>
                <a:ea typeface="Times New Roman"/>
                <a:cs typeface="Times New Roman"/>
                <a:sym typeface="Times New Roman"/>
              </a:rPr>
              <a:t>copy() Method</a:t>
            </a:r>
            <a:endParaRPr sz="1800" b="1" u="sng">
              <a:solidFill>
                <a:schemeClr val="dk1"/>
              </a:solidFill>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The </a:t>
            </a:r>
            <a:r>
              <a:rPr lang="en" sz="1200">
                <a:solidFill>
                  <a:srgbClr val="DC143C"/>
                </a:solidFill>
                <a:highlight>
                  <a:srgbClr val="FFFFFF"/>
                </a:highlight>
                <a:latin typeface="Courier New"/>
                <a:ea typeface="Courier New"/>
                <a:cs typeface="Courier New"/>
                <a:sym typeface="Courier New"/>
              </a:rPr>
              <a:t>copy()</a:t>
            </a:r>
            <a:r>
              <a:rPr lang="en" sz="1150">
                <a:solidFill>
                  <a:schemeClr val="dk1"/>
                </a:solidFill>
                <a:highlight>
                  <a:srgbClr val="FFFFFF"/>
                </a:highlight>
                <a:latin typeface="Verdana"/>
                <a:ea typeface="Verdana"/>
                <a:cs typeface="Verdana"/>
                <a:sym typeface="Verdana"/>
              </a:rPr>
              <a:t> method returns a copy of the specified dictionary.</a:t>
            </a:r>
            <a:endParaRPr sz="1150">
              <a:solidFill>
                <a:schemeClr val="dk1"/>
              </a:solidFill>
              <a:highlight>
                <a:srgbClr val="FFFFFF"/>
              </a:highlight>
              <a:latin typeface="Verdana"/>
              <a:ea typeface="Verdana"/>
              <a:cs typeface="Verdana"/>
              <a:sym typeface="Verdana"/>
            </a:endParaRPr>
          </a:p>
          <a:p>
            <a:pPr marL="0" lvl="0" indent="0" algn="l" rtl="0">
              <a:lnSpc>
                <a:spcPct val="115000"/>
              </a:lnSpc>
              <a:spcBef>
                <a:spcPts val="1400"/>
              </a:spcBef>
              <a:spcAft>
                <a:spcPts val="0"/>
              </a:spcAft>
              <a:buClr>
                <a:schemeClr val="dk1"/>
              </a:buClr>
              <a:buSzPts val="1100"/>
              <a:buFont typeface="Arial"/>
              <a:buNone/>
            </a:pPr>
            <a:endParaRPr sz="1150">
              <a:solidFill>
                <a:schemeClr val="dk1"/>
              </a:solidFill>
              <a:highlight>
                <a:srgbClr val="FFFFFF"/>
              </a:highlight>
              <a:latin typeface="Verdana"/>
              <a:ea typeface="Verdana"/>
              <a:cs typeface="Verdana"/>
              <a:sym typeface="Verdana"/>
            </a:endParaRPr>
          </a:p>
          <a:p>
            <a:pPr marL="0" lvl="0" indent="0" algn="l" rtl="0">
              <a:lnSpc>
                <a:spcPct val="115000"/>
              </a:lnSpc>
              <a:spcBef>
                <a:spcPts val="800"/>
              </a:spcBef>
              <a:spcAft>
                <a:spcPts val="0"/>
              </a:spcAft>
              <a:buClr>
                <a:schemeClr val="dk1"/>
              </a:buClr>
              <a:buSzPts val="1100"/>
              <a:buFont typeface="Arial"/>
              <a:buNone/>
            </a:pPr>
            <a:r>
              <a:rPr lang="en" sz="2400">
                <a:solidFill>
                  <a:schemeClr val="dk1"/>
                </a:solidFill>
                <a:highlight>
                  <a:srgbClr val="FFFFFF"/>
                </a:highlight>
              </a:rPr>
              <a:t>Syntax</a:t>
            </a:r>
            <a:endParaRPr sz="2400">
              <a:solidFill>
                <a:schemeClr val="dk1"/>
              </a:solidFill>
              <a:highlight>
                <a:srgbClr val="FFFFFF"/>
              </a:highlight>
            </a:endParaRPr>
          </a:p>
          <a:p>
            <a:pPr marL="114300" marR="114300" lvl="0" indent="0" algn="l" rtl="0">
              <a:lnSpc>
                <a:spcPct val="115000"/>
              </a:lnSpc>
              <a:spcBef>
                <a:spcPts val="1200"/>
              </a:spcBef>
              <a:spcAft>
                <a:spcPts val="0"/>
              </a:spcAft>
              <a:buClr>
                <a:schemeClr val="dk1"/>
              </a:buClr>
              <a:buSzPts val="1100"/>
              <a:buFont typeface="Arial"/>
              <a:buNone/>
            </a:pPr>
            <a:r>
              <a:rPr lang="en" sz="1150" i="1">
                <a:solidFill>
                  <a:schemeClr val="dk1"/>
                </a:solidFill>
                <a:highlight>
                  <a:srgbClr val="FFFFFF"/>
                </a:highlight>
                <a:latin typeface="Courier New"/>
                <a:ea typeface="Courier New"/>
                <a:cs typeface="Courier New"/>
                <a:sym typeface="Courier New"/>
              </a:rPr>
              <a:t>dictionary</a:t>
            </a:r>
            <a:r>
              <a:rPr lang="en" sz="1150">
                <a:solidFill>
                  <a:schemeClr val="dk1"/>
                </a:solidFill>
                <a:highlight>
                  <a:srgbClr val="FFFFFF"/>
                </a:highlight>
                <a:latin typeface="Courier New"/>
                <a:ea typeface="Courier New"/>
                <a:cs typeface="Courier New"/>
                <a:sym typeface="Courier New"/>
              </a:rPr>
              <a:t>.copy()</a:t>
            </a:r>
            <a:endParaRPr sz="1150">
              <a:solidFill>
                <a:schemeClr val="dk1"/>
              </a:solidFill>
              <a:highlight>
                <a:srgbClr val="FFFFFF"/>
              </a:highlight>
              <a:latin typeface="Courier New"/>
              <a:ea typeface="Courier New"/>
              <a:cs typeface="Courier New"/>
              <a:sym typeface="Courier New"/>
            </a:endParaRPr>
          </a:p>
          <a:p>
            <a:pPr marL="0" lvl="0" indent="0" algn="l" rtl="0">
              <a:lnSpc>
                <a:spcPct val="115000"/>
              </a:lnSpc>
              <a:spcBef>
                <a:spcPts val="1200"/>
              </a:spcBef>
              <a:spcAft>
                <a:spcPts val="0"/>
              </a:spcAft>
              <a:buClr>
                <a:schemeClr val="dk1"/>
              </a:buClr>
              <a:buSzPts val="1100"/>
              <a:buFont typeface="Arial"/>
              <a:buNone/>
            </a:pPr>
            <a:endParaRPr sz="1800" b="1" u="sng">
              <a:solidFill>
                <a:schemeClr val="dk1"/>
              </a:solidFill>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32"/>
          <p:cNvSpPr txBox="1">
            <a:spLocks noGrp="1"/>
          </p:cNvSpPr>
          <p:nvPr>
            <p:ph type="subTitle" idx="1"/>
          </p:nvPr>
        </p:nvSpPr>
        <p:spPr>
          <a:xfrm>
            <a:off x="155325" y="129725"/>
            <a:ext cx="8777700" cy="50139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car =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800"/>
              </a:spcBef>
              <a:spcAft>
                <a:spcPts val="0"/>
              </a:spcAft>
              <a:buSzPts val="1100"/>
              <a:buNone/>
            </a:pPr>
            <a:r>
              <a:rPr lang="en" sz="1800">
                <a:solidFill>
                  <a:schemeClr val="dk1"/>
                </a:solidFill>
                <a:latin typeface="Times New Roman"/>
                <a:ea typeface="Times New Roman"/>
                <a:cs typeface="Times New Roman"/>
                <a:sym typeface="Times New Roman"/>
              </a:rPr>
              <a:t>  "brand": "Ford",</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800"/>
              </a:spcBef>
              <a:spcAft>
                <a:spcPts val="0"/>
              </a:spcAft>
              <a:buSzPts val="1100"/>
              <a:buNone/>
            </a:pPr>
            <a:r>
              <a:rPr lang="en" sz="1800">
                <a:solidFill>
                  <a:schemeClr val="dk1"/>
                </a:solidFill>
                <a:latin typeface="Times New Roman"/>
                <a:ea typeface="Times New Roman"/>
                <a:cs typeface="Times New Roman"/>
                <a:sym typeface="Times New Roman"/>
              </a:rPr>
              <a:t>  "model": "Mustang",</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800"/>
              </a:spcBef>
              <a:spcAft>
                <a:spcPts val="0"/>
              </a:spcAft>
              <a:buSzPts val="1100"/>
              <a:buNone/>
            </a:pPr>
            <a:r>
              <a:rPr lang="en" sz="1800">
                <a:solidFill>
                  <a:schemeClr val="dk1"/>
                </a:solidFill>
                <a:latin typeface="Times New Roman"/>
                <a:ea typeface="Times New Roman"/>
                <a:cs typeface="Times New Roman"/>
                <a:sym typeface="Times New Roman"/>
              </a:rPr>
              <a:t>  "year": 1964</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800"/>
              </a:spcBef>
              <a:spcAft>
                <a:spcPts val="0"/>
              </a:spcAft>
              <a:buSzPts val="1100"/>
              <a:buNone/>
            </a:pP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x = car.copy()</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 sz="1800">
                <a:solidFill>
                  <a:schemeClr val="dk1"/>
                </a:solidFill>
                <a:latin typeface="Times New Roman"/>
                <a:ea typeface="Times New Roman"/>
                <a:cs typeface="Times New Roman"/>
                <a:sym typeface="Times New Roman"/>
              </a:rPr>
              <a:t>print(x)</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150">
                <a:solidFill>
                  <a:srgbClr val="FFFFFF"/>
                </a:solidFill>
                <a:highlight>
                  <a:schemeClr val="dk1"/>
                </a:highlight>
                <a:latin typeface="Courier New"/>
                <a:ea typeface="Courier New"/>
                <a:cs typeface="Courier New"/>
                <a:sym typeface="Courier New"/>
              </a:rPr>
              <a:t>{</a:t>
            </a:r>
            <a:r>
              <a:rPr lang="en" sz="1800">
                <a:solidFill>
                  <a:schemeClr val="dk1"/>
                </a:solidFill>
                <a:latin typeface="Times New Roman"/>
                <a:ea typeface="Times New Roman"/>
                <a:cs typeface="Times New Roman"/>
                <a:sym typeface="Times New Roman"/>
              </a:rPr>
              <a:t>'brand': 'Ford', 'model': 'Mustang', 'year': 1964}</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3"/>
          <p:cNvSpPr txBox="1">
            <a:spLocks noGrp="1"/>
          </p:cNvSpPr>
          <p:nvPr>
            <p:ph type="subTitle" idx="1"/>
          </p:nvPr>
        </p:nvSpPr>
        <p:spPr>
          <a:xfrm>
            <a:off x="155325" y="129725"/>
            <a:ext cx="8777700" cy="5013900"/>
          </a:xfrm>
          <a:prstGeom prst="rect">
            <a:avLst/>
          </a:prstGeom>
        </p:spPr>
        <p:txBody>
          <a:bodyPr spcFirstLastPara="1" wrap="square" lIns="91425" tIns="91425" rIns="91425" bIns="91425" anchor="t" anchorCtr="0">
            <a:noAutofit/>
          </a:bodyPr>
          <a:lstStyle/>
          <a:p>
            <a:pPr marL="0" lvl="0" indent="0" algn="l" rtl="0">
              <a:lnSpc>
                <a:spcPct val="115000"/>
              </a:lnSpc>
              <a:spcBef>
                <a:spcPts val="800"/>
              </a:spcBef>
              <a:spcAft>
                <a:spcPts val="0"/>
              </a:spcAft>
              <a:buClr>
                <a:schemeClr val="dk1"/>
              </a:buClr>
              <a:buSzPts val="1100"/>
              <a:buFont typeface="Arial"/>
              <a:buNone/>
            </a:pPr>
            <a:r>
              <a:rPr lang="en" sz="1800" b="1" u="sng">
                <a:solidFill>
                  <a:schemeClr val="dk1"/>
                </a:solidFill>
                <a:highlight>
                  <a:srgbClr val="FFFFFF"/>
                </a:highlight>
                <a:latin typeface="Times New Roman"/>
                <a:ea typeface="Times New Roman"/>
                <a:cs typeface="Times New Roman"/>
                <a:sym typeface="Times New Roman"/>
              </a:rPr>
              <a:t>get() Method</a:t>
            </a:r>
            <a:endParaRPr sz="1800" b="1" u="sng">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r>
              <a:rPr lang="en" sz="1550">
                <a:solidFill>
                  <a:schemeClr val="dk1"/>
                </a:solidFill>
                <a:highlight>
                  <a:srgbClr val="FFFFFF"/>
                </a:highlight>
                <a:latin typeface="Times New Roman"/>
                <a:ea typeface="Times New Roman"/>
                <a:cs typeface="Times New Roman"/>
                <a:sym typeface="Times New Roman"/>
              </a:rPr>
              <a:t>The </a:t>
            </a:r>
            <a:r>
              <a:rPr lang="en" sz="1600">
                <a:solidFill>
                  <a:srgbClr val="DC143C"/>
                </a:solidFill>
                <a:highlight>
                  <a:srgbClr val="FFFFFF"/>
                </a:highlight>
                <a:latin typeface="Times New Roman"/>
                <a:ea typeface="Times New Roman"/>
                <a:cs typeface="Times New Roman"/>
                <a:sym typeface="Times New Roman"/>
              </a:rPr>
              <a:t>get()</a:t>
            </a:r>
            <a:r>
              <a:rPr lang="en" sz="1550">
                <a:solidFill>
                  <a:schemeClr val="dk1"/>
                </a:solidFill>
                <a:highlight>
                  <a:srgbClr val="FFFFFF"/>
                </a:highlight>
                <a:latin typeface="Times New Roman"/>
                <a:ea typeface="Times New Roman"/>
                <a:cs typeface="Times New Roman"/>
                <a:sym typeface="Times New Roman"/>
              </a:rPr>
              <a:t> method returns the value of the item with the specified key.</a:t>
            </a:r>
            <a:endParaRPr sz="1550">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r>
              <a:rPr lang="en" sz="2500">
                <a:solidFill>
                  <a:schemeClr val="dk1"/>
                </a:solidFill>
                <a:highlight>
                  <a:srgbClr val="FFFFFF"/>
                </a:highlight>
                <a:latin typeface="Times New Roman"/>
                <a:ea typeface="Times New Roman"/>
                <a:cs typeface="Times New Roman"/>
                <a:sym typeface="Times New Roman"/>
              </a:rPr>
              <a:t>Syntax</a:t>
            </a:r>
            <a:endParaRPr sz="250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SzPts val="1100"/>
              <a:buNone/>
            </a:pPr>
            <a:r>
              <a:rPr lang="en" sz="1550" i="1">
                <a:solidFill>
                  <a:schemeClr val="dk1"/>
                </a:solidFill>
                <a:highlight>
                  <a:srgbClr val="FFFFFF"/>
                </a:highlight>
                <a:latin typeface="Times New Roman"/>
                <a:ea typeface="Times New Roman"/>
                <a:cs typeface="Times New Roman"/>
                <a:sym typeface="Times New Roman"/>
              </a:rPr>
              <a:t>dictionary</a:t>
            </a:r>
            <a:r>
              <a:rPr lang="en" sz="1550">
                <a:solidFill>
                  <a:schemeClr val="dk1"/>
                </a:solidFill>
                <a:highlight>
                  <a:srgbClr val="FFFFFF"/>
                </a:highlight>
                <a:latin typeface="Times New Roman"/>
                <a:ea typeface="Times New Roman"/>
                <a:cs typeface="Times New Roman"/>
                <a:sym typeface="Times New Roman"/>
              </a:rPr>
              <a:t>.get(</a:t>
            </a:r>
            <a:r>
              <a:rPr lang="en" sz="1550" i="1">
                <a:solidFill>
                  <a:schemeClr val="dk1"/>
                </a:solidFill>
                <a:highlight>
                  <a:srgbClr val="FFFFFF"/>
                </a:highlight>
                <a:latin typeface="Times New Roman"/>
                <a:ea typeface="Times New Roman"/>
                <a:cs typeface="Times New Roman"/>
                <a:sym typeface="Times New Roman"/>
              </a:rPr>
              <a:t>keyname, value</a:t>
            </a:r>
            <a:r>
              <a:rPr lang="en" sz="1550">
                <a:solidFill>
                  <a:schemeClr val="dk1"/>
                </a:solidFill>
                <a:highlight>
                  <a:srgbClr val="FFFFFF"/>
                </a:highlight>
                <a:latin typeface="Times New Roman"/>
                <a:ea typeface="Times New Roman"/>
                <a:cs typeface="Times New Roman"/>
                <a:sym typeface="Times New Roman"/>
              </a:rPr>
              <a:t>)</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SzPts val="1100"/>
              <a:buNone/>
            </a:pPr>
            <a:r>
              <a:rPr lang="en" sz="1550">
                <a:solidFill>
                  <a:schemeClr val="dk1"/>
                </a:solidFill>
                <a:highlight>
                  <a:srgbClr val="FFFFFF"/>
                </a:highlight>
                <a:latin typeface="Times New Roman"/>
                <a:ea typeface="Times New Roman"/>
                <a:cs typeface="Times New Roman"/>
                <a:sym typeface="Times New Roman"/>
              </a:rPr>
              <a:t>car = {</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SzPts val="1100"/>
              <a:buNone/>
            </a:pPr>
            <a:r>
              <a:rPr lang="en" sz="1550">
                <a:solidFill>
                  <a:schemeClr val="dk1"/>
                </a:solidFill>
                <a:highlight>
                  <a:srgbClr val="FFFFFF"/>
                </a:highlight>
                <a:latin typeface="Times New Roman"/>
                <a:ea typeface="Times New Roman"/>
                <a:cs typeface="Times New Roman"/>
                <a:sym typeface="Times New Roman"/>
              </a:rPr>
              <a:t>  "brand": "Ford",</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SzPts val="1100"/>
              <a:buNone/>
            </a:pPr>
            <a:r>
              <a:rPr lang="en" sz="1550">
                <a:solidFill>
                  <a:schemeClr val="dk1"/>
                </a:solidFill>
                <a:highlight>
                  <a:srgbClr val="FFFFFF"/>
                </a:highlight>
                <a:latin typeface="Times New Roman"/>
                <a:ea typeface="Times New Roman"/>
                <a:cs typeface="Times New Roman"/>
                <a:sym typeface="Times New Roman"/>
              </a:rPr>
              <a:t>  "model": "Mustang",</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SzPts val="1100"/>
              <a:buNone/>
            </a:pPr>
            <a:r>
              <a:rPr lang="en" sz="1550">
                <a:solidFill>
                  <a:schemeClr val="dk1"/>
                </a:solidFill>
                <a:highlight>
                  <a:srgbClr val="FFFFFF"/>
                </a:highlight>
                <a:latin typeface="Times New Roman"/>
                <a:ea typeface="Times New Roman"/>
                <a:cs typeface="Times New Roman"/>
                <a:sym typeface="Times New Roman"/>
              </a:rPr>
              <a:t>  "year": 1964</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SzPts val="1100"/>
              <a:buNone/>
            </a:pPr>
            <a:r>
              <a:rPr lang="en" sz="1550">
                <a:solidFill>
                  <a:schemeClr val="dk1"/>
                </a:solidFill>
                <a:highlight>
                  <a:srgbClr val="FFFFFF"/>
                </a:highlight>
                <a:latin typeface="Times New Roman"/>
                <a:ea typeface="Times New Roman"/>
                <a:cs typeface="Times New Roman"/>
                <a:sym typeface="Times New Roman"/>
              </a:rPr>
              <a:t>}</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SzPts val="1100"/>
              <a:buNone/>
            </a:pPr>
            <a:r>
              <a:rPr lang="en" sz="1550">
                <a:solidFill>
                  <a:schemeClr val="dk1"/>
                </a:solidFill>
                <a:highlight>
                  <a:srgbClr val="FFFFFF"/>
                </a:highlight>
                <a:latin typeface="Times New Roman"/>
                <a:ea typeface="Times New Roman"/>
                <a:cs typeface="Times New Roman"/>
                <a:sym typeface="Times New Roman"/>
              </a:rPr>
              <a:t>x = car.get("model")</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SzPts val="1100"/>
              <a:buNone/>
            </a:pPr>
            <a:r>
              <a:rPr lang="en" sz="1550">
                <a:solidFill>
                  <a:schemeClr val="dk1"/>
                </a:solidFill>
                <a:highlight>
                  <a:srgbClr val="FFFFFF"/>
                </a:highlight>
                <a:latin typeface="Times New Roman"/>
                <a:ea typeface="Times New Roman"/>
                <a:cs typeface="Times New Roman"/>
                <a:sym typeface="Times New Roman"/>
              </a:rPr>
              <a:t>print(x)</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SzPts val="1100"/>
              <a:buNone/>
            </a:pP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endParaRPr sz="1550">
              <a:solidFill>
                <a:schemeClr val="dk1"/>
              </a:solidFill>
              <a:highlight>
                <a:srgbClr val="FFFFFF"/>
              </a:highlight>
              <a:latin typeface="Times New Roman"/>
              <a:ea typeface="Times New Roman"/>
              <a:cs typeface="Times New Roman"/>
              <a:sym typeface="Times New Roman"/>
            </a:endParaRPr>
          </a:p>
          <a:p>
            <a:pPr marL="0" lvl="0" indent="0" algn="l" rtl="0">
              <a:spcBef>
                <a:spcPts val="1200"/>
              </a:spcBef>
              <a:spcAft>
                <a:spcPts val="0"/>
              </a:spcAft>
              <a:buSzPts val="605"/>
              <a:buNone/>
            </a:pP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4"/>
          <p:cNvSpPr txBox="1">
            <a:spLocks noGrp="1"/>
          </p:cNvSpPr>
          <p:nvPr>
            <p:ph type="subTitle" idx="1"/>
          </p:nvPr>
        </p:nvSpPr>
        <p:spPr>
          <a:xfrm>
            <a:off x="155325" y="129725"/>
            <a:ext cx="8777700" cy="501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605"/>
              <a:buNone/>
            </a:pPr>
            <a:r>
              <a:rPr lang="en" sz="1800" b="1" u="sng">
                <a:solidFill>
                  <a:schemeClr val="dk1"/>
                </a:solidFill>
                <a:highlight>
                  <a:srgbClr val="FFFFFF"/>
                </a:highlight>
                <a:latin typeface="Times New Roman"/>
                <a:ea typeface="Times New Roman"/>
                <a:cs typeface="Times New Roman"/>
                <a:sym typeface="Times New Roman"/>
              </a:rPr>
              <a:t>Output</a:t>
            </a:r>
            <a:endParaRPr sz="1800" b="1" u="sng">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SzPts val="605"/>
              <a:buNone/>
            </a:pPr>
            <a:endParaRPr sz="1800" b="1" u="sng">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highlight>
                  <a:srgbClr val="FFFFFF"/>
                </a:highlight>
                <a:latin typeface="Times New Roman"/>
                <a:ea typeface="Times New Roman"/>
                <a:cs typeface="Times New Roman"/>
                <a:sym typeface="Times New Roman"/>
              </a:rPr>
              <a:t>Mustang</a:t>
            </a:r>
            <a:endParaRPr sz="1800">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SzPts val="605"/>
              <a:buNone/>
            </a:pPr>
            <a:endParaRPr sz="1800">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SzPts val="605"/>
              <a:buNone/>
            </a:pPr>
            <a:endParaRPr sz="18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5"/>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Tuple:  Tuples are used to store multiple items in a single variable.</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Tuples are created by placing a sequence of values separated by ‘comma’ with or without the use of parentheses for grouping of the data sequence.</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A tuple is a collection which is ordered and unchangeable.</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Example:</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thistuple = ("apple", "banana", "cherry")</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print(thistuple)</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6"/>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Unchangeable</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Tuples are unchangeable, meaning that we cannot change, add or remove items after the tuple has been created.</a:t>
            </a:r>
            <a:endParaRPr sz="1150">
              <a:solidFill>
                <a:schemeClr val="dk1"/>
              </a:solidFill>
              <a:highlight>
                <a:srgbClr val="FFFFFF"/>
              </a:highlight>
              <a:latin typeface="Verdana"/>
              <a:ea typeface="Verdana"/>
              <a:cs typeface="Verdana"/>
              <a:sym typeface="Verdana"/>
            </a:endParaRPr>
          </a:p>
          <a:p>
            <a:pPr marL="0" lvl="0" indent="0" algn="l" rtl="0">
              <a:lnSpc>
                <a:spcPct val="115000"/>
              </a:lnSpc>
              <a:spcBef>
                <a:spcPts val="14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Allow Duplicates</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Since tuples are indexed, they can have items with the same value</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40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thistuple = ("apple", "banana", "cherry", "apple", "cherry")</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print(thistuple)</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('apple', 'banana', 'cherry', 'apple', 'cherry')</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7"/>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Tuple Methods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Count() Method</a:t>
            </a:r>
            <a:endParaRPr sz="18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The count() method of Tuple returns the number of times the given element appears in the tuple.</a:t>
            </a:r>
            <a:endParaRPr sz="1800">
              <a:solidFill>
                <a:schemeClr val="dk1"/>
              </a:solidFill>
              <a:latin typeface="Times New Roman"/>
              <a:ea typeface="Times New Roman"/>
              <a:cs typeface="Times New Roman"/>
              <a:sym typeface="Times New Roman"/>
            </a:endParaRPr>
          </a:p>
          <a:p>
            <a:pPr marL="0" lvl="0" indent="0" algn="just" rtl="0">
              <a:lnSpc>
                <a:spcPct val="115000"/>
              </a:lnSpc>
              <a:spcBef>
                <a:spcPts val="800"/>
              </a:spcBef>
              <a:spcAft>
                <a:spcPts val="0"/>
              </a:spcAft>
              <a:buSzPts val="1100"/>
              <a:buNone/>
            </a:pPr>
            <a:r>
              <a:rPr lang="en" sz="1800">
                <a:solidFill>
                  <a:schemeClr val="dk1"/>
                </a:solidFill>
                <a:latin typeface="Times New Roman"/>
                <a:ea typeface="Times New Roman"/>
                <a:cs typeface="Times New Roman"/>
                <a:sym typeface="Times New Roman"/>
              </a:rPr>
              <a:t>Syntax:</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SzPts val="1100"/>
              <a:buNone/>
            </a:pPr>
            <a:r>
              <a:rPr lang="en" sz="1800">
                <a:solidFill>
                  <a:schemeClr val="dk1"/>
                </a:solidFill>
                <a:latin typeface="Times New Roman"/>
                <a:ea typeface="Times New Roman"/>
                <a:cs typeface="Times New Roman"/>
                <a:sym typeface="Times New Roman"/>
              </a:rPr>
              <a:t>tuple.count(element)</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Where the element is the element that is to be counted.</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marR="190500" lvl="0" indent="0" algn="l" rtl="0">
              <a:lnSpc>
                <a:spcPct val="115000"/>
              </a:lnSpc>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8"/>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PROGRAM</a:t>
            </a:r>
            <a:endParaRPr sz="1100">
              <a:solidFill>
                <a:srgbClr val="F8F8F2"/>
              </a:solidFill>
              <a:highlight>
                <a:srgbClr val="272822"/>
              </a:highlight>
              <a:latin typeface="Courier New"/>
              <a:ea typeface="Courier New"/>
              <a:cs typeface="Courier New"/>
              <a:sym typeface="Courier New"/>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Tuple1 = (0, 1, 2, 3, 2, 3, 1, 3, 2)</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Tuple2 = ('python', 'geek', 'python',  'for', 'java', 'python')</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  # count the appearance of 3</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res = Tuple1.count(3)</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print('Count of 3 in Tuple1 is:', res)</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  # count the appearance of python</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res = Tuple2.count('python')</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print('Count of Python in Tuple2 is:', res)</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r>
              <a:rPr lang="en" sz="1800">
                <a:solidFill>
                  <a:schemeClr val="dk1"/>
                </a:solidFill>
                <a:latin typeface="Times New Roman"/>
                <a:ea typeface="Times New Roman"/>
                <a:cs typeface="Times New Roman"/>
                <a:sym typeface="Times New Roman"/>
              </a:rPr>
              <a:t>Count of 3 in Tuple1 is: 3</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Count of Python in Tuple2 is: 3</a:t>
            </a: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9"/>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Index() Method</a:t>
            </a:r>
            <a:endParaRPr sz="18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The Index() method returns the first occurrence of the given element from the tuple.</a:t>
            </a:r>
            <a:endParaRPr sz="18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Syntax:</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tuple.index(element, start, end)</a:t>
            </a:r>
            <a:endParaRPr sz="18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Parameters:</a:t>
            </a:r>
            <a:endParaRPr sz="1800">
              <a:solidFill>
                <a:schemeClr val="dk1"/>
              </a:solidFill>
              <a:latin typeface="Times New Roman"/>
              <a:ea typeface="Times New Roman"/>
              <a:cs typeface="Times New Roman"/>
              <a:sym typeface="Times New Roman"/>
            </a:endParaRPr>
          </a:p>
          <a:p>
            <a:pPr marL="457200" lvl="0" indent="0" algn="l" rtl="0">
              <a:lnSpc>
                <a:spcPct val="100000"/>
              </a:lnSpc>
              <a:spcBef>
                <a:spcPts val="800"/>
              </a:spcBef>
              <a:spcAft>
                <a:spcPts val="0"/>
              </a:spcAft>
              <a:buNone/>
            </a:pPr>
            <a:r>
              <a:rPr lang="en" sz="1800">
                <a:solidFill>
                  <a:schemeClr val="dk1"/>
                </a:solidFill>
                <a:latin typeface="Times New Roman"/>
                <a:ea typeface="Times New Roman"/>
                <a:cs typeface="Times New Roman"/>
                <a:sym typeface="Times New Roman"/>
              </a:rPr>
              <a:t>element: The element to be searched.</a:t>
            </a:r>
            <a:endParaRPr sz="1800">
              <a:solidFill>
                <a:schemeClr val="dk1"/>
              </a:solidFill>
              <a:latin typeface="Times New Roman"/>
              <a:ea typeface="Times New Roman"/>
              <a:cs typeface="Times New Roman"/>
              <a:sym typeface="Times New Roman"/>
            </a:endParaRPr>
          </a:p>
          <a:p>
            <a:pPr marL="45720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start (Optional): The starting index from where the searching is started</a:t>
            </a:r>
            <a:endParaRPr sz="1800">
              <a:solidFill>
                <a:schemeClr val="dk1"/>
              </a:solidFill>
              <a:latin typeface="Times New Roman"/>
              <a:ea typeface="Times New Roman"/>
              <a:cs typeface="Times New Roman"/>
              <a:sym typeface="Times New Roman"/>
            </a:endParaRPr>
          </a:p>
          <a:p>
            <a:pPr marL="457200" lvl="0" indent="0" algn="l" rtl="0">
              <a:lnSpc>
                <a:spcPct val="100000"/>
              </a:lnSpc>
              <a:spcBef>
                <a:spcPts val="0"/>
              </a:spcBef>
              <a:spcAft>
                <a:spcPts val="0"/>
              </a:spcAft>
              <a:buNone/>
            </a:pPr>
            <a:r>
              <a:rPr lang="en" sz="1800">
                <a:solidFill>
                  <a:schemeClr val="dk1"/>
                </a:solidFill>
                <a:latin typeface="Times New Roman"/>
                <a:ea typeface="Times New Roman"/>
                <a:cs typeface="Times New Roman"/>
                <a:sym typeface="Times New Roman"/>
              </a:rPr>
              <a:t>end (Optional): The ending index till where the searching is done</a:t>
            </a:r>
            <a:endParaRPr sz="1800">
              <a:solidFill>
                <a:schemeClr val="dk1"/>
              </a:solidFill>
              <a:latin typeface="Times New Roman"/>
              <a:ea typeface="Times New Roman"/>
              <a:cs typeface="Times New Roman"/>
              <a:sym typeface="Times New Roman"/>
            </a:endParaRPr>
          </a:p>
          <a:p>
            <a:pPr marL="457200" marR="139700" lvl="0" indent="0" algn="l" rtl="0">
              <a:lnSpc>
                <a:spcPct val="120000"/>
              </a:lnSpc>
              <a:spcBef>
                <a:spcPts val="0"/>
              </a:spcBef>
              <a:spcAft>
                <a:spcPts val="0"/>
              </a:spcAft>
              <a:buNone/>
            </a:pPr>
            <a:r>
              <a:rPr lang="en" sz="1800">
                <a:solidFill>
                  <a:schemeClr val="dk1"/>
                </a:solidFill>
                <a:latin typeface="Times New Roman"/>
                <a:ea typeface="Times New Roman"/>
                <a:cs typeface="Times New Roman"/>
                <a:sym typeface="Times New Roman"/>
              </a:rPr>
              <a:t>Tuple = (0, 1, 2, 3, 2, 3, 1, 3, 2)</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None/>
            </a:pPr>
            <a:r>
              <a:rPr lang="en" sz="1800">
                <a:solidFill>
                  <a:schemeClr val="dk1"/>
                </a:solidFill>
                <a:latin typeface="Times New Roman"/>
                <a:ea typeface="Times New Roman"/>
                <a:cs typeface="Times New Roman"/>
                <a:sym typeface="Times New Roman"/>
              </a:rPr>
              <a:t># getting the index of 3</a:t>
            </a:r>
            <a:endParaRPr sz="1800">
              <a:solidFill>
                <a:schemeClr val="dk1"/>
              </a:solidFill>
              <a:latin typeface="Times New Roman"/>
              <a:ea typeface="Times New Roman"/>
              <a:cs typeface="Times New Roman"/>
              <a:sym typeface="Times New Roman"/>
            </a:endParaRPr>
          </a:p>
          <a:p>
            <a:pPr marL="457200" marR="139700" lvl="0" indent="0" algn="l" rtl="0">
              <a:lnSpc>
                <a:spcPct val="120000"/>
              </a:lnSpc>
              <a:spcBef>
                <a:spcPts val="0"/>
              </a:spcBef>
              <a:spcAft>
                <a:spcPts val="0"/>
              </a:spcAft>
              <a:buNone/>
            </a:pPr>
            <a:r>
              <a:rPr lang="en" sz="1800">
                <a:solidFill>
                  <a:schemeClr val="dk1"/>
                </a:solidFill>
                <a:latin typeface="Times New Roman"/>
                <a:ea typeface="Times New Roman"/>
                <a:cs typeface="Times New Roman"/>
                <a:sym typeface="Times New Roman"/>
              </a:rPr>
              <a:t>res = Tuple.index(3)</a:t>
            </a:r>
            <a:endParaRPr sz="1800">
              <a:solidFill>
                <a:schemeClr val="dk1"/>
              </a:solidFill>
              <a:latin typeface="Times New Roman"/>
              <a:ea typeface="Times New Roman"/>
              <a:cs typeface="Times New Roman"/>
              <a:sym typeface="Times New Roman"/>
            </a:endParaRPr>
          </a:p>
          <a:p>
            <a:pPr marL="457200" marR="139700" lvl="0" indent="0" algn="l" rtl="0">
              <a:lnSpc>
                <a:spcPct val="120000"/>
              </a:lnSpc>
              <a:spcBef>
                <a:spcPts val="0"/>
              </a:spcBef>
              <a:spcAft>
                <a:spcPts val="0"/>
              </a:spcAft>
              <a:buNone/>
            </a:pPr>
            <a:r>
              <a:rPr lang="en" sz="1800">
                <a:solidFill>
                  <a:schemeClr val="dk1"/>
                </a:solidFill>
                <a:latin typeface="Times New Roman"/>
                <a:ea typeface="Times New Roman"/>
                <a:cs typeface="Times New Roman"/>
                <a:sym typeface="Times New Roman"/>
              </a:rPr>
              <a:t>print('First occurrence of 3 is', res)</a:t>
            </a:r>
            <a:endParaRPr sz="1800">
              <a:solidFill>
                <a:schemeClr val="dk1"/>
              </a:solidFill>
              <a:latin typeface="Times New Roman"/>
              <a:ea typeface="Times New Roman"/>
              <a:cs typeface="Times New Roman"/>
              <a:sym typeface="Times New Roman"/>
            </a:endParaRPr>
          </a:p>
          <a:p>
            <a:pPr marL="457200" marR="139700" lvl="0" indent="0" algn="l" rtl="0">
              <a:lnSpc>
                <a:spcPct val="120000"/>
              </a:lnSpc>
              <a:spcBef>
                <a:spcPts val="0"/>
              </a:spcBef>
              <a:spcAft>
                <a:spcPts val="0"/>
              </a:spcAft>
              <a:buNone/>
            </a:pPr>
            <a:r>
              <a:rPr lang="en" sz="1800">
                <a:solidFill>
                  <a:schemeClr val="dk1"/>
                </a:solidFill>
                <a:latin typeface="Times New Roman"/>
                <a:ea typeface="Times New Roman"/>
                <a:cs typeface="Times New Roman"/>
                <a:sym typeface="Times New Roman"/>
              </a:rPr>
              <a:t># getting the index of 3 after 4th # index</a:t>
            </a:r>
            <a:endParaRPr sz="1800">
              <a:solidFill>
                <a:schemeClr val="dk1"/>
              </a:solidFill>
              <a:latin typeface="Times New Roman"/>
              <a:ea typeface="Times New Roman"/>
              <a:cs typeface="Times New Roman"/>
              <a:sym typeface="Times New Roman"/>
            </a:endParaRPr>
          </a:p>
          <a:p>
            <a:pPr marL="457200" marR="139700" lvl="0" indent="0" algn="l" rtl="0">
              <a:lnSpc>
                <a:spcPct val="120000"/>
              </a:lnSpc>
              <a:spcBef>
                <a:spcPts val="0"/>
              </a:spcBef>
              <a:spcAft>
                <a:spcPts val="0"/>
              </a:spcAft>
              <a:buNone/>
            </a:pPr>
            <a:r>
              <a:rPr lang="en" sz="1800">
                <a:solidFill>
                  <a:schemeClr val="dk1"/>
                </a:solidFill>
                <a:latin typeface="Times New Roman"/>
                <a:ea typeface="Times New Roman"/>
                <a:cs typeface="Times New Roman"/>
                <a:sym typeface="Times New Roman"/>
              </a:rPr>
              <a:t>res = Tuple.index(3, 4)</a:t>
            </a:r>
            <a:endParaRPr sz="1800">
              <a:solidFill>
                <a:schemeClr val="dk1"/>
              </a:solidFill>
              <a:latin typeface="Times New Roman"/>
              <a:ea typeface="Times New Roman"/>
              <a:cs typeface="Times New Roman"/>
              <a:sym typeface="Times New Roman"/>
            </a:endParaRPr>
          </a:p>
          <a:p>
            <a:pPr marL="457200" marR="139700" lvl="0" indent="0" algn="l" rtl="0">
              <a:lnSpc>
                <a:spcPct val="120000"/>
              </a:lnSpc>
              <a:spcBef>
                <a:spcPts val="0"/>
              </a:spcBef>
              <a:spcAft>
                <a:spcPts val="0"/>
              </a:spcAft>
              <a:buNone/>
            </a:pPr>
            <a:r>
              <a:rPr lang="en" sz="1800">
                <a:solidFill>
                  <a:schemeClr val="dk1"/>
                </a:solidFill>
                <a:latin typeface="Times New Roman"/>
                <a:ea typeface="Times New Roman"/>
                <a:cs typeface="Times New Roman"/>
                <a:sym typeface="Times New Roman"/>
              </a:rPr>
              <a:t>print('First occurrence of 3 after 4th index is:', res)</a:t>
            </a:r>
            <a:endParaRPr sz="1800">
              <a:solidFill>
                <a:schemeClr val="dk1"/>
              </a:solidFill>
              <a:latin typeface="Times New Roman"/>
              <a:ea typeface="Times New Roman"/>
              <a:cs typeface="Times New Roman"/>
              <a:sym typeface="Times New Roman"/>
            </a:endParaRPr>
          </a:p>
          <a:p>
            <a:pPr marL="457200" lvl="0" indent="0" algn="l" rtl="0">
              <a:lnSpc>
                <a:spcPct val="158000"/>
              </a:lnSpc>
              <a:spcBef>
                <a:spcPts val="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spcBef>
                <a:spcPts val="180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40"/>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r>
              <a:rPr lang="en" sz="1800">
                <a:solidFill>
                  <a:schemeClr val="dk1"/>
                </a:solidFill>
                <a:latin typeface="Times New Roman"/>
                <a:ea typeface="Times New Roman"/>
                <a:cs typeface="Times New Roman"/>
                <a:sym typeface="Times New Roman"/>
              </a:rPr>
              <a:t>First occurrence of 3 is 3</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First occurrence of 3 after 4th index is: 5</a:t>
            </a:r>
            <a:endParaRPr sz="1800">
              <a:solidFill>
                <a:schemeClr val="dk1"/>
              </a:solidFill>
              <a:latin typeface="Times New Roman"/>
              <a:ea typeface="Times New Roman"/>
              <a:cs typeface="Times New Roman"/>
              <a:sym typeface="Times New Roman"/>
            </a:endParaRPr>
          </a:p>
          <a:p>
            <a:pPr marL="0" lvl="0" indent="0" algn="l" rtl="0">
              <a:spcBef>
                <a:spcPts val="80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41"/>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Example : </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Tuple = ('Geeks', 'For')</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print("\nTuple with the use of String: ")</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print(Tuple)</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 Creating a Tuple with the use of list</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list1 = [1, 2, 4, 5, 6]</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print("\nTuple using List: ")</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Tuple = tuple(list1)</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 # Accessing element using indexing</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print("First element of tuple")</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print(Tuple[0])</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 # Accessing element from last negative indexing</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print("\nLast element of tuple")</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print(Tuple[-1])</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print("\nThird last element of tuple")</a:t>
            </a:r>
            <a:endParaRPr sz="16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print(Tuple[-3])</a:t>
            </a:r>
            <a:endParaRPr sz="16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42"/>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605"/>
              <a:buNone/>
            </a:pPr>
            <a:r>
              <a:rPr lang="en" sz="1800">
                <a:solidFill>
                  <a:schemeClr val="dk1"/>
                </a:solidFill>
                <a:latin typeface="Times New Roman"/>
                <a:ea typeface="Times New Roman"/>
                <a:cs typeface="Times New Roman"/>
                <a:sym typeface="Times New Roman"/>
              </a:rPr>
              <a:t>output: </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Tuple with the use of String: </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('Geeks', 'For')</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Tuple using List: </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First element of tuple</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1</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Last element of tuple</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6</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Third last element of tuple</a:t>
            </a:r>
            <a:endParaRPr sz="1800">
              <a:solidFill>
                <a:schemeClr val="dk1"/>
              </a:solidFill>
              <a:latin typeface="Times New Roman"/>
              <a:ea typeface="Times New Roman"/>
              <a:cs typeface="Times New Roman"/>
              <a:sym typeface="Times New Roman"/>
            </a:endParaRPr>
          </a:p>
          <a:p>
            <a:pPr marL="190500" marR="19050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4</a:t>
            </a:r>
            <a:endParaRPr sz="1800">
              <a:solidFill>
                <a:schemeClr val="dk1"/>
              </a:solidFill>
              <a:latin typeface="Times New Roman"/>
              <a:ea typeface="Times New Roman"/>
              <a:cs typeface="Times New Roman"/>
              <a:sym typeface="Times New Roman"/>
            </a:endParaRPr>
          </a:p>
          <a:p>
            <a:pPr marL="0" marR="139700" lvl="0" indent="0" algn="l" rtl="0">
              <a:lnSpc>
                <a:spcPct val="120000"/>
              </a:lnSpc>
              <a:spcBef>
                <a:spcPts val="80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605"/>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43"/>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800"/>
              </a:spcBef>
              <a:spcAft>
                <a:spcPts val="0"/>
              </a:spcAft>
              <a:buClr>
                <a:schemeClr val="dk1"/>
              </a:buClr>
              <a:buSzPts val="1100"/>
              <a:buFont typeface="Arial"/>
              <a:buNone/>
            </a:pPr>
            <a:r>
              <a:rPr lang="en" sz="2400">
                <a:solidFill>
                  <a:schemeClr val="dk1"/>
                </a:solidFill>
                <a:highlight>
                  <a:srgbClr val="FFFFFF"/>
                </a:highlight>
              </a:rPr>
              <a:t>Join Two Tuples</a:t>
            </a:r>
            <a:endParaRPr sz="2400">
              <a:solidFill>
                <a:schemeClr val="dk1"/>
              </a:solidFill>
              <a:highlight>
                <a:srgbClr val="FFFFFF"/>
              </a:highlight>
            </a:endParaRPr>
          </a:p>
          <a:p>
            <a:pPr marL="0" lvl="0" indent="0" algn="l" rtl="0">
              <a:spcBef>
                <a:spcPts val="800"/>
              </a:spcBef>
              <a:spcAft>
                <a:spcPts val="0"/>
              </a:spcAft>
              <a:buSzPts val="605"/>
              <a:buNone/>
            </a:pPr>
            <a:r>
              <a:rPr lang="en" sz="1600">
                <a:solidFill>
                  <a:schemeClr val="dk1"/>
                </a:solidFill>
                <a:highlight>
                  <a:srgbClr val="FFFFFF"/>
                </a:highlight>
                <a:latin typeface="Times New Roman"/>
                <a:ea typeface="Times New Roman"/>
                <a:cs typeface="Times New Roman"/>
                <a:sym typeface="Times New Roman"/>
              </a:rPr>
              <a:t>To join two or more tuples you can</a:t>
            </a:r>
            <a:endParaRPr sz="1600">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600">
                <a:solidFill>
                  <a:schemeClr val="dk1"/>
                </a:solidFill>
                <a:highlight>
                  <a:srgbClr val="FFFFFF"/>
                </a:highlight>
                <a:latin typeface="Times New Roman"/>
                <a:ea typeface="Times New Roman"/>
                <a:cs typeface="Times New Roman"/>
                <a:sym typeface="Times New Roman"/>
              </a:rPr>
              <a:t>tuple1 = ("a", "b" , "c")</a:t>
            </a:r>
            <a:endParaRPr sz="1600">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600">
                <a:solidFill>
                  <a:schemeClr val="dk1"/>
                </a:solidFill>
                <a:highlight>
                  <a:srgbClr val="FFFFFF"/>
                </a:highlight>
                <a:latin typeface="Times New Roman"/>
                <a:ea typeface="Times New Roman"/>
                <a:cs typeface="Times New Roman"/>
                <a:sym typeface="Times New Roman"/>
              </a:rPr>
              <a:t>tuple2 = (1, 2, 3)</a:t>
            </a:r>
            <a:endParaRPr sz="1600">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600">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600">
                <a:solidFill>
                  <a:schemeClr val="dk1"/>
                </a:solidFill>
                <a:highlight>
                  <a:srgbClr val="FFFFFF"/>
                </a:highlight>
                <a:latin typeface="Times New Roman"/>
                <a:ea typeface="Times New Roman"/>
                <a:cs typeface="Times New Roman"/>
                <a:sym typeface="Times New Roman"/>
              </a:rPr>
              <a:t>tuple3 = tuple1 + tuple2</a:t>
            </a:r>
            <a:endParaRPr sz="1600">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600">
                <a:solidFill>
                  <a:schemeClr val="dk1"/>
                </a:solidFill>
                <a:highlight>
                  <a:srgbClr val="FFFFFF"/>
                </a:highlight>
                <a:latin typeface="Times New Roman"/>
                <a:ea typeface="Times New Roman"/>
                <a:cs typeface="Times New Roman"/>
                <a:sym typeface="Times New Roman"/>
              </a:rPr>
              <a:t>print(tuple3)</a:t>
            </a:r>
            <a:endParaRPr sz="1600">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600">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600">
                <a:solidFill>
                  <a:schemeClr val="dk1"/>
                </a:solidFill>
                <a:highlight>
                  <a:srgbClr val="FFFFFF"/>
                </a:highlight>
                <a:latin typeface="Times New Roman"/>
                <a:ea typeface="Times New Roman"/>
                <a:cs typeface="Times New Roman"/>
                <a:sym typeface="Times New Roman"/>
              </a:rPr>
              <a:t> use the </a:t>
            </a:r>
            <a:r>
              <a:rPr lang="en" sz="1600">
                <a:solidFill>
                  <a:srgbClr val="DC143C"/>
                </a:solidFill>
                <a:latin typeface="Times New Roman"/>
                <a:ea typeface="Times New Roman"/>
                <a:cs typeface="Times New Roman"/>
                <a:sym typeface="Times New Roman"/>
              </a:rPr>
              <a:t>+</a:t>
            </a:r>
            <a:r>
              <a:rPr lang="en" sz="1600">
                <a:solidFill>
                  <a:schemeClr val="dk1"/>
                </a:solidFill>
                <a:highlight>
                  <a:srgbClr val="FFFFFF"/>
                </a:highlight>
                <a:latin typeface="Times New Roman"/>
                <a:ea typeface="Times New Roman"/>
                <a:cs typeface="Times New Roman"/>
                <a:sym typeface="Times New Roman"/>
              </a:rPr>
              <a:t> operator:</a:t>
            </a:r>
            <a:endParaRPr sz="1600">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SzPts val="605"/>
              <a:buNone/>
            </a:pPr>
            <a:endParaRPr sz="1600">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600">
                <a:solidFill>
                  <a:schemeClr val="dk1"/>
                </a:solidFill>
                <a:highlight>
                  <a:srgbClr val="FFFFFF"/>
                </a:highlight>
                <a:latin typeface="Times New Roman"/>
                <a:ea typeface="Times New Roman"/>
                <a:cs typeface="Times New Roman"/>
                <a:sym typeface="Times New Roman"/>
              </a:rPr>
              <a:t>Output:</a:t>
            </a:r>
            <a:endParaRPr sz="1600">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600">
                <a:solidFill>
                  <a:schemeClr val="dk1"/>
                </a:solidFill>
                <a:highlight>
                  <a:srgbClr val="FFFFFF"/>
                </a:highlight>
                <a:latin typeface="Times New Roman"/>
                <a:ea typeface="Times New Roman"/>
                <a:cs typeface="Times New Roman"/>
                <a:sym typeface="Times New Roman"/>
              </a:rPr>
              <a:t>('a', 'b', 'c', 1, 2, 3)</a:t>
            </a:r>
            <a:endParaRPr sz="16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44"/>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30000"/>
              </a:lnSpc>
              <a:spcBef>
                <a:spcPts val="0"/>
              </a:spcBef>
              <a:spcAft>
                <a:spcPts val="0"/>
              </a:spcAft>
              <a:buClr>
                <a:schemeClr val="dk1"/>
              </a:buClr>
              <a:buSzPts val="1100"/>
              <a:buFont typeface="Arial"/>
              <a:buNone/>
            </a:pPr>
            <a:r>
              <a:rPr lang="en" sz="2350" dirty="0">
                <a:solidFill>
                  <a:srgbClr val="444444"/>
                </a:solidFill>
                <a:highlight>
                  <a:srgbClr val="FFFFFF"/>
                </a:highlight>
                <a:latin typeface="Georgia"/>
                <a:ea typeface="Georgia"/>
                <a:cs typeface="Georgia"/>
                <a:sym typeface="Georgia"/>
              </a:rPr>
              <a:t>Python Sequences</a:t>
            </a:r>
            <a:endParaRPr sz="2350" dirty="0">
              <a:solidFill>
                <a:srgbClr val="444444"/>
              </a:solidFill>
              <a:highlight>
                <a:srgbClr val="FFFFFF"/>
              </a:highlight>
              <a:latin typeface="Georgia"/>
              <a:ea typeface="Georgia"/>
              <a:cs typeface="Georgia"/>
              <a:sym typeface="Georgia"/>
            </a:endParaRPr>
          </a:p>
          <a:p>
            <a:pPr marL="0" lvl="0" indent="0" algn="l" rtl="0">
              <a:lnSpc>
                <a:spcPct val="115000"/>
              </a:lnSpc>
              <a:spcBef>
                <a:spcPts val="1100"/>
              </a:spcBef>
              <a:spcAft>
                <a:spcPts val="0"/>
              </a:spcAft>
              <a:buClr>
                <a:schemeClr val="dk1"/>
              </a:buClr>
              <a:buSzPts val="1100"/>
              <a:buFont typeface="Arial"/>
              <a:buNone/>
            </a:pPr>
            <a:r>
              <a:rPr lang="en" sz="1350" dirty="0">
                <a:solidFill>
                  <a:srgbClr val="444444"/>
                </a:solidFill>
                <a:highlight>
                  <a:srgbClr val="FFFFFF"/>
                </a:highlight>
                <a:latin typeface="Georgia"/>
                <a:ea typeface="Georgia"/>
                <a:cs typeface="Georgia"/>
                <a:sym typeface="Georgia"/>
              </a:rPr>
              <a:t>In Python programming, sequences are a generic term for an ordered set which means that the order in which we input the items will be the same when we access them.</a:t>
            </a:r>
            <a:endParaRPr sz="1350" dirty="0">
              <a:solidFill>
                <a:srgbClr val="444444"/>
              </a:solidFill>
              <a:highlight>
                <a:srgbClr val="FFFFFF"/>
              </a:highlight>
              <a:latin typeface="Georgia"/>
              <a:ea typeface="Georgia"/>
              <a:cs typeface="Georgia"/>
              <a:sym typeface="Georgia"/>
            </a:endParaRPr>
          </a:p>
          <a:p>
            <a:pPr marL="0" lvl="0" indent="0" algn="l" rtl="0">
              <a:lnSpc>
                <a:spcPct val="115000"/>
              </a:lnSpc>
              <a:spcBef>
                <a:spcPts val="1400"/>
              </a:spcBef>
              <a:spcAft>
                <a:spcPts val="0"/>
              </a:spcAft>
              <a:buClr>
                <a:schemeClr val="dk1"/>
              </a:buClr>
              <a:buSzPts val="1100"/>
              <a:buFont typeface="Arial"/>
              <a:buNone/>
            </a:pPr>
            <a:r>
              <a:rPr lang="en" sz="1350" dirty="0">
                <a:solidFill>
                  <a:srgbClr val="444444"/>
                </a:solidFill>
                <a:highlight>
                  <a:srgbClr val="FFFFFF"/>
                </a:highlight>
                <a:latin typeface="Georgia"/>
                <a:ea typeface="Georgia"/>
                <a:cs typeface="Georgia"/>
                <a:sym typeface="Georgia"/>
              </a:rPr>
              <a:t>Python supports six different types of sequences. These are strings, lists, tuples, byte sequences, byte arrays, and range objects. </a:t>
            </a:r>
            <a:endParaRPr sz="1350" dirty="0">
              <a:solidFill>
                <a:srgbClr val="444444"/>
              </a:solidFill>
              <a:highlight>
                <a:srgbClr val="FFFFFF"/>
              </a:highlight>
              <a:latin typeface="Georgia"/>
              <a:ea typeface="Georgia"/>
              <a:cs typeface="Georgia"/>
              <a:sym typeface="Georgia"/>
            </a:endParaRPr>
          </a:p>
          <a:p>
            <a:pPr marL="0" lvl="0" indent="0" algn="l" rtl="0">
              <a:spcBef>
                <a:spcPts val="0"/>
              </a:spcBef>
              <a:spcAft>
                <a:spcPts val="0"/>
              </a:spcAft>
              <a:buSzPts val="605"/>
              <a:buNone/>
            </a:pPr>
            <a:endParaRPr sz="1800" dirty="0">
              <a:solidFill>
                <a:schemeClr val="dk1"/>
              </a:solidFill>
              <a:latin typeface="Times New Roman"/>
              <a:ea typeface="Times New Roman"/>
              <a:cs typeface="Times New Roman"/>
              <a:sym typeface="Times New Roman"/>
            </a:endParaRPr>
          </a:p>
          <a:p>
            <a:pPr marL="0" lvl="0" indent="0" algn="l" rtl="0">
              <a:lnSpc>
                <a:spcPct val="130000"/>
              </a:lnSpc>
              <a:spcBef>
                <a:spcPts val="0"/>
              </a:spcBef>
              <a:spcAft>
                <a:spcPts val="0"/>
              </a:spcAft>
              <a:buClr>
                <a:schemeClr val="dk1"/>
              </a:buClr>
              <a:buSzPts val="1100"/>
              <a:buFont typeface="Arial"/>
              <a:buNone/>
            </a:pPr>
            <a:r>
              <a:rPr lang="en" sz="2050" dirty="0">
                <a:solidFill>
                  <a:srgbClr val="444444"/>
                </a:solidFill>
                <a:highlight>
                  <a:srgbClr val="FFFFFF"/>
                </a:highlight>
                <a:latin typeface="Georgia"/>
                <a:ea typeface="Georgia"/>
                <a:cs typeface="Georgia"/>
                <a:sym typeface="Georgia"/>
              </a:rPr>
              <a:t>Python Strings</a:t>
            </a:r>
            <a:endParaRPr sz="2050" dirty="0">
              <a:solidFill>
                <a:srgbClr val="444444"/>
              </a:solidFill>
              <a:highlight>
                <a:srgbClr val="FFFFFF"/>
              </a:highlight>
              <a:latin typeface="Georgia"/>
              <a:ea typeface="Georgia"/>
              <a:cs typeface="Georgia"/>
              <a:sym typeface="Georgia"/>
            </a:endParaRPr>
          </a:p>
          <a:p>
            <a:pPr marL="0" lvl="0" indent="0" algn="l" rtl="0">
              <a:lnSpc>
                <a:spcPct val="115000"/>
              </a:lnSpc>
              <a:spcBef>
                <a:spcPts val="1100"/>
              </a:spcBef>
              <a:spcAft>
                <a:spcPts val="0"/>
              </a:spcAft>
              <a:buClr>
                <a:schemeClr val="dk1"/>
              </a:buClr>
              <a:buSzPts val="1100"/>
              <a:buFont typeface="Arial"/>
              <a:buNone/>
            </a:pPr>
            <a:r>
              <a:rPr lang="en" sz="1350" dirty="0">
                <a:solidFill>
                  <a:srgbClr val="444444"/>
                </a:solidFill>
                <a:highlight>
                  <a:srgbClr val="FFFFFF"/>
                </a:highlight>
                <a:latin typeface="Georgia"/>
                <a:ea typeface="Georgia"/>
                <a:cs typeface="Georgia"/>
                <a:sym typeface="Georgia"/>
              </a:rPr>
              <a:t>Strings are a group of characters written inside a single or double-quotes. Python does not have a character type so a single character inside quotes is also considered as a string.</a:t>
            </a:r>
            <a:endParaRPr sz="1350" dirty="0">
              <a:solidFill>
                <a:srgbClr val="444444"/>
              </a:solidFill>
              <a:highlight>
                <a:srgbClr val="FFFFFF"/>
              </a:highlight>
              <a:latin typeface="Georgia"/>
              <a:ea typeface="Georgia"/>
              <a:cs typeface="Georgia"/>
              <a:sym typeface="Georgia"/>
            </a:endParaRPr>
          </a:p>
          <a:p>
            <a:pPr marL="0" lvl="0" indent="0" algn="l" rtl="0">
              <a:spcBef>
                <a:spcPts val="1400"/>
              </a:spcBef>
              <a:spcAft>
                <a:spcPts val="0"/>
              </a:spcAft>
              <a:buSzPts val="605"/>
              <a:buNone/>
            </a:pP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5"/>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Code:</a:t>
            </a:r>
            <a:endParaRPr sz="1350">
              <a:solidFill>
                <a:srgbClr val="444444"/>
              </a:solidFill>
              <a:highlight>
                <a:srgbClr val="FFFFFF"/>
              </a:highlight>
              <a:latin typeface="Georgia"/>
              <a:ea typeface="Georgia"/>
              <a:cs typeface="Georgia"/>
              <a:sym typeface="Georgia"/>
            </a:endParaRPr>
          </a:p>
          <a:p>
            <a:pPr marL="0" lvl="0" indent="0" algn="l" rtl="0">
              <a:lnSpc>
                <a:spcPct val="100000"/>
              </a:lnSpc>
              <a:spcBef>
                <a:spcPts val="1400"/>
              </a:spcBef>
              <a:spcAft>
                <a:spcPts val="0"/>
              </a:spcAft>
              <a:buSzPts val="605"/>
              <a:buNone/>
            </a:pPr>
            <a:r>
              <a:rPr lang="en" sz="1350">
                <a:solidFill>
                  <a:srgbClr val="444444"/>
                </a:solidFill>
                <a:highlight>
                  <a:srgbClr val="FFFFFF"/>
                </a:highlight>
                <a:latin typeface="Georgia"/>
                <a:ea typeface="Georgia"/>
                <a:cs typeface="Georgia"/>
                <a:sym typeface="Georgia"/>
              </a:rPr>
              <a:t>name = “TechVidvan”</a:t>
            </a:r>
            <a:endParaRPr sz="1350">
              <a:solidFill>
                <a:srgbClr val="444444"/>
              </a:solidFill>
              <a:highlight>
                <a:srgbClr val="FFFFFF"/>
              </a:highlight>
              <a:latin typeface="Georgia"/>
              <a:ea typeface="Georgia"/>
              <a:cs typeface="Georgia"/>
              <a:sym typeface="Georgia"/>
            </a:endParaRPr>
          </a:p>
          <a:p>
            <a:pPr marL="190500" marR="190500" lvl="0" indent="0" algn="l" rtl="0">
              <a:lnSpc>
                <a:spcPct val="100000"/>
              </a:lnSpc>
              <a:spcBef>
                <a:spcPts val="23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type(name)</a:t>
            </a:r>
            <a:endParaRPr sz="1350">
              <a:solidFill>
                <a:srgbClr val="444444"/>
              </a:solidFill>
              <a:highlight>
                <a:srgbClr val="FFFFFF"/>
              </a:highlight>
              <a:latin typeface="Georgia"/>
              <a:ea typeface="Georgia"/>
              <a:cs typeface="Georgia"/>
              <a:sym typeface="Georgia"/>
            </a:endParaRPr>
          </a:p>
          <a:p>
            <a:pPr marL="0" lvl="0" indent="0" algn="l" rtl="0">
              <a:lnSpc>
                <a:spcPct val="100000"/>
              </a:lnSpc>
              <a:spcBef>
                <a:spcPts val="23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Output:</a:t>
            </a:r>
            <a:endParaRPr sz="1350">
              <a:solidFill>
                <a:srgbClr val="444444"/>
              </a:solidFill>
              <a:highlight>
                <a:srgbClr val="FFFFFF"/>
              </a:highlight>
              <a:latin typeface="Georgia"/>
              <a:ea typeface="Georgia"/>
              <a:cs typeface="Georgia"/>
              <a:sym typeface="Georgia"/>
            </a:endParaRPr>
          </a:p>
          <a:p>
            <a:pPr marL="190500" marR="50800" lvl="0" indent="0" algn="l" rtl="0">
              <a:lnSpc>
                <a:spcPct val="100000"/>
              </a:lnSpc>
              <a:spcBef>
                <a:spcPts val="1400"/>
              </a:spcBef>
              <a:spcAft>
                <a:spcPts val="0"/>
              </a:spcAft>
              <a:buSzPts val="1100"/>
              <a:buNone/>
            </a:pPr>
            <a:r>
              <a:rPr lang="en" sz="1350">
                <a:solidFill>
                  <a:srgbClr val="444444"/>
                </a:solidFill>
                <a:highlight>
                  <a:srgbClr val="FFFFFF"/>
                </a:highlight>
                <a:latin typeface="Georgia"/>
                <a:ea typeface="Georgia"/>
                <a:cs typeface="Georgia"/>
                <a:sym typeface="Georgia"/>
              </a:rPr>
              <a:t>&lt;class ‘str’&gt;</a:t>
            </a:r>
            <a:endParaRPr sz="1350">
              <a:solidFill>
                <a:srgbClr val="444444"/>
              </a:solidFill>
              <a:highlight>
                <a:srgbClr val="FFFFFF"/>
              </a:highlight>
              <a:latin typeface="Georgia"/>
              <a:ea typeface="Georgia"/>
              <a:cs typeface="Georgia"/>
              <a:sym typeface="Georgia"/>
            </a:endParaRPr>
          </a:p>
          <a:p>
            <a:pPr marL="0" lvl="0" indent="0" algn="l" rtl="0">
              <a:lnSpc>
                <a:spcPct val="130000"/>
              </a:lnSpc>
              <a:spcBef>
                <a:spcPts val="1500"/>
              </a:spcBef>
              <a:spcAft>
                <a:spcPts val="0"/>
              </a:spcAft>
              <a:buSzPts val="1100"/>
              <a:buNone/>
            </a:pPr>
            <a:r>
              <a:rPr lang="en" sz="2050">
                <a:solidFill>
                  <a:srgbClr val="444444"/>
                </a:solidFill>
                <a:highlight>
                  <a:srgbClr val="FFFFFF"/>
                </a:highlight>
                <a:latin typeface="Georgia"/>
                <a:ea typeface="Georgia"/>
                <a:cs typeface="Georgia"/>
                <a:sym typeface="Georgia"/>
              </a:rPr>
              <a:t>Bytes Sequences in Python</a:t>
            </a:r>
            <a:endParaRPr sz="2050">
              <a:solidFill>
                <a:srgbClr val="444444"/>
              </a:solidFill>
              <a:highlight>
                <a:srgbClr val="FFFFFF"/>
              </a:highlight>
              <a:latin typeface="Georgia"/>
              <a:ea typeface="Georgia"/>
              <a:cs typeface="Georgia"/>
              <a:sym typeface="Georgia"/>
            </a:endParaRPr>
          </a:p>
          <a:p>
            <a:pPr marL="0" lvl="0" indent="0" algn="l" rtl="0">
              <a:lnSpc>
                <a:spcPct val="115000"/>
              </a:lnSpc>
              <a:spcBef>
                <a:spcPts val="1100"/>
              </a:spcBef>
              <a:spcAft>
                <a:spcPts val="0"/>
              </a:spcAft>
              <a:buSzPts val="1100"/>
              <a:buNone/>
            </a:pPr>
            <a:r>
              <a:rPr lang="en" sz="1350">
                <a:solidFill>
                  <a:srgbClr val="444444"/>
                </a:solidFill>
                <a:highlight>
                  <a:srgbClr val="FFFFFF"/>
                </a:highlight>
                <a:latin typeface="Georgia"/>
                <a:ea typeface="Georgia"/>
                <a:cs typeface="Georgia"/>
                <a:sym typeface="Georgia"/>
              </a:rPr>
              <a:t>The bytes() function in Python is used to return an immutable bytes sequence. Since they are immutable, we cannot modify them.</a:t>
            </a:r>
            <a:endParaRPr sz="1350">
              <a:solidFill>
                <a:srgbClr val="444444"/>
              </a:solidFill>
              <a:highlight>
                <a:srgbClr val="FFFFFF"/>
              </a:highlight>
              <a:latin typeface="Georgia"/>
              <a:ea typeface="Georgia"/>
              <a:cs typeface="Georgia"/>
              <a:sym typeface="Georgia"/>
            </a:endParaRPr>
          </a:p>
          <a:p>
            <a:pPr marL="0" lvl="0" indent="0" algn="l" rtl="0">
              <a:lnSpc>
                <a:spcPct val="115000"/>
              </a:lnSpc>
              <a:spcBef>
                <a:spcPts val="1400"/>
              </a:spcBef>
              <a:spcAft>
                <a:spcPts val="0"/>
              </a:spcAft>
              <a:buSzPts val="1100"/>
              <a:buNone/>
            </a:pPr>
            <a:r>
              <a:rPr lang="en" sz="1350">
                <a:solidFill>
                  <a:srgbClr val="444444"/>
                </a:solidFill>
                <a:highlight>
                  <a:srgbClr val="FFFFFF"/>
                </a:highlight>
                <a:latin typeface="Georgia"/>
                <a:ea typeface="Georgia"/>
                <a:cs typeface="Georgia"/>
                <a:sym typeface="Georgia"/>
              </a:rPr>
              <a:t>If you want a mutable byte sequence, then it is better to use byte arrays. This is how we can create a byte of a given integer size.</a:t>
            </a:r>
            <a:endParaRPr sz="1350">
              <a:solidFill>
                <a:srgbClr val="444444"/>
              </a:solidFill>
              <a:highlight>
                <a:srgbClr val="FFFFFF"/>
              </a:highlight>
              <a:latin typeface="Georgia"/>
              <a:ea typeface="Georgia"/>
              <a:cs typeface="Georgia"/>
              <a:sym typeface="Georgia"/>
            </a:endParaRPr>
          </a:p>
          <a:p>
            <a:pPr marL="190500" marR="50800" lvl="0" indent="0" algn="l" rtl="0">
              <a:lnSpc>
                <a:spcPct val="100000"/>
              </a:lnSpc>
              <a:spcBef>
                <a:spcPts val="1400"/>
              </a:spcBef>
              <a:spcAft>
                <a:spcPts val="0"/>
              </a:spcAft>
              <a:buClr>
                <a:schemeClr val="dk1"/>
              </a:buClr>
              <a:buSzPts val="1100"/>
              <a:buFont typeface="Arial"/>
              <a:buNone/>
            </a:pPr>
            <a:endParaRPr sz="1350">
              <a:solidFill>
                <a:srgbClr val="444444"/>
              </a:solidFill>
              <a:highlight>
                <a:srgbClr val="FFFFFF"/>
              </a:highlight>
              <a:latin typeface="Georgia"/>
              <a:ea typeface="Georgia"/>
              <a:cs typeface="Georgia"/>
              <a:sym typeface="Georgia"/>
            </a:endParaRPr>
          </a:p>
          <a:p>
            <a:pPr marL="0" lvl="0" indent="0" algn="l" rtl="0">
              <a:spcBef>
                <a:spcPts val="1500"/>
              </a:spcBef>
              <a:spcAft>
                <a:spcPts val="0"/>
              </a:spcAft>
              <a:buSzPts val="605"/>
              <a:buNone/>
            </a:pPr>
            <a:endParaRPr sz="2350">
              <a:solidFill>
                <a:srgbClr val="444444"/>
              </a:solidFill>
              <a:highlight>
                <a:srgbClr val="FFFFFF"/>
              </a:highlight>
              <a:latin typeface="Georgia"/>
              <a:ea typeface="Georgia"/>
              <a:cs typeface="Georgia"/>
              <a:sym typeface="Georgi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46"/>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Code:</a:t>
            </a:r>
            <a:endParaRPr sz="1350">
              <a:solidFill>
                <a:srgbClr val="444444"/>
              </a:solidFill>
              <a:highlight>
                <a:srgbClr val="FFFFFF"/>
              </a:highlight>
              <a:latin typeface="Georgia"/>
              <a:ea typeface="Georgia"/>
              <a:cs typeface="Georgia"/>
              <a:sym typeface="Georgia"/>
            </a:endParaRPr>
          </a:p>
          <a:p>
            <a:pPr marL="0" lvl="0" indent="0" algn="l" rtl="0">
              <a:lnSpc>
                <a:spcPct val="100000"/>
              </a:lnSpc>
              <a:spcBef>
                <a:spcPts val="1400"/>
              </a:spcBef>
              <a:spcAft>
                <a:spcPts val="0"/>
              </a:spcAft>
              <a:buSzPts val="605"/>
              <a:buNone/>
            </a:pPr>
            <a:r>
              <a:rPr lang="en" sz="1350">
                <a:solidFill>
                  <a:srgbClr val="444444"/>
                </a:solidFill>
                <a:highlight>
                  <a:srgbClr val="FFFFFF"/>
                </a:highlight>
                <a:latin typeface="Georgia"/>
                <a:ea typeface="Georgia"/>
                <a:cs typeface="Georgia"/>
                <a:sym typeface="Georgia"/>
              </a:rPr>
              <a:t>size = 10</a:t>
            </a:r>
            <a:endParaRPr sz="1350">
              <a:solidFill>
                <a:srgbClr val="44444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SzPts val="605"/>
              <a:buNone/>
            </a:pPr>
            <a:r>
              <a:rPr lang="en" sz="1350">
                <a:solidFill>
                  <a:srgbClr val="444444"/>
                </a:solidFill>
                <a:highlight>
                  <a:srgbClr val="FFFFFF"/>
                </a:highlight>
                <a:latin typeface="Georgia"/>
                <a:ea typeface="Georgia"/>
                <a:cs typeface="Georgia"/>
                <a:sym typeface="Georgia"/>
              </a:rPr>
              <a:t>b = bytes(size)</a:t>
            </a:r>
            <a:endParaRPr sz="1350">
              <a:solidFill>
                <a:srgbClr val="444444"/>
              </a:solidFill>
              <a:highlight>
                <a:srgbClr val="FFFFFF"/>
              </a:highlight>
              <a:latin typeface="Georgia"/>
              <a:ea typeface="Georgia"/>
              <a:cs typeface="Georgia"/>
              <a:sym typeface="Georgia"/>
            </a:endParaRPr>
          </a:p>
          <a:p>
            <a:pPr marL="190500" marR="190500" lvl="0" indent="0" algn="l" rtl="0">
              <a:lnSpc>
                <a:spcPct val="100000"/>
              </a:lnSpc>
              <a:spcBef>
                <a:spcPts val="23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print( b )</a:t>
            </a:r>
            <a:endParaRPr sz="1350">
              <a:solidFill>
                <a:srgbClr val="444444"/>
              </a:solidFill>
              <a:highlight>
                <a:srgbClr val="FFFFFF"/>
              </a:highlight>
              <a:latin typeface="Georgia"/>
              <a:ea typeface="Georgia"/>
              <a:cs typeface="Georgia"/>
              <a:sym typeface="Georgia"/>
            </a:endParaRPr>
          </a:p>
          <a:p>
            <a:pPr marL="0" lvl="0" indent="0" algn="l" rtl="0">
              <a:lnSpc>
                <a:spcPct val="100000"/>
              </a:lnSpc>
              <a:spcBef>
                <a:spcPts val="23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Output:</a:t>
            </a:r>
            <a:endParaRPr sz="1350">
              <a:solidFill>
                <a:srgbClr val="444444"/>
              </a:solidFill>
              <a:highlight>
                <a:srgbClr val="FFFFFF"/>
              </a:highlight>
              <a:latin typeface="Georgia"/>
              <a:ea typeface="Georgia"/>
              <a:cs typeface="Georgia"/>
              <a:sym typeface="Georgia"/>
            </a:endParaRPr>
          </a:p>
          <a:p>
            <a:pPr marL="190500" marR="50800" lvl="0" indent="0" algn="l" rtl="0">
              <a:lnSpc>
                <a:spcPct val="100000"/>
              </a:lnSpc>
              <a:spcBef>
                <a:spcPts val="14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b’\x00\x00\x00\x00\x00\x00\x00\x00\x00\x00′</a:t>
            </a:r>
            <a:endParaRPr sz="1350">
              <a:solidFill>
                <a:srgbClr val="444444"/>
              </a:solidFill>
              <a:highlight>
                <a:srgbClr val="FFFFFF"/>
              </a:highlight>
              <a:latin typeface="Georgia"/>
              <a:ea typeface="Georgia"/>
              <a:cs typeface="Georgia"/>
              <a:sym typeface="Georgia"/>
            </a:endParaRPr>
          </a:p>
          <a:p>
            <a:pPr marL="0" lvl="0" indent="0" algn="l" rtl="0">
              <a:spcBef>
                <a:spcPts val="1500"/>
              </a:spcBef>
              <a:spcAft>
                <a:spcPts val="0"/>
              </a:spcAft>
              <a:buSzPts val="605"/>
              <a:buNone/>
            </a:pPr>
            <a:endParaRPr sz="1350">
              <a:solidFill>
                <a:srgbClr val="444444"/>
              </a:solidFill>
              <a:highlight>
                <a:srgbClr val="FFFFFF"/>
              </a:highlight>
              <a:latin typeface="Georgia"/>
              <a:ea typeface="Georgia"/>
              <a:cs typeface="Georgia"/>
              <a:sym typeface="Georgi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47"/>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30000"/>
              </a:lnSpc>
              <a:spcBef>
                <a:spcPts val="0"/>
              </a:spcBef>
              <a:spcAft>
                <a:spcPts val="0"/>
              </a:spcAft>
              <a:buClr>
                <a:schemeClr val="dk1"/>
              </a:buClr>
              <a:buSzPts val="1100"/>
              <a:buFont typeface="Arial"/>
              <a:buNone/>
            </a:pPr>
            <a:r>
              <a:rPr lang="en" sz="2050">
                <a:solidFill>
                  <a:srgbClr val="444444"/>
                </a:solidFill>
                <a:highlight>
                  <a:srgbClr val="FFFFFF"/>
                </a:highlight>
                <a:latin typeface="Georgia"/>
                <a:ea typeface="Georgia"/>
                <a:cs typeface="Georgia"/>
                <a:sym typeface="Georgia"/>
              </a:rPr>
              <a:t>Byte Arrays in Python</a:t>
            </a:r>
            <a:endParaRPr sz="2050">
              <a:solidFill>
                <a:srgbClr val="444444"/>
              </a:solidFill>
              <a:highlight>
                <a:srgbClr val="FFFFFF"/>
              </a:highlight>
              <a:latin typeface="Georgia"/>
              <a:ea typeface="Georgia"/>
              <a:cs typeface="Georgia"/>
              <a:sym typeface="Georgia"/>
            </a:endParaRPr>
          </a:p>
          <a:p>
            <a:pPr marL="0" lvl="0" indent="0" algn="l" rtl="0">
              <a:lnSpc>
                <a:spcPct val="115000"/>
              </a:lnSpc>
              <a:spcBef>
                <a:spcPts val="11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Byte arrays are similar to bytes sequence. The only difference here is that byte arrays are mutable(</a:t>
            </a:r>
            <a:r>
              <a:rPr lang="en" sz="1500">
                <a:solidFill>
                  <a:srgbClr val="202124"/>
                </a:solidFill>
                <a:highlight>
                  <a:srgbClr val="FFFFFF"/>
                </a:highlight>
              </a:rPr>
              <a:t>that can be changed after they are created)</a:t>
            </a:r>
            <a:r>
              <a:rPr lang="en" sz="1350">
                <a:solidFill>
                  <a:srgbClr val="444444"/>
                </a:solidFill>
                <a:highlight>
                  <a:srgbClr val="FFFFFF"/>
                </a:highlight>
                <a:latin typeface="Georgia"/>
                <a:ea typeface="Georgia"/>
                <a:cs typeface="Georgia"/>
                <a:sym typeface="Georgia"/>
              </a:rPr>
              <a:t> while bytes sequences are immutable(</a:t>
            </a:r>
            <a:r>
              <a:rPr lang="en" sz="1500">
                <a:solidFill>
                  <a:srgbClr val="202124"/>
                </a:solidFill>
                <a:highlight>
                  <a:srgbClr val="FFFFFF"/>
                </a:highlight>
              </a:rPr>
              <a:t>that cannot be changed after they are created)</a:t>
            </a:r>
            <a:r>
              <a:rPr lang="en" sz="1350">
                <a:solidFill>
                  <a:srgbClr val="444444"/>
                </a:solidFill>
                <a:highlight>
                  <a:srgbClr val="FFFFFF"/>
                </a:highlight>
                <a:latin typeface="Georgia"/>
                <a:ea typeface="Georgia"/>
                <a:cs typeface="Georgia"/>
                <a:sym typeface="Georgia"/>
              </a:rPr>
              <a:t>. So, it also returns the bytes object the same way.</a:t>
            </a:r>
            <a:endParaRPr sz="1350">
              <a:solidFill>
                <a:srgbClr val="444444"/>
              </a:solidFill>
              <a:highlight>
                <a:srgbClr val="FFFFFF"/>
              </a:highlight>
              <a:latin typeface="Georgia"/>
              <a:ea typeface="Georgia"/>
              <a:cs typeface="Georgia"/>
              <a:sym typeface="Georgia"/>
            </a:endParaRPr>
          </a:p>
          <a:p>
            <a:pPr marL="0" lvl="0" indent="0" algn="l" rtl="0">
              <a:lnSpc>
                <a:spcPct val="115000"/>
              </a:lnSpc>
              <a:spcBef>
                <a:spcPts val="14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Code:</a:t>
            </a:r>
            <a:endParaRPr sz="1350">
              <a:solidFill>
                <a:srgbClr val="444444"/>
              </a:solidFill>
              <a:highlight>
                <a:srgbClr val="FFFFFF"/>
              </a:highlight>
              <a:latin typeface="Georgia"/>
              <a:ea typeface="Georgia"/>
              <a:cs typeface="Georgia"/>
              <a:sym typeface="Georgia"/>
            </a:endParaRPr>
          </a:p>
          <a:p>
            <a:pPr marL="0" lvl="0" indent="0" algn="l" rtl="0">
              <a:spcBef>
                <a:spcPts val="1400"/>
              </a:spcBef>
              <a:spcAft>
                <a:spcPts val="0"/>
              </a:spcAft>
              <a:buSzPts val="605"/>
              <a:buNone/>
            </a:pPr>
            <a:r>
              <a:rPr lang="en" sz="1350">
                <a:solidFill>
                  <a:srgbClr val="444444"/>
                </a:solidFill>
                <a:highlight>
                  <a:srgbClr val="FFFFFF"/>
                </a:highlight>
                <a:latin typeface="Georgia"/>
                <a:ea typeface="Georgia"/>
                <a:cs typeface="Georgia"/>
                <a:sym typeface="Georgia"/>
              </a:rPr>
              <a:t>print( bytearray(4) )</a:t>
            </a:r>
            <a:endParaRPr sz="1350">
              <a:solidFill>
                <a:srgbClr val="444444"/>
              </a:solidFill>
              <a:highlight>
                <a:srgbClr val="FFFFFF"/>
              </a:highlight>
              <a:latin typeface="Georgia"/>
              <a:ea typeface="Georgia"/>
              <a:cs typeface="Georgia"/>
              <a:sym typeface="Georgia"/>
            </a:endParaRPr>
          </a:p>
          <a:p>
            <a:pPr marL="0" lvl="0" indent="0" algn="l" rtl="0">
              <a:spcBef>
                <a:spcPts val="0"/>
              </a:spcBef>
              <a:spcAft>
                <a:spcPts val="0"/>
              </a:spcAft>
              <a:buSzPts val="605"/>
              <a:buNone/>
            </a:pPr>
            <a:r>
              <a:rPr lang="en" sz="1350">
                <a:solidFill>
                  <a:srgbClr val="444444"/>
                </a:solidFill>
                <a:highlight>
                  <a:srgbClr val="FFFFFF"/>
                </a:highlight>
                <a:latin typeface="Georgia"/>
                <a:ea typeface="Georgia"/>
                <a:cs typeface="Georgia"/>
                <a:sym typeface="Georgia"/>
              </a:rPr>
              <a:t>print( bytearray([1, 2, 3, 4]) )</a:t>
            </a:r>
            <a:endParaRPr sz="1350">
              <a:solidFill>
                <a:srgbClr val="444444"/>
              </a:solidFill>
              <a:highlight>
                <a:srgbClr val="FFFFFF"/>
              </a:highlight>
              <a:latin typeface="Georgia"/>
              <a:ea typeface="Georgia"/>
              <a:cs typeface="Georgia"/>
              <a:sym typeface="Georgia"/>
            </a:endParaRPr>
          </a:p>
          <a:p>
            <a:pPr marL="190500" marR="190500" lvl="0" indent="0" algn="l" rtl="0">
              <a:lnSpc>
                <a:spcPct val="150000"/>
              </a:lnSpc>
              <a:spcBef>
                <a:spcPts val="23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print( bytearray(‘Hola!’, ‘utf-8’))</a:t>
            </a:r>
            <a:endParaRPr sz="1350">
              <a:solidFill>
                <a:srgbClr val="444444"/>
              </a:solidFill>
              <a:highlight>
                <a:srgbClr val="FFFFFF"/>
              </a:highlight>
              <a:latin typeface="Georgia"/>
              <a:ea typeface="Georgia"/>
              <a:cs typeface="Georgia"/>
              <a:sym typeface="Georgia"/>
            </a:endParaRPr>
          </a:p>
          <a:p>
            <a:pPr marL="0" lvl="0" indent="0" algn="l" rtl="0">
              <a:lnSpc>
                <a:spcPct val="115000"/>
              </a:lnSpc>
              <a:spcBef>
                <a:spcPts val="23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Output:</a:t>
            </a:r>
            <a:endParaRPr sz="1350">
              <a:solidFill>
                <a:srgbClr val="444444"/>
              </a:solidFill>
              <a:highlight>
                <a:srgbClr val="FFFFFF"/>
              </a:highlight>
              <a:latin typeface="Georgia"/>
              <a:ea typeface="Georgia"/>
              <a:cs typeface="Georgia"/>
              <a:sym typeface="Georgia"/>
            </a:endParaRPr>
          </a:p>
          <a:p>
            <a:pPr marL="190500" marR="50800" lvl="0" indent="0" algn="l" rtl="0">
              <a:lnSpc>
                <a:spcPct val="165000"/>
              </a:lnSpc>
              <a:spcBef>
                <a:spcPts val="14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bytearray(b’\x00\x00\x00\x00′)</a:t>
            </a:r>
            <a:endParaRPr sz="1350">
              <a:solidFill>
                <a:srgbClr val="444444"/>
              </a:solidFill>
              <a:highlight>
                <a:srgbClr val="FFFFFF"/>
              </a:highlight>
              <a:latin typeface="Georgia"/>
              <a:ea typeface="Georgia"/>
              <a:cs typeface="Georgia"/>
              <a:sym typeface="Georgia"/>
            </a:endParaRPr>
          </a:p>
          <a:p>
            <a:pPr marL="190500" marR="50800" lvl="0" indent="0" algn="l" rtl="0">
              <a:lnSpc>
                <a:spcPct val="165000"/>
              </a:lnSpc>
              <a:spcBef>
                <a:spcPts val="15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bytearray(b’\x01\x02\x03\x04′)</a:t>
            </a:r>
            <a:endParaRPr sz="1350">
              <a:solidFill>
                <a:srgbClr val="444444"/>
              </a:solidFill>
              <a:highlight>
                <a:srgbClr val="FFFFFF"/>
              </a:highlight>
              <a:latin typeface="Georgia"/>
              <a:ea typeface="Georgia"/>
              <a:cs typeface="Georgia"/>
              <a:sym typeface="Georgia"/>
            </a:endParaRPr>
          </a:p>
          <a:p>
            <a:pPr marL="190500" marR="50800" lvl="0" indent="0" algn="l" rtl="0">
              <a:lnSpc>
                <a:spcPct val="165000"/>
              </a:lnSpc>
              <a:spcBef>
                <a:spcPts val="15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bytearray(b’Hola!’)</a:t>
            </a:r>
            <a:endParaRPr sz="1350">
              <a:solidFill>
                <a:srgbClr val="444444"/>
              </a:solidFill>
              <a:highlight>
                <a:srgbClr val="FFFFFF"/>
              </a:highlight>
              <a:latin typeface="Georgia"/>
              <a:ea typeface="Georgia"/>
              <a:cs typeface="Georgia"/>
              <a:sym typeface="Georgia"/>
            </a:endParaRPr>
          </a:p>
          <a:p>
            <a:pPr marL="0" lvl="0" indent="0" algn="l" rtl="0">
              <a:lnSpc>
                <a:spcPct val="115000"/>
              </a:lnSpc>
              <a:spcBef>
                <a:spcPts val="1500"/>
              </a:spcBef>
              <a:spcAft>
                <a:spcPts val="0"/>
              </a:spcAft>
              <a:buClr>
                <a:schemeClr val="dk1"/>
              </a:buClr>
              <a:buSzPts val="1100"/>
              <a:buFont typeface="Arial"/>
              <a:buNone/>
            </a:pPr>
            <a:endParaRPr sz="1350">
              <a:solidFill>
                <a:srgbClr val="444444"/>
              </a:solidFill>
              <a:highlight>
                <a:srgbClr val="FFFFFF"/>
              </a:highlight>
              <a:latin typeface="Georgia"/>
              <a:ea typeface="Georgia"/>
              <a:cs typeface="Georgia"/>
              <a:sym typeface="Georgia"/>
            </a:endParaRPr>
          </a:p>
          <a:p>
            <a:pPr marL="0" lvl="0" indent="0" algn="l" rtl="0">
              <a:spcBef>
                <a:spcPts val="1400"/>
              </a:spcBef>
              <a:spcAft>
                <a:spcPts val="0"/>
              </a:spcAft>
              <a:buSzPts val="605"/>
              <a:buNone/>
            </a:pPr>
            <a:endParaRPr sz="1350">
              <a:solidFill>
                <a:srgbClr val="444444"/>
              </a:solidFill>
              <a:highlight>
                <a:srgbClr val="FFFFFF"/>
              </a:highlight>
              <a:latin typeface="Georgia"/>
              <a:ea typeface="Georgia"/>
              <a:cs typeface="Georgia"/>
              <a:sym typeface="Georgi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8"/>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30000"/>
              </a:lnSpc>
              <a:spcBef>
                <a:spcPts val="0"/>
              </a:spcBef>
              <a:spcAft>
                <a:spcPts val="0"/>
              </a:spcAft>
              <a:buClr>
                <a:schemeClr val="dk1"/>
              </a:buClr>
              <a:buSzPts val="1100"/>
              <a:buFont typeface="Arial"/>
              <a:buNone/>
            </a:pPr>
            <a:r>
              <a:rPr lang="en" sz="2050">
                <a:solidFill>
                  <a:srgbClr val="444444"/>
                </a:solidFill>
                <a:highlight>
                  <a:srgbClr val="FFFFFF"/>
                </a:highlight>
                <a:latin typeface="Georgia"/>
                <a:ea typeface="Georgia"/>
                <a:cs typeface="Georgia"/>
                <a:sym typeface="Georgia"/>
              </a:rPr>
              <a:t>Python range() objects</a:t>
            </a:r>
            <a:endParaRPr sz="2050">
              <a:solidFill>
                <a:srgbClr val="444444"/>
              </a:solidFill>
              <a:highlight>
                <a:srgbClr val="FFFFFF"/>
              </a:highlight>
              <a:latin typeface="Georgia"/>
              <a:ea typeface="Georgia"/>
              <a:cs typeface="Georgia"/>
              <a:sym typeface="Georgia"/>
            </a:endParaRPr>
          </a:p>
          <a:p>
            <a:pPr marL="0" lvl="0" indent="0" algn="l" rtl="0">
              <a:lnSpc>
                <a:spcPct val="115000"/>
              </a:lnSpc>
              <a:spcBef>
                <a:spcPts val="11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range() is a built-in function in Python that returns us a range object. The range object is nothing but a sequence of integers. It generates the integers within the specified start and stop range.</a:t>
            </a:r>
            <a:endParaRPr sz="1350">
              <a:solidFill>
                <a:srgbClr val="444444"/>
              </a:solidFill>
              <a:highlight>
                <a:srgbClr val="FFFFFF"/>
              </a:highlight>
              <a:latin typeface="Georgia"/>
              <a:ea typeface="Georgia"/>
              <a:cs typeface="Georgia"/>
              <a:sym typeface="Georgia"/>
            </a:endParaRPr>
          </a:p>
          <a:p>
            <a:pPr marL="0" lvl="0" indent="0" algn="l" rtl="0">
              <a:lnSpc>
                <a:spcPct val="115000"/>
              </a:lnSpc>
              <a:spcBef>
                <a:spcPts val="14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Let’s see this with an example.</a:t>
            </a:r>
            <a:endParaRPr sz="1350">
              <a:solidFill>
                <a:srgbClr val="444444"/>
              </a:solidFill>
              <a:highlight>
                <a:srgbClr val="FFFFFF"/>
              </a:highlight>
              <a:latin typeface="Georgia"/>
              <a:ea typeface="Georgia"/>
              <a:cs typeface="Georgia"/>
              <a:sym typeface="Georgia"/>
            </a:endParaRPr>
          </a:p>
          <a:p>
            <a:pPr marL="0" lvl="0" indent="0" algn="l" rtl="0">
              <a:lnSpc>
                <a:spcPct val="115000"/>
              </a:lnSpc>
              <a:spcBef>
                <a:spcPts val="14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Code:</a:t>
            </a:r>
            <a:endParaRPr sz="1350">
              <a:solidFill>
                <a:srgbClr val="444444"/>
              </a:solidFill>
              <a:highlight>
                <a:srgbClr val="FFFFFF"/>
              </a:highlight>
              <a:latin typeface="Georgia"/>
              <a:ea typeface="Georgia"/>
              <a:cs typeface="Georgia"/>
              <a:sym typeface="Georgia"/>
            </a:endParaRPr>
          </a:p>
          <a:p>
            <a:pPr marL="0" lvl="0" indent="0" algn="l" rtl="0">
              <a:spcBef>
                <a:spcPts val="1400"/>
              </a:spcBef>
              <a:spcAft>
                <a:spcPts val="0"/>
              </a:spcAft>
              <a:buSzPts val="605"/>
              <a:buNone/>
            </a:pPr>
            <a:r>
              <a:rPr lang="en" sz="1350">
                <a:solidFill>
                  <a:srgbClr val="444444"/>
                </a:solidFill>
                <a:highlight>
                  <a:srgbClr val="FFFFFF"/>
                </a:highlight>
                <a:latin typeface="Georgia"/>
                <a:ea typeface="Georgia"/>
                <a:cs typeface="Georgia"/>
                <a:sym typeface="Georgia"/>
              </a:rPr>
              <a:t>num = range(10)</a:t>
            </a:r>
            <a:endParaRPr sz="1350">
              <a:solidFill>
                <a:srgbClr val="444444"/>
              </a:solidFill>
              <a:highlight>
                <a:srgbClr val="FFFFFF"/>
              </a:highlight>
              <a:latin typeface="Georgia"/>
              <a:ea typeface="Georgia"/>
              <a:cs typeface="Georgia"/>
              <a:sym typeface="Georgia"/>
            </a:endParaRPr>
          </a:p>
          <a:p>
            <a:pPr marL="190500" marR="190500" lvl="0" indent="0" algn="l" rtl="0">
              <a:lnSpc>
                <a:spcPct val="150000"/>
              </a:lnSpc>
              <a:spcBef>
                <a:spcPts val="23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print( type(num) )</a:t>
            </a:r>
            <a:endParaRPr sz="1350">
              <a:solidFill>
                <a:srgbClr val="444444"/>
              </a:solidFill>
              <a:highlight>
                <a:srgbClr val="FFFFFF"/>
              </a:highlight>
              <a:latin typeface="Georgia"/>
              <a:ea typeface="Georgia"/>
              <a:cs typeface="Georgia"/>
              <a:sym typeface="Georgia"/>
            </a:endParaRPr>
          </a:p>
          <a:p>
            <a:pPr marL="0" lvl="0" indent="0" algn="l" rtl="0">
              <a:lnSpc>
                <a:spcPct val="115000"/>
              </a:lnSpc>
              <a:spcBef>
                <a:spcPts val="23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Output:</a:t>
            </a:r>
            <a:endParaRPr sz="1350">
              <a:solidFill>
                <a:srgbClr val="444444"/>
              </a:solidFill>
              <a:highlight>
                <a:srgbClr val="FFFFFF"/>
              </a:highlight>
              <a:latin typeface="Georgia"/>
              <a:ea typeface="Georgia"/>
              <a:cs typeface="Georgia"/>
              <a:sym typeface="Georgia"/>
            </a:endParaRPr>
          </a:p>
          <a:p>
            <a:pPr marL="190500" marR="50800" lvl="0" indent="0" algn="l" rtl="0">
              <a:lnSpc>
                <a:spcPct val="165000"/>
              </a:lnSpc>
              <a:spcBef>
                <a:spcPts val="14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&lt;class ‘range’&gt;</a:t>
            </a:r>
            <a:endParaRPr sz="1350">
              <a:solidFill>
                <a:srgbClr val="444444"/>
              </a:solidFill>
              <a:highlight>
                <a:srgbClr val="FFFFFF"/>
              </a:highlight>
              <a:latin typeface="Georgia"/>
              <a:ea typeface="Georgia"/>
              <a:cs typeface="Georgia"/>
              <a:sym typeface="Georgia"/>
            </a:endParaRPr>
          </a:p>
          <a:p>
            <a:pPr marL="0" lvl="0" indent="0" algn="l" rtl="0">
              <a:spcBef>
                <a:spcPts val="1500"/>
              </a:spcBef>
              <a:spcAft>
                <a:spcPts val="0"/>
              </a:spcAft>
              <a:buSzPts val="605"/>
              <a:buNone/>
            </a:pPr>
            <a:endParaRPr sz="1350">
              <a:solidFill>
                <a:srgbClr val="444444"/>
              </a:solidFill>
              <a:highlight>
                <a:srgbClr val="FFFFFF"/>
              </a:highlight>
              <a:latin typeface="Georgia"/>
              <a:ea typeface="Georgia"/>
              <a:cs typeface="Georgia"/>
              <a:sym typeface="Georgi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9"/>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Code:</a:t>
            </a:r>
            <a:endParaRPr sz="1350">
              <a:solidFill>
                <a:srgbClr val="444444"/>
              </a:solidFill>
              <a:highlight>
                <a:srgbClr val="FFFFFF"/>
              </a:highlight>
              <a:latin typeface="Georgia"/>
              <a:ea typeface="Georgia"/>
              <a:cs typeface="Georgia"/>
              <a:sym typeface="Georgia"/>
            </a:endParaRPr>
          </a:p>
          <a:p>
            <a:pPr marL="0" lvl="0" indent="0" algn="l" rtl="0">
              <a:lnSpc>
                <a:spcPct val="100000"/>
              </a:lnSpc>
              <a:spcBef>
                <a:spcPts val="1400"/>
              </a:spcBef>
              <a:spcAft>
                <a:spcPts val="0"/>
              </a:spcAft>
              <a:buSzPts val="605"/>
              <a:buNone/>
            </a:pPr>
            <a:r>
              <a:rPr lang="en" sz="1350">
                <a:solidFill>
                  <a:srgbClr val="444444"/>
                </a:solidFill>
                <a:highlight>
                  <a:srgbClr val="FFFFFF"/>
                </a:highlight>
                <a:latin typeface="Georgia"/>
                <a:ea typeface="Georgia"/>
                <a:cs typeface="Georgia"/>
                <a:sym typeface="Georgia"/>
              </a:rPr>
              <a:t>for i in range(5):</a:t>
            </a:r>
            <a:endParaRPr sz="1350">
              <a:solidFill>
                <a:srgbClr val="444444"/>
              </a:solidFill>
              <a:highlight>
                <a:srgbClr val="FFFFFF"/>
              </a:highlight>
              <a:latin typeface="Georgia"/>
              <a:ea typeface="Georgia"/>
              <a:cs typeface="Georgia"/>
              <a:sym typeface="Georgia"/>
            </a:endParaRPr>
          </a:p>
          <a:p>
            <a:pPr marL="190500" marR="190500" lvl="0" indent="0" algn="l" rtl="0">
              <a:lnSpc>
                <a:spcPct val="100000"/>
              </a:lnSpc>
              <a:spcBef>
                <a:spcPts val="23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  print(i)</a:t>
            </a:r>
            <a:endParaRPr sz="1350">
              <a:solidFill>
                <a:srgbClr val="444444"/>
              </a:solidFill>
              <a:highlight>
                <a:srgbClr val="FFFFFF"/>
              </a:highlight>
              <a:latin typeface="Georgia"/>
              <a:ea typeface="Georgia"/>
              <a:cs typeface="Georgia"/>
              <a:sym typeface="Georgia"/>
            </a:endParaRPr>
          </a:p>
          <a:p>
            <a:pPr marL="0" lvl="0" indent="0" algn="l" rtl="0">
              <a:lnSpc>
                <a:spcPct val="100000"/>
              </a:lnSpc>
              <a:spcBef>
                <a:spcPts val="23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Output:</a:t>
            </a:r>
            <a:endParaRPr sz="1350">
              <a:solidFill>
                <a:srgbClr val="444444"/>
              </a:solidFill>
              <a:highlight>
                <a:srgbClr val="FFFFFF"/>
              </a:highlight>
              <a:latin typeface="Georgia"/>
              <a:ea typeface="Georgia"/>
              <a:cs typeface="Georgia"/>
              <a:sym typeface="Georgia"/>
            </a:endParaRPr>
          </a:p>
          <a:p>
            <a:pPr marL="190500" marR="50800" lvl="0" indent="0" algn="l" rtl="0">
              <a:lnSpc>
                <a:spcPct val="100000"/>
              </a:lnSpc>
              <a:spcBef>
                <a:spcPts val="14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0</a:t>
            </a:r>
            <a:endParaRPr sz="1350">
              <a:solidFill>
                <a:srgbClr val="444444"/>
              </a:solidFill>
              <a:highlight>
                <a:srgbClr val="FFFFFF"/>
              </a:highlight>
              <a:latin typeface="Georgia"/>
              <a:ea typeface="Georgia"/>
              <a:cs typeface="Georgia"/>
              <a:sym typeface="Georgia"/>
            </a:endParaRPr>
          </a:p>
          <a:p>
            <a:pPr marL="190500" marR="50800" lvl="0" indent="0" algn="l" rtl="0">
              <a:lnSpc>
                <a:spcPct val="100000"/>
              </a:lnSpc>
              <a:spcBef>
                <a:spcPts val="15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1</a:t>
            </a:r>
            <a:endParaRPr sz="1350">
              <a:solidFill>
                <a:srgbClr val="444444"/>
              </a:solidFill>
              <a:highlight>
                <a:srgbClr val="FFFFFF"/>
              </a:highlight>
              <a:latin typeface="Georgia"/>
              <a:ea typeface="Georgia"/>
              <a:cs typeface="Georgia"/>
              <a:sym typeface="Georgia"/>
            </a:endParaRPr>
          </a:p>
          <a:p>
            <a:pPr marL="190500" marR="50800" lvl="0" indent="0" algn="l" rtl="0">
              <a:lnSpc>
                <a:spcPct val="100000"/>
              </a:lnSpc>
              <a:spcBef>
                <a:spcPts val="15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2</a:t>
            </a:r>
            <a:endParaRPr sz="1350">
              <a:solidFill>
                <a:srgbClr val="444444"/>
              </a:solidFill>
              <a:highlight>
                <a:srgbClr val="FFFFFF"/>
              </a:highlight>
              <a:latin typeface="Georgia"/>
              <a:ea typeface="Georgia"/>
              <a:cs typeface="Georgia"/>
              <a:sym typeface="Georgia"/>
            </a:endParaRPr>
          </a:p>
          <a:p>
            <a:pPr marL="190500" marR="50800" lvl="0" indent="0" algn="l" rtl="0">
              <a:lnSpc>
                <a:spcPct val="100000"/>
              </a:lnSpc>
              <a:spcBef>
                <a:spcPts val="15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3</a:t>
            </a:r>
            <a:endParaRPr sz="1350">
              <a:solidFill>
                <a:srgbClr val="444444"/>
              </a:solidFill>
              <a:highlight>
                <a:srgbClr val="FFFFFF"/>
              </a:highlight>
              <a:latin typeface="Georgia"/>
              <a:ea typeface="Georgia"/>
              <a:cs typeface="Georgia"/>
              <a:sym typeface="Georgia"/>
            </a:endParaRPr>
          </a:p>
          <a:p>
            <a:pPr marL="190500" marR="50800" lvl="0" indent="0" algn="l" rtl="0">
              <a:lnSpc>
                <a:spcPct val="165000"/>
              </a:lnSpc>
              <a:spcBef>
                <a:spcPts val="1500"/>
              </a:spcBef>
              <a:spcAft>
                <a:spcPts val="0"/>
              </a:spcAft>
              <a:buClr>
                <a:schemeClr val="dk1"/>
              </a:buClr>
              <a:buSzPts val="1100"/>
              <a:buFont typeface="Arial"/>
              <a:buNone/>
            </a:pPr>
            <a:r>
              <a:rPr lang="en" sz="1000">
                <a:solidFill>
                  <a:schemeClr val="dk1"/>
                </a:solidFill>
                <a:highlight>
                  <a:srgbClr val="F0F0F0"/>
                </a:highlight>
                <a:latin typeface="Courier New"/>
                <a:ea typeface="Courier New"/>
                <a:cs typeface="Courier New"/>
                <a:sym typeface="Courier New"/>
              </a:rPr>
              <a:t>4</a:t>
            </a:r>
            <a:endParaRPr sz="1000">
              <a:solidFill>
                <a:schemeClr val="dk1"/>
              </a:solidFill>
              <a:highlight>
                <a:srgbClr val="F0F0F0"/>
              </a:highlight>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The first argument is the starting range, the second argument is the stopping range and the third argument tells how many steps to take.</a:t>
            </a:r>
            <a:endParaRPr sz="1350">
              <a:solidFill>
                <a:srgbClr val="444444"/>
              </a:solidFill>
              <a:highlight>
                <a:srgbClr val="FFFFFF"/>
              </a:highlight>
              <a:latin typeface="Georgia"/>
              <a:ea typeface="Georgia"/>
              <a:cs typeface="Georgia"/>
              <a:sym typeface="Georgia"/>
            </a:endParaRPr>
          </a:p>
          <a:p>
            <a:pPr marL="0" lvl="0" indent="0" algn="l" rtl="0">
              <a:lnSpc>
                <a:spcPct val="115000"/>
              </a:lnSpc>
              <a:spcBef>
                <a:spcPts val="140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SzPts val="605"/>
              <a:buNone/>
            </a:pPr>
            <a:endParaRPr sz="2050">
              <a:solidFill>
                <a:srgbClr val="444444"/>
              </a:solidFill>
              <a:highlight>
                <a:srgbClr val="FFFFFF"/>
              </a:highlight>
              <a:latin typeface="Georgia"/>
              <a:ea typeface="Georgia"/>
              <a:cs typeface="Georgia"/>
              <a:sym typeface="Georg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50"/>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Code:</a:t>
            </a:r>
            <a:endParaRPr sz="1350">
              <a:solidFill>
                <a:srgbClr val="444444"/>
              </a:solidFill>
              <a:highlight>
                <a:srgbClr val="FFFFFF"/>
              </a:highlight>
              <a:latin typeface="Georgia"/>
              <a:ea typeface="Georgia"/>
              <a:cs typeface="Georgia"/>
              <a:sym typeface="Georgia"/>
            </a:endParaRPr>
          </a:p>
          <a:p>
            <a:pPr marL="0" lvl="0" indent="0" algn="l" rtl="0">
              <a:spcBef>
                <a:spcPts val="1400"/>
              </a:spcBef>
              <a:spcAft>
                <a:spcPts val="0"/>
              </a:spcAft>
              <a:buSzPts val="605"/>
              <a:buNone/>
            </a:pPr>
            <a:r>
              <a:rPr lang="en" sz="1350">
                <a:solidFill>
                  <a:srgbClr val="444444"/>
                </a:solidFill>
                <a:highlight>
                  <a:srgbClr val="FFFFFF"/>
                </a:highlight>
                <a:latin typeface="Georgia"/>
                <a:ea typeface="Georgia"/>
                <a:cs typeface="Georgia"/>
                <a:sym typeface="Georgia"/>
              </a:rPr>
              <a:t>for i in range(4,16,2):</a:t>
            </a:r>
            <a:endParaRPr sz="1350">
              <a:solidFill>
                <a:srgbClr val="444444"/>
              </a:solidFill>
              <a:highlight>
                <a:srgbClr val="FFFFFF"/>
              </a:highlight>
              <a:latin typeface="Georgia"/>
              <a:ea typeface="Georgia"/>
              <a:cs typeface="Georgia"/>
              <a:sym typeface="Georgia"/>
            </a:endParaRPr>
          </a:p>
          <a:p>
            <a:pPr marL="190500" marR="190500" lvl="0" indent="0" algn="l" rtl="0">
              <a:lnSpc>
                <a:spcPct val="150000"/>
              </a:lnSpc>
              <a:spcBef>
                <a:spcPts val="23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  print()</a:t>
            </a:r>
            <a:endParaRPr sz="1350">
              <a:solidFill>
                <a:srgbClr val="444444"/>
              </a:solidFill>
              <a:highlight>
                <a:srgbClr val="FFFFFF"/>
              </a:highlight>
              <a:latin typeface="Georgia"/>
              <a:ea typeface="Georgia"/>
              <a:cs typeface="Georgia"/>
              <a:sym typeface="Georgia"/>
            </a:endParaRPr>
          </a:p>
          <a:p>
            <a:pPr marL="0" lvl="0" indent="0" algn="l" rtl="0">
              <a:lnSpc>
                <a:spcPct val="115000"/>
              </a:lnSpc>
              <a:spcBef>
                <a:spcPts val="23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Output:</a:t>
            </a:r>
            <a:endParaRPr sz="1350">
              <a:solidFill>
                <a:srgbClr val="444444"/>
              </a:solidFill>
              <a:highlight>
                <a:srgbClr val="FFFFFF"/>
              </a:highlight>
              <a:latin typeface="Georgia"/>
              <a:ea typeface="Georgia"/>
              <a:cs typeface="Georgia"/>
              <a:sym typeface="Georgia"/>
            </a:endParaRPr>
          </a:p>
          <a:p>
            <a:pPr marL="190500" marR="50800" lvl="0" indent="0" algn="l" rtl="0">
              <a:lnSpc>
                <a:spcPct val="165000"/>
              </a:lnSpc>
              <a:spcBef>
                <a:spcPts val="14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4</a:t>
            </a:r>
            <a:endParaRPr sz="1350">
              <a:solidFill>
                <a:srgbClr val="444444"/>
              </a:solidFill>
              <a:highlight>
                <a:srgbClr val="FFFFFF"/>
              </a:highlight>
              <a:latin typeface="Georgia"/>
              <a:ea typeface="Georgia"/>
              <a:cs typeface="Georgia"/>
              <a:sym typeface="Georgia"/>
            </a:endParaRPr>
          </a:p>
          <a:p>
            <a:pPr marL="190500" marR="50800" lvl="0" indent="0" algn="l" rtl="0">
              <a:lnSpc>
                <a:spcPct val="165000"/>
              </a:lnSpc>
              <a:spcBef>
                <a:spcPts val="15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6</a:t>
            </a:r>
            <a:endParaRPr sz="1350">
              <a:solidFill>
                <a:srgbClr val="444444"/>
              </a:solidFill>
              <a:highlight>
                <a:srgbClr val="FFFFFF"/>
              </a:highlight>
              <a:latin typeface="Georgia"/>
              <a:ea typeface="Georgia"/>
              <a:cs typeface="Georgia"/>
              <a:sym typeface="Georgia"/>
            </a:endParaRPr>
          </a:p>
          <a:p>
            <a:pPr marL="190500" marR="50800" lvl="0" indent="0" algn="l" rtl="0">
              <a:lnSpc>
                <a:spcPct val="165000"/>
              </a:lnSpc>
              <a:spcBef>
                <a:spcPts val="15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8</a:t>
            </a:r>
            <a:endParaRPr sz="1350">
              <a:solidFill>
                <a:srgbClr val="444444"/>
              </a:solidFill>
              <a:highlight>
                <a:srgbClr val="FFFFFF"/>
              </a:highlight>
              <a:latin typeface="Georgia"/>
              <a:ea typeface="Georgia"/>
              <a:cs typeface="Georgia"/>
              <a:sym typeface="Georgia"/>
            </a:endParaRPr>
          </a:p>
          <a:p>
            <a:pPr marL="190500" marR="50800" lvl="0" indent="0" algn="l" rtl="0">
              <a:lnSpc>
                <a:spcPct val="165000"/>
              </a:lnSpc>
              <a:spcBef>
                <a:spcPts val="15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10</a:t>
            </a:r>
            <a:endParaRPr sz="1350">
              <a:solidFill>
                <a:srgbClr val="444444"/>
              </a:solidFill>
              <a:highlight>
                <a:srgbClr val="FFFFFF"/>
              </a:highlight>
              <a:latin typeface="Georgia"/>
              <a:ea typeface="Georgia"/>
              <a:cs typeface="Georgia"/>
              <a:sym typeface="Georgia"/>
            </a:endParaRPr>
          </a:p>
          <a:p>
            <a:pPr marL="190500" marR="50800" lvl="0" indent="0" algn="l" rtl="0">
              <a:lnSpc>
                <a:spcPct val="165000"/>
              </a:lnSpc>
              <a:spcBef>
                <a:spcPts val="15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12</a:t>
            </a:r>
            <a:endParaRPr sz="1350">
              <a:solidFill>
                <a:srgbClr val="444444"/>
              </a:solidFill>
              <a:highlight>
                <a:srgbClr val="FFFFFF"/>
              </a:highlight>
              <a:latin typeface="Georgia"/>
              <a:ea typeface="Georgia"/>
              <a:cs typeface="Georgia"/>
              <a:sym typeface="Georgia"/>
            </a:endParaRPr>
          </a:p>
          <a:p>
            <a:pPr marL="190500" marR="50800" lvl="0" indent="0" algn="l" rtl="0">
              <a:lnSpc>
                <a:spcPct val="165000"/>
              </a:lnSpc>
              <a:spcBef>
                <a:spcPts val="1500"/>
              </a:spcBef>
              <a:spcAft>
                <a:spcPts val="0"/>
              </a:spcAft>
              <a:buClr>
                <a:schemeClr val="dk1"/>
              </a:buClr>
              <a:buSzPts val="1100"/>
              <a:buFont typeface="Arial"/>
              <a:buNone/>
            </a:pPr>
            <a:r>
              <a:rPr lang="en" sz="1350">
                <a:solidFill>
                  <a:srgbClr val="444444"/>
                </a:solidFill>
                <a:highlight>
                  <a:srgbClr val="FFFFFF"/>
                </a:highlight>
                <a:latin typeface="Georgia"/>
                <a:ea typeface="Georgia"/>
                <a:cs typeface="Georgia"/>
                <a:sym typeface="Georgia"/>
              </a:rPr>
              <a:t>14</a:t>
            </a:r>
            <a:endParaRPr sz="1350">
              <a:solidFill>
                <a:srgbClr val="444444"/>
              </a:solidFill>
              <a:highlight>
                <a:srgbClr val="FFFFFF"/>
              </a:highlight>
              <a:latin typeface="Georgia"/>
              <a:ea typeface="Georgia"/>
              <a:cs typeface="Georgia"/>
              <a:sym typeface="Georgia"/>
            </a:endParaRPr>
          </a:p>
          <a:p>
            <a:pPr marL="0" lvl="0" indent="0" algn="l" rtl="0">
              <a:spcBef>
                <a:spcPts val="1500"/>
              </a:spcBef>
              <a:spcAft>
                <a:spcPts val="0"/>
              </a:spcAft>
              <a:buSzPts val="605"/>
              <a:buNone/>
            </a:pPr>
            <a:endParaRPr sz="1350">
              <a:solidFill>
                <a:srgbClr val="444444"/>
              </a:solidFill>
              <a:highlight>
                <a:srgbClr val="FFFFFF"/>
              </a:highlight>
              <a:latin typeface="Georgia"/>
              <a:ea typeface="Georgia"/>
              <a:cs typeface="Georgia"/>
              <a:sym typeface="Georgi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51"/>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605"/>
              <a:buNone/>
            </a:pPr>
            <a:r>
              <a:rPr lang="en" sz="1500" b="1" u="sng">
                <a:solidFill>
                  <a:srgbClr val="444444"/>
                </a:solidFill>
                <a:highlight>
                  <a:srgbClr val="FFFFFF"/>
                </a:highlight>
                <a:latin typeface="Times New Roman"/>
                <a:ea typeface="Times New Roman"/>
                <a:cs typeface="Times New Roman"/>
                <a:sym typeface="Times New Roman"/>
              </a:rPr>
              <a:t>Control Flow Statements</a:t>
            </a:r>
            <a:endParaRPr sz="1500" b="1" u="sng">
              <a:solidFill>
                <a:srgbClr val="444444"/>
              </a:solidFill>
              <a:highlight>
                <a:srgbClr val="FFFFFF"/>
              </a:highlight>
              <a:latin typeface="Times New Roman"/>
              <a:ea typeface="Times New Roman"/>
              <a:cs typeface="Times New Roman"/>
              <a:sym typeface="Times New Roman"/>
            </a:endParaRPr>
          </a:p>
          <a:p>
            <a:pPr marL="0" lvl="0" indent="0" algn="l" rtl="0">
              <a:lnSpc>
                <a:spcPct val="100000"/>
              </a:lnSpc>
              <a:spcBef>
                <a:spcPts val="0"/>
              </a:spcBef>
              <a:spcAft>
                <a:spcPts val="0"/>
              </a:spcAft>
              <a:buSzPts val="605"/>
              <a:buNone/>
            </a:pPr>
            <a:r>
              <a:rPr lang="en" sz="1500">
                <a:solidFill>
                  <a:srgbClr val="333333"/>
                </a:solidFill>
                <a:highlight>
                  <a:srgbClr val="FFFFFF"/>
                </a:highlight>
                <a:latin typeface="Times New Roman"/>
                <a:ea typeface="Times New Roman"/>
                <a:cs typeface="Times New Roman"/>
                <a:sym typeface="Times New Roman"/>
              </a:rPr>
              <a:t>Control statements are designed to serve the purpose of modifying a loop's execution from its default behaviour. Based on a condition, control statements are applied to alter how the loop executes.</a:t>
            </a:r>
            <a:endParaRPr sz="1500">
              <a:solidFill>
                <a:srgbClr val="333333"/>
              </a:solidFill>
              <a:highlight>
                <a:srgbClr val="FFFFFF"/>
              </a:highlight>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 sz="1500">
                <a:solidFill>
                  <a:srgbClr val="222222"/>
                </a:solidFill>
                <a:highlight>
                  <a:srgbClr val="FEFEFE"/>
                </a:highlight>
                <a:latin typeface="Times New Roman"/>
                <a:ea typeface="Times New Roman"/>
                <a:cs typeface="Times New Roman"/>
                <a:sym typeface="Times New Roman"/>
              </a:rPr>
              <a:t>There are three types of conditional statements.</a:t>
            </a:r>
            <a:endParaRPr sz="1500">
              <a:solidFill>
                <a:srgbClr val="222222"/>
              </a:solidFill>
              <a:highlight>
                <a:srgbClr val="FEFEFE"/>
              </a:highlight>
              <a:latin typeface="Times New Roman"/>
              <a:ea typeface="Times New Roman"/>
              <a:cs typeface="Times New Roman"/>
              <a:sym typeface="Times New Roman"/>
            </a:endParaRPr>
          </a:p>
          <a:p>
            <a:pPr marL="838200" lvl="0" indent="-323850" algn="l" rtl="0">
              <a:lnSpc>
                <a:spcPct val="100000"/>
              </a:lnSpc>
              <a:spcBef>
                <a:spcPts val="1500"/>
              </a:spcBef>
              <a:spcAft>
                <a:spcPts val="0"/>
              </a:spcAft>
              <a:buClr>
                <a:srgbClr val="222222"/>
              </a:buClr>
              <a:buSzPts val="1500"/>
              <a:buFont typeface="Times New Roman"/>
              <a:buAutoNum type="arabicPeriod"/>
            </a:pPr>
            <a:r>
              <a:rPr lang="en" sz="1500">
                <a:solidFill>
                  <a:srgbClr val="222222"/>
                </a:solidFill>
                <a:highlight>
                  <a:srgbClr val="FEFEFE"/>
                </a:highlight>
                <a:latin typeface="Times New Roman"/>
                <a:ea typeface="Times New Roman"/>
                <a:cs typeface="Times New Roman"/>
                <a:sym typeface="Times New Roman"/>
              </a:rPr>
              <a:t>if statement</a:t>
            </a:r>
            <a:endParaRPr sz="1500">
              <a:solidFill>
                <a:srgbClr val="222222"/>
              </a:solidFill>
              <a:highlight>
                <a:srgbClr val="FEFEFE"/>
              </a:highlight>
              <a:latin typeface="Times New Roman"/>
              <a:ea typeface="Times New Roman"/>
              <a:cs typeface="Times New Roman"/>
              <a:sym typeface="Times New Roman"/>
            </a:endParaRPr>
          </a:p>
          <a:p>
            <a:pPr marL="838200" lvl="0" indent="-323850" algn="l" rtl="0">
              <a:lnSpc>
                <a:spcPct val="100000"/>
              </a:lnSpc>
              <a:spcBef>
                <a:spcPts val="0"/>
              </a:spcBef>
              <a:spcAft>
                <a:spcPts val="0"/>
              </a:spcAft>
              <a:buClr>
                <a:srgbClr val="222222"/>
              </a:buClr>
              <a:buSzPts val="1500"/>
              <a:buFont typeface="Times New Roman"/>
              <a:buAutoNum type="arabicPeriod"/>
            </a:pPr>
            <a:r>
              <a:rPr lang="en" sz="1500">
                <a:solidFill>
                  <a:srgbClr val="222222"/>
                </a:solidFill>
                <a:highlight>
                  <a:srgbClr val="FEFEFE"/>
                </a:highlight>
                <a:latin typeface="Times New Roman"/>
                <a:ea typeface="Times New Roman"/>
                <a:cs typeface="Times New Roman"/>
                <a:sym typeface="Times New Roman"/>
              </a:rPr>
              <a:t>if-else</a:t>
            </a:r>
            <a:endParaRPr sz="1500">
              <a:solidFill>
                <a:srgbClr val="222222"/>
              </a:solidFill>
              <a:highlight>
                <a:srgbClr val="FEFEFE"/>
              </a:highlight>
              <a:latin typeface="Times New Roman"/>
              <a:ea typeface="Times New Roman"/>
              <a:cs typeface="Times New Roman"/>
              <a:sym typeface="Times New Roman"/>
            </a:endParaRPr>
          </a:p>
          <a:p>
            <a:pPr marL="838200" lvl="0" indent="-323850" algn="l" rtl="0">
              <a:lnSpc>
                <a:spcPct val="100000"/>
              </a:lnSpc>
              <a:spcBef>
                <a:spcPts val="0"/>
              </a:spcBef>
              <a:spcAft>
                <a:spcPts val="0"/>
              </a:spcAft>
              <a:buClr>
                <a:srgbClr val="222222"/>
              </a:buClr>
              <a:buSzPts val="1500"/>
              <a:buFont typeface="Times New Roman"/>
              <a:buAutoNum type="arabicPeriod"/>
            </a:pPr>
            <a:r>
              <a:rPr lang="en" sz="1500">
                <a:solidFill>
                  <a:srgbClr val="222222"/>
                </a:solidFill>
                <a:highlight>
                  <a:srgbClr val="FEFEFE"/>
                </a:highlight>
                <a:latin typeface="Times New Roman"/>
                <a:ea typeface="Times New Roman"/>
                <a:cs typeface="Times New Roman"/>
                <a:sym typeface="Times New Roman"/>
              </a:rPr>
              <a:t>if-elif-else</a:t>
            </a:r>
            <a:endParaRPr sz="1500">
              <a:solidFill>
                <a:srgbClr val="222222"/>
              </a:solidFill>
              <a:highlight>
                <a:srgbClr val="FEFEFE"/>
              </a:highlight>
              <a:latin typeface="Times New Roman"/>
              <a:ea typeface="Times New Roman"/>
              <a:cs typeface="Times New Roman"/>
              <a:sym typeface="Times New Roman"/>
            </a:endParaRPr>
          </a:p>
          <a:p>
            <a:pPr marL="0" lvl="0" indent="0" algn="l" rtl="0">
              <a:lnSpc>
                <a:spcPct val="100000"/>
              </a:lnSpc>
              <a:spcBef>
                <a:spcPts val="1500"/>
              </a:spcBef>
              <a:spcAft>
                <a:spcPts val="0"/>
              </a:spcAft>
              <a:buNone/>
            </a:pPr>
            <a:r>
              <a:rPr lang="en" sz="1500" b="1">
                <a:solidFill>
                  <a:srgbClr val="1C2B41"/>
                </a:solidFill>
                <a:highlight>
                  <a:srgbClr val="FEFEFE"/>
                </a:highlight>
                <a:latin typeface="Times New Roman"/>
                <a:ea typeface="Times New Roman"/>
                <a:cs typeface="Times New Roman"/>
                <a:sym typeface="Times New Roman"/>
              </a:rPr>
              <a:t>If statement in Python</a:t>
            </a:r>
            <a:endParaRPr sz="1500" b="1">
              <a:solidFill>
                <a:srgbClr val="1C2B41"/>
              </a:solidFill>
              <a:highlight>
                <a:srgbClr val="FEFEFE"/>
              </a:highlight>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500">
                <a:solidFill>
                  <a:srgbClr val="222222"/>
                </a:solidFill>
                <a:highlight>
                  <a:srgbClr val="FEFEFE"/>
                </a:highlight>
                <a:latin typeface="Times New Roman"/>
                <a:ea typeface="Times New Roman"/>
                <a:cs typeface="Times New Roman"/>
                <a:sym typeface="Times New Roman"/>
              </a:rPr>
              <a:t>In control statements, The </a:t>
            </a:r>
            <a:r>
              <a:rPr lang="en" sz="1500">
                <a:solidFill>
                  <a:srgbClr val="6C0B24"/>
                </a:solidFill>
                <a:highlight>
                  <a:srgbClr val="F9F2F4"/>
                </a:highlight>
                <a:latin typeface="Times New Roman"/>
                <a:ea typeface="Times New Roman"/>
                <a:cs typeface="Times New Roman"/>
                <a:sym typeface="Times New Roman"/>
              </a:rPr>
              <a:t>if</a:t>
            </a:r>
            <a:r>
              <a:rPr lang="en" sz="1500">
                <a:solidFill>
                  <a:srgbClr val="222222"/>
                </a:solidFill>
                <a:highlight>
                  <a:srgbClr val="FEFEFE"/>
                </a:highlight>
                <a:latin typeface="Times New Roman"/>
                <a:ea typeface="Times New Roman"/>
                <a:cs typeface="Times New Roman"/>
                <a:sym typeface="Times New Roman"/>
              </a:rPr>
              <a:t> statement is the simplest form. It takes a condition and evaluates to either </a:t>
            </a:r>
            <a:r>
              <a:rPr lang="en" sz="1500">
                <a:solidFill>
                  <a:srgbClr val="6C0B24"/>
                </a:solidFill>
                <a:highlight>
                  <a:srgbClr val="F9F2F4"/>
                </a:highlight>
                <a:latin typeface="Times New Roman"/>
                <a:ea typeface="Times New Roman"/>
                <a:cs typeface="Times New Roman"/>
                <a:sym typeface="Times New Roman"/>
              </a:rPr>
              <a:t>True </a:t>
            </a:r>
            <a:r>
              <a:rPr lang="en" sz="1500">
                <a:solidFill>
                  <a:srgbClr val="222222"/>
                </a:solidFill>
                <a:highlight>
                  <a:srgbClr val="FEFEFE"/>
                </a:highlight>
                <a:latin typeface="Times New Roman"/>
                <a:ea typeface="Times New Roman"/>
                <a:cs typeface="Times New Roman"/>
                <a:sym typeface="Times New Roman"/>
              </a:rPr>
              <a:t>or </a:t>
            </a:r>
            <a:r>
              <a:rPr lang="en" sz="1500">
                <a:solidFill>
                  <a:srgbClr val="6C0B24"/>
                </a:solidFill>
                <a:highlight>
                  <a:srgbClr val="F9F2F4"/>
                </a:highlight>
                <a:latin typeface="Times New Roman"/>
                <a:ea typeface="Times New Roman"/>
                <a:cs typeface="Times New Roman"/>
                <a:sym typeface="Times New Roman"/>
              </a:rPr>
              <a:t>False</a:t>
            </a:r>
            <a:r>
              <a:rPr lang="en" sz="1500">
                <a:solidFill>
                  <a:srgbClr val="222222"/>
                </a:solidFill>
                <a:highlight>
                  <a:srgbClr val="FEFEFE"/>
                </a:highlight>
                <a:latin typeface="Times New Roman"/>
                <a:ea typeface="Times New Roman"/>
                <a:cs typeface="Times New Roman"/>
                <a:sym typeface="Times New Roman"/>
              </a:rPr>
              <a:t>.</a:t>
            </a:r>
            <a:endParaRPr sz="1500">
              <a:solidFill>
                <a:srgbClr val="222222"/>
              </a:solidFill>
              <a:highlight>
                <a:srgbClr val="FEFEFE"/>
              </a:highlight>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500">
                <a:solidFill>
                  <a:srgbClr val="222222"/>
                </a:solidFill>
                <a:highlight>
                  <a:srgbClr val="FEFEFE"/>
                </a:highlight>
                <a:latin typeface="Times New Roman"/>
                <a:ea typeface="Times New Roman"/>
                <a:cs typeface="Times New Roman"/>
                <a:sym typeface="Times New Roman"/>
              </a:rPr>
              <a:t>If the condition is </a:t>
            </a:r>
            <a:r>
              <a:rPr lang="en" sz="1500">
                <a:solidFill>
                  <a:srgbClr val="6C0B24"/>
                </a:solidFill>
                <a:highlight>
                  <a:srgbClr val="F9F2F4"/>
                </a:highlight>
                <a:latin typeface="Times New Roman"/>
                <a:ea typeface="Times New Roman"/>
                <a:cs typeface="Times New Roman"/>
                <a:sym typeface="Times New Roman"/>
              </a:rPr>
              <a:t>True</a:t>
            </a:r>
            <a:r>
              <a:rPr lang="en" sz="1500">
                <a:solidFill>
                  <a:srgbClr val="222222"/>
                </a:solidFill>
                <a:highlight>
                  <a:srgbClr val="FEFEFE"/>
                </a:highlight>
                <a:latin typeface="Times New Roman"/>
                <a:ea typeface="Times New Roman"/>
                <a:cs typeface="Times New Roman"/>
                <a:sym typeface="Times New Roman"/>
              </a:rPr>
              <a:t>, then the True block of code will be executed, and if the condition is False, then the block of code is skipped, and The controller moves to the next line</a:t>
            </a:r>
            <a:endParaRPr sz="1500">
              <a:solidFill>
                <a:srgbClr val="222222"/>
              </a:solidFill>
              <a:highlight>
                <a:srgbClr val="FEFEFE"/>
              </a:highlight>
              <a:latin typeface="Times New Roman"/>
              <a:ea typeface="Times New Roman"/>
              <a:cs typeface="Times New Roman"/>
              <a:sym typeface="Times New Roman"/>
            </a:endParaRPr>
          </a:p>
          <a:p>
            <a:pPr marL="0" lvl="0" indent="0" algn="l" rtl="0">
              <a:lnSpc>
                <a:spcPct val="100000"/>
              </a:lnSpc>
              <a:spcBef>
                <a:spcPts val="1000"/>
              </a:spcBef>
              <a:spcAft>
                <a:spcPts val="0"/>
              </a:spcAft>
              <a:buClr>
                <a:schemeClr val="dk1"/>
              </a:buClr>
              <a:buSzPts val="1100"/>
              <a:buFont typeface="Arial"/>
              <a:buNone/>
            </a:pPr>
            <a:r>
              <a:rPr lang="en" sz="1300" b="1">
                <a:solidFill>
                  <a:srgbClr val="222222"/>
                </a:solidFill>
                <a:highlight>
                  <a:srgbClr val="FEFEFE"/>
                </a:highlight>
                <a:latin typeface="Roboto"/>
                <a:ea typeface="Roboto"/>
                <a:cs typeface="Roboto"/>
                <a:sym typeface="Roboto"/>
              </a:rPr>
              <a:t>Syntax of the </a:t>
            </a:r>
            <a:r>
              <a:rPr lang="en" sz="1300" b="1">
                <a:solidFill>
                  <a:srgbClr val="6C0B24"/>
                </a:solidFill>
                <a:highlight>
                  <a:srgbClr val="F9F2F4"/>
                </a:highlight>
                <a:latin typeface="Courier New"/>
                <a:ea typeface="Courier New"/>
                <a:cs typeface="Courier New"/>
                <a:sym typeface="Courier New"/>
              </a:rPr>
              <a:t>if</a:t>
            </a:r>
            <a:r>
              <a:rPr lang="en" sz="1300" b="1">
                <a:solidFill>
                  <a:srgbClr val="222222"/>
                </a:solidFill>
                <a:highlight>
                  <a:srgbClr val="FEFEFE"/>
                </a:highlight>
                <a:latin typeface="Roboto"/>
                <a:ea typeface="Roboto"/>
                <a:cs typeface="Roboto"/>
                <a:sym typeface="Roboto"/>
              </a:rPr>
              <a:t> statement</a:t>
            </a:r>
            <a:endParaRPr sz="1300" b="1">
              <a:solidFill>
                <a:srgbClr val="222222"/>
              </a:solidFill>
              <a:highlight>
                <a:srgbClr val="FEFEFE"/>
              </a:highlight>
              <a:latin typeface="Roboto"/>
              <a:ea typeface="Roboto"/>
              <a:cs typeface="Roboto"/>
              <a:sym typeface="Roboto"/>
            </a:endParaRPr>
          </a:p>
          <a:p>
            <a:pPr marL="0" lvl="0" indent="0" algn="l" rtl="0">
              <a:lnSpc>
                <a:spcPct val="100000"/>
              </a:lnSpc>
              <a:spcBef>
                <a:spcPts val="1000"/>
              </a:spcBef>
              <a:spcAft>
                <a:spcPts val="0"/>
              </a:spcAft>
              <a:buNone/>
            </a:pPr>
            <a:r>
              <a:rPr lang="en" sz="1300" b="1">
                <a:solidFill>
                  <a:srgbClr val="222222"/>
                </a:solidFill>
                <a:highlight>
                  <a:srgbClr val="FEFEFE"/>
                </a:highlight>
                <a:latin typeface="Roboto"/>
                <a:ea typeface="Roboto"/>
                <a:cs typeface="Roboto"/>
                <a:sym typeface="Roboto"/>
              </a:rPr>
              <a:t>if condition:</a:t>
            </a:r>
            <a:endParaRPr sz="1300" b="1">
              <a:solidFill>
                <a:srgbClr val="222222"/>
              </a:solidFill>
              <a:highlight>
                <a:srgbClr val="FEFEFE"/>
              </a:highlight>
              <a:latin typeface="Roboto"/>
              <a:ea typeface="Roboto"/>
              <a:cs typeface="Roboto"/>
              <a:sym typeface="Roboto"/>
            </a:endParaRPr>
          </a:p>
          <a:p>
            <a:pPr marL="0" lvl="0" indent="0" algn="l" rtl="0">
              <a:lnSpc>
                <a:spcPct val="100000"/>
              </a:lnSpc>
              <a:spcBef>
                <a:spcPts val="1000"/>
              </a:spcBef>
              <a:spcAft>
                <a:spcPts val="0"/>
              </a:spcAft>
              <a:buNone/>
            </a:pPr>
            <a:r>
              <a:rPr lang="en" sz="1300" b="1">
                <a:solidFill>
                  <a:srgbClr val="222222"/>
                </a:solidFill>
                <a:highlight>
                  <a:srgbClr val="FEFEFE"/>
                </a:highlight>
                <a:latin typeface="Roboto"/>
                <a:ea typeface="Roboto"/>
                <a:cs typeface="Roboto"/>
                <a:sym typeface="Roboto"/>
              </a:rPr>
              <a:t>     statement 1</a:t>
            </a:r>
            <a:endParaRPr sz="1300" b="1">
              <a:solidFill>
                <a:srgbClr val="222222"/>
              </a:solidFill>
              <a:highlight>
                <a:srgbClr val="FEFEFE"/>
              </a:highlight>
              <a:latin typeface="Roboto"/>
              <a:ea typeface="Roboto"/>
              <a:cs typeface="Roboto"/>
              <a:sym typeface="Roboto"/>
            </a:endParaRPr>
          </a:p>
          <a:p>
            <a:pPr marL="0" lvl="0" indent="0" algn="l" rtl="0">
              <a:lnSpc>
                <a:spcPct val="100000"/>
              </a:lnSpc>
              <a:spcBef>
                <a:spcPts val="1000"/>
              </a:spcBef>
              <a:spcAft>
                <a:spcPts val="0"/>
              </a:spcAft>
              <a:buNone/>
            </a:pPr>
            <a:r>
              <a:rPr lang="en" sz="1300" b="1">
                <a:solidFill>
                  <a:srgbClr val="222222"/>
                </a:solidFill>
                <a:highlight>
                  <a:srgbClr val="FEFEFE"/>
                </a:highlight>
                <a:latin typeface="Roboto"/>
                <a:ea typeface="Roboto"/>
                <a:cs typeface="Roboto"/>
                <a:sym typeface="Roboto"/>
              </a:rPr>
              <a:t>     statement 2</a:t>
            </a:r>
            <a:endParaRPr sz="1300" b="1">
              <a:solidFill>
                <a:srgbClr val="222222"/>
              </a:solidFill>
              <a:highlight>
                <a:srgbClr val="FEFEFE"/>
              </a:highlight>
              <a:latin typeface="Roboto"/>
              <a:ea typeface="Roboto"/>
              <a:cs typeface="Roboto"/>
              <a:sym typeface="Roboto"/>
            </a:endParaRPr>
          </a:p>
          <a:p>
            <a:pPr marL="165100" marR="165100" lvl="0" indent="0" algn="l" rtl="0">
              <a:lnSpc>
                <a:spcPct val="100000"/>
              </a:lnSpc>
              <a:spcBef>
                <a:spcPts val="1000"/>
              </a:spcBef>
              <a:spcAft>
                <a:spcPts val="0"/>
              </a:spcAft>
              <a:buClr>
                <a:schemeClr val="dk1"/>
              </a:buClr>
              <a:buSzPts val="1100"/>
              <a:buFont typeface="Arial"/>
              <a:buNone/>
            </a:pPr>
            <a:r>
              <a:rPr lang="en" sz="1300" b="1">
                <a:solidFill>
                  <a:srgbClr val="222222"/>
                </a:solidFill>
                <a:highlight>
                  <a:srgbClr val="FEFEFE"/>
                </a:highlight>
                <a:latin typeface="Roboto"/>
                <a:ea typeface="Roboto"/>
                <a:cs typeface="Roboto"/>
                <a:sym typeface="Roboto"/>
              </a:rPr>
              <a:t>     statement n</a:t>
            </a:r>
            <a:endParaRPr sz="1300" b="1">
              <a:solidFill>
                <a:srgbClr val="222222"/>
              </a:solidFill>
              <a:highlight>
                <a:srgbClr val="FEFEFE"/>
              </a:highlight>
              <a:latin typeface="Roboto"/>
              <a:ea typeface="Roboto"/>
              <a:cs typeface="Roboto"/>
              <a:sym typeface="Roboto"/>
            </a:endParaRPr>
          </a:p>
          <a:p>
            <a:pPr marL="0" lvl="0" indent="0" algn="l" rtl="0">
              <a:lnSpc>
                <a:spcPct val="100000"/>
              </a:lnSpc>
              <a:spcBef>
                <a:spcPts val="1000"/>
              </a:spcBef>
              <a:spcAft>
                <a:spcPts val="0"/>
              </a:spcAft>
              <a:buNone/>
            </a:pPr>
            <a:endParaRPr sz="1500">
              <a:solidFill>
                <a:srgbClr val="222222"/>
              </a:solidFill>
              <a:highlight>
                <a:srgbClr val="FEFEFE"/>
              </a:highlight>
              <a:latin typeface="Times New Roman"/>
              <a:ea typeface="Times New Roman"/>
              <a:cs typeface="Times New Roman"/>
              <a:sym typeface="Times New Roman"/>
            </a:endParaRPr>
          </a:p>
          <a:p>
            <a:pPr marL="0" lvl="0" indent="0" algn="l" rtl="0">
              <a:lnSpc>
                <a:spcPct val="115000"/>
              </a:lnSpc>
              <a:spcBef>
                <a:spcPts val="1500"/>
              </a:spcBef>
              <a:spcAft>
                <a:spcPts val="0"/>
              </a:spcAft>
              <a:buNone/>
            </a:pPr>
            <a:endParaRPr sz="1300">
              <a:solidFill>
                <a:srgbClr val="222222"/>
              </a:solidFill>
              <a:highlight>
                <a:srgbClr val="FEFEFE"/>
              </a:highlight>
              <a:latin typeface="Roboto"/>
              <a:ea typeface="Roboto"/>
              <a:cs typeface="Roboto"/>
              <a:sym typeface="Roboto"/>
            </a:endParaRPr>
          </a:p>
          <a:p>
            <a:pPr marL="0" lvl="0" indent="0" algn="l" rtl="0">
              <a:spcBef>
                <a:spcPts val="1500"/>
              </a:spcBef>
              <a:spcAft>
                <a:spcPts val="0"/>
              </a:spcAft>
              <a:buSzPts val="605"/>
              <a:buNone/>
            </a:pPr>
            <a:endParaRPr sz="1200">
              <a:solidFill>
                <a:srgbClr val="333333"/>
              </a:solidFill>
              <a:highlight>
                <a:srgbClr val="FFFFFF"/>
              </a:highlight>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52"/>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endParaRPr sz="1200">
              <a:solidFill>
                <a:srgbClr val="333333"/>
              </a:solidFill>
              <a:highlight>
                <a:srgbClr val="FFFFFF"/>
              </a:highlight>
              <a:latin typeface="Roboto"/>
              <a:ea typeface="Roboto"/>
              <a:cs typeface="Roboto"/>
              <a:sym typeface="Roboto"/>
            </a:endParaRPr>
          </a:p>
          <a:p>
            <a:pPr marL="0" lvl="0" indent="0" algn="l" rtl="0">
              <a:spcBef>
                <a:spcPts val="0"/>
              </a:spcBef>
              <a:spcAft>
                <a:spcPts val="0"/>
              </a:spcAft>
              <a:buSzPts val="605"/>
              <a:buNone/>
            </a:pPr>
            <a:r>
              <a:rPr lang="en" sz="1500">
                <a:solidFill>
                  <a:srgbClr val="222222"/>
                </a:solidFill>
                <a:highlight>
                  <a:srgbClr val="FEFEFE"/>
                </a:highlight>
                <a:latin typeface="Times New Roman"/>
                <a:ea typeface="Times New Roman"/>
                <a:cs typeface="Times New Roman"/>
                <a:sym typeface="Times New Roman"/>
              </a:rPr>
              <a:t>number = 6</a:t>
            </a:r>
            <a:endParaRPr sz="15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500">
                <a:solidFill>
                  <a:srgbClr val="222222"/>
                </a:solidFill>
                <a:highlight>
                  <a:srgbClr val="FEFEFE"/>
                </a:highlight>
                <a:latin typeface="Times New Roman"/>
                <a:ea typeface="Times New Roman"/>
                <a:cs typeface="Times New Roman"/>
                <a:sym typeface="Times New Roman"/>
              </a:rPr>
              <a:t> if number &gt; 5: </a:t>
            </a:r>
            <a:endParaRPr sz="15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500">
                <a:solidFill>
                  <a:srgbClr val="222222"/>
                </a:solidFill>
                <a:highlight>
                  <a:srgbClr val="FEFEFE"/>
                </a:highlight>
                <a:latin typeface="Times New Roman"/>
                <a:ea typeface="Times New Roman"/>
                <a:cs typeface="Times New Roman"/>
                <a:sym typeface="Times New Roman"/>
              </a:rPr>
              <a:t>print(number * number) </a:t>
            </a:r>
            <a:endParaRPr sz="15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500">
                <a:solidFill>
                  <a:srgbClr val="222222"/>
                </a:solidFill>
                <a:highlight>
                  <a:srgbClr val="FEFEFE"/>
                </a:highlight>
                <a:latin typeface="Times New Roman"/>
                <a:ea typeface="Times New Roman"/>
                <a:cs typeface="Times New Roman"/>
                <a:sym typeface="Times New Roman"/>
              </a:rPr>
              <a:t>print('Next lines of code')</a:t>
            </a:r>
            <a:endParaRPr sz="1500">
              <a:solidFill>
                <a:srgbClr val="222222"/>
              </a:solidFill>
              <a:highlight>
                <a:srgbClr val="FEFEFE"/>
              </a:highlight>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500">
                <a:solidFill>
                  <a:srgbClr val="222222"/>
                </a:solidFill>
                <a:highlight>
                  <a:srgbClr val="FEFEFE"/>
                </a:highlight>
                <a:latin typeface="Times New Roman"/>
                <a:ea typeface="Times New Roman"/>
                <a:cs typeface="Times New Roman"/>
                <a:sym typeface="Times New Roman"/>
              </a:rPr>
              <a:t>Output</a:t>
            </a:r>
            <a:endParaRPr sz="1500">
              <a:solidFill>
                <a:srgbClr val="222222"/>
              </a:solidFill>
              <a:highlight>
                <a:srgbClr val="FEFEFE"/>
              </a:highlight>
              <a:latin typeface="Times New Roman"/>
              <a:ea typeface="Times New Roman"/>
              <a:cs typeface="Times New Roman"/>
              <a:sym typeface="Times New Roman"/>
            </a:endParaRPr>
          </a:p>
          <a:p>
            <a:pPr marL="0" lvl="0" indent="0" algn="l" rtl="0">
              <a:spcBef>
                <a:spcPts val="1500"/>
              </a:spcBef>
              <a:spcAft>
                <a:spcPts val="0"/>
              </a:spcAft>
              <a:buSzPts val="605"/>
              <a:buNone/>
            </a:pPr>
            <a:r>
              <a:rPr lang="en" sz="1500">
                <a:solidFill>
                  <a:srgbClr val="222222"/>
                </a:solidFill>
                <a:highlight>
                  <a:srgbClr val="FEFEFE"/>
                </a:highlight>
                <a:latin typeface="Times New Roman"/>
                <a:ea typeface="Times New Roman"/>
                <a:cs typeface="Times New Roman"/>
                <a:sym typeface="Times New Roman"/>
              </a:rPr>
              <a:t>36</a:t>
            </a:r>
            <a:endParaRPr sz="15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0"/>
              </a:spcBef>
              <a:spcAft>
                <a:spcPts val="0"/>
              </a:spcAft>
              <a:buSzPts val="1100"/>
              <a:buNone/>
            </a:pPr>
            <a:r>
              <a:rPr lang="en" sz="1500">
                <a:solidFill>
                  <a:srgbClr val="222222"/>
                </a:solidFill>
                <a:highlight>
                  <a:srgbClr val="FEFEFE"/>
                </a:highlight>
                <a:latin typeface="Times New Roman"/>
                <a:ea typeface="Times New Roman"/>
                <a:cs typeface="Times New Roman"/>
                <a:sym typeface="Times New Roman"/>
              </a:rPr>
              <a:t>Next lines of code</a:t>
            </a:r>
            <a:endParaRPr sz="1500">
              <a:solidFill>
                <a:srgbClr val="222222"/>
              </a:solidFill>
              <a:highlight>
                <a:srgbClr val="FEFEFE"/>
              </a:highlight>
              <a:latin typeface="Times New Roman"/>
              <a:ea typeface="Times New Roman"/>
              <a:cs typeface="Times New Roman"/>
              <a:sym typeface="Times New Roman"/>
            </a:endParaRPr>
          </a:p>
          <a:p>
            <a:pPr marL="0" lvl="0" indent="0" algn="l" rtl="0">
              <a:spcBef>
                <a:spcPts val="1500"/>
              </a:spcBef>
              <a:spcAft>
                <a:spcPts val="0"/>
              </a:spcAft>
              <a:buSzPts val="605"/>
              <a:buNone/>
            </a:pPr>
            <a:endParaRPr sz="1150">
              <a:solidFill>
                <a:srgbClr val="CCCCCC"/>
              </a:solidFill>
              <a:highlight>
                <a:srgbClr val="383B40"/>
              </a:highlight>
              <a:latin typeface="Courier New"/>
              <a:ea typeface="Courier New"/>
              <a:cs typeface="Courier New"/>
              <a:sym typeface="Courier New"/>
            </a:endParaRPr>
          </a:p>
        </p:txBody>
      </p:sp>
      <p:pic>
        <p:nvPicPr>
          <p:cNvPr id="254" name="Google Shape;254;p52"/>
          <p:cNvPicPr preferRelativeResize="0"/>
          <p:nvPr/>
        </p:nvPicPr>
        <p:blipFill>
          <a:blip r:embed="rId3">
            <a:alphaModFix/>
          </a:blip>
          <a:stretch>
            <a:fillRect/>
          </a:stretch>
        </p:blipFill>
        <p:spPr>
          <a:xfrm>
            <a:off x="565700" y="323248"/>
            <a:ext cx="2533650" cy="26354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53"/>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2300"/>
              </a:spcBef>
              <a:spcAft>
                <a:spcPts val="0"/>
              </a:spcAft>
              <a:buClr>
                <a:schemeClr val="dk1"/>
              </a:buClr>
              <a:buSzPts val="1100"/>
              <a:buFont typeface="Arial"/>
              <a:buNone/>
            </a:pPr>
            <a:r>
              <a:rPr lang="en" sz="1800" b="1">
                <a:solidFill>
                  <a:srgbClr val="1C2B41"/>
                </a:solidFill>
                <a:highlight>
                  <a:srgbClr val="FEFEFE"/>
                </a:highlight>
                <a:latin typeface="Roboto"/>
                <a:ea typeface="Roboto"/>
                <a:cs typeface="Roboto"/>
                <a:sym typeface="Roboto"/>
              </a:rPr>
              <a:t>If – else statement</a:t>
            </a:r>
            <a:endParaRPr sz="1800" b="1">
              <a:solidFill>
                <a:srgbClr val="1C2B41"/>
              </a:solidFill>
              <a:highlight>
                <a:srgbClr val="FEFEFE"/>
              </a:highlight>
              <a:latin typeface="Roboto"/>
              <a:ea typeface="Roboto"/>
              <a:cs typeface="Roboto"/>
              <a:sym typeface="Roboto"/>
            </a:endParaRPr>
          </a:p>
          <a:p>
            <a:pPr marL="0" lvl="0" indent="0" algn="l" rtl="0">
              <a:lnSpc>
                <a:spcPct val="115000"/>
              </a:lnSpc>
              <a:spcBef>
                <a:spcPts val="1900"/>
              </a:spcBef>
              <a:spcAft>
                <a:spcPts val="0"/>
              </a:spcAft>
              <a:buClr>
                <a:schemeClr val="dk1"/>
              </a:buClr>
              <a:buSzPts val="1100"/>
              <a:buFont typeface="Arial"/>
              <a:buNone/>
            </a:pPr>
            <a:r>
              <a:rPr lang="en" sz="1300">
                <a:solidFill>
                  <a:srgbClr val="222222"/>
                </a:solidFill>
                <a:highlight>
                  <a:srgbClr val="FEFEFE"/>
                </a:highlight>
                <a:latin typeface="Roboto"/>
                <a:ea typeface="Roboto"/>
                <a:cs typeface="Roboto"/>
                <a:sym typeface="Roboto"/>
              </a:rPr>
              <a:t>The </a:t>
            </a:r>
            <a:r>
              <a:rPr lang="en" sz="1300">
                <a:solidFill>
                  <a:srgbClr val="6C0B24"/>
                </a:solidFill>
                <a:highlight>
                  <a:srgbClr val="F9F2F4"/>
                </a:highlight>
                <a:latin typeface="Courier New"/>
                <a:ea typeface="Courier New"/>
                <a:cs typeface="Courier New"/>
                <a:sym typeface="Courier New"/>
              </a:rPr>
              <a:t>if-else</a:t>
            </a:r>
            <a:r>
              <a:rPr lang="en" sz="1300">
                <a:solidFill>
                  <a:srgbClr val="222222"/>
                </a:solidFill>
                <a:highlight>
                  <a:srgbClr val="FEFEFE"/>
                </a:highlight>
                <a:latin typeface="Roboto"/>
                <a:ea typeface="Roboto"/>
                <a:cs typeface="Roboto"/>
                <a:sym typeface="Roboto"/>
              </a:rPr>
              <a:t> statement checks the condition and executes the </a:t>
            </a:r>
            <a:r>
              <a:rPr lang="en" sz="1300">
                <a:solidFill>
                  <a:srgbClr val="6C0B24"/>
                </a:solidFill>
                <a:highlight>
                  <a:srgbClr val="F9F2F4"/>
                </a:highlight>
                <a:latin typeface="Courier New"/>
                <a:ea typeface="Courier New"/>
                <a:cs typeface="Courier New"/>
                <a:sym typeface="Courier New"/>
              </a:rPr>
              <a:t>if</a:t>
            </a:r>
            <a:r>
              <a:rPr lang="en" sz="1300">
                <a:solidFill>
                  <a:srgbClr val="222222"/>
                </a:solidFill>
                <a:highlight>
                  <a:srgbClr val="FEFEFE"/>
                </a:highlight>
                <a:latin typeface="Roboto"/>
                <a:ea typeface="Roboto"/>
                <a:cs typeface="Roboto"/>
                <a:sym typeface="Roboto"/>
              </a:rPr>
              <a:t> block of code when the condition is True, and if the condition is False, it will execute the </a:t>
            </a:r>
            <a:r>
              <a:rPr lang="en" sz="1300">
                <a:solidFill>
                  <a:srgbClr val="6C0B24"/>
                </a:solidFill>
                <a:highlight>
                  <a:srgbClr val="F9F2F4"/>
                </a:highlight>
                <a:latin typeface="Courier New"/>
                <a:ea typeface="Courier New"/>
                <a:cs typeface="Courier New"/>
                <a:sym typeface="Courier New"/>
              </a:rPr>
              <a:t>else</a:t>
            </a:r>
            <a:r>
              <a:rPr lang="en" sz="1300">
                <a:solidFill>
                  <a:srgbClr val="222222"/>
                </a:solidFill>
                <a:highlight>
                  <a:srgbClr val="FEFEFE"/>
                </a:highlight>
                <a:latin typeface="Roboto"/>
                <a:ea typeface="Roboto"/>
                <a:cs typeface="Roboto"/>
                <a:sym typeface="Roboto"/>
              </a:rPr>
              <a:t> block of code.</a:t>
            </a:r>
            <a:endParaRPr sz="1300">
              <a:solidFill>
                <a:srgbClr val="222222"/>
              </a:solidFill>
              <a:highlight>
                <a:srgbClr val="FEFEFE"/>
              </a:highlight>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300" b="1">
                <a:solidFill>
                  <a:srgbClr val="222222"/>
                </a:solidFill>
                <a:highlight>
                  <a:srgbClr val="FEFEFE"/>
                </a:highlight>
                <a:latin typeface="Roboto"/>
                <a:ea typeface="Roboto"/>
                <a:cs typeface="Roboto"/>
                <a:sym typeface="Roboto"/>
              </a:rPr>
              <a:t>Syntax of the </a:t>
            </a:r>
            <a:r>
              <a:rPr lang="en" sz="1300" b="1">
                <a:solidFill>
                  <a:srgbClr val="6C0B24"/>
                </a:solidFill>
                <a:highlight>
                  <a:srgbClr val="F9F2F4"/>
                </a:highlight>
                <a:latin typeface="Courier New"/>
                <a:ea typeface="Courier New"/>
                <a:cs typeface="Courier New"/>
                <a:sym typeface="Courier New"/>
              </a:rPr>
              <a:t>if-else</a:t>
            </a:r>
            <a:r>
              <a:rPr lang="en" sz="1300" b="1">
                <a:solidFill>
                  <a:srgbClr val="222222"/>
                </a:solidFill>
                <a:highlight>
                  <a:srgbClr val="FEFEFE"/>
                </a:highlight>
                <a:latin typeface="Roboto"/>
                <a:ea typeface="Roboto"/>
                <a:cs typeface="Roboto"/>
                <a:sym typeface="Roboto"/>
              </a:rPr>
              <a:t> statement</a:t>
            </a:r>
            <a:endParaRPr sz="1300" b="1">
              <a:solidFill>
                <a:srgbClr val="222222"/>
              </a:solidFill>
              <a:highlight>
                <a:srgbClr val="FEFEFE"/>
              </a:highlight>
              <a:latin typeface="Roboto"/>
              <a:ea typeface="Roboto"/>
              <a:cs typeface="Roboto"/>
              <a:sym typeface="Roboto"/>
            </a:endParaRPr>
          </a:p>
          <a:p>
            <a:pPr marL="0" lvl="0" indent="0" algn="l" rtl="0">
              <a:spcBef>
                <a:spcPts val="1500"/>
              </a:spcBef>
              <a:spcAft>
                <a:spcPts val="0"/>
              </a:spcAft>
              <a:buSzPts val="605"/>
              <a:buNone/>
            </a:pPr>
            <a:r>
              <a:rPr lang="en" sz="1600">
                <a:solidFill>
                  <a:srgbClr val="222222"/>
                </a:solidFill>
                <a:highlight>
                  <a:srgbClr val="FEFEFE"/>
                </a:highlight>
                <a:latin typeface="Times New Roman"/>
                <a:ea typeface="Times New Roman"/>
                <a:cs typeface="Times New Roman"/>
                <a:sym typeface="Times New Roman"/>
              </a:rPr>
              <a:t>if condition:</a:t>
            </a:r>
            <a:endParaRPr sz="16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600">
                <a:solidFill>
                  <a:srgbClr val="222222"/>
                </a:solidFill>
                <a:highlight>
                  <a:srgbClr val="FEFEFE"/>
                </a:highlight>
                <a:latin typeface="Times New Roman"/>
                <a:ea typeface="Times New Roman"/>
                <a:cs typeface="Times New Roman"/>
                <a:sym typeface="Times New Roman"/>
              </a:rPr>
              <a:t>    statement 1</a:t>
            </a:r>
            <a:endParaRPr sz="16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600">
                <a:solidFill>
                  <a:srgbClr val="222222"/>
                </a:solidFill>
                <a:highlight>
                  <a:srgbClr val="FEFEFE"/>
                </a:highlight>
                <a:latin typeface="Times New Roman"/>
                <a:ea typeface="Times New Roman"/>
                <a:cs typeface="Times New Roman"/>
                <a:sym typeface="Times New Roman"/>
              </a:rPr>
              <a:t>else:</a:t>
            </a:r>
            <a:endParaRPr sz="16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0"/>
              </a:spcBef>
              <a:spcAft>
                <a:spcPts val="0"/>
              </a:spcAft>
              <a:buClr>
                <a:schemeClr val="dk1"/>
              </a:buClr>
              <a:buSzPts val="1100"/>
              <a:buFont typeface="Arial"/>
              <a:buNone/>
            </a:pPr>
            <a:r>
              <a:rPr lang="en" sz="1600">
                <a:solidFill>
                  <a:srgbClr val="222222"/>
                </a:solidFill>
                <a:highlight>
                  <a:srgbClr val="FEFEFE"/>
                </a:highlight>
                <a:latin typeface="Times New Roman"/>
                <a:ea typeface="Times New Roman"/>
                <a:cs typeface="Times New Roman"/>
                <a:sym typeface="Times New Roman"/>
              </a:rPr>
              <a:t>    statement 2</a:t>
            </a:r>
            <a:endParaRPr sz="1600">
              <a:solidFill>
                <a:srgbClr val="222222"/>
              </a:solidFill>
              <a:highlight>
                <a:srgbClr val="FEFEFE"/>
              </a:highlight>
              <a:latin typeface="Times New Roman"/>
              <a:ea typeface="Times New Roman"/>
              <a:cs typeface="Times New Roman"/>
              <a:sym typeface="Times New Roman"/>
            </a:endParaRPr>
          </a:p>
          <a:p>
            <a:pPr marL="0" lvl="0" indent="0" algn="l" rtl="0">
              <a:spcBef>
                <a:spcPts val="1900"/>
              </a:spcBef>
              <a:spcAft>
                <a:spcPts val="0"/>
              </a:spcAft>
              <a:buSzPts val="605"/>
              <a:buNone/>
            </a:pPr>
            <a:endParaRPr sz="1200">
              <a:solidFill>
                <a:srgbClr val="333333"/>
              </a:solidFill>
              <a:highlight>
                <a:srgbClr val="FFFFFF"/>
              </a:highlight>
              <a:latin typeface="Roboto"/>
              <a:ea typeface="Roboto"/>
              <a:cs typeface="Roboto"/>
              <a:sym typeface="Roboto"/>
            </a:endParaRPr>
          </a:p>
        </p:txBody>
      </p:sp>
      <p:pic>
        <p:nvPicPr>
          <p:cNvPr id="260" name="Google Shape;260;p53"/>
          <p:cNvPicPr preferRelativeResize="0"/>
          <p:nvPr/>
        </p:nvPicPr>
        <p:blipFill>
          <a:blip r:embed="rId3">
            <a:alphaModFix/>
          </a:blip>
          <a:stretch>
            <a:fillRect/>
          </a:stretch>
        </p:blipFill>
        <p:spPr>
          <a:xfrm>
            <a:off x="3712572" y="2517575"/>
            <a:ext cx="2178225" cy="24851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54"/>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605"/>
              <a:buNone/>
            </a:pPr>
            <a:r>
              <a:rPr lang="en" sz="1600">
                <a:solidFill>
                  <a:srgbClr val="222222"/>
                </a:solidFill>
                <a:highlight>
                  <a:srgbClr val="FEFEFE"/>
                </a:highlight>
                <a:latin typeface="Times New Roman"/>
                <a:ea typeface="Times New Roman"/>
                <a:cs typeface="Times New Roman"/>
                <a:sym typeface="Times New Roman"/>
              </a:rPr>
              <a:t>password = input('Enter password ') </a:t>
            </a:r>
            <a:endParaRPr sz="16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600">
                <a:solidFill>
                  <a:srgbClr val="222222"/>
                </a:solidFill>
                <a:highlight>
                  <a:srgbClr val="FEFEFE"/>
                </a:highlight>
                <a:latin typeface="Times New Roman"/>
                <a:ea typeface="Times New Roman"/>
                <a:cs typeface="Times New Roman"/>
                <a:sym typeface="Times New Roman"/>
              </a:rPr>
              <a:t>if password == "PYnative@#29": </a:t>
            </a:r>
            <a:endParaRPr sz="16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600">
                <a:solidFill>
                  <a:srgbClr val="222222"/>
                </a:solidFill>
                <a:highlight>
                  <a:srgbClr val="FEFEFE"/>
                </a:highlight>
                <a:latin typeface="Times New Roman"/>
                <a:ea typeface="Times New Roman"/>
                <a:cs typeface="Times New Roman"/>
                <a:sym typeface="Times New Roman"/>
              </a:rPr>
              <a:t>print("Correct password")</a:t>
            </a:r>
            <a:endParaRPr sz="16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600">
                <a:solidFill>
                  <a:srgbClr val="222222"/>
                </a:solidFill>
                <a:highlight>
                  <a:srgbClr val="FEFEFE"/>
                </a:highlight>
                <a:latin typeface="Times New Roman"/>
                <a:ea typeface="Times New Roman"/>
                <a:cs typeface="Times New Roman"/>
                <a:sym typeface="Times New Roman"/>
              </a:rPr>
              <a:t> else: </a:t>
            </a:r>
            <a:endParaRPr sz="16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600">
                <a:solidFill>
                  <a:srgbClr val="222222"/>
                </a:solidFill>
                <a:highlight>
                  <a:srgbClr val="FEFEFE"/>
                </a:highlight>
                <a:latin typeface="Times New Roman"/>
                <a:ea typeface="Times New Roman"/>
                <a:cs typeface="Times New Roman"/>
                <a:sym typeface="Times New Roman"/>
              </a:rPr>
              <a:t>print("Incorrect Password")</a:t>
            </a:r>
            <a:endParaRPr sz="16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600">
                <a:solidFill>
                  <a:srgbClr val="222222"/>
                </a:solidFill>
                <a:highlight>
                  <a:srgbClr val="FEFEFE"/>
                </a:highlight>
                <a:latin typeface="Times New Roman"/>
                <a:ea typeface="Times New Roman"/>
                <a:cs typeface="Times New Roman"/>
                <a:sym typeface="Times New Roman"/>
              </a:rPr>
              <a:t>Enter password PYnative@#29</a:t>
            </a:r>
            <a:endParaRPr sz="16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0"/>
              </a:spcBef>
              <a:spcAft>
                <a:spcPts val="0"/>
              </a:spcAft>
              <a:buSzPts val="1100"/>
              <a:buNone/>
            </a:pPr>
            <a:r>
              <a:rPr lang="en" sz="1600">
                <a:solidFill>
                  <a:srgbClr val="222222"/>
                </a:solidFill>
                <a:highlight>
                  <a:srgbClr val="FEFEFE"/>
                </a:highlight>
                <a:latin typeface="Times New Roman"/>
                <a:ea typeface="Times New Roman"/>
                <a:cs typeface="Times New Roman"/>
                <a:sym typeface="Times New Roman"/>
              </a:rPr>
              <a:t>Correct password</a:t>
            </a:r>
            <a:endParaRPr sz="1600">
              <a:solidFill>
                <a:srgbClr val="222222"/>
              </a:solidFill>
              <a:highlight>
                <a:srgbClr val="FEFEFE"/>
              </a:highlight>
              <a:latin typeface="Times New Roman"/>
              <a:ea typeface="Times New Roman"/>
              <a:cs typeface="Times New Roman"/>
              <a:sym typeface="Times New Roman"/>
            </a:endParaRPr>
          </a:p>
          <a:p>
            <a:pPr marL="0" marR="0" lvl="0" indent="0" algn="l" rtl="0">
              <a:lnSpc>
                <a:spcPct val="100000"/>
              </a:lnSpc>
              <a:spcBef>
                <a:spcPts val="1500"/>
              </a:spcBef>
              <a:spcAft>
                <a:spcPts val="0"/>
              </a:spcAft>
              <a:buClr>
                <a:srgbClr val="000000"/>
              </a:buClr>
              <a:buSzPts val="605"/>
              <a:buFont typeface="Arial"/>
              <a:buNone/>
            </a:pPr>
            <a:r>
              <a:rPr lang="en" sz="1600" b="1">
                <a:solidFill>
                  <a:srgbClr val="222222"/>
                </a:solidFill>
                <a:highlight>
                  <a:srgbClr val="FEFEFE"/>
                </a:highlight>
                <a:latin typeface="Times New Roman"/>
                <a:ea typeface="Times New Roman"/>
                <a:cs typeface="Times New Roman"/>
                <a:sym typeface="Times New Roman"/>
              </a:rPr>
              <a:t>If-elif-else : </a:t>
            </a:r>
            <a:r>
              <a:rPr lang="en" sz="1600">
                <a:solidFill>
                  <a:srgbClr val="222222"/>
                </a:solidFill>
                <a:highlight>
                  <a:srgbClr val="FEFEFE"/>
                </a:highlight>
                <a:latin typeface="Times New Roman"/>
                <a:ea typeface="Times New Roman"/>
                <a:cs typeface="Times New Roman"/>
                <a:sym typeface="Times New Roman"/>
              </a:rPr>
              <a:t>SYNTAX</a:t>
            </a:r>
            <a:endParaRPr sz="1600">
              <a:solidFill>
                <a:srgbClr val="222222"/>
              </a:solidFill>
              <a:highlight>
                <a:srgbClr val="FEFEFE"/>
              </a:highlight>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605"/>
              <a:buFont typeface="Arial"/>
              <a:buNone/>
            </a:pPr>
            <a:r>
              <a:rPr lang="en" sz="1600">
                <a:solidFill>
                  <a:srgbClr val="222222"/>
                </a:solidFill>
                <a:highlight>
                  <a:srgbClr val="FEFEFE"/>
                </a:highlight>
                <a:latin typeface="Times New Roman"/>
                <a:ea typeface="Times New Roman"/>
                <a:cs typeface="Times New Roman"/>
                <a:sym typeface="Times New Roman"/>
              </a:rPr>
              <a:t>if condition-1: </a:t>
            </a:r>
            <a:endParaRPr sz="1600">
              <a:solidFill>
                <a:srgbClr val="222222"/>
              </a:solidFill>
              <a:highlight>
                <a:srgbClr val="FEFEFE"/>
              </a:highlight>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605"/>
              <a:buFont typeface="Arial"/>
              <a:buNone/>
            </a:pPr>
            <a:r>
              <a:rPr lang="en" sz="1600">
                <a:solidFill>
                  <a:srgbClr val="222222"/>
                </a:solidFill>
                <a:highlight>
                  <a:srgbClr val="FEFEFE"/>
                </a:highlight>
                <a:latin typeface="Times New Roman"/>
                <a:ea typeface="Times New Roman"/>
                <a:cs typeface="Times New Roman"/>
                <a:sym typeface="Times New Roman"/>
              </a:rPr>
              <a:t>statement 1 </a:t>
            </a:r>
            <a:endParaRPr sz="1600">
              <a:solidFill>
                <a:srgbClr val="222222"/>
              </a:solidFill>
              <a:highlight>
                <a:srgbClr val="FEFEFE"/>
              </a:highlight>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605"/>
              <a:buFont typeface="Arial"/>
              <a:buNone/>
            </a:pPr>
            <a:r>
              <a:rPr lang="en" sz="1600">
                <a:solidFill>
                  <a:srgbClr val="222222"/>
                </a:solidFill>
                <a:highlight>
                  <a:srgbClr val="FEFEFE"/>
                </a:highlight>
                <a:latin typeface="Times New Roman"/>
                <a:ea typeface="Times New Roman"/>
                <a:cs typeface="Times New Roman"/>
                <a:sym typeface="Times New Roman"/>
              </a:rPr>
              <a:t>elif condition-2: </a:t>
            </a:r>
            <a:endParaRPr sz="1600">
              <a:solidFill>
                <a:srgbClr val="222222"/>
              </a:solidFill>
              <a:highlight>
                <a:srgbClr val="FEFEFE"/>
              </a:highlight>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605"/>
              <a:buFont typeface="Arial"/>
              <a:buNone/>
            </a:pPr>
            <a:r>
              <a:rPr lang="en" sz="1600">
                <a:solidFill>
                  <a:srgbClr val="222222"/>
                </a:solidFill>
                <a:highlight>
                  <a:srgbClr val="FEFEFE"/>
                </a:highlight>
                <a:latin typeface="Times New Roman"/>
                <a:ea typeface="Times New Roman"/>
                <a:cs typeface="Times New Roman"/>
                <a:sym typeface="Times New Roman"/>
              </a:rPr>
              <a:t>stetement 2 </a:t>
            </a:r>
            <a:endParaRPr sz="1600">
              <a:solidFill>
                <a:srgbClr val="222222"/>
              </a:solidFill>
              <a:highlight>
                <a:srgbClr val="FEFEFE"/>
              </a:highlight>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605"/>
              <a:buFont typeface="Arial"/>
              <a:buNone/>
            </a:pPr>
            <a:r>
              <a:rPr lang="en" sz="1600">
                <a:solidFill>
                  <a:srgbClr val="222222"/>
                </a:solidFill>
                <a:highlight>
                  <a:srgbClr val="FEFEFE"/>
                </a:highlight>
                <a:latin typeface="Times New Roman"/>
                <a:ea typeface="Times New Roman"/>
                <a:cs typeface="Times New Roman"/>
                <a:sym typeface="Times New Roman"/>
              </a:rPr>
              <a:t>elif condition-3: </a:t>
            </a:r>
            <a:endParaRPr sz="1600">
              <a:solidFill>
                <a:srgbClr val="222222"/>
              </a:solidFill>
              <a:highlight>
                <a:srgbClr val="FEFEFE"/>
              </a:highlight>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605"/>
              <a:buFont typeface="Arial"/>
              <a:buNone/>
            </a:pPr>
            <a:r>
              <a:rPr lang="en" sz="1600">
                <a:solidFill>
                  <a:srgbClr val="222222"/>
                </a:solidFill>
                <a:highlight>
                  <a:srgbClr val="FEFEFE"/>
                </a:highlight>
                <a:latin typeface="Times New Roman"/>
                <a:ea typeface="Times New Roman"/>
                <a:cs typeface="Times New Roman"/>
                <a:sym typeface="Times New Roman"/>
              </a:rPr>
              <a:t>stetement 3 ... </a:t>
            </a:r>
            <a:endParaRPr sz="1600">
              <a:solidFill>
                <a:srgbClr val="222222"/>
              </a:solidFill>
              <a:highlight>
                <a:srgbClr val="FEFEFE"/>
              </a:highlight>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605"/>
              <a:buFont typeface="Arial"/>
              <a:buNone/>
            </a:pPr>
            <a:r>
              <a:rPr lang="en" sz="1600">
                <a:solidFill>
                  <a:srgbClr val="222222"/>
                </a:solidFill>
                <a:highlight>
                  <a:srgbClr val="FEFEFE"/>
                </a:highlight>
                <a:latin typeface="Times New Roman"/>
                <a:ea typeface="Times New Roman"/>
                <a:cs typeface="Times New Roman"/>
                <a:sym typeface="Times New Roman"/>
              </a:rPr>
              <a:t>else: statement </a:t>
            </a:r>
            <a:endParaRPr sz="16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0"/>
              </a:spcBef>
              <a:spcAft>
                <a:spcPts val="0"/>
              </a:spcAft>
              <a:buSzPts val="1100"/>
              <a:buNone/>
            </a:pPr>
            <a:endParaRPr sz="16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1500"/>
              </a:spcBef>
              <a:spcAft>
                <a:spcPts val="0"/>
              </a:spcAft>
              <a:buSzPts val="1100"/>
              <a:buNone/>
            </a:pPr>
            <a:endParaRPr sz="1100">
              <a:solidFill>
                <a:srgbClr val="DDDDDD"/>
              </a:solidFill>
              <a:highlight>
                <a:srgbClr val="383B40"/>
              </a:highlight>
              <a:latin typeface="Courier New"/>
              <a:ea typeface="Courier New"/>
              <a:cs typeface="Courier New"/>
              <a:sym typeface="Courier New"/>
            </a:endParaRPr>
          </a:p>
          <a:p>
            <a:pPr marL="0" lvl="0" indent="0" algn="l" rtl="0">
              <a:spcBef>
                <a:spcPts val="1500"/>
              </a:spcBef>
              <a:spcAft>
                <a:spcPts val="0"/>
              </a:spcAft>
              <a:buClr>
                <a:schemeClr val="dk1"/>
              </a:buClr>
              <a:buSzPts val="605"/>
              <a:buFont typeface="Arial"/>
              <a:buNone/>
            </a:pPr>
            <a:endParaRPr sz="1100">
              <a:solidFill>
                <a:srgbClr val="DDDDDD"/>
              </a:solidFill>
              <a:highlight>
                <a:srgbClr val="383B40"/>
              </a:highlight>
              <a:latin typeface="Courier New"/>
              <a:ea typeface="Courier New"/>
              <a:cs typeface="Courier New"/>
              <a:sym typeface="Courier New"/>
            </a:endParaRPr>
          </a:p>
          <a:p>
            <a:pPr marL="0" lvl="0" indent="0" algn="l" rtl="0">
              <a:spcBef>
                <a:spcPts val="0"/>
              </a:spcBef>
              <a:spcAft>
                <a:spcPts val="0"/>
              </a:spcAft>
              <a:buSzPts val="605"/>
              <a:buNone/>
            </a:pPr>
            <a:endParaRPr sz="1150">
              <a:solidFill>
                <a:srgbClr val="CCCCCC"/>
              </a:solidFill>
              <a:highlight>
                <a:srgbClr val="383B40"/>
              </a:highlight>
              <a:latin typeface="Courier New"/>
              <a:ea typeface="Courier New"/>
              <a:cs typeface="Courier New"/>
              <a:sym typeface="Courier New"/>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55"/>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139700" marR="139700" lvl="0" indent="0" algn="l" rtl="0">
              <a:lnSpc>
                <a:spcPct val="150000"/>
              </a:lnSpc>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a = 200</a:t>
            </a:r>
            <a:endParaRPr sz="18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b = 33</a:t>
            </a:r>
            <a:endParaRPr sz="18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if b &gt; a:</a:t>
            </a:r>
            <a:endParaRPr sz="18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  print("b is greater than a")</a:t>
            </a:r>
            <a:endParaRPr sz="18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elif a == b:</a:t>
            </a:r>
            <a:endParaRPr sz="18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  print("a and b are equal")</a:t>
            </a:r>
            <a:endParaRPr sz="18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else:</a:t>
            </a:r>
            <a:endParaRPr sz="18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  print("a is greater than b")</a:t>
            </a:r>
            <a:endParaRPr sz="1800">
              <a:solidFill>
                <a:srgbClr val="222222"/>
              </a:solidFill>
              <a:highlight>
                <a:srgbClr val="FEFEFE"/>
              </a:highlight>
              <a:latin typeface="Times New Roman"/>
              <a:ea typeface="Times New Roman"/>
              <a:cs typeface="Times New Roman"/>
              <a:sym typeface="Times New Roman"/>
            </a:endParaRPr>
          </a:p>
          <a:p>
            <a:pPr marL="0" marR="139700" lvl="0" indent="0" algn="l" rtl="0">
              <a:lnSpc>
                <a:spcPct val="150000"/>
              </a:lnSpc>
              <a:spcBef>
                <a:spcPts val="150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Output</a:t>
            </a:r>
            <a:endParaRPr sz="1800">
              <a:solidFill>
                <a:srgbClr val="222222"/>
              </a:solidFill>
              <a:highlight>
                <a:srgbClr val="FEFEFE"/>
              </a:highlight>
              <a:latin typeface="Times New Roman"/>
              <a:ea typeface="Times New Roman"/>
              <a:cs typeface="Times New Roman"/>
              <a:sym typeface="Times New Roman"/>
            </a:endParaRPr>
          </a:p>
          <a:p>
            <a:pPr marL="0" marR="139700" lvl="0" indent="0" algn="l" rtl="0">
              <a:lnSpc>
                <a:spcPct val="150000"/>
              </a:lnSpc>
              <a:spcBef>
                <a:spcPts val="150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a is greater than b</a:t>
            </a:r>
            <a:endParaRPr sz="18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1500"/>
              </a:spcBef>
              <a:spcAft>
                <a:spcPts val="0"/>
              </a:spcAft>
              <a:buClr>
                <a:schemeClr val="dk1"/>
              </a:buClr>
              <a:buSzPts val="1100"/>
              <a:buFont typeface="Arial"/>
              <a:buNone/>
            </a:pP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1500"/>
              </a:spcBef>
              <a:spcAft>
                <a:spcPts val="0"/>
              </a:spcAft>
              <a:buSzPts val="605"/>
              <a:buNone/>
            </a:pPr>
            <a:endParaRPr sz="1150">
              <a:solidFill>
                <a:srgbClr val="CCCCCC"/>
              </a:solidFill>
              <a:highlight>
                <a:srgbClr val="383B40"/>
              </a:highlight>
              <a:latin typeface="Courier New"/>
              <a:ea typeface="Courier New"/>
              <a:cs typeface="Courier New"/>
              <a:sym typeface="Courier New"/>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56"/>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605"/>
              <a:buNone/>
            </a:pPr>
            <a:r>
              <a:rPr lang="en" sz="1500" b="1" u="sng">
                <a:solidFill>
                  <a:srgbClr val="222222"/>
                </a:solidFill>
                <a:highlight>
                  <a:srgbClr val="FEFEFE"/>
                </a:highlight>
                <a:latin typeface="Times New Roman"/>
                <a:ea typeface="Times New Roman"/>
                <a:cs typeface="Times New Roman"/>
                <a:sym typeface="Times New Roman"/>
              </a:rPr>
              <a:t>Looping Statements</a:t>
            </a:r>
            <a:endParaRPr sz="1500" b="1" u="sng">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0"/>
              </a:spcBef>
              <a:spcAft>
                <a:spcPts val="0"/>
              </a:spcAft>
              <a:buSzPts val="1100"/>
              <a:buNone/>
            </a:pPr>
            <a:r>
              <a:rPr lang="en" sz="1400">
                <a:solidFill>
                  <a:srgbClr val="222222"/>
                </a:solidFill>
                <a:highlight>
                  <a:srgbClr val="FEFEFE"/>
                </a:highlight>
                <a:latin typeface="Times New Roman"/>
                <a:ea typeface="Times New Roman"/>
                <a:cs typeface="Times New Roman"/>
                <a:sym typeface="Times New Roman"/>
              </a:rPr>
              <a:t>The while loop statement repeatedly executes a code block while a particular condition is true. In a while-loop, every time the condition is checked at the beginning of the loop, and if it is true, then the loop’s body gets executed. When the condition became False, the controller comes out of the block.</a:t>
            </a:r>
            <a:endParaRPr sz="14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1500"/>
              </a:spcBef>
              <a:spcAft>
                <a:spcPts val="0"/>
              </a:spcAft>
              <a:buClr>
                <a:schemeClr val="dk1"/>
              </a:buClr>
              <a:buSzPts val="1100"/>
              <a:buFont typeface="Arial"/>
              <a:buNone/>
            </a:pPr>
            <a:endParaRPr sz="1300">
              <a:solidFill>
                <a:srgbClr val="222222"/>
              </a:solidFill>
              <a:highlight>
                <a:srgbClr val="FEFEFE"/>
              </a:highlight>
              <a:latin typeface="Roboto"/>
              <a:ea typeface="Roboto"/>
              <a:cs typeface="Roboto"/>
              <a:sym typeface="Roboto"/>
            </a:endParaRPr>
          </a:p>
          <a:p>
            <a:pPr marL="0" lvl="0" indent="0" algn="l" rtl="0">
              <a:spcBef>
                <a:spcPts val="1500"/>
              </a:spcBef>
              <a:spcAft>
                <a:spcPts val="0"/>
              </a:spcAft>
              <a:buSzPts val="605"/>
              <a:buNone/>
            </a:pPr>
            <a:endParaRPr sz="1800">
              <a:solidFill>
                <a:srgbClr val="222222"/>
              </a:solidFill>
              <a:highlight>
                <a:srgbClr val="FEFEFE"/>
              </a:highlight>
              <a:latin typeface="Times New Roman"/>
              <a:ea typeface="Times New Roman"/>
              <a:cs typeface="Times New Roman"/>
              <a:sym typeface="Times New Roman"/>
            </a:endParaRPr>
          </a:p>
        </p:txBody>
      </p:sp>
      <p:pic>
        <p:nvPicPr>
          <p:cNvPr id="276" name="Google Shape;276;p56"/>
          <p:cNvPicPr preferRelativeResize="0"/>
          <p:nvPr/>
        </p:nvPicPr>
        <p:blipFill>
          <a:blip r:embed="rId3">
            <a:alphaModFix/>
          </a:blip>
          <a:stretch>
            <a:fillRect/>
          </a:stretch>
        </p:blipFill>
        <p:spPr>
          <a:xfrm>
            <a:off x="1564200" y="1662125"/>
            <a:ext cx="2504675" cy="28619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57"/>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300" b="1">
                <a:solidFill>
                  <a:srgbClr val="222222"/>
                </a:solidFill>
                <a:highlight>
                  <a:srgbClr val="FEFEFE"/>
                </a:highlight>
                <a:latin typeface="Roboto"/>
                <a:ea typeface="Roboto"/>
                <a:cs typeface="Roboto"/>
                <a:sym typeface="Roboto"/>
              </a:rPr>
              <a:t>Syntax of while-loop</a:t>
            </a:r>
            <a:endParaRPr sz="1300" b="1">
              <a:solidFill>
                <a:srgbClr val="222222"/>
              </a:solidFill>
              <a:highlight>
                <a:srgbClr val="FEFEFE"/>
              </a:highlight>
              <a:latin typeface="Roboto"/>
              <a:ea typeface="Roboto"/>
              <a:cs typeface="Roboto"/>
              <a:sym typeface="Roboto"/>
            </a:endParaRPr>
          </a:p>
          <a:p>
            <a:pPr marL="0" lvl="0" indent="0" algn="l" rtl="0">
              <a:spcBef>
                <a:spcPts val="1500"/>
              </a:spcBef>
              <a:spcAft>
                <a:spcPts val="0"/>
              </a:spcAft>
              <a:buSzPts val="605"/>
              <a:buNone/>
            </a:pPr>
            <a:r>
              <a:rPr lang="en" sz="1600">
                <a:solidFill>
                  <a:srgbClr val="222222"/>
                </a:solidFill>
                <a:highlight>
                  <a:srgbClr val="FEFEFE"/>
                </a:highlight>
                <a:latin typeface="Times New Roman"/>
                <a:ea typeface="Times New Roman"/>
                <a:cs typeface="Times New Roman"/>
                <a:sym typeface="Times New Roman"/>
              </a:rPr>
              <a:t>while condition :</a:t>
            </a:r>
            <a:endParaRPr sz="16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0"/>
              </a:spcBef>
              <a:spcAft>
                <a:spcPts val="0"/>
              </a:spcAft>
              <a:buSzPts val="1100"/>
              <a:buNone/>
            </a:pPr>
            <a:r>
              <a:rPr lang="en" sz="1600">
                <a:solidFill>
                  <a:srgbClr val="222222"/>
                </a:solidFill>
                <a:highlight>
                  <a:srgbClr val="FEFEFE"/>
                </a:highlight>
                <a:latin typeface="Times New Roman"/>
                <a:ea typeface="Times New Roman"/>
                <a:cs typeface="Times New Roman"/>
                <a:sym typeface="Times New Roman"/>
              </a:rPr>
              <a:t>    body of while loop</a:t>
            </a:r>
            <a:endParaRPr sz="16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1900"/>
              </a:spcBef>
              <a:spcAft>
                <a:spcPts val="0"/>
              </a:spcAft>
              <a:buSzPts val="1100"/>
              <a:buNone/>
            </a:pPr>
            <a:r>
              <a:rPr lang="en" sz="1600">
                <a:solidFill>
                  <a:srgbClr val="222222"/>
                </a:solidFill>
                <a:highlight>
                  <a:srgbClr val="FEFEFE"/>
                </a:highlight>
                <a:latin typeface="Times New Roman"/>
                <a:ea typeface="Times New Roman"/>
                <a:cs typeface="Times New Roman"/>
                <a:sym typeface="Times New Roman"/>
              </a:rPr>
              <a:t>Program:</a:t>
            </a:r>
            <a:endParaRPr sz="16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0"/>
              </a:spcBef>
              <a:spcAft>
                <a:spcPts val="0"/>
              </a:spcAft>
              <a:buClr>
                <a:schemeClr val="dk1"/>
              </a:buClr>
              <a:buSzPts val="1100"/>
              <a:buFont typeface="Arial"/>
              <a:buNone/>
            </a:pPr>
            <a:r>
              <a:rPr lang="en" sz="1600">
                <a:solidFill>
                  <a:srgbClr val="222222"/>
                </a:solidFill>
                <a:highlight>
                  <a:srgbClr val="FEFEFE"/>
                </a:highlight>
                <a:latin typeface="Times New Roman"/>
                <a:ea typeface="Times New Roman"/>
                <a:cs typeface="Times New Roman"/>
                <a:sym typeface="Times New Roman"/>
              </a:rPr>
              <a:t>i = 1</a:t>
            </a:r>
            <a:endParaRPr sz="16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0"/>
              </a:spcBef>
              <a:spcAft>
                <a:spcPts val="0"/>
              </a:spcAft>
              <a:buClr>
                <a:schemeClr val="dk1"/>
              </a:buClr>
              <a:buSzPts val="1100"/>
              <a:buFont typeface="Arial"/>
              <a:buNone/>
            </a:pPr>
            <a:r>
              <a:rPr lang="en" sz="1600">
                <a:solidFill>
                  <a:srgbClr val="222222"/>
                </a:solidFill>
                <a:highlight>
                  <a:srgbClr val="FEFEFE"/>
                </a:highlight>
                <a:latin typeface="Times New Roman"/>
                <a:ea typeface="Times New Roman"/>
                <a:cs typeface="Times New Roman"/>
                <a:sym typeface="Times New Roman"/>
              </a:rPr>
              <a:t>while i &lt; 6:</a:t>
            </a:r>
            <a:endParaRPr sz="16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0"/>
              </a:spcBef>
              <a:spcAft>
                <a:spcPts val="0"/>
              </a:spcAft>
              <a:buClr>
                <a:schemeClr val="dk1"/>
              </a:buClr>
              <a:buSzPts val="1100"/>
              <a:buFont typeface="Arial"/>
              <a:buNone/>
            </a:pPr>
            <a:r>
              <a:rPr lang="en" sz="1600">
                <a:solidFill>
                  <a:srgbClr val="222222"/>
                </a:solidFill>
                <a:highlight>
                  <a:srgbClr val="FEFEFE"/>
                </a:highlight>
                <a:latin typeface="Times New Roman"/>
                <a:ea typeface="Times New Roman"/>
                <a:cs typeface="Times New Roman"/>
                <a:sym typeface="Times New Roman"/>
              </a:rPr>
              <a:t>  print(i)</a:t>
            </a:r>
            <a:endParaRPr sz="16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0"/>
              </a:spcBef>
              <a:spcAft>
                <a:spcPts val="0"/>
              </a:spcAft>
              <a:buClr>
                <a:schemeClr val="dk1"/>
              </a:buClr>
              <a:buSzPts val="1100"/>
              <a:buFont typeface="Arial"/>
              <a:buNone/>
            </a:pPr>
            <a:r>
              <a:rPr lang="en" sz="1600">
                <a:solidFill>
                  <a:srgbClr val="222222"/>
                </a:solidFill>
                <a:highlight>
                  <a:srgbClr val="FEFEFE"/>
                </a:highlight>
                <a:latin typeface="Times New Roman"/>
                <a:ea typeface="Times New Roman"/>
                <a:cs typeface="Times New Roman"/>
                <a:sym typeface="Times New Roman"/>
              </a:rPr>
              <a:t>  i += 1</a:t>
            </a:r>
            <a:endParaRPr sz="1600">
              <a:solidFill>
                <a:srgbClr val="222222"/>
              </a:solidFill>
              <a:highlight>
                <a:srgbClr val="FEFEFE"/>
              </a:highlight>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600">
                <a:solidFill>
                  <a:srgbClr val="222222"/>
                </a:solidFill>
                <a:highlight>
                  <a:srgbClr val="FEFEFE"/>
                </a:highlight>
                <a:latin typeface="Times New Roman"/>
                <a:ea typeface="Times New Roman"/>
                <a:cs typeface="Times New Roman"/>
                <a:sym typeface="Times New Roman"/>
              </a:rPr>
              <a:t>Output</a:t>
            </a:r>
            <a:endParaRPr sz="16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1500"/>
              </a:spcBef>
              <a:spcAft>
                <a:spcPts val="0"/>
              </a:spcAft>
              <a:buClr>
                <a:schemeClr val="dk1"/>
              </a:buClr>
              <a:buSzPts val="1100"/>
              <a:buFont typeface="Arial"/>
              <a:buNone/>
            </a:pPr>
            <a:r>
              <a:rPr lang="en" sz="1600">
                <a:solidFill>
                  <a:srgbClr val="222222"/>
                </a:solidFill>
                <a:highlight>
                  <a:srgbClr val="FEFEFE"/>
                </a:highlight>
                <a:latin typeface="Times New Roman"/>
                <a:ea typeface="Times New Roman"/>
                <a:cs typeface="Times New Roman"/>
                <a:sym typeface="Times New Roman"/>
              </a:rPr>
              <a:t>1</a:t>
            </a:r>
            <a:endParaRPr sz="16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1500"/>
              </a:spcBef>
              <a:spcAft>
                <a:spcPts val="0"/>
              </a:spcAft>
              <a:buClr>
                <a:schemeClr val="dk1"/>
              </a:buClr>
              <a:buSzPts val="1100"/>
              <a:buFont typeface="Arial"/>
              <a:buNone/>
            </a:pPr>
            <a:r>
              <a:rPr lang="en" sz="1600">
                <a:solidFill>
                  <a:srgbClr val="222222"/>
                </a:solidFill>
                <a:highlight>
                  <a:srgbClr val="FEFEFE"/>
                </a:highlight>
                <a:latin typeface="Times New Roman"/>
                <a:ea typeface="Times New Roman"/>
                <a:cs typeface="Times New Roman"/>
                <a:sym typeface="Times New Roman"/>
              </a:rPr>
              <a:t>2</a:t>
            </a:r>
            <a:endParaRPr sz="16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1500"/>
              </a:spcBef>
              <a:spcAft>
                <a:spcPts val="0"/>
              </a:spcAft>
              <a:buClr>
                <a:schemeClr val="dk1"/>
              </a:buClr>
              <a:buSzPts val="1100"/>
              <a:buFont typeface="Arial"/>
              <a:buNone/>
            </a:pPr>
            <a:r>
              <a:rPr lang="en" sz="1600">
                <a:solidFill>
                  <a:srgbClr val="222222"/>
                </a:solidFill>
                <a:highlight>
                  <a:srgbClr val="FEFEFE"/>
                </a:highlight>
                <a:latin typeface="Times New Roman"/>
                <a:ea typeface="Times New Roman"/>
                <a:cs typeface="Times New Roman"/>
                <a:sym typeface="Times New Roman"/>
              </a:rPr>
              <a:t>3</a:t>
            </a:r>
            <a:endParaRPr sz="16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1500"/>
              </a:spcBef>
              <a:spcAft>
                <a:spcPts val="0"/>
              </a:spcAft>
              <a:buClr>
                <a:schemeClr val="dk1"/>
              </a:buClr>
              <a:buSzPts val="1100"/>
              <a:buFont typeface="Arial"/>
              <a:buNone/>
            </a:pPr>
            <a:r>
              <a:rPr lang="en" sz="1600">
                <a:solidFill>
                  <a:srgbClr val="222222"/>
                </a:solidFill>
                <a:highlight>
                  <a:srgbClr val="FEFEFE"/>
                </a:highlight>
                <a:latin typeface="Times New Roman"/>
                <a:ea typeface="Times New Roman"/>
                <a:cs typeface="Times New Roman"/>
                <a:sym typeface="Times New Roman"/>
              </a:rPr>
              <a:t>4</a:t>
            </a:r>
            <a:endParaRPr sz="16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1500"/>
              </a:spcBef>
              <a:spcAft>
                <a:spcPts val="0"/>
              </a:spcAft>
              <a:buSzPts val="1100"/>
              <a:buNone/>
            </a:pPr>
            <a:r>
              <a:rPr lang="en" sz="1150">
                <a:solidFill>
                  <a:srgbClr val="FFFFFF"/>
                </a:solidFill>
                <a:highlight>
                  <a:schemeClr val="dk1"/>
                </a:highlight>
                <a:latin typeface="Courier New"/>
                <a:ea typeface="Courier New"/>
                <a:cs typeface="Courier New"/>
                <a:sym typeface="Courier New"/>
              </a:rPr>
              <a:t>5</a:t>
            </a:r>
            <a:endParaRPr sz="16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1500"/>
              </a:spcBef>
              <a:spcAft>
                <a:spcPts val="0"/>
              </a:spcAft>
              <a:buClr>
                <a:schemeClr val="dk1"/>
              </a:buClr>
              <a:buSzPts val="1100"/>
              <a:buFont typeface="Arial"/>
              <a:buNone/>
            </a:pPr>
            <a:endParaRPr sz="16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endParaRPr sz="1400">
              <a:solidFill>
                <a:srgbClr val="222222"/>
              </a:solidFill>
              <a:highlight>
                <a:srgbClr val="FEFEFE"/>
              </a:highlight>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58"/>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2300"/>
              </a:spcBef>
              <a:spcAft>
                <a:spcPts val="0"/>
              </a:spcAft>
              <a:buClr>
                <a:schemeClr val="dk1"/>
              </a:buClr>
              <a:buSzPts val="1100"/>
              <a:buFont typeface="Arial"/>
              <a:buNone/>
            </a:pPr>
            <a:r>
              <a:rPr lang="en" sz="2250" b="1">
                <a:solidFill>
                  <a:srgbClr val="1C2B41"/>
                </a:solidFill>
                <a:highlight>
                  <a:srgbClr val="FEFEFE"/>
                </a:highlight>
                <a:latin typeface="Roboto"/>
                <a:ea typeface="Roboto"/>
                <a:cs typeface="Roboto"/>
                <a:sym typeface="Roboto"/>
              </a:rPr>
              <a:t>for loop</a:t>
            </a:r>
            <a:endParaRPr sz="2250" b="1">
              <a:solidFill>
                <a:srgbClr val="1C2B41"/>
              </a:solidFill>
              <a:highlight>
                <a:srgbClr val="FEFEFE"/>
              </a:highlight>
              <a:latin typeface="Roboto"/>
              <a:ea typeface="Roboto"/>
              <a:cs typeface="Roboto"/>
              <a:sym typeface="Roboto"/>
            </a:endParaRPr>
          </a:p>
          <a:p>
            <a:pPr marL="0" lvl="0" indent="0" algn="l" rtl="0">
              <a:lnSpc>
                <a:spcPct val="115000"/>
              </a:lnSpc>
              <a:spcBef>
                <a:spcPts val="1900"/>
              </a:spcBef>
              <a:spcAft>
                <a:spcPts val="0"/>
              </a:spcAft>
              <a:buClr>
                <a:schemeClr val="dk1"/>
              </a:buClr>
              <a:buSzPts val="1100"/>
              <a:buFont typeface="Arial"/>
              <a:buNone/>
            </a:pPr>
            <a:r>
              <a:rPr lang="en" sz="1300" b="1">
                <a:solidFill>
                  <a:srgbClr val="222222"/>
                </a:solidFill>
                <a:highlight>
                  <a:srgbClr val="FEFEFE"/>
                </a:highlight>
                <a:latin typeface="Roboto"/>
                <a:ea typeface="Roboto"/>
                <a:cs typeface="Roboto"/>
                <a:sym typeface="Roboto"/>
              </a:rPr>
              <a:t>Syntax of </a:t>
            </a:r>
            <a:r>
              <a:rPr lang="en" sz="1300" b="1">
                <a:solidFill>
                  <a:srgbClr val="6C0B24"/>
                </a:solidFill>
                <a:highlight>
                  <a:srgbClr val="F9F2F4"/>
                </a:highlight>
                <a:latin typeface="Courier New"/>
                <a:ea typeface="Courier New"/>
                <a:cs typeface="Courier New"/>
                <a:sym typeface="Courier New"/>
              </a:rPr>
              <a:t>for</a:t>
            </a:r>
            <a:r>
              <a:rPr lang="en" sz="1300" b="1">
                <a:solidFill>
                  <a:srgbClr val="222222"/>
                </a:solidFill>
                <a:highlight>
                  <a:srgbClr val="FEFEFE"/>
                </a:highlight>
                <a:latin typeface="Roboto"/>
                <a:ea typeface="Roboto"/>
                <a:cs typeface="Roboto"/>
                <a:sym typeface="Roboto"/>
              </a:rPr>
              <a:t> loop:</a:t>
            </a:r>
            <a:endParaRPr sz="1300" b="1">
              <a:solidFill>
                <a:srgbClr val="222222"/>
              </a:solidFill>
              <a:highlight>
                <a:srgbClr val="FEFEFE"/>
              </a:highlight>
              <a:latin typeface="Roboto"/>
              <a:ea typeface="Roboto"/>
              <a:cs typeface="Roboto"/>
              <a:sym typeface="Roboto"/>
            </a:endParaRPr>
          </a:p>
          <a:p>
            <a:pPr marL="0" lvl="0" indent="0" algn="l" rtl="0">
              <a:spcBef>
                <a:spcPts val="1500"/>
              </a:spcBef>
              <a:spcAft>
                <a:spcPts val="0"/>
              </a:spcAft>
              <a:buSzPts val="605"/>
              <a:buNone/>
            </a:pPr>
            <a:r>
              <a:rPr lang="en" sz="1700">
                <a:solidFill>
                  <a:srgbClr val="222222"/>
                </a:solidFill>
                <a:highlight>
                  <a:srgbClr val="FEFEFE"/>
                </a:highlight>
                <a:latin typeface="Times New Roman"/>
                <a:ea typeface="Times New Roman"/>
                <a:cs typeface="Times New Roman"/>
                <a:sym typeface="Times New Roman"/>
              </a:rPr>
              <a:t>for element in sequence:</a:t>
            </a:r>
            <a:endParaRPr sz="17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0"/>
              </a:spcBef>
              <a:spcAft>
                <a:spcPts val="0"/>
              </a:spcAft>
              <a:buClr>
                <a:schemeClr val="dk1"/>
              </a:buClr>
              <a:buSzPts val="1100"/>
              <a:buFont typeface="Arial"/>
              <a:buNone/>
            </a:pPr>
            <a:r>
              <a:rPr lang="en" sz="1700">
                <a:solidFill>
                  <a:srgbClr val="222222"/>
                </a:solidFill>
                <a:highlight>
                  <a:srgbClr val="FEFEFE"/>
                </a:highlight>
                <a:latin typeface="Times New Roman"/>
                <a:ea typeface="Times New Roman"/>
                <a:cs typeface="Times New Roman"/>
                <a:sym typeface="Times New Roman"/>
              </a:rPr>
              <a:t>     body of for loop </a:t>
            </a:r>
            <a:r>
              <a:rPr lang="en" sz="1300">
                <a:solidFill>
                  <a:srgbClr val="E1E1E1"/>
                </a:solidFill>
                <a:highlight>
                  <a:srgbClr val="383B40"/>
                </a:highlight>
                <a:latin typeface="Courier New"/>
                <a:ea typeface="Courier New"/>
                <a:cs typeface="Courier New"/>
                <a:sym typeface="Courier New"/>
              </a:rPr>
              <a:t> </a:t>
            </a:r>
            <a:endParaRPr sz="1300">
              <a:solidFill>
                <a:srgbClr val="E1E1E1"/>
              </a:solidFill>
              <a:highlight>
                <a:srgbClr val="383B40"/>
              </a:highlight>
              <a:latin typeface="Courier New"/>
              <a:ea typeface="Courier New"/>
              <a:cs typeface="Courier New"/>
              <a:sym typeface="Courier New"/>
            </a:endParaRPr>
          </a:p>
          <a:p>
            <a:pPr marL="0" lvl="0" indent="0" algn="l" rtl="0">
              <a:spcBef>
                <a:spcPts val="1900"/>
              </a:spcBef>
              <a:spcAft>
                <a:spcPts val="0"/>
              </a:spcAft>
              <a:buSzPts val="605"/>
              <a:buNone/>
            </a:pPr>
            <a:endParaRPr sz="1300" b="1">
              <a:solidFill>
                <a:srgbClr val="222222"/>
              </a:solidFill>
              <a:highlight>
                <a:srgbClr val="FEFEFE"/>
              </a:highlight>
              <a:latin typeface="Roboto"/>
              <a:ea typeface="Roboto"/>
              <a:cs typeface="Roboto"/>
              <a:sym typeface="Roboto"/>
            </a:endParaRPr>
          </a:p>
        </p:txBody>
      </p:sp>
      <p:pic>
        <p:nvPicPr>
          <p:cNvPr id="287" name="Google Shape;287;p58"/>
          <p:cNvPicPr preferRelativeResize="0"/>
          <p:nvPr/>
        </p:nvPicPr>
        <p:blipFill>
          <a:blip r:embed="rId3">
            <a:alphaModFix/>
          </a:blip>
          <a:stretch>
            <a:fillRect/>
          </a:stretch>
        </p:blipFill>
        <p:spPr>
          <a:xfrm>
            <a:off x="3252788" y="976313"/>
            <a:ext cx="2638425" cy="31908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59"/>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2300"/>
              </a:spcBef>
              <a:spcAft>
                <a:spcPts val="0"/>
              </a:spcAft>
              <a:buSzPts val="1100"/>
              <a:buNone/>
            </a:pPr>
            <a:r>
              <a:rPr lang="en" sz="2250" b="1">
                <a:solidFill>
                  <a:srgbClr val="1C2B41"/>
                </a:solidFill>
                <a:highlight>
                  <a:srgbClr val="FEFEFE"/>
                </a:highlight>
                <a:latin typeface="Roboto"/>
                <a:ea typeface="Roboto"/>
                <a:cs typeface="Roboto"/>
                <a:sym typeface="Roboto"/>
              </a:rPr>
              <a:t>for loop</a:t>
            </a:r>
            <a:endParaRPr sz="2250" b="1">
              <a:solidFill>
                <a:srgbClr val="1C2B41"/>
              </a:solidFill>
              <a:highlight>
                <a:srgbClr val="FEFEFE"/>
              </a:highlight>
              <a:latin typeface="Roboto"/>
              <a:ea typeface="Roboto"/>
              <a:cs typeface="Roboto"/>
              <a:sym typeface="Roboto"/>
            </a:endParaRPr>
          </a:p>
          <a:p>
            <a:pPr marL="0" lvl="0" indent="0" algn="l" rtl="0">
              <a:lnSpc>
                <a:spcPct val="115000"/>
              </a:lnSpc>
              <a:spcBef>
                <a:spcPts val="1900"/>
              </a:spcBef>
              <a:spcAft>
                <a:spcPts val="0"/>
              </a:spcAft>
              <a:buSzPts val="1100"/>
              <a:buNone/>
            </a:pPr>
            <a:r>
              <a:rPr lang="en" sz="1300" b="1">
                <a:solidFill>
                  <a:srgbClr val="222222"/>
                </a:solidFill>
                <a:highlight>
                  <a:srgbClr val="FEFEFE"/>
                </a:highlight>
                <a:latin typeface="Roboto"/>
                <a:ea typeface="Roboto"/>
                <a:cs typeface="Roboto"/>
                <a:sym typeface="Roboto"/>
              </a:rPr>
              <a:t>Syntax of </a:t>
            </a:r>
            <a:r>
              <a:rPr lang="en" sz="1300" b="1">
                <a:solidFill>
                  <a:srgbClr val="6C0B24"/>
                </a:solidFill>
                <a:highlight>
                  <a:srgbClr val="F9F2F4"/>
                </a:highlight>
                <a:latin typeface="Courier New"/>
                <a:ea typeface="Courier New"/>
                <a:cs typeface="Courier New"/>
                <a:sym typeface="Courier New"/>
              </a:rPr>
              <a:t>for</a:t>
            </a:r>
            <a:r>
              <a:rPr lang="en" sz="1300" b="1">
                <a:solidFill>
                  <a:srgbClr val="222222"/>
                </a:solidFill>
                <a:highlight>
                  <a:srgbClr val="FEFEFE"/>
                </a:highlight>
                <a:latin typeface="Roboto"/>
                <a:ea typeface="Roboto"/>
                <a:cs typeface="Roboto"/>
                <a:sym typeface="Roboto"/>
              </a:rPr>
              <a:t> loop:</a:t>
            </a:r>
            <a:endParaRPr sz="1300" b="1">
              <a:solidFill>
                <a:srgbClr val="222222"/>
              </a:solidFill>
              <a:highlight>
                <a:srgbClr val="FEFEFE"/>
              </a:highlight>
              <a:latin typeface="Roboto"/>
              <a:ea typeface="Roboto"/>
              <a:cs typeface="Roboto"/>
              <a:sym typeface="Roboto"/>
            </a:endParaRPr>
          </a:p>
          <a:p>
            <a:pPr marL="0" lvl="0" indent="0" algn="l" rtl="0">
              <a:spcBef>
                <a:spcPts val="1500"/>
              </a:spcBef>
              <a:spcAft>
                <a:spcPts val="0"/>
              </a:spcAft>
              <a:buSzPts val="605"/>
              <a:buNone/>
            </a:pPr>
            <a:r>
              <a:rPr lang="en" sz="1700">
                <a:solidFill>
                  <a:srgbClr val="222222"/>
                </a:solidFill>
                <a:highlight>
                  <a:srgbClr val="FEFEFE"/>
                </a:highlight>
                <a:latin typeface="Times New Roman"/>
                <a:ea typeface="Times New Roman"/>
                <a:cs typeface="Times New Roman"/>
                <a:sym typeface="Times New Roman"/>
              </a:rPr>
              <a:t>for element in sequence:</a:t>
            </a:r>
            <a:endParaRPr sz="17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0"/>
              </a:spcBef>
              <a:spcAft>
                <a:spcPts val="0"/>
              </a:spcAft>
              <a:buSzPts val="1100"/>
              <a:buNone/>
            </a:pPr>
            <a:r>
              <a:rPr lang="en" sz="1700">
                <a:solidFill>
                  <a:srgbClr val="222222"/>
                </a:solidFill>
                <a:highlight>
                  <a:srgbClr val="FEFEFE"/>
                </a:highlight>
                <a:latin typeface="Times New Roman"/>
                <a:ea typeface="Times New Roman"/>
                <a:cs typeface="Times New Roman"/>
                <a:sym typeface="Times New Roman"/>
              </a:rPr>
              <a:t>     body of for loop </a:t>
            </a:r>
            <a:r>
              <a:rPr lang="en" sz="1300">
                <a:solidFill>
                  <a:srgbClr val="E1E1E1"/>
                </a:solidFill>
                <a:highlight>
                  <a:srgbClr val="383B40"/>
                </a:highlight>
                <a:latin typeface="Courier New"/>
                <a:ea typeface="Courier New"/>
                <a:cs typeface="Courier New"/>
                <a:sym typeface="Courier New"/>
              </a:rPr>
              <a:t> </a:t>
            </a:r>
            <a:endParaRPr sz="1300">
              <a:solidFill>
                <a:srgbClr val="E1E1E1"/>
              </a:solidFill>
              <a:highlight>
                <a:srgbClr val="383B40"/>
              </a:highlight>
              <a:latin typeface="Courier New"/>
              <a:ea typeface="Courier New"/>
              <a:cs typeface="Courier New"/>
              <a:sym typeface="Courier New"/>
            </a:endParaRPr>
          </a:p>
          <a:p>
            <a:pPr marL="165100" marR="165100" lvl="0" indent="0" algn="l" rtl="0">
              <a:lnSpc>
                <a:spcPct val="150000"/>
              </a:lnSpc>
              <a:spcBef>
                <a:spcPts val="1900"/>
              </a:spcBef>
              <a:spcAft>
                <a:spcPts val="0"/>
              </a:spcAft>
              <a:buSzPts val="1100"/>
              <a:buNone/>
            </a:pPr>
            <a:r>
              <a:rPr lang="en" sz="1700">
                <a:solidFill>
                  <a:srgbClr val="222222"/>
                </a:solidFill>
                <a:highlight>
                  <a:srgbClr val="FEFEFE"/>
                </a:highlight>
                <a:latin typeface="Times New Roman"/>
                <a:ea typeface="Times New Roman"/>
                <a:cs typeface="Times New Roman"/>
                <a:sym typeface="Times New Roman"/>
              </a:rPr>
              <a:t>Program</a:t>
            </a:r>
            <a:endParaRPr sz="17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0"/>
              </a:spcBef>
              <a:spcAft>
                <a:spcPts val="0"/>
              </a:spcAft>
              <a:buSzPts val="1100"/>
              <a:buNone/>
            </a:pPr>
            <a:r>
              <a:rPr lang="en" sz="1700">
                <a:solidFill>
                  <a:srgbClr val="222222"/>
                </a:solidFill>
                <a:highlight>
                  <a:srgbClr val="FEFEFE"/>
                </a:highlight>
                <a:latin typeface="Times New Roman"/>
                <a:ea typeface="Times New Roman"/>
                <a:cs typeface="Times New Roman"/>
                <a:sym typeface="Times New Roman"/>
              </a:rPr>
              <a:t>for i in range(1, 11): </a:t>
            </a:r>
            <a:endParaRPr sz="17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0"/>
              </a:spcBef>
              <a:spcAft>
                <a:spcPts val="0"/>
              </a:spcAft>
              <a:buSzPts val="1100"/>
              <a:buNone/>
            </a:pPr>
            <a:r>
              <a:rPr lang="en" sz="1700">
                <a:solidFill>
                  <a:srgbClr val="222222"/>
                </a:solidFill>
                <a:highlight>
                  <a:srgbClr val="FEFEFE"/>
                </a:highlight>
                <a:latin typeface="Times New Roman"/>
                <a:ea typeface="Times New Roman"/>
                <a:cs typeface="Times New Roman"/>
                <a:sym typeface="Times New Roman"/>
              </a:rPr>
              <a:t>print(i)</a:t>
            </a:r>
            <a:endParaRPr sz="17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0"/>
              </a:spcBef>
              <a:spcAft>
                <a:spcPts val="0"/>
              </a:spcAft>
              <a:buSzPts val="1100"/>
              <a:buNone/>
            </a:pPr>
            <a:endParaRPr sz="17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endParaRPr sz="1300" b="1">
              <a:solidFill>
                <a:srgbClr val="222222"/>
              </a:solidFill>
              <a:highlight>
                <a:srgbClr val="FEFEFE"/>
              </a:highlight>
              <a:latin typeface="Roboto"/>
              <a:ea typeface="Roboto"/>
              <a:cs typeface="Roboto"/>
              <a:sym typeface="Roboto"/>
            </a:endParaRPr>
          </a:p>
        </p:txBody>
      </p:sp>
      <p:pic>
        <p:nvPicPr>
          <p:cNvPr id="293" name="Google Shape;293;p59"/>
          <p:cNvPicPr preferRelativeResize="0"/>
          <p:nvPr/>
        </p:nvPicPr>
        <p:blipFill rotWithShape="1">
          <a:blip r:embed="rId3">
            <a:alphaModFix/>
          </a:blip>
          <a:srcRect l="20772" t="17289" r="70911" b="38423"/>
          <a:stretch/>
        </p:blipFill>
        <p:spPr>
          <a:xfrm>
            <a:off x="4281325" y="1885225"/>
            <a:ext cx="760350" cy="18337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60"/>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2300"/>
              </a:spcBef>
              <a:spcAft>
                <a:spcPts val="0"/>
              </a:spcAft>
              <a:buClr>
                <a:schemeClr val="dk1"/>
              </a:buClr>
              <a:buSzPts val="1100"/>
              <a:buFont typeface="Arial"/>
              <a:buNone/>
            </a:pPr>
            <a:r>
              <a:rPr lang="en" sz="1800" b="1">
                <a:solidFill>
                  <a:srgbClr val="1C2B41"/>
                </a:solidFill>
                <a:highlight>
                  <a:srgbClr val="FEFEFE"/>
                </a:highlight>
                <a:latin typeface="Times New Roman"/>
                <a:ea typeface="Times New Roman"/>
                <a:cs typeface="Times New Roman"/>
                <a:sym typeface="Times New Roman"/>
              </a:rPr>
              <a:t>Break Statement</a:t>
            </a:r>
            <a:endParaRPr sz="1800" b="1">
              <a:solidFill>
                <a:srgbClr val="1C2B41"/>
              </a:solidFill>
              <a:highlight>
                <a:srgbClr val="FEFEFE"/>
              </a:highlight>
              <a:latin typeface="Times New Roman"/>
              <a:ea typeface="Times New Roman"/>
              <a:cs typeface="Times New Roman"/>
              <a:sym typeface="Times New Roman"/>
            </a:endParaRPr>
          </a:p>
          <a:p>
            <a:pPr marL="0" lvl="0" indent="0" algn="l" rtl="0">
              <a:spcBef>
                <a:spcPts val="1900"/>
              </a:spcBef>
              <a:spcAft>
                <a:spcPts val="0"/>
              </a:spcAft>
              <a:buSzPts val="605"/>
              <a:buNone/>
            </a:pPr>
            <a:r>
              <a:rPr lang="en" sz="1800" b="1">
                <a:solidFill>
                  <a:srgbClr val="222222"/>
                </a:solidFill>
                <a:highlight>
                  <a:srgbClr val="FEFEFE"/>
                </a:highlight>
                <a:latin typeface="Times New Roman"/>
                <a:ea typeface="Times New Roman"/>
                <a:cs typeface="Times New Roman"/>
                <a:sym typeface="Times New Roman"/>
              </a:rPr>
              <a:t>The </a:t>
            </a:r>
            <a:r>
              <a:rPr lang="en" sz="1800" b="1" u="sng">
                <a:solidFill>
                  <a:srgbClr val="1E69DE"/>
                </a:solidFill>
                <a:highlight>
                  <a:srgbClr val="FEFEFE"/>
                </a:highlight>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break statement</a:t>
            </a:r>
            <a:r>
              <a:rPr lang="en" sz="1800">
                <a:solidFill>
                  <a:srgbClr val="222222"/>
                </a:solidFill>
                <a:highlight>
                  <a:srgbClr val="FEFEFE"/>
                </a:highlight>
                <a:latin typeface="Times New Roman"/>
                <a:ea typeface="Times New Roman"/>
                <a:cs typeface="Times New Roman"/>
                <a:sym typeface="Times New Roman"/>
              </a:rPr>
              <a:t> is used inside the loop to exit out of the loop. It is useful when we want to terminate the loop as soon as the condition is fulfilled instead of doing the remaining iterations. It reduces execution time. Whenever the controller encountered a break statement, it comes out of that loop immediately</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800" b="1">
                <a:solidFill>
                  <a:srgbClr val="222222"/>
                </a:solidFill>
                <a:highlight>
                  <a:srgbClr val="FEFEFE"/>
                </a:highlight>
                <a:latin typeface="Times New Roman"/>
                <a:ea typeface="Times New Roman"/>
                <a:cs typeface="Times New Roman"/>
                <a:sym typeface="Times New Roman"/>
              </a:rPr>
              <a:t>Program</a:t>
            </a:r>
            <a:endParaRPr sz="1800" b="1">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for i in range(9):</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  if i == 3:</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    break</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  print(i)</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1100"/>
              <a:buNone/>
            </a:pPr>
            <a:r>
              <a:rPr lang="en" sz="1800">
                <a:solidFill>
                  <a:srgbClr val="222222"/>
                </a:solidFill>
                <a:highlight>
                  <a:srgbClr val="FEFEFE"/>
                </a:highlight>
                <a:latin typeface="Times New Roman"/>
                <a:ea typeface="Times New Roman"/>
                <a:cs typeface="Times New Roman"/>
                <a:sym typeface="Times New Roman"/>
              </a:rPr>
              <a:t>Output</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1100"/>
              <a:buNone/>
            </a:pPr>
            <a:r>
              <a:rPr lang="en" sz="1800">
                <a:solidFill>
                  <a:srgbClr val="222222"/>
                </a:solidFill>
                <a:highlight>
                  <a:srgbClr val="FEFEFE"/>
                </a:highlight>
                <a:latin typeface="Times New Roman"/>
                <a:ea typeface="Times New Roman"/>
                <a:cs typeface="Times New Roman"/>
                <a:sym typeface="Times New Roman"/>
              </a:rPr>
              <a:t>0</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1100"/>
              <a:buNone/>
            </a:pPr>
            <a:r>
              <a:rPr lang="en" sz="1800">
                <a:solidFill>
                  <a:srgbClr val="222222"/>
                </a:solidFill>
                <a:highlight>
                  <a:srgbClr val="FEFEFE"/>
                </a:highlight>
                <a:latin typeface="Times New Roman"/>
                <a:ea typeface="Times New Roman"/>
                <a:cs typeface="Times New Roman"/>
                <a:sym typeface="Times New Roman"/>
              </a:rPr>
              <a:t>1</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2</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endParaRPr sz="1800">
              <a:solidFill>
                <a:srgbClr val="222222"/>
              </a:solidFill>
              <a:highlight>
                <a:srgbClr val="FEFEFE"/>
              </a:highlight>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61"/>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2300"/>
              </a:spcBef>
              <a:spcAft>
                <a:spcPts val="0"/>
              </a:spcAft>
              <a:buClr>
                <a:schemeClr val="dk1"/>
              </a:buClr>
              <a:buSzPts val="1100"/>
              <a:buFont typeface="Arial"/>
              <a:buNone/>
            </a:pPr>
            <a:r>
              <a:rPr lang="en" sz="2250" b="1">
                <a:solidFill>
                  <a:srgbClr val="1C2B41"/>
                </a:solidFill>
                <a:highlight>
                  <a:srgbClr val="FEFEFE"/>
                </a:highlight>
                <a:latin typeface="Roboto"/>
                <a:ea typeface="Roboto"/>
                <a:cs typeface="Roboto"/>
                <a:sym typeface="Roboto"/>
              </a:rPr>
              <a:t>Continue statement</a:t>
            </a:r>
            <a:endParaRPr sz="2250" b="1">
              <a:solidFill>
                <a:srgbClr val="1C2B41"/>
              </a:solidFill>
              <a:highlight>
                <a:srgbClr val="FEFEFE"/>
              </a:highlight>
              <a:latin typeface="Roboto"/>
              <a:ea typeface="Roboto"/>
              <a:cs typeface="Roboto"/>
              <a:sym typeface="Roboto"/>
            </a:endParaRPr>
          </a:p>
          <a:p>
            <a:pPr marL="0" lvl="0" indent="0" algn="l" rtl="0">
              <a:spcBef>
                <a:spcPts val="190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The </a:t>
            </a:r>
            <a:r>
              <a:rPr lang="en" sz="1800" u="sng">
                <a:solidFill>
                  <a:srgbClr val="1E69DE"/>
                </a:solidFill>
                <a:highlight>
                  <a:srgbClr val="FEFEFE"/>
                </a:highlight>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continue statement</a:t>
            </a:r>
            <a:r>
              <a:rPr lang="en" sz="1800">
                <a:solidFill>
                  <a:srgbClr val="222222"/>
                </a:solidFill>
                <a:highlight>
                  <a:srgbClr val="FEFEFE"/>
                </a:highlight>
                <a:latin typeface="Times New Roman"/>
                <a:ea typeface="Times New Roman"/>
                <a:cs typeface="Times New Roman"/>
                <a:sym typeface="Times New Roman"/>
              </a:rPr>
              <a:t> is used to skip the current iteration and </a:t>
            </a:r>
            <a:r>
              <a:rPr lang="en" sz="1800">
                <a:solidFill>
                  <a:srgbClr val="6C0B24"/>
                </a:solidFill>
                <a:highlight>
                  <a:srgbClr val="F9F2F4"/>
                </a:highlight>
                <a:latin typeface="Times New Roman"/>
                <a:ea typeface="Times New Roman"/>
                <a:cs typeface="Times New Roman"/>
                <a:sym typeface="Times New Roman"/>
              </a:rPr>
              <a:t>continue</a:t>
            </a:r>
            <a:r>
              <a:rPr lang="en" sz="1800">
                <a:solidFill>
                  <a:srgbClr val="222222"/>
                </a:solidFill>
                <a:highlight>
                  <a:srgbClr val="FEFEFE"/>
                </a:highlight>
                <a:latin typeface="Times New Roman"/>
                <a:ea typeface="Times New Roman"/>
                <a:cs typeface="Times New Roman"/>
                <a:sym typeface="Times New Roman"/>
              </a:rPr>
              <a:t> with the next iteration.</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Program</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for num in range(3, 8): </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if num == 5: </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continue </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else: </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print(num)</a:t>
            </a:r>
            <a:endParaRPr sz="1800">
              <a:solidFill>
                <a:srgbClr val="222222"/>
              </a:solidFill>
              <a:highlight>
                <a:srgbClr val="FEFEFE"/>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Output</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150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3</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4</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6</a:t>
            </a:r>
            <a:endParaRPr sz="1800">
              <a:solidFill>
                <a:srgbClr val="222222"/>
              </a:solidFill>
              <a:highlight>
                <a:srgbClr val="FEFEFE"/>
              </a:highlight>
              <a:latin typeface="Times New Roman"/>
              <a:ea typeface="Times New Roman"/>
              <a:cs typeface="Times New Roman"/>
              <a:sym typeface="Times New Roman"/>
            </a:endParaRPr>
          </a:p>
          <a:p>
            <a:pPr marL="0" marR="139700" lvl="0" indent="0" algn="l" rtl="0">
              <a:lnSpc>
                <a:spcPct val="150000"/>
              </a:lnSpc>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7</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1500"/>
              </a:spcBef>
              <a:spcAft>
                <a:spcPts val="0"/>
              </a:spcAft>
              <a:buSzPts val="605"/>
              <a:buNone/>
            </a:pPr>
            <a:endParaRPr sz="1800">
              <a:solidFill>
                <a:srgbClr val="CCCCCC"/>
              </a:solidFill>
              <a:highlight>
                <a:srgbClr val="383B40"/>
              </a:highlight>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62"/>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2300"/>
              </a:spcBef>
              <a:spcAft>
                <a:spcPts val="0"/>
              </a:spcAft>
              <a:buClr>
                <a:schemeClr val="dk1"/>
              </a:buClr>
              <a:buSzPts val="1100"/>
              <a:buFont typeface="Arial"/>
              <a:buNone/>
            </a:pPr>
            <a:r>
              <a:rPr lang="en" sz="1800" b="1">
                <a:solidFill>
                  <a:srgbClr val="1C2B41"/>
                </a:solidFill>
                <a:highlight>
                  <a:srgbClr val="FEFEFE"/>
                </a:highlight>
                <a:latin typeface="Times New Roman"/>
                <a:ea typeface="Times New Roman"/>
                <a:cs typeface="Times New Roman"/>
                <a:sym typeface="Times New Roman"/>
              </a:rPr>
              <a:t>Pass statement</a:t>
            </a:r>
            <a:endParaRPr sz="1800" b="1">
              <a:solidFill>
                <a:srgbClr val="1C2B41"/>
              </a:solidFill>
              <a:highlight>
                <a:srgbClr val="FEFEFE"/>
              </a:highlight>
              <a:latin typeface="Times New Roman"/>
              <a:ea typeface="Times New Roman"/>
              <a:cs typeface="Times New Roman"/>
              <a:sym typeface="Times New Roman"/>
            </a:endParaRPr>
          </a:p>
          <a:p>
            <a:pPr marL="0" lvl="0" indent="0" algn="l" rtl="0">
              <a:spcBef>
                <a:spcPts val="190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The pass is the keyword In Python, which won’t do anything. Sometimes there is a situation in programming where we need to define a syntactically empty block. A </a:t>
            </a:r>
            <a:r>
              <a:rPr lang="en" sz="1800" u="sng">
                <a:solidFill>
                  <a:srgbClr val="1E69DE"/>
                </a:solidFill>
                <a:highlight>
                  <a:srgbClr val="FEFEFE"/>
                </a:highlight>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pass statement</a:t>
            </a:r>
            <a:r>
              <a:rPr lang="en" sz="1800">
                <a:solidFill>
                  <a:srgbClr val="222222"/>
                </a:solidFill>
                <a:highlight>
                  <a:srgbClr val="FEFEFE"/>
                </a:highlight>
                <a:latin typeface="Times New Roman"/>
                <a:ea typeface="Times New Roman"/>
                <a:cs typeface="Times New Roman"/>
                <a:sym typeface="Times New Roman"/>
              </a:rPr>
              <a:t> is a Python null statement. When the interpreter finds a pass statement in the program, it returns no operation. Nothing happens when the </a:t>
            </a:r>
            <a:r>
              <a:rPr lang="en" sz="1800">
                <a:solidFill>
                  <a:srgbClr val="6C0B24"/>
                </a:solidFill>
                <a:highlight>
                  <a:srgbClr val="F9F2F4"/>
                </a:highlight>
                <a:latin typeface="Times New Roman"/>
                <a:ea typeface="Times New Roman"/>
                <a:cs typeface="Times New Roman"/>
                <a:sym typeface="Times New Roman"/>
              </a:rPr>
              <a:t>pass</a:t>
            </a:r>
            <a:r>
              <a:rPr lang="en" sz="1800">
                <a:solidFill>
                  <a:srgbClr val="222222"/>
                </a:solidFill>
                <a:highlight>
                  <a:srgbClr val="FEFEFE"/>
                </a:highlight>
                <a:latin typeface="Times New Roman"/>
                <a:ea typeface="Times New Roman"/>
                <a:cs typeface="Times New Roman"/>
                <a:sym typeface="Times New Roman"/>
              </a:rPr>
              <a:t> statement is executed.</a:t>
            </a:r>
            <a:endParaRPr sz="1800">
              <a:solidFill>
                <a:srgbClr val="222222"/>
              </a:solidFill>
              <a:highlight>
                <a:srgbClr val="FEFEFE"/>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b="1">
                <a:solidFill>
                  <a:srgbClr val="222222"/>
                </a:solidFill>
                <a:highlight>
                  <a:srgbClr val="FEFEFE"/>
                </a:highlight>
                <a:latin typeface="Times New Roman"/>
                <a:ea typeface="Times New Roman"/>
                <a:cs typeface="Times New Roman"/>
                <a:sym typeface="Times New Roman"/>
              </a:rPr>
              <a:t>Example</a:t>
            </a:r>
            <a:endParaRPr sz="1800" b="1">
              <a:solidFill>
                <a:srgbClr val="222222"/>
              </a:solidFill>
              <a:highlight>
                <a:srgbClr val="FEFEFE"/>
              </a:highlight>
              <a:latin typeface="Times New Roman"/>
              <a:ea typeface="Times New Roman"/>
              <a:cs typeface="Times New Roman"/>
              <a:sym typeface="Times New Roman"/>
            </a:endParaRPr>
          </a:p>
          <a:p>
            <a:pPr marL="0" lvl="0" indent="0" algn="l" rtl="0">
              <a:spcBef>
                <a:spcPts val="150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months = ['January', 'June', 'March', 'April']</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for mon in months:</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0"/>
              </a:spcBef>
              <a:spcAft>
                <a:spcPts val="0"/>
              </a:spcAft>
              <a:buSzPts val="605"/>
              <a:buNone/>
            </a:pPr>
            <a:r>
              <a:rPr lang="en" sz="1800">
                <a:solidFill>
                  <a:srgbClr val="222222"/>
                </a:solidFill>
                <a:highlight>
                  <a:srgbClr val="FEFEFE"/>
                </a:highlight>
                <a:latin typeface="Times New Roman"/>
                <a:ea typeface="Times New Roman"/>
                <a:cs typeface="Times New Roman"/>
                <a:sym typeface="Times New Roman"/>
              </a:rPr>
              <a:t>    pass</a:t>
            </a:r>
            <a:endParaRPr sz="1800">
              <a:solidFill>
                <a:srgbClr val="222222"/>
              </a:solidFill>
              <a:highlight>
                <a:srgbClr val="FEFEFE"/>
              </a:highlight>
              <a:latin typeface="Times New Roman"/>
              <a:ea typeface="Times New Roman"/>
              <a:cs typeface="Times New Roman"/>
              <a:sym typeface="Times New Roman"/>
            </a:endParaRPr>
          </a:p>
          <a:p>
            <a:pPr marL="165100" marR="165100" lvl="0" indent="0" algn="l" rtl="0">
              <a:lnSpc>
                <a:spcPct val="150000"/>
              </a:lnSpc>
              <a:spcBef>
                <a:spcPts val="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print(months)</a:t>
            </a:r>
            <a:endParaRPr sz="1800">
              <a:solidFill>
                <a:srgbClr val="222222"/>
              </a:solidFill>
              <a:highlight>
                <a:srgbClr val="FEFEFE"/>
              </a:highlight>
              <a:latin typeface="Times New Roman"/>
              <a:ea typeface="Times New Roman"/>
              <a:cs typeface="Times New Roman"/>
              <a:sym typeface="Times New Roman"/>
            </a:endParaRPr>
          </a:p>
          <a:p>
            <a:pPr marL="0" lvl="0" indent="0" algn="l" rtl="0">
              <a:lnSpc>
                <a:spcPct val="115000"/>
              </a:lnSpc>
              <a:spcBef>
                <a:spcPts val="190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Output</a:t>
            </a:r>
            <a:endParaRPr sz="1800">
              <a:solidFill>
                <a:srgbClr val="222222"/>
              </a:solidFill>
              <a:highlight>
                <a:srgbClr val="FEFEFE"/>
              </a:highlight>
              <a:latin typeface="Times New Roman"/>
              <a:ea typeface="Times New Roman"/>
              <a:cs typeface="Times New Roman"/>
              <a:sym typeface="Times New Roman"/>
            </a:endParaRPr>
          </a:p>
          <a:p>
            <a:pPr marL="139700" marR="139700" lvl="0" indent="0" algn="l" rtl="0">
              <a:lnSpc>
                <a:spcPct val="150000"/>
              </a:lnSpc>
              <a:spcBef>
                <a:spcPts val="1500"/>
              </a:spcBef>
              <a:spcAft>
                <a:spcPts val="0"/>
              </a:spcAft>
              <a:buClr>
                <a:schemeClr val="dk1"/>
              </a:buClr>
              <a:buSzPts val="1100"/>
              <a:buFont typeface="Arial"/>
              <a:buNone/>
            </a:pPr>
            <a:r>
              <a:rPr lang="en" sz="1800">
                <a:solidFill>
                  <a:srgbClr val="222222"/>
                </a:solidFill>
                <a:highlight>
                  <a:srgbClr val="FEFEFE"/>
                </a:highlight>
                <a:latin typeface="Times New Roman"/>
                <a:ea typeface="Times New Roman"/>
                <a:cs typeface="Times New Roman"/>
                <a:sym typeface="Times New Roman"/>
              </a:rPr>
              <a:t>['January', 'June', 'March', 'April']		</a:t>
            </a:r>
            <a:endParaRPr sz="1800">
              <a:solidFill>
                <a:srgbClr val="222222"/>
              </a:solidFill>
              <a:highlight>
                <a:srgbClr val="FEFEFE"/>
              </a:highlight>
              <a:latin typeface="Times New Roman"/>
              <a:ea typeface="Times New Roman"/>
              <a:cs typeface="Times New Roman"/>
              <a:sym typeface="Times New Roman"/>
            </a:endParaRPr>
          </a:p>
          <a:p>
            <a:pPr marL="0" lvl="0" indent="0" algn="l" rtl="0">
              <a:spcBef>
                <a:spcPts val="1500"/>
              </a:spcBef>
              <a:spcAft>
                <a:spcPts val="0"/>
              </a:spcAft>
              <a:buSzPts val="605"/>
              <a:buNone/>
            </a:pPr>
            <a:endParaRPr sz="1300">
              <a:solidFill>
                <a:srgbClr val="222222"/>
              </a:solidFill>
              <a:highlight>
                <a:srgbClr val="FEFEFE"/>
              </a:highlight>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63"/>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Set : Sets are used to store multiple items in a single variable.</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Note: Set items are unchangeable, but you can remove items and add new items.</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Sets are written with curly brackets.</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thisset = {"apple", "banana", "cherry"}</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print(thisset)</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a:t>
            </a:r>
            <a:r>
              <a:rPr lang="en" sz="1800" b="1">
                <a:solidFill>
                  <a:schemeClr val="dk1"/>
                </a:solidFill>
                <a:latin typeface="Times New Roman"/>
                <a:ea typeface="Times New Roman"/>
                <a:cs typeface="Times New Roman"/>
                <a:sym typeface="Times New Roman"/>
              </a:rPr>
              <a:t> Note: the set list is unordered, meaning: the items will appear in a random order.</a:t>
            </a:r>
            <a:endParaRPr sz="1800" b="1">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800" b="1">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b="1">
                <a:solidFill>
                  <a:schemeClr val="dk1"/>
                </a:solidFill>
                <a:latin typeface="Times New Roman"/>
                <a:ea typeface="Times New Roman"/>
                <a:cs typeface="Times New Roman"/>
                <a:sym typeface="Times New Roman"/>
              </a:rPr>
              <a:t># Refresh this page to see the change in the result.</a:t>
            </a:r>
            <a:endParaRPr sz="1800" b="1">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{'banana', 'apple', 'cherry'}</a:t>
            </a:r>
            <a:endParaRPr sz="1150">
              <a:solidFill>
                <a:schemeClr val="dk1"/>
              </a:solidFill>
              <a:highlight>
                <a:srgbClr val="FFFFFF"/>
              </a:highlight>
              <a:latin typeface="Verdana"/>
              <a:ea typeface="Verdana"/>
              <a:cs typeface="Verdana"/>
              <a:sym typeface="Verdana"/>
            </a:endParaRPr>
          </a:p>
          <a:p>
            <a:pPr marL="0" lvl="0" indent="0" algn="l" rtl="0">
              <a:lnSpc>
                <a:spcPct val="115000"/>
              </a:lnSpc>
              <a:spcBef>
                <a:spcPts val="0"/>
              </a:spcBef>
              <a:spcAft>
                <a:spcPts val="0"/>
              </a:spcAft>
              <a:buSzPts val="1100"/>
              <a:buNone/>
            </a:pPr>
            <a:endParaRPr sz="1150">
              <a:solidFill>
                <a:schemeClr val="dk1"/>
              </a:solidFill>
              <a:highlight>
                <a:srgbClr val="FFFFFF"/>
              </a:highlight>
              <a:latin typeface="Verdana"/>
              <a:ea typeface="Verdana"/>
              <a:cs typeface="Verdana"/>
              <a:sym typeface="Verdana"/>
            </a:endParaRPr>
          </a:p>
          <a:p>
            <a:pPr marL="0" lvl="0" indent="0" algn="l" rtl="0">
              <a:spcBef>
                <a:spcPts val="0"/>
              </a:spcBef>
              <a:spcAft>
                <a:spcPts val="0"/>
              </a:spcAft>
              <a:buSzPts val="605"/>
              <a:buNone/>
            </a:pPr>
            <a:endParaRPr sz="1300">
              <a:solidFill>
                <a:srgbClr val="FFFFFF"/>
              </a:solidFill>
              <a:highlight>
                <a:srgbClr val="131417"/>
              </a:highlight>
              <a:latin typeface="Nunito"/>
              <a:ea typeface="Nunito"/>
              <a:cs typeface="Nunito"/>
              <a:sym typeface="Nunito"/>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64"/>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800"/>
              </a:spcBef>
              <a:spcAft>
                <a:spcPts val="0"/>
              </a:spcAft>
              <a:buClr>
                <a:schemeClr val="dk1"/>
              </a:buClr>
              <a:buSzPts val="1100"/>
              <a:buFont typeface="Arial"/>
              <a:buNone/>
            </a:pPr>
            <a:r>
              <a:rPr lang="en" sz="2400">
                <a:solidFill>
                  <a:schemeClr val="dk1"/>
                </a:solidFill>
                <a:highlight>
                  <a:srgbClr val="FFFFFF"/>
                </a:highlight>
              </a:rPr>
              <a:t>Duplicates Not Allowed</a:t>
            </a:r>
            <a:endParaRPr sz="2400">
              <a:solidFill>
                <a:schemeClr val="dk1"/>
              </a:solidFill>
              <a:highlight>
                <a:srgbClr val="FFFFFF"/>
              </a:highlight>
            </a:endParaRPr>
          </a:p>
          <a:p>
            <a:pPr marL="0" lvl="0" indent="0" algn="l" rtl="0">
              <a:lnSpc>
                <a:spcPct val="115000"/>
              </a:lnSpc>
              <a:spcBef>
                <a:spcPts val="1400"/>
              </a:spcBef>
              <a:spcAft>
                <a:spcPts val="0"/>
              </a:spcAft>
              <a:buNone/>
            </a:pPr>
            <a:r>
              <a:rPr lang="en" sz="1700">
                <a:solidFill>
                  <a:schemeClr val="dk1"/>
                </a:solidFill>
                <a:highlight>
                  <a:srgbClr val="FFFFFF"/>
                </a:highlight>
              </a:rPr>
              <a:t>Sets cannot have two items with the same value.</a:t>
            </a:r>
            <a:endParaRPr sz="1700">
              <a:solidFill>
                <a:schemeClr val="dk1"/>
              </a:solidFill>
              <a:highlight>
                <a:srgbClr val="FFFFFF"/>
              </a:highlight>
            </a:endParaRPr>
          </a:p>
          <a:p>
            <a:pPr marL="0" lvl="0" indent="0" algn="l" rtl="0">
              <a:lnSpc>
                <a:spcPct val="115000"/>
              </a:lnSpc>
              <a:spcBef>
                <a:spcPts val="1400"/>
              </a:spcBef>
              <a:spcAft>
                <a:spcPts val="0"/>
              </a:spcAft>
              <a:buNone/>
            </a:pPr>
            <a:endParaRPr sz="1700">
              <a:solidFill>
                <a:schemeClr val="dk1"/>
              </a:solidFill>
              <a:highlight>
                <a:srgbClr val="FFFFFF"/>
              </a:highlight>
            </a:endParaRPr>
          </a:p>
          <a:p>
            <a:pPr marL="0" lvl="0" indent="0" algn="l" rtl="0">
              <a:lnSpc>
                <a:spcPct val="115000"/>
              </a:lnSpc>
              <a:spcBef>
                <a:spcPts val="1400"/>
              </a:spcBef>
              <a:spcAft>
                <a:spcPts val="0"/>
              </a:spcAft>
              <a:buNone/>
            </a:pPr>
            <a:r>
              <a:rPr lang="en" sz="1700">
                <a:solidFill>
                  <a:schemeClr val="dk1"/>
                </a:solidFill>
                <a:highlight>
                  <a:srgbClr val="FFFFFF"/>
                </a:highlight>
              </a:rPr>
              <a:t>thisset = {"apple", "banana", "cherry", "apple"}</a:t>
            </a:r>
            <a:endParaRPr sz="1700">
              <a:solidFill>
                <a:schemeClr val="dk1"/>
              </a:solidFill>
              <a:highlight>
                <a:srgbClr val="FFFFFF"/>
              </a:highlight>
            </a:endParaRPr>
          </a:p>
          <a:p>
            <a:pPr marL="0" lvl="0" indent="0" algn="l" rtl="0">
              <a:lnSpc>
                <a:spcPct val="115000"/>
              </a:lnSpc>
              <a:spcBef>
                <a:spcPts val="1400"/>
              </a:spcBef>
              <a:spcAft>
                <a:spcPts val="0"/>
              </a:spcAft>
              <a:buNone/>
            </a:pPr>
            <a:endParaRPr sz="1700">
              <a:solidFill>
                <a:schemeClr val="dk1"/>
              </a:solidFill>
              <a:highlight>
                <a:srgbClr val="FFFFFF"/>
              </a:highlight>
            </a:endParaRPr>
          </a:p>
          <a:p>
            <a:pPr marL="0" lvl="0" indent="0" algn="l" rtl="0">
              <a:lnSpc>
                <a:spcPct val="115000"/>
              </a:lnSpc>
              <a:spcBef>
                <a:spcPts val="1400"/>
              </a:spcBef>
              <a:spcAft>
                <a:spcPts val="0"/>
              </a:spcAft>
              <a:buNone/>
            </a:pPr>
            <a:r>
              <a:rPr lang="en" sz="1700">
                <a:solidFill>
                  <a:schemeClr val="dk1"/>
                </a:solidFill>
                <a:highlight>
                  <a:srgbClr val="FFFFFF"/>
                </a:highlight>
              </a:rPr>
              <a:t>print(thisset)</a:t>
            </a:r>
            <a:endParaRPr sz="1700">
              <a:solidFill>
                <a:schemeClr val="dk1"/>
              </a:solidFill>
              <a:highlight>
                <a:srgbClr val="FFFFFF"/>
              </a:highlight>
            </a:endParaRPr>
          </a:p>
          <a:p>
            <a:pPr marL="0" lvl="0" indent="0" algn="l" rtl="0">
              <a:lnSpc>
                <a:spcPct val="115000"/>
              </a:lnSpc>
              <a:spcBef>
                <a:spcPts val="1400"/>
              </a:spcBef>
              <a:spcAft>
                <a:spcPts val="0"/>
              </a:spcAft>
              <a:buNone/>
            </a:pPr>
            <a:endParaRPr sz="1700">
              <a:solidFill>
                <a:schemeClr val="dk1"/>
              </a:solidFill>
              <a:highlight>
                <a:srgbClr val="FFFFFF"/>
              </a:highlight>
            </a:endParaRPr>
          </a:p>
          <a:p>
            <a:pPr marL="0" lvl="0" indent="0" algn="l" rtl="0">
              <a:lnSpc>
                <a:spcPct val="115000"/>
              </a:lnSpc>
              <a:spcBef>
                <a:spcPts val="1400"/>
              </a:spcBef>
              <a:spcAft>
                <a:spcPts val="0"/>
              </a:spcAft>
              <a:buNone/>
            </a:pPr>
            <a:r>
              <a:rPr lang="en" sz="1700">
                <a:solidFill>
                  <a:schemeClr val="dk1"/>
                </a:solidFill>
                <a:highlight>
                  <a:srgbClr val="FFFFFF"/>
                </a:highlight>
              </a:rPr>
              <a:t>Output</a:t>
            </a:r>
            <a:endParaRPr sz="1700">
              <a:solidFill>
                <a:schemeClr val="dk1"/>
              </a:solidFill>
              <a:highlight>
                <a:srgbClr val="FFFFFF"/>
              </a:highlight>
            </a:endParaRPr>
          </a:p>
          <a:p>
            <a:pPr marL="0" lvl="0" indent="0" algn="l" rtl="0">
              <a:lnSpc>
                <a:spcPct val="115000"/>
              </a:lnSpc>
              <a:spcBef>
                <a:spcPts val="1400"/>
              </a:spcBef>
              <a:spcAft>
                <a:spcPts val="1400"/>
              </a:spcAft>
              <a:buClr>
                <a:schemeClr val="dk1"/>
              </a:buClr>
              <a:buSzPts val="1100"/>
              <a:buFont typeface="Arial"/>
              <a:buNone/>
            </a:pPr>
            <a:r>
              <a:rPr lang="en" sz="1700">
                <a:solidFill>
                  <a:schemeClr val="dk1"/>
                </a:solidFill>
                <a:highlight>
                  <a:srgbClr val="FFFFFF"/>
                </a:highlight>
              </a:rPr>
              <a:t>{'banana', 'cherry', 'apple'}</a:t>
            </a:r>
            <a:endParaRPr sz="1700">
              <a:solidFill>
                <a:schemeClr val="dk1"/>
              </a:solidFill>
              <a:highlight>
                <a:srgbClr val="FFFFFF"/>
              </a:highligh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65"/>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800"/>
              </a:spcBef>
              <a:spcAft>
                <a:spcPts val="0"/>
              </a:spcAft>
              <a:buNone/>
            </a:pPr>
            <a:r>
              <a:rPr lang="en" sz="2400">
                <a:solidFill>
                  <a:schemeClr val="dk1"/>
                </a:solidFill>
                <a:highlight>
                  <a:srgbClr val="FFFFFF"/>
                </a:highlight>
              </a:rPr>
              <a:t>Get the Length of a Set</a:t>
            </a:r>
            <a:endParaRPr sz="2400">
              <a:solidFill>
                <a:schemeClr val="dk1"/>
              </a:solidFill>
              <a:highlight>
                <a:srgbClr val="FFFFFF"/>
              </a:highlight>
            </a:endParaRPr>
          </a:p>
          <a:p>
            <a:pPr marL="0" lvl="0" indent="0" algn="l" rtl="0">
              <a:lnSpc>
                <a:spcPct val="115000"/>
              </a:lnSpc>
              <a:spcBef>
                <a:spcPts val="1400"/>
              </a:spcBef>
              <a:spcAft>
                <a:spcPts val="0"/>
              </a:spcAft>
              <a:buNone/>
            </a:pPr>
            <a:r>
              <a:rPr lang="en" sz="1500">
                <a:solidFill>
                  <a:schemeClr val="dk1"/>
                </a:solidFill>
                <a:highlight>
                  <a:srgbClr val="FFFFFF"/>
                </a:highlight>
              </a:rPr>
              <a:t>To determine how many items a set has, use the len() function.</a:t>
            </a:r>
            <a:endParaRPr sz="1500">
              <a:solidFill>
                <a:schemeClr val="dk1"/>
              </a:solidFill>
              <a:highlight>
                <a:srgbClr val="FFFFFF"/>
              </a:highlight>
            </a:endParaRPr>
          </a:p>
          <a:p>
            <a:pPr marL="0" lvl="0" indent="0" algn="l" rtl="0">
              <a:lnSpc>
                <a:spcPct val="115000"/>
              </a:lnSpc>
              <a:spcBef>
                <a:spcPts val="1400"/>
              </a:spcBef>
              <a:spcAft>
                <a:spcPts val="0"/>
              </a:spcAft>
              <a:buNone/>
            </a:pPr>
            <a:r>
              <a:rPr lang="en" sz="1500">
                <a:solidFill>
                  <a:schemeClr val="dk1"/>
                </a:solidFill>
                <a:highlight>
                  <a:srgbClr val="FFFFFF"/>
                </a:highlight>
              </a:rPr>
              <a:t>thisset = {"apple", "banana", "cherry"}</a:t>
            </a:r>
            <a:endParaRPr sz="1500">
              <a:solidFill>
                <a:schemeClr val="dk1"/>
              </a:solidFill>
              <a:highlight>
                <a:srgbClr val="FFFFFF"/>
              </a:highlight>
            </a:endParaRPr>
          </a:p>
          <a:p>
            <a:pPr marL="0" lvl="0" indent="0" algn="l" rtl="0">
              <a:lnSpc>
                <a:spcPct val="115000"/>
              </a:lnSpc>
              <a:spcBef>
                <a:spcPts val="1400"/>
              </a:spcBef>
              <a:spcAft>
                <a:spcPts val="0"/>
              </a:spcAft>
              <a:buNone/>
            </a:pPr>
            <a:r>
              <a:rPr lang="en" sz="1500">
                <a:solidFill>
                  <a:schemeClr val="dk1"/>
                </a:solidFill>
                <a:highlight>
                  <a:srgbClr val="FFFFFF"/>
                </a:highlight>
              </a:rPr>
              <a:t>print(len(thisset))</a:t>
            </a:r>
            <a:endParaRPr sz="1500">
              <a:solidFill>
                <a:schemeClr val="dk1"/>
              </a:solidFill>
              <a:highlight>
                <a:srgbClr val="FFFFFF"/>
              </a:highlight>
            </a:endParaRPr>
          </a:p>
          <a:p>
            <a:pPr marL="0" lvl="0" indent="0" algn="l" rtl="0">
              <a:lnSpc>
                <a:spcPct val="115000"/>
              </a:lnSpc>
              <a:spcBef>
                <a:spcPts val="1400"/>
              </a:spcBef>
              <a:spcAft>
                <a:spcPts val="0"/>
              </a:spcAft>
              <a:buNone/>
            </a:pPr>
            <a:endParaRPr sz="1500">
              <a:solidFill>
                <a:schemeClr val="dk1"/>
              </a:solidFill>
              <a:highlight>
                <a:srgbClr val="FFFFFF"/>
              </a:highlight>
            </a:endParaRPr>
          </a:p>
          <a:p>
            <a:pPr marL="0" lvl="0" indent="0" algn="l" rtl="0">
              <a:lnSpc>
                <a:spcPct val="115000"/>
              </a:lnSpc>
              <a:spcBef>
                <a:spcPts val="1400"/>
              </a:spcBef>
              <a:spcAft>
                <a:spcPts val="0"/>
              </a:spcAft>
              <a:buNone/>
            </a:pPr>
            <a:r>
              <a:rPr lang="en" sz="1500">
                <a:solidFill>
                  <a:schemeClr val="dk1"/>
                </a:solidFill>
                <a:highlight>
                  <a:srgbClr val="FFFFFF"/>
                </a:highlight>
              </a:rPr>
              <a:t>Output </a:t>
            </a:r>
            <a:endParaRPr sz="1500">
              <a:solidFill>
                <a:schemeClr val="dk1"/>
              </a:solidFill>
              <a:highlight>
                <a:srgbClr val="FFFFFF"/>
              </a:highlight>
            </a:endParaRPr>
          </a:p>
          <a:p>
            <a:pPr marL="0" lvl="0" indent="0" algn="l" rtl="0">
              <a:lnSpc>
                <a:spcPct val="115000"/>
              </a:lnSpc>
              <a:spcBef>
                <a:spcPts val="1400"/>
              </a:spcBef>
              <a:spcAft>
                <a:spcPts val="1400"/>
              </a:spcAft>
              <a:buNone/>
            </a:pPr>
            <a:r>
              <a:rPr lang="en" sz="1500">
                <a:solidFill>
                  <a:schemeClr val="dk1"/>
                </a:solidFill>
                <a:highlight>
                  <a:srgbClr val="FFFFFF"/>
                </a:highlight>
              </a:rPr>
              <a:t>3</a:t>
            </a:r>
            <a:endParaRPr sz="1500">
              <a:solidFill>
                <a:schemeClr val="dk1"/>
              </a:solidFill>
              <a:highlight>
                <a:srgbClr val="FFFFFF"/>
              </a:highligh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66"/>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2400" b="1">
                <a:solidFill>
                  <a:srgbClr val="FFFFFF"/>
                </a:solidFill>
                <a:highlight>
                  <a:srgbClr val="131417"/>
                </a:highlight>
              </a:rPr>
              <a:t>Set Methods</a:t>
            </a:r>
            <a:endParaRPr sz="2400" b="1">
              <a:solidFill>
                <a:srgbClr val="FFFFFF"/>
              </a:solidFill>
              <a:highlight>
                <a:srgbClr val="131417"/>
              </a:highlight>
            </a:endParaRPr>
          </a:p>
          <a:p>
            <a:pPr marL="0" lvl="0" indent="0" algn="l" rtl="0">
              <a:lnSpc>
                <a:spcPct val="115000"/>
              </a:lnSpc>
              <a:spcBef>
                <a:spcPts val="0"/>
              </a:spcBef>
              <a:spcAft>
                <a:spcPts val="0"/>
              </a:spcAft>
              <a:buClr>
                <a:schemeClr val="dk1"/>
              </a:buClr>
              <a:buSzPts val="1100"/>
              <a:buFont typeface="Arial"/>
              <a:buNone/>
            </a:pPr>
            <a:endParaRPr sz="2400" b="1">
              <a:solidFill>
                <a:srgbClr val="FFFFFF"/>
              </a:solidFill>
              <a:highlight>
                <a:srgbClr val="131417"/>
              </a:highlight>
            </a:endParaRPr>
          </a:p>
        </p:txBody>
      </p:sp>
      <p:pic>
        <p:nvPicPr>
          <p:cNvPr id="329" name="Google Shape;329;p66"/>
          <p:cNvPicPr preferRelativeResize="0"/>
          <p:nvPr/>
        </p:nvPicPr>
        <p:blipFill rotWithShape="1">
          <a:blip r:embed="rId3">
            <a:alphaModFix/>
          </a:blip>
          <a:srcRect l="22485" t="20764" r="27745" b="12896"/>
          <a:stretch/>
        </p:blipFill>
        <p:spPr>
          <a:xfrm>
            <a:off x="669675" y="767050"/>
            <a:ext cx="7357450" cy="38544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67"/>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500">
                <a:solidFill>
                  <a:schemeClr val="dk1"/>
                </a:solidFill>
                <a:highlight>
                  <a:srgbClr val="FFFFFF"/>
                </a:highlight>
              </a:rPr>
              <a:t>Set Methods </a:t>
            </a:r>
            <a:endParaRPr sz="1500">
              <a:solidFill>
                <a:schemeClr val="dk1"/>
              </a:solidFill>
              <a:highlight>
                <a:srgbClr val="FFFFFF"/>
              </a:highlight>
            </a:endParaRPr>
          </a:p>
          <a:p>
            <a:pPr marL="0" lvl="0" indent="0" algn="l" rtl="0">
              <a:lnSpc>
                <a:spcPct val="115000"/>
              </a:lnSpc>
              <a:spcBef>
                <a:spcPts val="800"/>
              </a:spcBef>
              <a:spcAft>
                <a:spcPts val="0"/>
              </a:spcAft>
              <a:buClr>
                <a:schemeClr val="dk1"/>
              </a:buClr>
              <a:buSzPts val="1100"/>
              <a:buFont typeface="Arial"/>
              <a:buNone/>
            </a:pPr>
            <a:r>
              <a:rPr lang="en" sz="3150">
                <a:solidFill>
                  <a:schemeClr val="dk1"/>
                </a:solidFill>
                <a:highlight>
                  <a:srgbClr val="FFFFFF"/>
                </a:highlight>
              </a:rPr>
              <a:t>add() Method</a:t>
            </a:r>
            <a:endParaRPr sz="3150">
              <a:solidFill>
                <a:schemeClr val="dk1"/>
              </a:solidFill>
              <a:highlight>
                <a:srgbClr val="FFFFFF"/>
              </a:highlight>
            </a:endParaRPr>
          </a:p>
          <a:p>
            <a:pPr marL="0" lvl="0" indent="0" algn="l" rtl="0">
              <a:lnSpc>
                <a:spcPct val="115000"/>
              </a:lnSpc>
              <a:spcBef>
                <a:spcPts val="800"/>
              </a:spcBef>
              <a:spcAft>
                <a:spcPts val="0"/>
              </a:spcAft>
              <a:buSzPts val="1100"/>
              <a:buNone/>
            </a:pPr>
            <a:endParaRPr sz="15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thisset = {"apple", "banana", "cherry"}</a:t>
            </a:r>
            <a:endParaRPr sz="15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endParaRPr sz="15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thisset.add("orange")</a:t>
            </a:r>
            <a:endParaRPr sz="15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endParaRPr sz="1500">
              <a:solidFill>
                <a:schemeClr val="dk1"/>
              </a:solidFill>
              <a:highlight>
                <a:srgbClr val="FFFFFF"/>
              </a:highlight>
            </a:endParaRPr>
          </a:p>
          <a:p>
            <a:pPr marL="0" lvl="0" indent="0" algn="l" rtl="0">
              <a:lnSpc>
                <a:spcPct val="115000"/>
              </a:lnSpc>
              <a:spcBef>
                <a:spcPts val="0"/>
              </a:spcBef>
              <a:spcAft>
                <a:spcPts val="0"/>
              </a:spcAft>
              <a:buSzPts val="1100"/>
              <a:buNone/>
            </a:pPr>
            <a:r>
              <a:rPr lang="en" sz="1500">
                <a:solidFill>
                  <a:schemeClr val="dk1"/>
                </a:solidFill>
                <a:highlight>
                  <a:srgbClr val="FFFFFF"/>
                </a:highlight>
              </a:rPr>
              <a:t>print(thisset)</a:t>
            </a:r>
            <a:endParaRPr sz="1500">
              <a:solidFill>
                <a:schemeClr val="dk1"/>
              </a:solidFill>
              <a:highlight>
                <a:srgbClr val="FFFFFF"/>
              </a:highlight>
            </a:endParaRPr>
          </a:p>
          <a:p>
            <a:pPr marL="0" lvl="0" indent="0" algn="l" rtl="0">
              <a:lnSpc>
                <a:spcPct val="115000"/>
              </a:lnSpc>
              <a:spcBef>
                <a:spcPts val="0"/>
              </a:spcBef>
              <a:spcAft>
                <a:spcPts val="0"/>
              </a:spcAft>
              <a:buSzPts val="1100"/>
              <a:buNone/>
            </a:pPr>
            <a:endParaRPr sz="1500">
              <a:solidFill>
                <a:schemeClr val="dk1"/>
              </a:solidFill>
              <a:highlight>
                <a:srgbClr val="FFFFFF"/>
              </a:highlight>
            </a:endParaRPr>
          </a:p>
          <a:p>
            <a:pPr marL="0" lvl="0" indent="0" algn="l" rtl="0">
              <a:lnSpc>
                <a:spcPct val="115000"/>
              </a:lnSpc>
              <a:spcBef>
                <a:spcPts val="0"/>
              </a:spcBef>
              <a:spcAft>
                <a:spcPts val="0"/>
              </a:spcAft>
              <a:buSzPts val="1100"/>
              <a:buNone/>
            </a:pPr>
            <a:r>
              <a:rPr lang="en" sz="1500">
                <a:solidFill>
                  <a:schemeClr val="dk1"/>
                </a:solidFill>
                <a:highlight>
                  <a:srgbClr val="FFFFFF"/>
                </a:highlight>
              </a:rPr>
              <a:t>Output;</a:t>
            </a:r>
            <a:endParaRPr sz="15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{'banana', 'cherry', 'orange', 'apple'}</a:t>
            </a:r>
            <a:endParaRPr sz="1500">
              <a:solidFill>
                <a:schemeClr val="dk1"/>
              </a:solidFill>
              <a:highlight>
                <a:srgbClr val="FFFFFF"/>
              </a:highlight>
            </a:endParaRPr>
          </a:p>
          <a:p>
            <a:pPr marL="0" lvl="0" indent="0" algn="l" rtl="0">
              <a:lnSpc>
                <a:spcPct val="115000"/>
              </a:lnSpc>
              <a:spcBef>
                <a:spcPts val="0"/>
              </a:spcBef>
              <a:spcAft>
                <a:spcPts val="0"/>
              </a:spcAft>
              <a:buSzPts val="1100"/>
              <a:buNone/>
            </a:pPr>
            <a:endParaRPr sz="15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endParaRPr sz="2400" b="1">
              <a:solidFill>
                <a:srgbClr val="FFFFFF"/>
              </a:solidFill>
              <a:highlight>
                <a:srgbClr val="131417"/>
              </a:highligh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68"/>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500">
                <a:solidFill>
                  <a:schemeClr val="dk1"/>
                </a:solidFill>
                <a:highlight>
                  <a:srgbClr val="FFFFFF"/>
                </a:highlight>
              </a:rPr>
              <a:t>Set Methods </a:t>
            </a:r>
            <a:endParaRPr sz="1500">
              <a:solidFill>
                <a:schemeClr val="dk1"/>
              </a:solidFill>
              <a:highlight>
                <a:srgbClr val="FFFFFF"/>
              </a:highlight>
            </a:endParaRPr>
          </a:p>
          <a:p>
            <a:pPr marL="0" lvl="0" indent="0" algn="l" rtl="0">
              <a:lnSpc>
                <a:spcPct val="115000"/>
              </a:lnSpc>
              <a:spcBef>
                <a:spcPts val="800"/>
              </a:spcBef>
              <a:spcAft>
                <a:spcPts val="0"/>
              </a:spcAft>
              <a:buSzPts val="1100"/>
              <a:buNone/>
            </a:pPr>
            <a:r>
              <a:rPr lang="en" sz="3150">
                <a:solidFill>
                  <a:schemeClr val="dk1"/>
                </a:solidFill>
                <a:highlight>
                  <a:srgbClr val="FFFFFF"/>
                </a:highlight>
              </a:rPr>
              <a:t>add() Method : </a:t>
            </a:r>
            <a:r>
              <a:rPr lang="en" sz="1500">
                <a:solidFill>
                  <a:schemeClr val="dk1"/>
                </a:solidFill>
                <a:highlight>
                  <a:srgbClr val="FFFFFF"/>
                </a:highlight>
              </a:rPr>
              <a:t>The add() method adds an element to the set.</a:t>
            </a:r>
            <a:endParaRPr sz="1500">
              <a:solidFill>
                <a:schemeClr val="dk1"/>
              </a:solidFill>
              <a:highlight>
                <a:srgbClr val="FFFFFF"/>
              </a:highlight>
            </a:endParaRPr>
          </a:p>
          <a:p>
            <a:pPr marL="0" lvl="0" indent="0" algn="l" rtl="0">
              <a:lnSpc>
                <a:spcPct val="115000"/>
              </a:lnSpc>
              <a:spcBef>
                <a:spcPts val="1400"/>
              </a:spcBef>
              <a:spcAft>
                <a:spcPts val="0"/>
              </a:spcAft>
              <a:buSzPts val="1100"/>
              <a:buNone/>
            </a:pPr>
            <a:r>
              <a:rPr lang="en" sz="1500">
                <a:solidFill>
                  <a:schemeClr val="dk1"/>
                </a:solidFill>
                <a:highlight>
                  <a:srgbClr val="FFFFFF"/>
                </a:highlight>
              </a:rPr>
              <a:t>If the element already exists, the add() method does not add the element.</a:t>
            </a:r>
            <a:endParaRPr sz="1500">
              <a:solidFill>
                <a:schemeClr val="dk1"/>
              </a:solidFill>
              <a:highlight>
                <a:srgbClr val="FFFFFF"/>
              </a:highlight>
            </a:endParaRPr>
          </a:p>
          <a:p>
            <a:pPr marL="0" lvl="0" indent="0" algn="l" rtl="0">
              <a:lnSpc>
                <a:spcPct val="115000"/>
              </a:lnSpc>
              <a:spcBef>
                <a:spcPts val="1400"/>
              </a:spcBef>
              <a:spcAft>
                <a:spcPts val="0"/>
              </a:spcAft>
              <a:buSzPts val="1100"/>
              <a:buNone/>
            </a:pPr>
            <a:endParaRPr sz="1500">
              <a:solidFill>
                <a:schemeClr val="dk1"/>
              </a:solidFill>
              <a:highlight>
                <a:srgbClr val="FFFFFF"/>
              </a:highlight>
            </a:endParaRPr>
          </a:p>
          <a:p>
            <a:pPr marL="0" lvl="0" indent="0" algn="l" rtl="0">
              <a:lnSpc>
                <a:spcPct val="115000"/>
              </a:lnSpc>
              <a:spcBef>
                <a:spcPts val="800"/>
              </a:spcBef>
              <a:spcAft>
                <a:spcPts val="0"/>
              </a:spcAft>
              <a:buSzPts val="1100"/>
              <a:buNone/>
            </a:pPr>
            <a:r>
              <a:rPr lang="en" sz="1500">
                <a:solidFill>
                  <a:schemeClr val="dk1"/>
                </a:solidFill>
                <a:highlight>
                  <a:srgbClr val="FFFFFF"/>
                </a:highlight>
              </a:rPr>
              <a:t>Syntax</a:t>
            </a:r>
            <a:endParaRPr sz="1500">
              <a:solidFill>
                <a:schemeClr val="dk1"/>
              </a:solidFill>
              <a:highlight>
                <a:srgbClr val="FFFFFF"/>
              </a:highlight>
            </a:endParaRPr>
          </a:p>
          <a:p>
            <a:pPr marL="114300" marR="114300" lvl="0" indent="0" algn="l" rtl="0">
              <a:lnSpc>
                <a:spcPct val="115000"/>
              </a:lnSpc>
              <a:spcBef>
                <a:spcPts val="1200"/>
              </a:spcBef>
              <a:spcAft>
                <a:spcPts val="0"/>
              </a:spcAft>
              <a:buSzPts val="1100"/>
              <a:buNone/>
            </a:pPr>
            <a:r>
              <a:rPr lang="en" sz="1500">
                <a:solidFill>
                  <a:schemeClr val="dk1"/>
                </a:solidFill>
                <a:highlight>
                  <a:srgbClr val="FFFFFF"/>
                </a:highlight>
              </a:rPr>
              <a:t>set.add(elmnt)</a:t>
            </a:r>
            <a:endParaRPr sz="1500">
              <a:solidFill>
                <a:schemeClr val="dk1"/>
              </a:solidFill>
              <a:highlight>
                <a:srgbClr val="FFFFFF"/>
              </a:highlight>
            </a:endParaRPr>
          </a:p>
          <a:p>
            <a:pPr marL="0" lvl="0" indent="0" algn="l" rtl="0">
              <a:lnSpc>
                <a:spcPct val="115000"/>
              </a:lnSpc>
              <a:spcBef>
                <a:spcPts val="1200"/>
              </a:spcBef>
              <a:spcAft>
                <a:spcPts val="0"/>
              </a:spcAft>
              <a:buSzPts val="1100"/>
              <a:buNone/>
            </a:pPr>
            <a:r>
              <a:rPr lang="en" sz="1500">
                <a:solidFill>
                  <a:schemeClr val="dk1"/>
                </a:solidFill>
                <a:highlight>
                  <a:srgbClr val="FFFFFF"/>
                </a:highlight>
              </a:rPr>
              <a:t>thisset = {"apple", "banana", "cherry"}</a:t>
            </a:r>
            <a:endParaRPr sz="1500">
              <a:solidFill>
                <a:schemeClr val="dk1"/>
              </a:solidFill>
              <a:highlight>
                <a:srgbClr val="FFFFFF"/>
              </a:highlight>
            </a:endParaRPr>
          </a:p>
          <a:p>
            <a:pPr marL="0" lvl="0" indent="0" algn="l" rtl="0">
              <a:lnSpc>
                <a:spcPct val="115000"/>
              </a:lnSpc>
              <a:spcBef>
                <a:spcPts val="0"/>
              </a:spcBef>
              <a:spcAft>
                <a:spcPts val="0"/>
              </a:spcAft>
              <a:buSzPts val="1100"/>
              <a:buNone/>
            </a:pPr>
            <a:endParaRPr sz="1500">
              <a:solidFill>
                <a:schemeClr val="dk1"/>
              </a:solidFill>
              <a:highlight>
                <a:srgbClr val="FFFFFF"/>
              </a:highlight>
            </a:endParaRPr>
          </a:p>
          <a:p>
            <a:pPr marL="0" lvl="0" indent="0" algn="l" rtl="0">
              <a:lnSpc>
                <a:spcPct val="115000"/>
              </a:lnSpc>
              <a:spcBef>
                <a:spcPts val="0"/>
              </a:spcBef>
              <a:spcAft>
                <a:spcPts val="0"/>
              </a:spcAft>
              <a:buSzPts val="1100"/>
              <a:buNone/>
            </a:pPr>
            <a:r>
              <a:rPr lang="en" sz="1500">
                <a:solidFill>
                  <a:schemeClr val="dk1"/>
                </a:solidFill>
                <a:highlight>
                  <a:srgbClr val="FFFFFF"/>
                </a:highlight>
              </a:rPr>
              <a:t>thisset.add("orange")</a:t>
            </a:r>
            <a:endParaRPr sz="1500">
              <a:solidFill>
                <a:schemeClr val="dk1"/>
              </a:solidFill>
              <a:highlight>
                <a:srgbClr val="FFFFFF"/>
              </a:highlight>
            </a:endParaRPr>
          </a:p>
          <a:p>
            <a:pPr marL="0" lvl="0" indent="0" algn="l" rtl="0">
              <a:lnSpc>
                <a:spcPct val="115000"/>
              </a:lnSpc>
              <a:spcBef>
                <a:spcPts val="0"/>
              </a:spcBef>
              <a:spcAft>
                <a:spcPts val="0"/>
              </a:spcAft>
              <a:buSzPts val="1100"/>
              <a:buNone/>
            </a:pPr>
            <a:endParaRPr sz="1500">
              <a:solidFill>
                <a:schemeClr val="dk1"/>
              </a:solidFill>
              <a:highlight>
                <a:srgbClr val="FFFFFF"/>
              </a:highlight>
            </a:endParaRPr>
          </a:p>
          <a:p>
            <a:pPr marL="0" lvl="0" indent="0" algn="l" rtl="0">
              <a:lnSpc>
                <a:spcPct val="115000"/>
              </a:lnSpc>
              <a:spcBef>
                <a:spcPts val="0"/>
              </a:spcBef>
              <a:spcAft>
                <a:spcPts val="0"/>
              </a:spcAft>
              <a:buSzPts val="1100"/>
              <a:buNone/>
            </a:pPr>
            <a:r>
              <a:rPr lang="en" sz="1500">
                <a:solidFill>
                  <a:schemeClr val="dk1"/>
                </a:solidFill>
                <a:highlight>
                  <a:srgbClr val="FFFFFF"/>
                </a:highlight>
              </a:rPr>
              <a:t>print(thisset)</a:t>
            </a:r>
            <a:endParaRPr sz="1500">
              <a:solidFill>
                <a:schemeClr val="dk1"/>
              </a:solidFill>
              <a:highlight>
                <a:srgbClr val="FFFFFF"/>
              </a:highlight>
            </a:endParaRPr>
          </a:p>
          <a:p>
            <a:pPr marL="0" lvl="0" indent="0" algn="l" rtl="0">
              <a:lnSpc>
                <a:spcPct val="115000"/>
              </a:lnSpc>
              <a:spcBef>
                <a:spcPts val="0"/>
              </a:spcBef>
              <a:spcAft>
                <a:spcPts val="0"/>
              </a:spcAft>
              <a:buSzPts val="1100"/>
              <a:buNone/>
            </a:pPr>
            <a:endParaRPr sz="1500">
              <a:solidFill>
                <a:schemeClr val="dk1"/>
              </a:solidFill>
              <a:highlight>
                <a:srgbClr val="FFFFFF"/>
              </a:highlight>
            </a:endParaRPr>
          </a:p>
          <a:p>
            <a:pPr marL="0" lvl="0" indent="0" algn="l" rtl="0">
              <a:lnSpc>
                <a:spcPct val="115000"/>
              </a:lnSpc>
              <a:spcBef>
                <a:spcPts val="0"/>
              </a:spcBef>
              <a:spcAft>
                <a:spcPts val="0"/>
              </a:spcAft>
              <a:buSzPts val="1100"/>
              <a:buNone/>
            </a:pPr>
            <a:r>
              <a:rPr lang="en" sz="1500">
                <a:solidFill>
                  <a:schemeClr val="dk1"/>
                </a:solidFill>
                <a:highlight>
                  <a:srgbClr val="FFFFFF"/>
                </a:highlight>
              </a:rPr>
              <a:t>Output;</a:t>
            </a:r>
            <a:endParaRPr sz="1500">
              <a:solidFill>
                <a:schemeClr val="dk1"/>
              </a:solidFill>
              <a:highlight>
                <a:srgbClr val="FFFFFF"/>
              </a:highlight>
            </a:endParaRPr>
          </a:p>
          <a:p>
            <a:pPr marL="0" lvl="0" indent="0" algn="l" rtl="0">
              <a:lnSpc>
                <a:spcPct val="115000"/>
              </a:lnSpc>
              <a:spcBef>
                <a:spcPts val="0"/>
              </a:spcBef>
              <a:spcAft>
                <a:spcPts val="0"/>
              </a:spcAft>
              <a:buSzPts val="1100"/>
              <a:buNone/>
            </a:pPr>
            <a:r>
              <a:rPr lang="en" sz="1500">
                <a:solidFill>
                  <a:schemeClr val="dk1"/>
                </a:solidFill>
                <a:highlight>
                  <a:srgbClr val="FFFFFF"/>
                </a:highlight>
              </a:rPr>
              <a:t>{'banana', 'cherry', 'orange', 'apple'}</a:t>
            </a:r>
            <a:endParaRPr sz="1500">
              <a:solidFill>
                <a:schemeClr val="dk1"/>
              </a:solidFill>
              <a:highlight>
                <a:srgbClr val="FFFFFF"/>
              </a:highlight>
            </a:endParaRPr>
          </a:p>
          <a:p>
            <a:pPr marL="0" lvl="0" indent="0" algn="l" rtl="0">
              <a:lnSpc>
                <a:spcPct val="115000"/>
              </a:lnSpc>
              <a:spcBef>
                <a:spcPts val="0"/>
              </a:spcBef>
              <a:spcAft>
                <a:spcPts val="0"/>
              </a:spcAft>
              <a:buSzPts val="1100"/>
              <a:buNone/>
            </a:pPr>
            <a:endParaRPr sz="15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endParaRPr sz="2400" b="1">
              <a:solidFill>
                <a:srgbClr val="FFFFFF"/>
              </a:solidFill>
              <a:highlight>
                <a:srgbClr val="131417"/>
              </a:highligh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69"/>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800"/>
              </a:spcBef>
              <a:spcAft>
                <a:spcPts val="0"/>
              </a:spcAft>
              <a:buClr>
                <a:schemeClr val="dk1"/>
              </a:buClr>
              <a:buSzPts val="1100"/>
              <a:buFont typeface="Arial"/>
              <a:buNone/>
            </a:pPr>
            <a:r>
              <a:rPr lang="en" sz="3150">
                <a:solidFill>
                  <a:schemeClr val="dk1"/>
                </a:solidFill>
                <a:highlight>
                  <a:srgbClr val="FFFFFF"/>
                </a:highlight>
              </a:rPr>
              <a:t>clear() Method : </a:t>
            </a:r>
            <a:r>
              <a:rPr lang="en" sz="1550">
                <a:solidFill>
                  <a:schemeClr val="dk1"/>
                </a:solidFill>
                <a:highlight>
                  <a:srgbClr val="FFFFFF"/>
                </a:highlight>
                <a:latin typeface="Times New Roman"/>
                <a:ea typeface="Times New Roman"/>
                <a:cs typeface="Times New Roman"/>
                <a:sym typeface="Times New Roman"/>
              </a:rPr>
              <a:t>The </a:t>
            </a:r>
            <a:r>
              <a:rPr lang="en" sz="1600">
                <a:solidFill>
                  <a:srgbClr val="DC143C"/>
                </a:solidFill>
                <a:highlight>
                  <a:srgbClr val="FFFFFF"/>
                </a:highlight>
                <a:latin typeface="Times New Roman"/>
                <a:ea typeface="Times New Roman"/>
                <a:cs typeface="Times New Roman"/>
                <a:sym typeface="Times New Roman"/>
              </a:rPr>
              <a:t>clear()</a:t>
            </a:r>
            <a:r>
              <a:rPr lang="en" sz="1550">
                <a:solidFill>
                  <a:schemeClr val="dk1"/>
                </a:solidFill>
                <a:highlight>
                  <a:srgbClr val="FFFFFF"/>
                </a:highlight>
                <a:latin typeface="Times New Roman"/>
                <a:ea typeface="Times New Roman"/>
                <a:cs typeface="Times New Roman"/>
                <a:sym typeface="Times New Roman"/>
              </a:rPr>
              <a:t> method removes all elements in a set.</a:t>
            </a:r>
            <a:endParaRPr sz="1550">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None/>
            </a:pPr>
            <a:r>
              <a:rPr lang="en" sz="2400">
                <a:solidFill>
                  <a:schemeClr val="dk1"/>
                </a:solidFill>
                <a:highlight>
                  <a:srgbClr val="FFFFFF"/>
                </a:highlight>
              </a:rPr>
              <a:t>Syntax</a:t>
            </a:r>
            <a:endParaRPr sz="2400">
              <a:solidFill>
                <a:schemeClr val="dk1"/>
              </a:solidFill>
              <a:highlight>
                <a:srgbClr val="FFFFFF"/>
              </a:highlight>
            </a:endParaRPr>
          </a:p>
          <a:p>
            <a:pPr marL="114300" marR="114300" lvl="0" indent="0" algn="l" rtl="0">
              <a:lnSpc>
                <a:spcPct val="115000"/>
              </a:lnSpc>
              <a:spcBef>
                <a:spcPts val="1200"/>
              </a:spcBef>
              <a:spcAft>
                <a:spcPts val="0"/>
              </a:spcAft>
              <a:buClr>
                <a:schemeClr val="dk1"/>
              </a:buClr>
              <a:buSzPts val="1100"/>
              <a:buFont typeface="Arial"/>
              <a:buNone/>
            </a:pPr>
            <a:r>
              <a:rPr lang="en" sz="1350" i="1">
                <a:solidFill>
                  <a:schemeClr val="dk1"/>
                </a:solidFill>
                <a:highlight>
                  <a:srgbClr val="FFFFFF"/>
                </a:highlight>
                <a:latin typeface="Times New Roman"/>
                <a:ea typeface="Times New Roman"/>
                <a:cs typeface="Times New Roman"/>
                <a:sym typeface="Times New Roman"/>
              </a:rPr>
              <a:t>set</a:t>
            </a:r>
            <a:r>
              <a:rPr lang="en" sz="1350">
                <a:solidFill>
                  <a:schemeClr val="dk1"/>
                </a:solidFill>
                <a:highlight>
                  <a:srgbClr val="FFFFFF"/>
                </a:highlight>
                <a:latin typeface="Times New Roman"/>
                <a:ea typeface="Times New Roman"/>
                <a:cs typeface="Times New Roman"/>
                <a:sym typeface="Times New Roman"/>
              </a:rPr>
              <a:t>.clear()</a:t>
            </a:r>
            <a:endParaRPr sz="13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350">
                <a:solidFill>
                  <a:schemeClr val="dk1"/>
                </a:solidFill>
                <a:highlight>
                  <a:srgbClr val="FFFFFF"/>
                </a:highlight>
                <a:latin typeface="Times New Roman"/>
                <a:ea typeface="Times New Roman"/>
                <a:cs typeface="Times New Roman"/>
                <a:sym typeface="Times New Roman"/>
              </a:rPr>
              <a:t>thisset = {"apple", "banana", "cherry"}</a:t>
            </a:r>
            <a:endParaRPr sz="13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350">
                <a:solidFill>
                  <a:schemeClr val="dk1"/>
                </a:solidFill>
                <a:highlight>
                  <a:srgbClr val="FFFFFF"/>
                </a:highlight>
                <a:latin typeface="Times New Roman"/>
                <a:ea typeface="Times New Roman"/>
                <a:cs typeface="Times New Roman"/>
                <a:sym typeface="Times New Roman"/>
              </a:rPr>
              <a:t>thisset.clear()</a:t>
            </a:r>
            <a:endParaRPr sz="13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350">
                <a:solidFill>
                  <a:schemeClr val="dk1"/>
                </a:solidFill>
                <a:highlight>
                  <a:srgbClr val="FFFFFF"/>
                </a:highlight>
                <a:latin typeface="Times New Roman"/>
                <a:ea typeface="Times New Roman"/>
                <a:cs typeface="Times New Roman"/>
                <a:sym typeface="Times New Roman"/>
              </a:rPr>
              <a:t>print(thisset)</a:t>
            </a:r>
            <a:endParaRPr sz="13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endParaRPr sz="13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350">
                <a:solidFill>
                  <a:schemeClr val="dk1"/>
                </a:solidFill>
                <a:highlight>
                  <a:srgbClr val="FFFFFF"/>
                </a:highlight>
                <a:latin typeface="Times New Roman"/>
                <a:ea typeface="Times New Roman"/>
                <a:cs typeface="Times New Roman"/>
                <a:sym typeface="Times New Roman"/>
              </a:rPr>
              <a:t>Output:</a:t>
            </a:r>
            <a:endParaRPr sz="13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350">
                <a:solidFill>
                  <a:schemeClr val="dk1"/>
                </a:solidFill>
                <a:highlight>
                  <a:srgbClr val="FFFFFF"/>
                </a:highlight>
                <a:latin typeface="Times New Roman"/>
                <a:ea typeface="Times New Roman"/>
                <a:cs typeface="Times New Roman"/>
                <a:sym typeface="Times New Roman"/>
              </a:rPr>
              <a:t>set()</a:t>
            </a:r>
            <a:endParaRPr sz="13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endParaRPr sz="13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endParaRPr sz="1350">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3150">
              <a:solidFill>
                <a:schemeClr val="dk1"/>
              </a:solidFill>
              <a:highlight>
                <a:srgbClr val="FFFFFF"/>
              </a:highlight>
            </a:endParaRPr>
          </a:p>
          <a:p>
            <a:pPr marL="0" lvl="0" indent="0" algn="l" rtl="0">
              <a:lnSpc>
                <a:spcPct val="115000"/>
              </a:lnSpc>
              <a:spcBef>
                <a:spcPts val="800"/>
              </a:spcBef>
              <a:spcAft>
                <a:spcPts val="0"/>
              </a:spcAft>
              <a:buClr>
                <a:schemeClr val="dk1"/>
              </a:buClr>
              <a:buSzPts val="1100"/>
              <a:buFont typeface="Arial"/>
              <a:buNone/>
            </a:pPr>
            <a:endParaRPr sz="1500">
              <a:solidFill>
                <a:schemeClr val="dk1"/>
              </a:solidFill>
              <a:highlight>
                <a:srgbClr val="FFFFFF"/>
              </a:highligh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70"/>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800"/>
              </a:spcBef>
              <a:spcAft>
                <a:spcPts val="0"/>
              </a:spcAft>
              <a:buClr>
                <a:schemeClr val="dk1"/>
              </a:buClr>
              <a:buSzPts val="1100"/>
              <a:buFont typeface="Arial"/>
              <a:buNone/>
            </a:pPr>
            <a:r>
              <a:rPr lang="en" sz="3150">
                <a:solidFill>
                  <a:schemeClr val="dk1"/>
                </a:solidFill>
                <a:highlight>
                  <a:srgbClr val="FFFFFF"/>
                </a:highlight>
              </a:rPr>
              <a:t>copy() Method : </a:t>
            </a:r>
            <a:r>
              <a:rPr lang="en" sz="1450">
                <a:solidFill>
                  <a:schemeClr val="dk1"/>
                </a:solidFill>
                <a:highlight>
                  <a:srgbClr val="FFFFFF"/>
                </a:highlight>
                <a:latin typeface="Times New Roman"/>
                <a:ea typeface="Times New Roman"/>
                <a:cs typeface="Times New Roman"/>
                <a:sym typeface="Times New Roman"/>
              </a:rPr>
              <a:t>The </a:t>
            </a:r>
            <a:r>
              <a:rPr lang="en" sz="1500">
                <a:solidFill>
                  <a:srgbClr val="DC143C"/>
                </a:solidFill>
                <a:highlight>
                  <a:srgbClr val="FFFFFF"/>
                </a:highlight>
                <a:latin typeface="Times New Roman"/>
                <a:ea typeface="Times New Roman"/>
                <a:cs typeface="Times New Roman"/>
                <a:sym typeface="Times New Roman"/>
              </a:rPr>
              <a:t>copy()</a:t>
            </a:r>
            <a:r>
              <a:rPr lang="en" sz="1450">
                <a:solidFill>
                  <a:schemeClr val="dk1"/>
                </a:solidFill>
                <a:highlight>
                  <a:srgbClr val="FFFFFF"/>
                </a:highlight>
                <a:latin typeface="Times New Roman"/>
                <a:ea typeface="Times New Roman"/>
                <a:cs typeface="Times New Roman"/>
                <a:sym typeface="Times New Roman"/>
              </a:rPr>
              <a:t> method copies the set.</a:t>
            </a:r>
            <a:endParaRPr sz="1450">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None/>
            </a:pPr>
            <a:r>
              <a:rPr lang="en" sz="2400">
                <a:solidFill>
                  <a:schemeClr val="dk1"/>
                </a:solidFill>
                <a:highlight>
                  <a:srgbClr val="FFFFFF"/>
                </a:highlight>
              </a:rPr>
              <a:t>Syntax</a:t>
            </a:r>
            <a:endParaRPr sz="2400">
              <a:solidFill>
                <a:schemeClr val="dk1"/>
              </a:solidFill>
              <a:highlight>
                <a:srgbClr val="FFFFFF"/>
              </a:highlight>
            </a:endParaRPr>
          </a:p>
          <a:p>
            <a:pPr marL="114300" marR="114300" lvl="0" indent="0" algn="l" rtl="0">
              <a:lnSpc>
                <a:spcPct val="115000"/>
              </a:lnSpc>
              <a:spcBef>
                <a:spcPts val="1200"/>
              </a:spcBef>
              <a:spcAft>
                <a:spcPts val="0"/>
              </a:spcAft>
              <a:buClr>
                <a:schemeClr val="dk1"/>
              </a:buClr>
              <a:buSzPts val="1100"/>
              <a:buFont typeface="Arial"/>
              <a:buNone/>
            </a:pPr>
            <a:r>
              <a:rPr lang="en" sz="1550" i="1">
                <a:solidFill>
                  <a:schemeClr val="dk1"/>
                </a:solidFill>
                <a:highlight>
                  <a:srgbClr val="FFFFFF"/>
                </a:highlight>
                <a:latin typeface="Times New Roman"/>
                <a:ea typeface="Times New Roman"/>
                <a:cs typeface="Times New Roman"/>
                <a:sym typeface="Times New Roman"/>
              </a:rPr>
              <a:t>set</a:t>
            </a:r>
            <a:r>
              <a:rPr lang="en" sz="1550">
                <a:solidFill>
                  <a:schemeClr val="dk1"/>
                </a:solidFill>
                <a:highlight>
                  <a:srgbClr val="FFFFFF"/>
                </a:highlight>
                <a:latin typeface="Times New Roman"/>
                <a:ea typeface="Times New Roman"/>
                <a:cs typeface="Times New Roman"/>
                <a:sym typeface="Times New Roman"/>
              </a:rPr>
              <a:t>.copy()</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550">
                <a:solidFill>
                  <a:schemeClr val="dk1"/>
                </a:solidFill>
                <a:highlight>
                  <a:srgbClr val="FFFFFF"/>
                </a:highlight>
                <a:latin typeface="Times New Roman"/>
                <a:ea typeface="Times New Roman"/>
                <a:cs typeface="Times New Roman"/>
                <a:sym typeface="Times New Roman"/>
              </a:rPr>
              <a:t>fruits = {"apple", "banana", "cherry"}</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550">
                <a:solidFill>
                  <a:schemeClr val="dk1"/>
                </a:solidFill>
                <a:highlight>
                  <a:srgbClr val="FFFFFF"/>
                </a:highlight>
                <a:latin typeface="Times New Roman"/>
                <a:ea typeface="Times New Roman"/>
                <a:cs typeface="Times New Roman"/>
                <a:sym typeface="Times New Roman"/>
              </a:rPr>
              <a:t>x = fruits.copy()</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550">
                <a:solidFill>
                  <a:schemeClr val="dk1"/>
                </a:solidFill>
                <a:highlight>
                  <a:srgbClr val="FFFFFF"/>
                </a:highlight>
                <a:latin typeface="Times New Roman"/>
                <a:ea typeface="Times New Roman"/>
                <a:cs typeface="Times New Roman"/>
                <a:sym typeface="Times New Roman"/>
              </a:rPr>
              <a:t>print(x)</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550">
                <a:solidFill>
                  <a:schemeClr val="dk1"/>
                </a:solidFill>
                <a:highlight>
                  <a:srgbClr val="FFFFFF"/>
                </a:highlight>
                <a:latin typeface="Times New Roman"/>
                <a:ea typeface="Times New Roman"/>
                <a:cs typeface="Times New Roman"/>
                <a:sym typeface="Times New Roman"/>
              </a:rPr>
              <a:t>Output:</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550">
                <a:solidFill>
                  <a:schemeClr val="dk1"/>
                </a:solidFill>
                <a:highlight>
                  <a:srgbClr val="FFFFFF"/>
                </a:highlight>
                <a:latin typeface="Times New Roman"/>
                <a:ea typeface="Times New Roman"/>
                <a:cs typeface="Times New Roman"/>
                <a:sym typeface="Times New Roman"/>
              </a:rPr>
              <a:t>{'apple', 'cherry', 'banana'}</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endParaRPr sz="1550">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3150">
              <a:solidFill>
                <a:schemeClr val="dk1"/>
              </a:solidFill>
              <a:highlight>
                <a:srgbClr val="FFFFFF"/>
              </a:highligh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71"/>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800"/>
              </a:spcBef>
              <a:spcAft>
                <a:spcPts val="0"/>
              </a:spcAft>
              <a:buClr>
                <a:schemeClr val="dk1"/>
              </a:buClr>
              <a:buSzPts val="1100"/>
              <a:buFont typeface="Arial"/>
              <a:buNone/>
            </a:pPr>
            <a:r>
              <a:rPr lang="en" sz="3150">
                <a:solidFill>
                  <a:schemeClr val="dk1"/>
                </a:solidFill>
                <a:highlight>
                  <a:srgbClr val="FFFFFF"/>
                </a:highlight>
              </a:rPr>
              <a:t>remove() Method : </a:t>
            </a:r>
            <a:r>
              <a:rPr lang="en" sz="1550">
                <a:solidFill>
                  <a:schemeClr val="dk1"/>
                </a:solidFill>
                <a:highlight>
                  <a:srgbClr val="FFFFFF"/>
                </a:highlight>
                <a:latin typeface="Times New Roman"/>
                <a:ea typeface="Times New Roman"/>
                <a:cs typeface="Times New Roman"/>
                <a:sym typeface="Times New Roman"/>
              </a:rPr>
              <a:t>The </a:t>
            </a:r>
            <a:r>
              <a:rPr lang="en" sz="1600">
                <a:solidFill>
                  <a:schemeClr val="dk1"/>
                </a:solidFill>
                <a:highlight>
                  <a:srgbClr val="FFFFFF"/>
                </a:highlight>
                <a:latin typeface="Times New Roman"/>
                <a:ea typeface="Times New Roman"/>
                <a:cs typeface="Times New Roman"/>
                <a:sym typeface="Times New Roman"/>
              </a:rPr>
              <a:t>remove()</a:t>
            </a:r>
            <a:r>
              <a:rPr lang="en" sz="1550">
                <a:solidFill>
                  <a:schemeClr val="dk1"/>
                </a:solidFill>
                <a:highlight>
                  <a:srgbClr val="FFFFFF"/>
                </a:highlight>
                <a:latin typeface="Times New Roman"/>
                <a:ea typeface="Times New Roman"/>
                <a:cs typeface="Times New Roman"/>
                <a:sym typeface="Times New Roman"/>
              </a:rPr>
              <a:t> method removes the specified element from the set. This method is different from the </a:t>
            </a:r>
            <a:r>
              <a:rPr lang="en" sz="1600">
                <a:solidFill>
                  <a:schemeClr val="dk1"/>
                </a:solidFill>
                <a:highlight>
                  <a:srgbClr val="FFFFFF"/>
                </a:highlight>
                <a:latin typeface="Times New Roman"/>
                <a:ea typeface="Times New Roman"/>
                <a:cs typeface="Times New Roman"/>
                <a:sym typeface="Times New Roman"/>
              </a:rPr>
              <a:t>discard()</a:t>
            </a:r>
            <a:r>
              <a:rPr lang="en" sz="1550">
                <a:solidFill>
                  <a:schemeClr val="dk1"/>
                </a:solidFill>
                <a:highlight>
                  <a:srgbClr val="FFFFFF"/>
                </a:highlight>
                <a:latin typeface="Times New Roman"/>
                <a:ea typeface="Times New Roman"/>
                <a:cs typeface="Times New Roman"/>
                <a:sym typeface="Times New Roman"/>
              </a:rPr>
              <a:t> method, because the </a:t>
            </a:r>
            <a:r>
              <a:rPr lang="en" sz="1600">
                <a:solidFill>
                  <a:schemeClr val="dk1"/>
                </a:solidFill>
                <a:highlight>
                  <a:srgbClr val="FFFFFF"/>
                </a:highlight>
                <a:latin typeface="Times New Roman"/>
                <a:ea typeface="Times New Roman"/>
                <a:cs typeface="Times New Roman"/>
                <a:sym typeface="Times New Roman"/>
              </a:rPr>
              <a:t>remove()</a:t>
            </a:r>
            <a:r>
              <a:rPr lang="en" sz="1550">
                <a:solidFill>
                  <a:schemeClr val="dk1"/>
                </a:solidFill>
                <a:highlight>
                  <a:srgbClr val="FFFFFF"/>
                </a:highlight>
                <a:latin typeface="Times New Roman"/>
                <a:ea typeface="Times New Roman"/>
                <a:cs typeface="Times New Roman"/>
                <a:sym typeface="Times New Roman"/>
              </a:rPr>
              <a:t> method </a:t>
            </a:r>
            <a:r>
              <a:rPr lang="en" sz="1550" i="1">
                <a:solidFill>
                  <a:schemeClr val="dk1"/>
                </a:solidFill>
                <a:highlight>
                  <a:srgbClr val="FFFFFF"/>
                </a:highlight>
                <a:latin typeface="Times New Roman"/>
                <a:ea typeface="Times New Roman"/>
                <a:cs typeface="Times New Roman"/>
                <a:sym typeface="Times New Roman"/>
              </a:rPr>
              <a:t>will raise an error</a:t>
            </a:r>
            <a:r>
              <a:rPr lang="en" sz="1550">
                <a:solidFill>
                  <a:schemeClr val="dk1"/>
                </a:solidFill>
                <a:highlight>
                  <a:srgbClr val="FFFFFF"/>
                </a:highlight>
                <a:latin typeface="Times New Roman"/>
                <a:ea typeface="Times New Roman"/>
                <a:cs typeface="Times New Roman"/>
                <a:sym typeface="Times New Roman"/>
              </a:rPr>
              <a:t> if the specified item does not exist, and the </a:t>
            </a:r>
            <a:r>
              <a:rPr lang="en" sz="1600">
                <a:solidFill>
                  <a:schemeClr val="dk1"/>
                </a:solidFill>
                <a:highlight>
                  <a:srgbClr val="FFFFFF"/>
                </a:highlight>
                <a:latin typeface="Times New Roman"/>
                <a:ea typeface="Times New Roman"/>
                <a:cs typeface="Times New Roman"/>
                <a:sym typeface="Times New Roman"/>
              </a:rPr>
              <a:t>discard()</a:t>
            </a:r>
            <a:r>
              <a:rPr lang="en" sz="1550">
                <a:solidFill>
                  <a:schemeClr val="dk1"/>
                </a:solidFill>
                <a:highlight>
                  <a:srgbClr val="FFFFFF"/>
                </a:highlight>
                <a:latin typeface="Times New Roman"/>
                <a:ea typeface="Times New Roman"/>
                <a:cs typeface="Times New Roman"/>
                <a:sym typeface="Times New Roman"/>
              </a:rPr>
              <a:t> method </a:t>
            </a:r>
            <a:r>
              <a:rPr lang="en" sz="1550" i="1">
                <a:solidFill>
                  <a:schemeClr val="dk1"/>
                </a:solidFill>
                <a:highlight>
                  <a:srgbClr val="FFFFFF"/>
                </a:highlight>
                <a:latin typeface="Times New Roman"/>
                <a:ea typeface="Times New Roman"/>
                <a:cs typeface="Times New Roman"/>
                <a:sym typeface="Times New Roman"/>
              </a:rPr>
              <a:t>will not</a:t>
            </a:r>
            <a:r>
              <a:rPr lang="en" sz="1550">
                <a:solidFill>
                  <a:schemeClr val="dk1"/>
                </a:solidFill>
                <a:highlight>
                  <a:srgbClr val="FFFFFF"/>
                </a:highlight>
                <a:latin typeface="Times New Roman"/>
                <a:ea typeface="Times New Roman"/>
                <a:cs typeface="Times New Roman"/>
                <a:sym typeface="Times New Roman"/>
              </a:rPr>
              <a:t>.</a:t>
            </a:r>
            <a:endParaRPr sz="1550">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Syntax</a:t>
            </a:r>
            <a:endParaRPr>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550" i="1">
                <a:solidFill>
                  <a:schemeClr val="dk1"/>
                </a:solidFill>
                <a:highlight>
                  <a:srgbClr val="FFFFFF"/>
                </a:highlight>
                <a:latin typeface="Times New Roman"/>
                <a:ea typeface="Times New Roman"/>
                <a:cs typeface="Times New Roman"/>
                <a:sym typeface="Times New Roman"/>
              </a:rPr>
              <a:t>set</a:t>
            </a:r>
            <a:r>
              <a:rPr lang="en" sz="1550">
                <a:solidFill>
                  <a:schemeClr val="dk1"/>
                </a:solidFill>
                <a:highlight>
                  <a:srgbClr val="FFFFFF"/>
                </a:highlight>
                <a:latin typeface="Times New Roman"/>
                <a:ea typeface="Times New Roman"/>
                <a:cs typeface="Times New Roman"/>
                <a:sym typeface="Times New Roman"/>
              </a:rPr>
              <a:t>.remove(</a:t>
            </a:r>
            <a:r>
              <a:rPr lang="en" sz="1550" i="1">
                <a:solidFill>
                  <a:schemeClr val="dk1"/>
                </a:solidFill>
                <a:highlight>
                  <a:srgbClr val="FFFFFF"/>
                </a:highlight>
                <a:latin typeface="Times New Roman"/>
                <a:ea typeface="Times New Roman"/>
                <a:cs typeface="Times New Roman"/>
                <a:sym typeface="Times New Roman"/>
              </a:rPr>
              <a:t>item</a:t>
            </a:r>
            <a:r>
              <a:rPr lang="en" sz="1550">
                <a:solidFill>
                  <a:schemeClr val="dk1"/>
                </a:solidFill>
                <a:highlight>
                  <a:srgbClr val="FFFFFF"/>
                </a:highlight>
                <a:latin typeface="Times New Roman"/>
                <a:ea typeface="Times New Roman"/>
                <a:cs typeface="Times New Roman"/>
                <a:sym typeface="Times New Roman"/>
              </a:rPr>
              <a:t>)</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550">
                <a:solidFill>
                  <a:schemeClr val="dk1"/>
                </a:solidFill>
                <a:highlight>
                  <a:srgbClr val="FFFFFF"/>
                </a:highlight>
                <a:latin typeface="Times New Roman"/>
                <a:ea typeface="Times New Roman"/>
                <a:cs typeface="Times New Roman"/>
                <a:sym typeface="Times New Roman"/>
              </a:rPr>
              <a:t>fruits = {"apple", "banana", "cherry"}</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550">
                <a:solidFill>
                  <a:schemeClr val="dk1"/>
                </a:solidFill>
                <a:highlight>
                  <a:srgbClr val="FFFFFF"/>
                </a:highlight>
                <a:latin typeface="Times New Roman"/>
                <a:ea typeface="Times New Roman"/>
                <a:cs typeface="Times New Roman"/>
                <a:sym typeface="Times New Roman"/>
              </a:rPr>
              <a:t>fruits.remove("banana") </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550">
                <a:solidFill>
                  <a:schemeClr val="dk1"/>
                </a:solidFill>
                <a:highlight>
                  <a:srgbClr val="FFFFFF"/>
                </a:highlight>
                <a:latin typeface="Times New Roman"/>
                <a:ea typeface="Times New Roman"/>
                <a:cs typeface="Times New Roman"/>
                <a:sym typeface="Times New Roman"/>
              </a:rPr>
              <a:t>print(fruits)</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550">
                <a:solidFill>
                  <a:schemeClr val="dk1"/>
                </a:solidFill>
                <a:highlight>
                  <a:srgbClr val="FFFFFF"/>
                </a:highlight>
                <a:latin typeface="Times New Roman"/>
                <a:ea typeface="Times New Roman"/>
                <a:cs typeface="Times New Roman"/>
                <a:sym typeface="Times New Roman"/>
              </a:rPr>
              <a:t>Output:</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r>
              <a:rPr lang="en" sz="1550">
                <a:solidFill>
                  <a:schemeClr val="dk1"/>
                </a:solidFill>
                <a:highlight>
                  <a:srgbClr val="FFFFFF"/>
                </a:highlight>
                <a:latin typeface="Times New Roman"/>
                <a:ea typeface="Times New Roman"/>
                <a:cs typeface="Times New Roman"/>
                <a:sym typeface="Times New Roman"/>
              </a:rPr>
              <a:t>{'apple', 'cherry'}</a:t>
            </a:r>
            <a:endParaRPr sz="1550">
              <a:solidFill>
                <a:schemeClr val="dk1"/>
              </a:solidFill>
              <a:highlight>
                <a:srgbClr val="FFFFFF"/>
              </a:highlight>
              <a:latin typeface="Times New Roman"/>
              <a:ea typeface="Times New Roman"/>
              <a:cs typeface="Times New Roman"/>
              <a:sym typeface="Times New Roman"/>
            </a:endParaRPr>
          </a:p>
          <a:p>
            <a:pPr marL="114300" marR="114300" lvl="0" indent="0" algn="l" rtl="0">
              <a:lnSpc>
                <a:spcPct val="115000"/>
              </a:lnSpc>
              <a:spcBef>
                <a:spcPts val="1200"/>
              </a:spcBef>
              <a:spcAft>
                <a:spcPts val="0"/>
              </a:spcAft>
              <a:buClr>
                <a:schemeClr val="dk1"/>
              </a:buClr>
              <a:buSzPts val="1100"/>
              <a:buFont typeface="Arial"/>
              <a:buNone/>
            </a:pPr>
            <a:endParaRPr sz="1550">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3150">
              <a:solidFill>
                <a:schemeClr val="dk1"/>
              </a:solidFill>
              <a:highlight>
                <a:srgbClr val="FFFFFF"/>
              </a:highlight>
            </a:endParaRPr>
          </a:p>
          <a:p>
            <a:pPr marL="0" lvl="0" indent="0" algn="l" rtl="0">
              <a:lnSpc>
                <a:spcPct val="115000"/>
              </a:lnSpc>
              <a:spcBef>
                <a:spcPts val="800"/>
              </a:spcBef>
              <a:spcAft>
                <a:spcPts val="0"/>
              </a:spcAft>
              <a:buClr>
                <a:schemeClr val="dk1"/>
              </a:buClr>
              <a:buSzPts val="1100"/>
              <a:buFont typeface="Arial"/>
              <a:buNone/>
            </a:pPr>
            <a:endParaRPr sz="3150">
              <a:solidFill>
                <a:schemeClr val="dk1"/>
              </a:solidFill>
              <a:highlight>
                <a:srgbClr val="FFFFFF"/>
              </a:highligh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72"/>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0"/>
              </a:spcAft>
              <a:buClr>
                <a:schemeClr val="dk1"/>
              </a:buClr>
              <a:buSzPts val="1100"/>
              <a:buFont typeface="Arial"/>
              <a:buNone/>
            </a:pPr>
            <a:r>
              <a:rPr lang="en" sz="2000" b="1">
                <a:solidFill>
                  <a:schemeClr val="dk1"/>
                </a:solidFill>
                <a:latin typeface="Times New Roman"/>
                <a:ea typeface="Times New Roman"/>
                <a:cs typeface="Times New Roman"/>
                <a:sym typeface="Times New Roman"/>
              </a:rPr>
              <a:t>Comprehensions</a:t>
            </a:r>
            <a:endParaRPr sz="2000" b="1">
              <a:solidFill>
                <a:schemeClr val="dk1"/>
              </a:solidFill>
              <a:latin typeface="Times New Roman"/>
              <a:ea typeface="Times New Roman"/>
              <a:cs typeface="Times New Roman"/>
              <a:sym typeface="Times New Roman"/>
            </a:endParaRPr>
          </a:p>
          <a:p>
            <a:pPr marL="457200" lvl="0" indent="-228600" algn="just" rtl="0">
              <a:lnSpc>
                <a:spcPct val="115000"/>
              </a:lnSpc>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a:t>
            </a:r>
            <a:r>
              <a:rPr lang="en" sz="1000">
                <a:solidFill>
                  <a:schemeClr val="dk1"/>
                </a:solidFill>
                <a:latin typeface="Times New Roman"/>
                <a:ea typeface="Times New Roman"/>
                <a:cs typeface="Times New Roman"/>
                <a:sym typeface="Times New Roman"/>
              </a:rPr>
              <a:t>       </a:t>
            </a:r>
            <a:r>
              <a:rPr lang="en" sz="1500">
                <a:solidFill>
                  <a:schemeClr val="dk1"/>
                </a:solidFill>
                <a:latin typeface="Times New Roman"/>
                <a:ea typeface="Times New Roman"/>
                <a:cs typeface="Times New Roman"/>
                <a:sym typeface="Times New Roman"/>
              </a:rPr>
              <a:t>In Python, comprehensions are a concise way of creating new lists, dictionaries, sets, or other objects from existing iterable objects.</a:t>
            </a:r>
            <a:endParaRPr sz="1500">
              <a:solidFill>
                <a:schemeClr val="dk1"/>
              </a:solidFill>
              <a:latin typeface="Times New Roman"/>
              <a:ea typeface="Times New Roman"/>
              <a:cs typeface="Times New Roman"/>
              <a:sym typeface="Times New Roman"/>
            </a:endParaRPr>
          </a:p>
          <a:p>
            <a:pPr marL="457200" lvl="0" indent="-228600" algn="just" rtl="0">
              <a:lnSpc>
                <a:spcPct val="115000"/>
              </a:lnSpc>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a:t>
            </a:r>
            <a:r>
              <a:rPr lang="en" sz="1000">
                <a:solidFill>
                  <a:schemeClr val="dk1"/>
                </a:solidFill>
                <a:latin typeface="Times New Roman"/>
                <a:ea typeface="Times New Roman"/>
                <a:cs typeface="Times New Roman"/>
                <a:sym typeface="Times New Roman"/>
              </a:rPr>
              <a:t>   	</a:t>
            </a:r>
            <a:r>
              <a:rPr lang="en" sz="1500">
                <a:solidFill>
                  <a:schemeClr val="dk1"/>
                </a:solidFill>
                <a:latin typeface="Times New Roman"/>
                <a:ea typeface="Times New Roman"/>
                <a:cs typeface="Times New Roman"/>
                <a:sym typeface="Times New Roman"/>
              </a:rPr>
              <a:t>They allow us to write simple and readable code for generating sequences, filtering, and transforming data.</a:t>
            </a:r>
            <a:endParaRPr sz="15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There are two types of comprehensions in Python:</a:t>
            </a:r>
            <a:endParaRPr sz="1500">
              <a:solidFill>
                <a:schemeClr val="dk1"/>
              </a:solidFill>
              <a:latin typeface="Times New Roman"/>
              <a:ea typeface="Times New Roman"/>
              <a:cs typeface="Times New Roman"/>
              <a:sym typeface="Times New Roman"/>
            </a:endParaRPr>
          </a:p>
          <a:p>
            <a:pPr marL="457200" lvl="0" indent="-228600" algn="just" rtl="0">
              <a:lnSpc>
                <a:spcPct val="115000"/>
              </a:lnSpc>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a:t>
            </a:r>
            <a:r>
              <a:rPr lang="en" sz="1000">
                <a:solidFill>
                  <a:schemeClr val="dk1"/>
                </a:solidFill>
                <a:latin typeface="Times New Roman"/>
                <a:ea typeface="Times New Roman"/>
                <a:cs typeface="Times New Roman"/>
                <a:sym typeface="Times New Roman"/>
              </a:rPr>
              <a:t>       </a:t>
            </a:r>
            <a:r>
              <a:rPr lang="en" sz="1500">
                <a:solidFill>
                  <a:schemeClr val="dk1"/>
                </a:solidFill>
                <a:latin typeface="Times New Roman"/>
                <a:ea typeface="Times New Roman"/>
                <a:cs typeface="Times New Roman"/>
                <a:sym typeface="Times New Roman"/>
              </a:rPr>
              <a:t>list comprehensions</a:t>
            </a:r>
            <a:endParaRPr sz="1500">
              <a:solidFill>
                <a:schemeClr val="dk1"/>
              </a:solidFill>
              <a:latin typeface="Times New Roman"/>
              <a:ea typeface="Times New Roman"/>
              <a:cs typeface="Times New Roman"/>
              <a:sym typeface="Times New Roman"/>
            </a:endParaRPr>
          </a:p>
          <a:p>
            <a:pPr marL="457200" lvl="0" indent="-228600" algn="just" rtl="0">
              <a:lnSpc>
                <a:spcPct val="115000"/>
              </a:lnSpc>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a:t>
            </a:r>
            <a:r>
              <a:rPr lang="en" sz="1000">
                <a:solidFill>
                  <a:schemeClr val="dk1"/>
                </a:solidFill>
                <a:latin typeface="Times New Roman"/>
                <a:ea typeface="Times New Roman"/>
                <a:cs typeface="Times New Roman"/>
                <a:sym typeface="Times New Roman"/>
              </a:rPr>
              <a:t>   	</a:t>
            </a:r>
            <a:r>
              <a:rPr lang="en" sz="1500">
                <a:solidFill>
                  <a:schemeClr val="dk1"/>
                </a:solidFill>
                <a:latin typeface="Times New Roman"/>
                <a:ea typeface="Times New Roman"/>
                <a:cs typeface="Times New Roman"/>
                <a:sym typeface="Times New Roman"/>
              </a:rPr>
              <a:t> dictionary/set comprehensions.</a:t>
            </a:r>
            <a:endParaRPr sz="15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 </a:t>
            </a:r>
            <a:endParaRPr sz="15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list comprehensions</a:t>
            </a:r>
            <a:endParaRPr sz="18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A list comprehension is a compact way of creating a new list by applying an expression to each element of an existing list or any other iterable object and collecting the results.</a:t>
            </a:r>
            <a:endParaRPr sz="15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2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73"/>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The general syntax for a list comprehension is:</a:t>
            </a:r>
            <a:endParaRPr sz="15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[expression for item in iterable if condition]</a:t>
            </a:r>
            <a:endParaRPr sz="18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Example</a:t>
            </a:r>
            <a:endParaRPr sz="18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numbers = [1, 2, 3, 4, 5]</a:t>
            </a:r>
            <a:endParaRPr sz="18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squared = [n**2 for n in numbers]</a:t>
            </a:r>
            <a:endParaRPr sz="18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print(squared) # [1, 4, 9, 16, 25]</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2400">
              <a:solidFill>
                <a:schemeClr val="dk1"/>
              </a:solidFill>
              <a:highlight>
                <a:schemeClr val="lt1"/>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74"/>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Dictionary Comprehension</a:t>
            </a:r>
            <a:endParaRPr sz="1700">
              <a:solidFill>
                <a:schemeClr val="dk1"/>
              </a:solidFill>
              <a:latin typeface="Times New Roman"/>
              <a:ea typeface="Times New Roman"/>
              <a:cs typeface="Times New Roman"/>
              <a:sym typeface="Times New Roman"/>
            </a:endParaRPr>
          </a:p>
          <a:p>
            <a:pPr marL="457200" lvl="0" indent="-228600" algn="just" rtl="0">
              <a:lnSpc>
                <a:spcPct val="115000"/>
              </a:lnSpc>
              <a:spcBef>
                <a:spcPts val="120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a:t>
            </a:r>
            <a:r>
              <a:rPr lang="en" sz="900">
                <a:solidFill>
                  <a:schemeClr val="dk1"/>
                </a:solidFill>
                <a:latin typeface="Times New Roman"/>
                <a:ea typeface="Times New Roman"/>
                <a:cs typeface="Times New Roman"/>
                <a:sym typeface="Times New Roman"/>
              </a:rPr>
              <a:t>      </a:t>
            </a:r>
            <a:r>
              <a:rPr lang="en" sz="1700">
                <a:solidFill>
                  <a:schemeClr val="dk1"/>
                </a:solidFill>
                <a:latin typeface="Times New Roman"/>
                <a:ea typeface="Times New Roman"/>
                <a:cs typeface="Times New Roman"/>
                <a:sym typeface="Times New Roman"/>
              </a:rPr>
              <a:t>we use dictionary comprehension to create a new dictionary from the list.</a:t>
            </a:r>
            <a:endParaRPr sz="1700">
              <a:solidFill>
                <a:schemeClr val="dk1"/>
              </a:solidFill>
              <a:latin typeface="Times New Roman"/>
              <a:ea typeface="Times New Roman"/>
              <a:cs typeface="Times New Roman"/>
              <a:sym typeface="Times New Roman"/>
            </a:endParaRPr>
          </a:p>
          <a:p>
            <a:pPr marL="457200" lvl="0" indent="-228600" algn="just" rtl="0">
              <a:lnSpc>
                <a:spcPct val="115000"/>
              </a:lnSpc>
              <a:spcBef>
                <a:spcPts val="120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a:t>
            </a:r>
            <a:r>
              <a:rPr lang="en" sz="900">
                <a:solidFill>
                  <a:schemeClr val="dk1"/>
                </a:solidFill>
                <a:latin typeface="Times New Roman"/>
                <a:ea typeface="Times New Roman"/>
                <a:cs typeface="Times New Roman"/>
                <a:sym typeface="Times New Roman"/>
              </a:rPr>
              <a:t>      </a:t>
            </a:r>
            <a:r>
              <a:rPr lang="en" sz="1700">
                <a:solidFill>
                  <a:schemeClr val="dk1"/>
                </a:solidFill>
                <a:latin typeface="Times New Roman"/>
                <a:ea typeface="Times New Roman"/>
                <a:cs typeface="Times New Roman"/>
                <a:sym typeface="Times New Roman"/>
              </a:rPr>
              <a:t> Using comprehension in a dictionary, we can shrink the code and improve its readability and make it compact.</a:t>
            </a:r>
            <a:endParaRPr sz="17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The basic syntax of dictionary comprehension is:</a:t>
            </a:r>
            <a:endParaRPr sz="17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output_dictionary = {key:value for (key, value) in list if (condition)}</a:t>
            </a:r>
            <a:endParaRPr sz="1700">
              <a:solidFill>
                <a:schemeClr val="dk1"/>
              </a:solidFill>
              <a:latin typeface="Times New Roman"/>
              <a:ea typeface="Times New Roman"/>
              <a:cs typeface="Times New Roman"/>
              <a:sym typeface="Times New Roman"/>
            </a:endParaRPr>
          </a:p>
          <a:p>
            <a:pPr marL="0" marR="25400" lvl="0" indent="0" algn="l" rtl="0">
              <a:lnSpc>
                <a:spcPct val="156000"/>
              </a:lnSpc>
              <a:spcBef>
                <a:spcPts val="1200"/>
              </a:spcBef>
              <a:spcAft>
                <a:spcPts val="0"/>
              </a:spcAft>
              <a:buClr>
                <a:schemeClr val="dk1"/>
              </a:buClr>
              <a:buSzPts val="1100"/>
              <a:buFont typeface="Arial"/>
              <a:buNone/>
            </a:pPr>
            <a:r>
              <a:rPr lang="en" sz="1600">
                <a:solidFill>
                  <a:srgbClr val="273239"/>
                </a:solidFill>
                <a:highlight>
                  <a:srgbClr val="FFFFFF"/>
                </a:highlight>
                <a:latin typeface="Times New Roman"/>
                <a:ea typeface="Times New Roman"/>
                <a:cs typeface="Times New Roman"/>
                <a:sym typeface="Times New Roman"/>
              </a:rPr>
              <a:t>we have two </a:t>
            </a:r>
            <a:r>
              <a:rPr lang="en" sz="1600" u="sng">
                <a:solidFill>
                  <a:srgbClr val="273239"/>
                </a:solidFill>
                <a:highlight>
                  <a:srgbClr val="FFFFFF"/>
                </a:highlight>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lists </a:t>
            </a:r>
            <a:r>
              <a:rPr lang="en" sz="1600">
                <a:solidFill>
                  <a:srgbClr val="273239"/>
                </a:solidFill>
                <a:highlight>
                  <a:srgbClr val="FFFFFF"/>
                </a:highlight>
                <a:latin typeface="Times New Roman"/>
                <a:ea typeface="Times New Roman"/>
                <a:cs typeface="Times New Roman"/>
                <a:sym typeface="Times New Roman"/>
              </a:rPr>
              <a:t>named keys and value and we are iterating over them with the help of </a:t>
            </a:r>
            <a:r>
              <a:rPr lang="en" sz="1600" u="sng">
                <a:solidFill>
                  <a:srgbClr val="273239"/>
                </a:solidFill>
                <a:highlight>
                  <a:srgbClr val="FFFFFF"/>
                </a:highlight>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zip()</a:t>
            </a:r>
            <a:r>
              <a:rPr lang="en" sz="1600">
                <a:solidFill>
                  <a:srgbClr val="273239"/>
                </a:solidFill>
                <a:highlight>
                  <a:srgbClr val="FFFFFF"/>
                </a:highlight>
                <a:latin typeface="Times New Roman"/>
                <a:ea typeface="Times New Roman"/>
                <a:cs typeface="Times New Roman"/>
                <a:sym typeface="Times New Roman"/>
              </a:rPr>
              <a:t> function.</a:t>
            </a:r>
            <a:endParaRPr sz="17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75"/>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marR="139700" lvl="0" indent="0" algn="l" rtl="0">
              <a:lnSpc>
                <a:spcPct val="120000"/>
              </a:lnSpc>
              <a:spcBef>
                <a:spcPts val="0"/>
              </a:spcBef>
              <a:spcAft>
                <a:spcPts val="0"/>
              </a:spcAft>
              <a:buClr>
                <a:schemeClr val="dk1"/>
              </a:buClr>
              <a:buSzPts val="1100"/>
              <a:buFont typeface="Arial"/>
              <a:buNone/>
            </a:pPr>
            <a:r>
              <a:rPr lang="en" sz="1800">
                <a:solidFill>
                  <a:srgbClr val="008200"/>
                </a:solidFill>
                <a:highlight>
                  <a:srgbClr val="FFFFFF"/>
                </a:highlight>
                <a:latin typeface="Times New Roman"/>
                <a:ea typeface="Times New Roman"/>
                <a:cs typeface="Times New Roman"/>
                <a:sym typeface="Times New Roman"/>
              </a:rPr>
              <a:t># Lists to represent keys and values</a:t>
            </a:r>
            <a:endParaRPr sz="1800">
              <a:solidFill>
                <a:srgbClr val="008200"/>
              </a:solidFill>
              <a:highlight>
                <a:srgbClr val="FFFFFF"/>
              </a:highlight>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highlight>
                  <a:srgbClr val="FFFFFF"/>
                </a:highlight>
                <a:latin typeface="Times New Roman"/>
                <a:ea typeface="Times New Roman"/>
                <a:cs typeface="Times New Roman"/>
                <a:sym typeface="Times New Roman"/>
              </a:rPr>
              <a:t>keys </a:t>
            </a:r>
            <a:r>
              <a:rPr lang="en" sz="1800" b="1">
                <a:solidFill>
                  <a:srgbClr val="006699"/>
                </a:solidFill>
                <a:highlight>
                  <a:srgbClr val="FFFFFF"/>
                </a:highlight>
                <a:latin typeface="Times New Roman"/>
                <a:ea typeface="Times New Roman"/>
                <a:cs typeface="Times New Roman"/>
                <a:sym typeface="Times New Roman"/>
              </a:rPr>
              <a:t>=</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00FF"/>
                </a:solidFill>
                <a:highlight>
                  <a:srgbClr val="FFFFFF"/>
                </a:highlight>
                <a:latin typeface="Times New Roman"/>
                <a:ea typeface="Times New Roman"/>
                <a:cs typeface="Times New Roman"/>
                <a:sym typeface="Times New Roman"/>
              </a:rPr>
              <a:t>'a'</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00FF"/>
                </a:solidFill>
                <a:highlight>
                  <a:srgbClr val="FFFFFF"/>
                </a:highlight>
                <a:latin typeface="Times New Roman"/>
                <a:ea typeface="Times New Roman"/>
                <a:cs typeface="Times New Roman"/>
                <a:sym typeface="Times New Roman"/>
              </a:rPr>
              <a:t>'b'</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00FF"/>
                </a:solidFill>
                <a:highlight>
                  <a:srgbClr val="FFFFFF"/>
                </a:highlight>
                <a:latin typeface="Times New Roman"/>
                <a:ea typeface="Times New Roman"/>
                <a:cs typeface="Times New Roman"/>
                <a:sym typeface="Times New Roman"/>
              </a:rPr>
              <a:t>'c'</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00FF"/>
                </a:solidFill>
                <a:highlight>
                  <a:srgbClr val="FFFFFF"/>
                </a:highlight>
                <a:latin typeface="Times New Roman"/>
                <a:ea typeface="Times New Roman"/>
                <a:cs typeface="Times New Roman"/>
                <a:sym typeface="Times New Roman"/>
              </a:rPr>
              <a:t>'d'</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00FF"/>
                </a:solidFill>
                <a:highlight>
                  <a:srgbClr val="FFFFFF"/>
                </a:highlight>
                <a:latin typeface="Times New Roman"/>
                <a:ea typeface="Times New Roman"/>
                <a:cs typeface="Times New Roman"/>
                <a:sym typeface="Times New Roman"/>
              </a:rPr>
              <a:t>'e'</a:t>
            </a:r>
            <a:r>
              <a:rPr lang="en" sz="1800">
                <a:solidFill>
                  <a:schemeClr val="dk1"/>
                </a:solidFill>
                <a:highlight>
                  <a:srgbClr val="FFFFFF"/>
                </a:highlight>
                <a:latin typeface="Times New Roman"/>
                <a:ea typeface="Times New Roman"/>
                <a:cs typeface="Times New Roman"/>
                <a:sym typeface="Times New Roman"/>
              </a:rPr>
              <a:t>]</a:t>
            </a:r>
            <a:endParaRPr sz="1800">
              <a:solidFill>
                <a:schemeClr val="dk1"/>
              </a:solidFill>
              <a:highlight>
                <a:srgbClr val="FFFFFF"/>
              </a:highlight>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highlight>
                  <a:srgbClr val="FFFFFF"/>
                </a:highlight>
                <a:latin typeface="Times New Roman"/>
                <a:ea typeface="Times New Roman"/>
                <a:cs typeface="Times New Roman"/>
                <a:sym typeface="Times New Roman"/>
              </a:rPr>
              <a:t>values </a:t>
            </a:r>
            <a:r>
              <a:rPr lang="en" sz="1800" b="1">
                <a:solidFill>
                  <a:srgbClr val="006699"/>
                </a:solidFill>
                <a:highlight>
                  <a:srgbClr val="FFFFFF"/>
                </a:highlight>
                <a:latin typeface="Times New Roman"/>
                <a:ea typeface="Times New Roman"/>
                <a:cs typeface="Times New Roman"/>
                <a:sym typeface="Times New Roman"/>
              </a:rPr>
              <a:t>=</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9900"/>
                </a:solidFill>
                <a:highlight>
                  <a:srgbClr val="FFFFFF"/>
                </a:highlight>
                <a:latin typeface="Times New Roman"/>
                <a:ea typeface="Times New Roman"/>
                <a:cs typeface="Times New Roman"/>
                <a:sym typeface="Times New Roman"/>
              </a:rPr>
              <a:t>1</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9900"/>
                </a:solidFill>
                <a:highlight>
                  <a:srgbClr val="FFFFFF"/>
                </a:highlight>
                <a:latin typeface="Times New Roman"/>
                <a:ea typeface="Times New Roman"/>
                <a:cs typeface="Times New Roman"/>
                <a:sym typeface="Times New Roman"/>
              </a:rPr>
              <a:t>2</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9900"/>
                </a:solidFill>
                <a:highlight>
                  <a:srgbClr val="FFFFFF"/>
                </a:highlight>
                <a:latin typeface="Times New Roman"/>
                <a:ea typeface="Times New Roman"/>
                <a:cs typeface="Times New Roman"/>
                <a:sym typeface="Times New Roman"/>
              </a:rPr>
              <a:t>3</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9900"/>
                </a:solidFill>
                <a:highlight>
                  <a:srgbClr val="FFFFFF"/>
                </a:highlight>
                <a:latin typeface="Times New Roman"/>
                <a:ea typeface="Times New Roman"/>
                <a:cs typeface="Times New Roman"/>
                <a:sym typeface="Times New Roman"/>
              </a:rPr>
              <a:t>4</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9900"/>
                </a:solidFill>
                <a:highlight>
                  <a:srgbClr val="FFFFFF"/>
                </a:highlight>
                <a:latin typeface="Times New Roman"/>
                <a:ea typeface="Times New Roman"/>
                <a:cs typeface="Times New Roman"/>
                <a:sym typeface="Times New Roman"/>
              </a:rPr>
              <a:t>5</a:t>
            </a:r>
            <a:r>
              <a:rPr lang="en" sz="1800">
                <a:solidFill>
                  <a:schemeClr val="dk1"/>
                </a:solidFill>
                <a:highlight>
                  <a:srgbClr val="FFFFFF"/>
                </a:highlight>
                <a:latin typeface="Times New Roman"/>
                <a:ea typeface="Times New Roman"/>
                <a:cs typeface="Times New Roman"/>
                <a:sym typeface="Times New Roman"/>
              </a:rPr>
              <a:t>] </a:t>
            </a:r>
            <a:endParaRPr sz="1800">
              <a:solidFill>
                <a:schemeClr val="dk1"/>
              </a:solidFill>
              <a:highlight>
                <a:srgbClr val="FFFFFF"/>
              </a:highlight>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rgbClr val="273239"/>
                </a:solidFill>
                <a:highlight>
                  <a:srgbClr val="FFFFFF"/>
                </a:highlight>
                <a:latin typeface="Times New Roman"/>
                <a:ea typeface="Times New Roman"/>
                <a:cs typeface="Times New Roman"/>
                <a:sym typeface="Times New Roman"/>
              </a:rPr>
              <a:t> </a:t>
            </a:r>
            <a:endParaRPr sz="1800">
              <a:solidFill>
                <a:srgbClr val="273239"/>
              </a:solidFill>
              <a:highlight>
                <a:srgbClr val="FFFFFF"/>
              </a:highlight>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rgbClr val="008200"/>
                </a:solidFill>
                <a:highlight>
                  <a:srgbClr val="FFFFFF"/>
                </a:highlight>
                <a:latin typeface="Times New Roman"/>
                <a:ea typeface="Times New Roman"/>
                <a:cs typeface="Times New Roman"/>
                <a:sym typeface="Times New Roman"/>
              </a:rPr>
              <a:t># but this line shows dict comprehension here </a:t>
            </a:r>
            <a:endParaRPr sz="1800">
              <a:solidFill>
                <a:srgbClr val="008200"/>
              </a:solidFill>
              <a:highlight>
                <a:srgbClr val="FFFFFF"/>
              </a:highlight>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highlight>
                  <a:srgbClr val="FFFFFF"/>
                </a:highlight>
                <a:latin typeface="Times New Roman"/>
                <a:ea typeface="Times New Roman"/>
                <a:cs typeface="Times New Roman"/>
                <a:sym typeface="Times New Roman"/>
              </a:rPr>
              <a:t>myDict </a:t>
            </a:r>
            <a:r>
              <a:rPr lang="en" sz="1800" b="1">
                <a:solidFill>
                  <a:srgbClr val="006699"/>
                </a:solidFill>
                <a:highlight>
                  <a:srgbClr val="FFFFFF"/>
                </a:highlight>
                <a:latin typeface="Times New Roman"/>
                <a:ea typeface="Times New Roman"/>
                <a:cs typeface="Times New Roman"/>
                <a:sym typeface="Times New Roman"/>
              </a:rPr>
              <a:t>=</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 k:v </a:t>
            </a:r>
            <a:r>
              <a:rPr lang="en" sz="1800" b="1">
                <a:solidFill>
                  <a:srgbClr val="006699"/>
                </a:solidFill>
                <a:highlight>
                  <a:srgbClr val="FFFFFF"/>
                </a:highlight>
                <a:latin typeface="Times New Roman"/>
                <a:ea typeface="Times New Roman"/>
                <a:cs typeface="Times New Roman"/>
                <a:sym typeface="Times New Roman"/>
              </a:rPr>
              <a:t>for</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(k,v) </a:t>
            </a:r>
            <a:r>
              <a:rPr lang="en" sz="1800" b="1">
                <a:solidFill>
                  <a:srgbClr val="006699"/>
                </a:solidFill>
                <a:highlight>
                  <a:srgbClr val="FFFFFF"/>
                </a:highlight>
                <a:latin typeface="Times New Roman"/>
                <a:ea typeface="Times New Roman"/>
                <a:cs typeface="Times New Roman"/>
                <a:sym typeface="Times New Roman"/>
              </a:rPr>
              <a:t>in</a:t>
            </a:r>
            <a:r>
              <a:rPr lang="en" sz="1800">
                <a:solidFill>
                  <a:srgbClr val="273239"/>
                </a:solidFill>
                <a:highlight>
                  <a:srgbClr val="FFFFFF"/>
                </a:highlight>
                <a:latin typeface="Times New Roman"/>
                <a:ea typeface="Times New Roman"/>
                <a:cs typeface="Times New Roman"/>
                <a:sym typeface="Times New Roman"/>
              </a:rPr>
              <a:t> </a:t>
            </a:r>
            <a:r>
              <a:rPr lang="en" sz="1800">
                <a:solidFill>
                  <a:srgbClr val="FF1493"/>
                </a:solidFill>
                <a:highlight>
                  <a:srgbClr val="FFFFFF"/>
                </a:highlight>
                <a:latin typeface="Times New Roman"/>
                <a:ea typeface="Times New Roman"/>
                <a:cs typeface="Times New Roman"/>
                <a:sym typeface="Times New Roman"/>
              </a:rPr>
              <a:t>zip</a:t>
            </a:r>
            <a:r>
              <a:rPr lang="en" sz="1800">
                <a:solidFill>
                  <a:schemeClr val="dk1"/>
                </a:solidFill>
                <a:highlight>
                  <a:srgbClr val="FFFFFF"/>
                </a:highlight>
                <a:latin typeface="Times New Roman"/>
                <a:ea typeface="Times New Roman"/>
                <a:cs typeface="Times New Roman"/>
                <a:sym typeface="Times New Roman"/>
              </a:rPr>
              <a:t>(keys, values)} </a:t>
            </a:r>
            <a:endParaRPr sz="1800">
              <a:solidFill>
                <a:schemeClr val="dk1"/>
              </a:solidFill>
              <a:highlight>
                <a:srgbClr val="FFFFFF"/>
              </a:highlight>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rgbClr val="273239"/>
                </a:solidFill>
                <a:highlight>
                  <a:srgbClr val="FFFFFF"/>
                </a:highlight>
                <a:latin typeface="Times New Roman"/>
                <a:ea typeface="Times New Roman"/>
                <a:cs typeface="Times New Roman"/>
                <a:sym typeface="Times New Roman"/>
              </a:rPr>
              <a:t> </a:t>
            </a:r>
            <a:endParaRPr sz="1800">
              <a:solidFill>
                <a:srgbClr val="273239"/>
              </a:solidFill>
              <a:highlight>
                <a:srgbClr val="FFFFFF"/>
              </a:highlight>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rgbClr val="008200"/>
                </a:solidFill>
                <a:highlight>
                  <a:srgbClr val="FFFFFF"/>
                </a:highlight>
                <a:latin typeface="Times New Roman"/>
                <a:ea typeface="Times New Roman"/>
                <a:cs typeface="Times New Roman"/>
                <a:sym typeface="Times New Roman"/>
              </a:rPr>
              <a:t># We can use below too</a:t>
            </a:r>
            <a:endParaRPr sz="1800">
              <a:solidFill>
                <a:srgbClr val="008200"/>
              </a:solidFill>
              <a:highlight>
                <a:srgbClr val="FFFFFF"/>
              </a:highlight>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rgbClr val="008200"/>
                </a:solidFill>
                <a:highlight>
                  <a:srgbClr val="FFFFFF"/>
                </a:highlight>
                <a:latin typeface="Times New Roman"/>
                <a:ea typeface="Times New Roman"/>
                <a:cs typeface="Times New Roman"/>
                <a:sym typeface="Times New Roman"/>
              </a:rPr>
              <a:t># myDict = dict(zip(keys, values)) </a:t>
            </a:r>
            <a:endParaRPr sz="1800">
              <a:solidFill>
                <a:srgbClr val="008200"/>
              </a:solidFill>
              <a:highlight>
                <a:srgbClr val="FFFFFF"/>
              </a:highlight>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rgbClr val="273239"/>
                </a:solidFill>
                <a:highlight>
                  <a:srgbClr val="FFFFFF"/>
                </a:highlight>
                <a:latin typeface="Times New Roman"/>
                <a:ea typeface="Times New Roman"/>
                <a:cs typeface="Times New Roman"/>
                <a:sym typeface="Times New Roman"/>
              </a:rPr>
              <a:t> </a:t>
            </a:r>
            <a:endParaRPr sz="1800">
              <a:solidFill>
                <a:srgbClr val="273239"/>
              </a:solidFill>
              <a:highlight>
                <a:srgbClr val="FFFFFF"/>
              </a:highlight>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rgbClr val="FF1493"/>
                </a:solidFill>
                <a:highlight>
                  <a:srgbClr val="FFFFFF"/>
                </a:highlight>
                <a:latin typeface="Times New Roman"/>
                <a:ea typeface="Times New Roman"/>
                <a:cs typeface="Times New Roman"/>
                <a:sym typeface="Times New Roman"/>
              </a:rPr>
              <a:t>print</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(myDict)</a:t>
            </a:r>
            <a:endParaRPr sz="1800">
              <a:solidFill>
                <a:schemeClr val="dk1"/>
              </a:solidFill>
              <a:highlight>
                <a:srgbClr val="FFFFFF"/>
              </a:highlight>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endParaRPr sz="1800">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highlight>
                  <a:srgbClr val="FFFFFF"/>
                </a:highlight>
                <a:latin typeface="Times New Roman"/>
                <a:ea typeface="Times New Roman"/>
                <a:cs typeface="Times New Roman"/>
                <a:sym typeface="Times New Roman"/>
              </a:rPr>
              <a:t>Output :</a:t>
            </a:r>
            <a:endParaRPr sz="1800">
              <a:solidFill>
                <a:schemeClr val="dk1"/>
              </a:solidFill>
              <a:highlight>
                <a:srgbClr val="FFFFFF"/>
              </a:highlight>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Clr>
                <a:schemeClr val="dk1"/>
              </a:buClr>
              <a:buSzPts val="1100"/>
              <a:buFont typeface="Arial"/>
              <a:buNone/>
            </a:pPr>
            <a:r>
              <a:rPr lang="en" sz="1800">
                <a:solidFill>
                  <a:schemeClr val="dk1"/>
                </a:solidFill>
                <a:highlight>
                  <a:srgbClr val="FFFFFF"/>
                </a:highlight>
                <a:latin typeface="Times New Roman"/>
                <a:ea typeface="Times New Roman"/>
                <a:cs typeface="Times New Roman"/>
                <a:sym typeface="Times New Roman"/>
              </a:rPr>
              <a:t>{'a': 1, 'b': 2, 'c': 3, 'd': 4, 'e': 5}</a:t>
            </a:r>
            <a:endParaRPr sz="1800">
              <a:solidFill>
                <a:schemeClr val="dk1"/>
              </a:solidFill>
              <a:highlight>
                <a:srgbClr val="FFFFFF"/>
              </a:highlight>
              <a:latin typeface="Times New Roman"/>
              <a:ea typeface="Times New Roman"/>
              <a:cs typeface="Times New Roman"/>
              <a:sym typeface="Times New Roman"/>
            </a:endParaRPr>
          </a:p>
          <a:p>
            <a:pPr marL="0" marR="139700" lvl="0" indent="0" algn="l" rtl="0">
              <a:lnSpc>
                <a:spcPct val="120000"/>
              </a:lnSpc>
              <a:spcBef>
                <a:spcPts val="800"/>
              </a:spcBef>
              <a:spcAft>
                <a:spcPts val="0"/>
              </a:spcAft>
              <a:buClr>
                <a:schemeClr val="dk1"/>
              </a:buClr>
              <a:buSzPts val="1100"/>
              <a:buFont typeface="Arial"/>
              <a:buNone/>
            </a:pPr>
            <a:endParaRPr sz="1800">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76"/>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900">
                <a:solidFill>
                  <a:srgbClr val="202124"/>
                </a:solidFill>
                <a:highlight>
                  <a:srgbClr val="FFFFFF"/>
                </a:highlight>
                <a:latin typeface="Times New Roman"/>
                <a:ea typeface="Times New Roman"/>
                <a:cs typeface="Times New Roman"/>
                <a:sym typeface="Times New Roman"/>
              </a:rPr>
              <a:t>The zip() function in Python is </a:t>
            </a:r>
            <a:r>
              <a:rPr lang="en" sz="1900">
                <a:solidFill>
                  <a:srgbClr val="040C28"/>
                </a:solidFill>
                <a:latin typeface="Times New Roman"/>
                <a:ea typeface="Times New Roman"/>
                <a:cs typeface="Times New Roman"/>
                <a:sym typeface="Times New Roman"/>
              </a:rPr>
              <a:t>used to combine two or more iterable dictionaries into a single iterable, where corresponding elements from the input iterable are paired together as tuples</a:t>
            </a:r>
            <a:r>
              <a:rPr lang="en" sz="1900">
                <a:solidFill>
                  <a:srgbClr val="202124"/>
                </a:solidFill>
                <a:highlight>
                  <a:srgbClr val="FFFFFF"/>
                </a:highlight>
                <a:latin typeface="Times New Roman"/>
                <a:ea typeface="Times New Roman"/>
                <a:cs typeface="Times New Roman"/>
                <a:sym typeface="Times New Roman"/>
              </a:rPr>
              <a:t>. When using zip() with dictionaries, it pairs the keys and values of the dictionaries based on their position in the dictionary.</a:t>
            </a:r>
            <a:endParaRPr sz="2300">
              <a:solidFill>
                <a:schemeClr val="dk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77"/>
          <p:cNvSpPr txBox="1">
            <a:spLocks noGrp="1"/>
          </p:cNvSpPr>
          <p:nvPr>
            <p:ph type="subTitle" idx="1"/>
          </p:nvPr>
        </p:nvSpPr>
        <p:spPr>
          <a:xfrm>
            <a:off x="155325" y="129725"/>
            <a:ext cx="8777700" cy="4953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900" b="1">
                <a:solidFill>
                  <a:srgbClr val="273239"/>
                </a:solidFill>
                <a:highlight>
                  <a:srgbClr val="FFFFFF"/>
                </a:highlight>
                <a:latin typeface="Times New Roman"/>
                <a:ea typeface="Times New Roman"/>
                <a:cs typeface="Times New Roman"/>
                <a:sym typeface="Times New Roman"/>
              </a:rPr>
              <a:t>Output :</a:t>
            </a:r>
            <a:endParaRPr sz="1900" b="1">
              <a:solidFill>
                <a:srgbClr val="273239"/>
              </a:solidFill>
              <a:highlight>
                <a:srgbClr val="FFFFFF"/>
              </a:highlight>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Clr>
                <a:schemeClr val="dk1"/>
              </a:buClr>
              <a:buSzPts val="1100"/>
              <a:buFont typeface="Arial"/>
              <a:buNone/>
            </a:pPr>
            <a:r>
              <a:rPr lang="en" sz="1800">
                <a:solidFill>
                  <a:srgbClr val="273239"/>
                </a:solidFill>
                <a:latin typeface="Times New Roman"/>
                <a:ea typeface="Times New Roman"/>
                <a:cs typeface="Times New Roman"/>
                <a:sym typeface="Times New Roman"/>
              </a:rPr>
              <a:t>{'a': 1, 'b': 2, 'c': 3, 'd': 4, 'e': 5}</a:t>
            </a:r>
            <a:endParaRPr sz="1800">
              <a:solidFill>
                <a:srgbClr val="273239"/>
              </a:solidFill>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None/>
            </a:pPr>
            <a:endParaRPr sz="2200">
              <a:solidFill>
                <a:schemeClr val="dk1"/>
              </a:solidFill>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chemeClr val="dk1"/>
                </a:solidFill>
                <a:highlight>
                  <a:srgbClr val="FFFFFF"/>
                </a:highlight>
                <a:latin typeface="Times New Roman"/>
                <a:ea typeface="Times New Roman"/>
                <a:cs typeface="Times New Roman"/>
                <a:sym typeface="Times New Roman"/>
              </a:rPr>
              <a:t>myDict </a:t>
            </a:r>
            <a:r>
              <a:rPr lang="en" sz="1800" b="1">
                <a:solidFill>
                  <a:srgbClr val="006699"/>
                </a:solidFill>
                <a:highlight>
                  <a:srgbClr val="FFFFFF"/>
                </a:highlight>
                <a:latin typeface="Times New Roman"/>
                <a:ea typeface="Times New Roman"/>
                <a:cs typeface="Times New Roman"/>
                <a:sym typeface="Times New Roman"/>
              </a:rPr>
              <a:t>=</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{x: x</a:t>
            </a:r>
            <a:r>
              <a:rPr lang="en" sz="1800" b="1">
                <a:solidFill>
                  <a:srgbClr val="006699"/>
                </a:solidFill>
                <a:highlight>
                  <a:srgbClr val="FFFFFF"/>
                </a:highlight>
                <a:latin typeface="Times New Roman"/>
                <a:ea typeface="Times New Roman"/>
                <a:cs typeface="Times New Roman"/>
                <a:sym typeface="Times New Roman"/>
              </a:rPr>
              <a:t>**</a:t>
            </a:r>
            <a:r>
              <a:rPr lang="en" sz="1800">
                <a:solidFill>
                  <a:srgbClr val="009900"/>
                </a:solidFill>
                <a:highlight>
                  <a:srgbClr val="FFFFFF"/>
                </a:highlight>
                <a:latin typeface="Times New Roman"/>
                <a:ea typeface="Times New Roman"/>
                <a:cs typeface="Times New Roman"/>
                <a:sym typeface="Times New Roman"/>
              </a:rPr>
              <a:t>2</a:t>
            </a:r>
            <a:r>
              <a:rPr lang="en" sz="1800">
                <a:solidFill>
                  <a:srgbClr val="273239"/>
                </a:solidFill>
                <a:highlight>
                  <a:srgbClr val="FFFFFF"/>
                </a:highlight>
                <a:latin typeface="Times New Roman"/>
                <a:ea typeface="Times New Roman"/>
                <a:cs typeface="Times New Roman"/>
                <a:sym typeface="Times New Roman"/>
              </a:rPr>
              <a:t> </a:t>
            </a:r>
            <a:r>
              <a:rPr lang="en" sz="1800" b="1">
                <a:solidFill>
                  <a:srgbClr val="006699"/>
                </a:solidFill>
                <a:highlight>
                  <a:srgbClr val="FFFFFF"/>
                </a:highlight>
                <a:latin typeface="Times New Roman"/>
                <a:ea typeface="Times New Roman"/>
                <a:cs typeface="Times New Roman"/>
                <a:sym typeface="Times New Roman"/>
              </a:rPr>
              <a:t>for</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x </a:t>
            </a:r>
            <a:r>
              <a:rPr lang="en" sz="1800" b="1">
                <a:solidFill>
                  <a:srgbClr val="006699"/>
                </a:solidFill>
                <a:highlight>
                  <a:srgbClr val="FFFFFF"/>
                </a:highlight>
                <a:latin typeface="Times New Roman"/>
                <a:ea typeface="Times New Roman"/>
                <a:cs typeface="Times New Roman"/>
                <a:sym typeface="Times New Roman"/>
              </a:rPr>
              <a:t>in</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9900"/>
                </a:solidFill>
                <a:highlight>
                  <a:srgbClr val="FFFFFF"/>
                </a:highlight>
                <a:latin typeface="Times New Roman"/>
                <a:ea typeface="Times New Roman"/>
                <a:cs typeface="Times New Roman"/>
                <a:sym typeface="Times New Roman"/>
              </a:rPr>
              <a:t>1</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9900"/>
                </a:solidFill>
                <a:highlight>
                  <a:srgbClr val="FFFFFF"/>
                </a:highlight>
                <a:latin typeface="Times New Roman"/>
                <a:ea typeface="Times New Roman"/>
                <a:cs typeface="Times New Roman"/>
                <a:sym typeface="Times New Roman"/>
              </a:rPr>
              <a:t>2</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9900"/>
                </a:solidFill>
                <a:highlight>
                  <a:srgbClr val="FFFFFF"/>
                </a:highlight>
                <a:latin typeface="Times New Roman"/>
                <a:ea typeface="Times New Roman"/>
                <a:cs typeface="Times New Roman"/>
                <a:sym typeface="Times New Roman"/>
              </a:rPr>
              <a:t>3</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9900"/>
                </a:solidFill>
                <a:highlight>
                  <a:srgbClr val="FFFFFF"/>
                </a:highlight>
                <a:latin typeface="Times New Roman"/>
                <a:ea typeface="Times New Roman"/>
                <a:cs typeface="Times New Roman"/>
                <a:sym typeface="Times New Roman"/>
              </a:rPr>
              <a:t>4</a:t>
            </a:r>
            <a:r>
              <a:rPr lang="en" sz="1800">
                <a:solidFill>
                  <a:schemeClr val="dk1"/>
                </a:solidFill>
                <a:highlight>
                  <a:srgbClr val="FFFFFF"/>
                </a:highlight>
                <a:latin typeface="Times New Roman"/>
                <a:ea typeface="Times New Roman"/>
                <a:cs typeface="Times New Roman"/>
                <a:sym typeface="Times New Roman"/>
              </a:rPr>
              <a:t>,</a:t>
            </a:r>
            <a:r>
              <a:rPr lang="en" sz="1800">
                <a:solidFill>
                  <a:srgbClr val="009900"/>
                </a:solidFill>
                <a:highlight>
                  <a:srgbClr val="FFFFFF"/>
                </a:highlight>
                <a:latin typeface="Times New Roman"/>
                <a:ea typeface="Times New Roman"/>
                <a:cs typeface="Times New Roman"/>
                <a:sym typeface="Times New Roman"/>
              </a:rPr>
              <a:t>5</a:t>
            </a:r>
            <a:r>
              <a:rPr lang="en" sz="1800">
                <a:solidFill>
                  <a:schemeClr val="dk1"/>
                </a:solidFill>
                <a:highlight>
                  <a:srgbClr val="FFFFFF"/>
                </a:highlight>
                <a:latin typeface="Times New Roman"/>
                <a:ea typeface="Times New Roman"/>
                <a:cs typeface="Times New Roman"/>
                <a:sym typeface="Times New Roman"/>
              </a:rPr>
              <a:t>]}</a:t>
            </a:r>
            <a:endParaRPr sz="1800">
              <a:solidFill>
                <a:schemeClr val="dk1"/>
              </a:solidFill>
              <a:highlight>
                <a:srgbClr val="FFFFFF"/>
              </a:highlight>
              <a:latin typeface="Times New Roman"/>
              <a:ea typeface="Times New Roman"/>
              <a:cs typeface="Times New Roman"/>
              <a:sym typeface="Times New Roman"/>
            </a:endParaRPr>
          </a:p>
          <a:p>
            <a:pPr marL="0" marR="139700" lvl="0" indent="0" algn="l" rtl="0">
              <a:lnSpc>
                <a:spcPct val="120000"/>
              </a:lnSpc>
              <a:spcBef>
                <a:spcPts val="0"/>
              </a:spcBef>
              <a:spcAft>
                <a:spcPts val="0"/>
              </a:spcAft>
              <a:buClr>
                <a:schemeClr val="dk1"/>
              </a:buClr>
              <a:buSzPts val="1100"/>
              <a:buFont typeface="Arial"/>
              <a:buNone/>
            </a:pPr>
            <a:r>
              <a:rPr lang="en" sz="1800">
                <a:solidFill>
                  <a:srgbClr val="FF1493"/>
                </a:solidFill>
                <a:highlight>
                  <a:srgbClr val="FFFFFF"/>
                </a:highlight>
                <a:latin typeface="Times New Roman"/>
                <a:ea typeface="Times New Roman"/>
                <a:cs typeface="Times New Roman"/>
                <a:sym typeface="Times New Roman"/>
              </a:rPr>
              <a:t>print</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(myDict)</a:t>
            </a:r>
            <a:endParaRPr sz="1800">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2000">
                <a:solidFill>
                  <a:srgbClr val="273239"/>
                </a:solidFill>
                <a:highlight>
                  <a:srgbClr val="FFFFFF"/>
                </a:highlight>
                <a:latin typeface="Times New Roman"/>
                <a:ea typeface="Times New Roman"/>
                <a:cs typeface="Times New Roman"/>
                <a:sym typeface="Times New Roman"/>
              </a:rPr>
              <a:t>Output :</a:t>
            </a:r>
            <a:endParaRPr sz="2000">
              <a:solidFill>
                <a:srgbClr val="273239"/>
              </a:solidFill>
              <a:highlight>
                <a:srgbClr val="FFFFFF"/>
              </a:highlight>
              <a:latin typeface="Times New Roman"/>
              <a:ea typeface="Times New Roman"/>
              <a:cs typeface="Times New Roman"/>
              <a:sym typeface="Times New Roman"/>
            </a:endParaRPr>
          </a:p>
          <a:p>
            <a:pPr marL="190500" marR="190500" lvl="0" indent="0" algn="l" rtl="0">
              <a:lnSpc>
                <a:spcPct val="115000"/>
              </a:lnSpc>
              <a:spcBef>
                <a:spcPts val="800"/>
              </a:spcBef>
              <a:spcAft>
                <a:spcPts val="0"/>
              </a:spcAft>
              <a:buClr>
                <a:schemeClr val="dk1"/>
              </a:buClr>
              <a:buSzPts val="1100"/>
              <a:buFont typeface="Arial"/>
              <a:buNone/>
            </a:pPr>
            <a:r>
              <a:rPr lang="en" sz="1900">
                <a:solidFill>
                  <a:srgbClr val="273239"/>
                </a:solidFill>
                <a:latin typeface="Times New Roman"/>
                <a:ea typeface="Times New Roman"/>
                <a:cs typeface="Times New Roman"/>
                <a:sym typeface="Times New Roman"/>
              </a:rPr>
              <a:t>{1: 1, 2: 4, 3: 9, 4: 16, 5: 25}</a:t>
            </a:r>
            <a:endParaRPr sz="1900">
              <a:solidFill>
                <a:srgbClr val="273239"/>
              </a:solidFill>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None/>
            </a:pP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4217</Words>
  <Application>Microsoft Office PowerPoint</Application>
  <PresentationFormat>On-screen Show (16:9)</PresentationFormat>
  <Paragraphs>646</Paragraphs>
  <Slides>65</Slides>
  <Notes>65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65</vt:i4>
      </vt:variant>
    </vt:vector>
  </HeadingPairs>
  <TitlesOfParts>
    <vt:vector size="73" baseType="lpstr">
      <vt:lpstr>Arial</vt:lpstr>
      <vt:lpstr>Georgia</vt:lpstr>
      <vt:lpstr>Verdana</vt:lpstr>
      <vt:lpstr>Times New Roman</vt:lpstr>
      <vt:lpstr>Nunito</vt:lpstr>
      <vt:lpstr>Roboto</vt:lpstr>
      <vt:lpstr>Courier New</vt:lpstr>
      <vt:lpstr>Simple Light</vt:lpstr>
      <vt:lpstr>       UNIT II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UNIT II</dc:title>
  <cp:lastModifiedBy>F2</cp:lastModifiedBy>
  <cp:revision>1</cp:revision>
  <dcterms:modified xsi:type="dcterms:W3CDTF">2024-01-19T08:57:29Z</dcterms:modified>
</cp:coreProperties>
</file>