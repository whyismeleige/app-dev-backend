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9144000"/>
  <p:notesSz cx="6858000" cy="9144000"/>
  <p:embeddedFontLst>
    <p:embeddedFont>
      <p:font typeface="Gill Sans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2" roundtripDataSignature="AMtx7miWH9Wg+9nHcZfVWaS9LepAuzZxT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GillSans-regular.fntdata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GillSans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6"/>
          <p:cNvSpPr txBox="1"/>
          <p:nvPr>
            <p:ph type="ctrTitle"/>
          </p:nvPr>
        </p:nvSpPr>
        <p:spPr>
          <a:xfrm>
            <a:off x="1432560" y="359898"/>
            <a:ext cx="7406640" cy="14721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6"/>
          <p:cNvSpPr txBox="1"/>
          <p:nvPr>
            <p:ph idx="1" type="subTitle"/>
          </p:nvPr>
        </p:nvSpPr>
        <p:spPr>
          <a:xfrm>
            <a:off x="1432560" y="1850064"/>
            <a:ext cx="740664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80"/>
              <a:buNone/>
              <a:defRPr sz="2600">
                <a:solidFill>
                  <a:srgbClr val="341108"/>
                </a:solidFill>
              </a:defRPr>
            </a:lvl1pPr>
            <a:lvl2pPr lvl="1" algn="ctr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2" name="Google Shape;22;p16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>
            <a:gsLst>
              <a:gs pos="0">
                <a:srgbClr val="D7F6FF">
                  <a:alpha val="94901"/>
                </a:srgbClr>
              </a:gs>
              <a:gs pos="50000">
                <a:srgbClr val="C0E3F0">
                  <a:alpha val="89803"/>
                </a:srgbClr>
              </a:gs>
              <a:gs pos="95000">
                <a:srgbClr val="65C6EA">
                  <a:alpha val="87843"/>
                </a:srgbClr>
              </a:gs>
              <a:gs pos="100000">
                <a:srgbClr val="00BBF1">
                  <a:alpha val="84705"/>
                </a:srgbClr>
              </a:gs>
            </a:gsLst>
            <a:path path="circle">
              <a:fillToRect b="100%" r="100%"/>
            </a:path>
            <a:tileRect l="-100%" t="-100%"/>
          </a:gradFill>
          <a:ln cap="rnd" cmpd="sng" w="9525">
            <a:solidFill>
              <a:srgbClr val="2F8DA4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3" name="Google Shape;23;p16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cap="rnd" cmpd="sng" w="12700">
            <a:solidFill>
              <a:srgbClr val="317F92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7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⚫"/>
              <a:defRPr/>
            </a:lvl1pPr>
            <a:lvl2pPr indent="-3429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7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8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2" name="Google Shape;32;p18"/>
          <p:cNvSpPr txBox="1"/>
          <p:nvPr>
            <p:ph type="title"/>
          </p:nvPr>
        </p:nvSpPr>
        <p:spPr>
          <a:xfrm>
            <a:off x="2578392" y="2600325"/>
            <a:ext cx="6400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000"/>
              <a:buFont typeface="Gill Sans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" type="body"/>
          </p:nvPr>
        </p:nvSpPr>
        <p:spPr>
          <a:xfrm>
            <a:off x="2578392" y="1066800"/>
            <a:ext cx="6400800" cy="1509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34110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34" name="Google Shape;34;p18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7" name="Google Shape;37;p18"/>
          <p:cNvSpPr/>
          <p:nvPr/>
        </p:nvSpPr>
        <p:spPr>
          <a:xfrm>
            <a:off x="2286000" y="0"/>
            <a:ext cx="76200" cy="6858054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550" rotWithShape="0" algn="tl" dir="10800000" dist="38000">
              <a:srgbClr val="6F6A5F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8" name="Google Shape;38;p18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>
            <a:gsLst>
              <a:gs pos="0">
                <a:srgbClr val="D7F6FF">
                  <a:alpha val="94901"/>
                </a:srgbClr>
              </a:gs>
              <a:gs pos="50000">
                <a:srgbClr val="C0E3F0">
                  <a:alpha val="89803"/>
                </a:srgbClr>
              </a:gs>
              <a:gs pos="95000">
                <a:srgbClr val="65C6EA">
                  <a:alpha val="87843"/>
                </a:srgbClr>
              </a:gs>
              <a:gs pos="100000">
                <a:srgbClr val="00BBF1">
                  <a:alpha val="84705"/>
                </a:srgbClr>
              </a:gs>
            </a:gsLst>
            <a:path path="circle">
              <a:fillToRect b="100%" r="100%"/>
            </a:path>
            <a:tileRect l="-100%" t="-100%"/>
          </a:gradFill>
          <a:ln cap="rnd" cmpd="sng" w="9525">
            <a:solidFill>
              <a:srgbClr val="2F8DA4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9" name="Google Shape;39;p1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cap="rnd" cmpd="sng" w="12700">
            <a:solidFill>
              <a:srgbClr val="317F92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1435608" y="274320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1435608" y="1524000"/>
            <a:ext cx="3657600" cy="4663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084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400"/>
              <a:buChar char="◦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5276088" y="1524000"/>
            <a:ext cx="3657600" cy="4663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084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400"/>
              <a:buChar char="◦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44" name="Google Shape;44;p19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9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9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showMasterSp="0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0"/>
          <p:cNvSpPr txBox="1"/>
          <p:nvPr>
            <p:ph type="title"/>
          </p:nvPr>
        </p:nvSpPr>
        <p:spPr>
          <a:xfrm>
            <a:off x="457200" y="5160336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500"/>
              <a:buFont typeface="Gill Sans"/>
              <a:buNone/>
              <a:defRPr b="1" sz="45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" type="body"/>
          </p:nvPr>
        </p:nvSpPr>
        <p:spPr>
          <a:xfrm>
            <a:off x="457200" y="328278"/>
            <a:ext cx="4023360" cy="640080"/>
          </a:xfrm>
          <a:prstGeom prst="rect">
            <a:avLst/>
          </a:prstGeom>
          <a:solidFill>
            <a:schemeClr val="lt1"/>
          </a:solidFill>
          <a:ln cap="flat" cmpd="sng" w="107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520"/>
              <a:buNone/>
              <a:defRPr b="0" sz="19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0" name="Google Shape;50;p20"/>
          <p:cNvSpPr txBox="1"/>
          <p:nvPr>
            <p:ph idx="2" type="body"/>
          </p:nvPr>
        </p:nvSpPr>
        <p:spPr>
          <a:xfrm>
            <a:off x="4663440" y="328278"/>
            <a:ext cx="4023360" cy="640080"/>
          </a:xfrm>
          <a:prstGeom prst="rect">
            <a:avLst/>
          </a:prstGeom>
          <a:solidFill>
            <a:schemeClr val="lt1"/>
          </a:solidFill>
          <a:ln cap="flat" cmpd="sng" w="107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520"/>
              <a:buNone/>
              <a:defRPr b="0" sz="19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3" type="body"/>
          </p:nvPr>
        </p:nvSpPr>
        <p:spPr>
          <a:xfrm>
            <a:off x="457200" y="969336"/>
            <a:ext cx="4023360" cy="4114800"/>
          </a:xfrm>
          <a:prstGeom prst="rect">
            <a:avLst/>
          </a:prstGeom>
          <a:noFill/>
          <a:ln cap="flat" cmpd="sng" w="1077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052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920"/>
              <a:buChar char="⚫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000"/>
              <a:buChar char="◦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4" type="body"/>
          </p:nvPr>
        </p:nvSpPr>
        <p:spPr>
          <a:xfrm>
            <a:off x="4663440" y="969336"/>
            <a:ext cx="4023360" cy="4114800"/>
          </a:xfrm>
          <a:prstGeom prst="rect">
            <a:avLst/>
          </a:prstGeom>
          <a:noFill/>
          <a:ln cap="flat" cmpd="sng" w="1077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052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920"/>
              <a:buChar char="⚫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000"/>
              <a:buChar char="◦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0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0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1"/>
          <p:cNvSpPr txBox="1"/>
          <p:nvPr>
            <p:ph type="title"/>
          </p:nvPr>
        </p:nvSpPr>
        <p:spPr>
          <a:xfrm>
            <a:off x="1435608" y="274320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3" name="Google Shape;63;p22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2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2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66" name="Google Shape;66;p22"/>
          <p:cNvSpPr/>
          <p:nvPr/>
        </p:nvSpPr>
        <p:spPr>
          <a:xfrm>
            <a:off x="1014984" y="-54"/>
            <a:ext cx="73152" cy="6858054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550" rotWithShape="0" algn="tl" dir="10800000" dist="38000">
              <a:srgbClr val="6F6A5F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3"/>
          <p:cNvSpPr txBox="1"/>
          <p:nvPr>
            <p:ph type="title"/>
          </p:nvPr>
        </p:nvSpPr>
        <p:spPr>
          <a:xfrm>
            <a:off x="457200" y="216778"/>
            <a:ext cx="3810000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2200"/>
              <a:buFont typeface="Gill Sans"/>
              <a:buNone/>
              <a:defRPr b="1" sz="22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3"/>
          <p:cNvSpPr txBox="1"/>
          <p:nvPr>
            <p:ph idx="1" type="body"/>
          </p:nvPr>
        </p:nvSpPr>
        <p:spPr>
          <a:xfrm>
            <a:off x="457200" y="1406964"/>
            <a:ext cx="3810000" cy="6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2" type="body"/>
          </p:nvPr>
        </p:nvSpPr>
        <p:spPr>
          <a:xfrm>
            <a:off x="457200" y="2133600"/>
            <a:ext cx="8153400" cy="3992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116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800"/>
              <a:buChar char="◦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>
            <a:off x="5886896" y="1066800"/>
            <a:ext cx="274320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2100"/>
              <a:buFont typeface="Gill Sans"/>
              <a:buNone/>
              <a:defRPr b="1" sz="21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79" name="Google Shape;79;p24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cap="sq" cmpd="sng" w="889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5500" rotWithShape="0" algn="tl" dir="5400000" dist="18500">
              <a:srgbClr val="000000">
                <a:alpha val="34901"/>
              </a:srgbClr>
            </a:outerShdw>
          </a:effectLst>
        </p:spPr>
        <p:txBody>
          <a:bodyPr anchorCtr="0" anchor="t" bIns="45700" lIns="91425" spcFirstLastPara="1" rIns="91425" wrap="square" tIns="274300">
            <a:normAutofit/>
          </a:bodyPr>
          <a:lstStyle/>
          <a:p>
            <a:pPr indent="0" lvl="0" marL="0" marR="0" rtl="0" algn="l">
              <a:lnSpc>
                <a:spcPct val="937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0" name="Google Shape;80;p24"/>
          <p:cNvSpPr/>
          <p:nvPr>
            <p:ph idx="2" type="pic"/>
          </p:nvPr>
        </p:nvSpPr>
        <p:spPr>
          <a:xfrm>
            <a:off x="838200" y="1143003"/>
            <a:ext cx="4419600" cy="3514531"/>
          </a:xfrm>
          <a:prstGeom prst="roundRect">
            <a:avLst>
              <a:gd fmla="val 783" name="adj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1" name="Google Shape;81;p24"/>
          <p:cNvSpPr/>
          <p:nvPr/>
        </p:nvSpPr>
        <p:spPr>
          <a:xfrm rot="-2131329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4705"/>
            </a:srgbClr>
          </a:solidFill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sx="96000" rotWithShape="0" algn="tl" dir="3300000" dist="25400" sy="96000">
              <a:srgbClr val="EAD8B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2" name="Google Shape;82;p24"/>
          <p:cNvSpPr/>
          <p:nvPr/>
        </p:nvSpPr>
        <p:spPr>
          <a:xfrm flipH="1" rot="2103354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4705"/>
            </a:srgbClr>
          </a:solidFill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sx="96000" rotWithShape="0" algn="tl" dir="3300000" dist="25400" sy="96000">
              <a:schemeClr val="lt2">
                <a:alpha val="2000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3" name="Google Shape;83;p24"/>
          <p:cNvSpPr txBox="1"/>
          <p:nvPr>
            <p:ph idx="1" type="body"/>
          </p:nvPr>
        </p:nvSpPr>
        <p:spPr>
          <a:xfrm>
            <a:off x="838200" y="4800600"/>
            <a:ext cx="4419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777777"/>
                </a:solidFill>
              </a:defRPr>
            </a:lvl1pPr>
            <a:lvl2pPr indent="-3048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00"/>
              <a:buChar char="◦"/>
              <a:defRPr sz="1200"/>
            </a:lvl2pPr>
            <a:lvl3pPr indent="-2921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●"/>
              <a:defRPr sz="1000"/>
            </a:lvl3pPr>
            <a:lvl4pPr indent="-28575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Char char="●"/>
              <a:defRPr sz="9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5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5"/>
          <p:cNvSpPr txBox="1"/>
          <p:nvPr>
            <p:ph idx="1" type="body"/>
          </p:nvPr>
        </p:nvSpPr>
        <p:spPr>
          <a:xfrm rot="5400000">
            <a:off x="2784348" y="99060"/>
            <a:ext cx="4800600" cy="7498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⚫"/>
              <a:defRPr/>
            </a:lvl1pPr>
            <a:lvl2pPr indent="-3429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87" name="Google Shape;87;p25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5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5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6"/>
          <p:cNvSpPr txBox="1"/>
          <p:nvPr>
            <p:ph type="title"/>
          </p:nvPr>
        </p:nvSpPr>
        <p:spPr>
          <a:xfrm rot="5400000">
            <a:off x="4846638" y="2286002"/>
            <a:ext cx="5851525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6"/>
          <p:cNvSpPr txBox="1"/>
          <p:nvPr>
            <p:ph idx="1" type="body"/>
          </p:nvPr>
        </p:nvSpPr>
        <p:spPr>
          <a:xfrm rot="5400000">
            <a:off x="998538" y="419103"/>
            <a:ext cx="5851525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⚫"/>
              <a:defRPr/>
            </a:lvl1pPr>
            <a:lvl2pPr indent="-3429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93" name="Google Shape;93;p26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6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6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tile algn="tl" flip="xy" tx="0" sx="90000" ty="0" sy="90000"/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fmla="val 0" name="adj1"/>
              <a:gd fmla="val 5402120" name="adj2"/>
            </a:avLst>
          </a:prstGeom>
          <a:solidFill>
            <a:srgbClr val="FEF9F3">
              <a:alpha val="32941"/>
            </a:srgbClr>
          </a:solidFill>
          <a:ln cap="rnd" cmpd="sng" w="9525">
            <a:solidFill>
              <a:srgbClr val="D1C1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" name="Google Shape;7;p15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cap="rnd" cmpd="sng" w="27300">
            <a:solidFill>
              <a:srgbClr val="FFF5DB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tl" dir="5400000" dist="25400">
              <a:srgbClr val="ADA48C">
                <a:alpha val="8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" name="Google Shape;8;p15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fmla="val 11833" name="adj"/>
            </a:avLst>
          </a:prstGeom>
          <a:gradFill>
            <a:gsLst>
              <a:gs pos="0">
                <a:srgbClr val="FEFBF4">
                  <a:alpha val="69803"/>
                </a:srgbClr>
              </a:gs>
              <a:gs pos="70000">
                <a:srgbClr val="FFFDF8">
                  <a:alpha val="54901"/>
                </a:srgbClr>
              </a:gs>
              <a:gs pos="100000">
                <a:srgbClr val="EDCF8C">
                  <a:alpha val="60000"/>
                </a:srgbClr>
              </a:gs>
            </a:gsLst>
            <a:path path="circle">
              <a:fillToRect b="100%" r="100%"/>
            </a:path>
            <a:tileRect l="-100%" t="-100%"/>
          </a:gradFill>
          <a:ln cap="rnd" cmpd="sng" w="9525">
            <a:solidFill>
              <a:srgbClr val="C5B39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tl" dir="4500000" dist="15000">
              <a:srgbClr val="564E4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" name="Google Shape;9;p15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" name="Google Shape;10;p15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  <a:defRPr b="0" i="0" sz="4300" u="none" cap="none" strike="noStrike">
                <a:solidFill>
                  <a:srgbClr val="56221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5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116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  <a:defRPr b="0" i="0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  <a:defRPr b="0" i="0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2" name="Google Shape;12;p15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5" name="Google Shape;15;p15"/>
          <p:cNvSpPr/>
          <p:nvPr/>
        </p:nvSpPr>
        <p:spPr>
          <a:xfrm>
            <a:off x="1014984" y="-54"/>
            <a:ext cx="73152" cy="6858054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550" rotWithShape="0" algn="tl" dir="10800000" dist="38000">
              <a:srgbClr val="6F6A5F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"/>
          <p:cNvSpPr txBox="1"/>
          <p:nvPr>
            <p:ph type="ctrTitle"/>
          </p:nvPr>
        </p:nvSpPr>
        <p:spPr>
          <a:xfrm>
            <a:off x="1432560" y="359898"/>
            <a:ext cx="7406640" cy="14721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IN"/>
              <a:t>Neo Classical Approaches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IN"/>
              <a:t>Introduction</a:t>
            </a:r>
            <a:endParaRPr/>
          </a:p>
        </p:txBody>
      </p:sp>
      <p:sp>
        <p:nvSpPr>
          <p:cNvPr id="106" name="Google Shape;106;p2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rPr lang="en-IN"/>
              <a:t>	Attempt made in order to solve the problems caused by classical Approaches.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Font typeface="Gill Sans"/>
              <a:buAutoNum type="arabicPeriod"/>
            </a:pPr>
            <a:r>
              <a:rPr lang="en-IN"/>
              <a:t>Human Relations Approach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Font typeface="Gill Sans"/>
              <a:buAutoNum type="arabicPeriod"/>
            </a:pPr>
            <a:r>
              <a:rPr lang="en-IN"/>
              <a:t>Social System Approach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Font typeface="Gill Sans"/>
              <a:buAutoNum type="arabicPeriod"/>
            </a:pPr>
            <a:r>
              <a:rPr lang="en-IN"/>
              <a:t>Decision Theory Approach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Font typeface="Gill Sans"/>
              <a:buAutoNum type="arabicPeriod"/>
            </a:pPr>
            <a:r>
              <a:rPr lang="en-IN"/>
              <a:t>Behavioral Approach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IN"/>
              <a:t>         Human Relations</a:t>
            </a:r>
            <a:endParaRPr/>
          </a:p>
        </p:txBody>
      </p:sp>
      <p:sp>
        <p:nvSpPr>
          <p:cNvPr id="112" name="Google Shape;112;p3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3464" lvl="0" marL="36576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The term ‘human relations’ refers to the interaction of people in all walks of life—in schools, colleges, homes, business, government and so on. </a:t>
            </a:r>
            <a:endParaRPr/>
          </a:p>
          <a:p>
            <a:pPr indent="-283464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But when we talk of ‘human relations in industry’, then, in a wider sense, it signifies the relationship that should exist between the human beings engaged in industry.</a:t>
            </a:r>
            <a:endParaRPr/>
          </a:p>
          <a:p>
            <a:pPr indent="-120903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/>
          <p:cNvSpPr txBox="1"/>
          <p:nvPr>
            <p:ph idx="1" type="body"/>
          </p:nvPr>
        </p:nvSpPr>
        <p:spPr>
          <a:xfrm>
            <a:off x="1435608" y="476672"/>
            <a:ext cx="7498080" cy="5771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3464" lvl="0" marL="36576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A human relation is the relationship between human resources of the organization. </a:t>
            </a:r>
            <a:endParaRPr/>
          </a:p>
          <a:p>
            <a:pPr indent="-283464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It incorporates management-employees, employees-employees relationship. </a:t>
            </a:r>
            <a:endParaRPr/>
          </a:p>
          <a:p>
            <a:pPr indent="-283464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It also consists of relationship between the organization’s human resource &amp; outsiders (such as clients, suppliers). </a:t>
            </a:r>
            <a:endParaRPr/>
          </a:p>
          <a:p>
            <a:pPr indent="-120903" lvl="0" marL="36576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"/>
          <p:cNvSpPr txBox="1"/>
          <p:nvPr>
            <p:ph idx="1" type="body"/>
          </p:nvPr>
        </p:nvSpPr>
        <p:spPr>
          <a:xfrm>
            <a:off x="1331640" y="476672"/>
            <a:ext cx="7498080" cy="5376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Human resource is one of the important assets of an organization. 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Hence, healthy human relations lead to increased productivity and efficiency. 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It also plays crucial role in growth and success of the organization.</a:t>
            </a:r>
            <a:endParaRPr/>
          </a:p>
          <a:p>
            <a:pPr indent="-120903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IN"/>
              <a:t>  Human Relations Approach</a:t>
            </a:r>
            <a:endParaRPr/>
          </a:p>
        </p:txBody>
      </p:sp>
      <p:sp>
        <p:nvSpPr>
          <p:cNvPr id="128" name="Google Shape;128;p6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Based on findings of Hawthrone experiments.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Led by Elton Mayo and Fritz Roethlisberger of the Harvard Business School .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They were conducted at Western Electrical Works in USA, b/w 1924-1932.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100000"/>
              <a:buFont typeface="Gill Sans"/>
              <a:buNone/>
            </a:pPr>
            <a:r>
              <a:rPr lang="en-IN"/>
              <a:t>Four Parts of Hawthorne Studies / Experiments</a:t>
            </a:r>
            <a:endParaRPr/>
          </a:p>
        </p:txBody>
      </p:sp>
      <p:sp>
        <p:nvSpPr>
          <p:cNvPr id="134" name="Google Shape;134;p7"/>
          <p:cNvSpPr txBox="1"/>
          <p:nvPr>
            <p:ph idx="1" type="body"/>
          </p:nvPr>
        </p:nvSpPr>
        <p:spPr>
          <a:xfrm>
            <a:off x="1435608" y="1700808"/>
            <a:ext cx="7498080" cy="4547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Part I - Illumination Experiments (1924-27) 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Part II - Relay Assembly Test Room Study (1927-1929) 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 Part III - Mass Interviewing Programme (1928- 1930) 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Part IV - Bank Wiring Observation Room Experiment (1932)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3600"/>
              <a:buFont typeface="Gill Sans"/>
              <a:buNone/>
            </a:pPr>
            <a:r>
              <a:rPr lang="en-IN" sz="3600"/>
              <a:t>Conclusions of Hawthorne  Experiments</a:t>
            </a:r>
            <a:endParaRPr sz="3600"/>
          </a:p>
        </p:txBody>
      </p:sp>
      <p:sp>
        <p:nvSpPr>
          <p:cNvPr id="140" name="Google Shape;140;p8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8229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rPr lang="en-IN"/>
              <a:t>The conclusions derived from the Hawthorne Studies were as follows :- </a:t>
            </a:r>
            <a:endParaRPr/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  <a:p>
            <a:pPr indent="-514350" lvl="0" marL="59664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AutoNum type="arabicPeriod"/>
            </a:pPr>
            <a:r>
              <a:rPr lang="en-IN"/>
              <a:t>The </a:t>
            </a:r>
            <a:r>
              <a:rPr b="1" lang="en-IN"/>
              <a:t>social and psychological factors </a:t>
            </a:r>
            <a:r>
              <a:rPr lang="en-IN"/>
              <a:t>are responsible for workers' productivity and job satisfaction. </a:t>
            </a:r>
            <a:endParaRPr/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rPr lang="en-IN"/>
              <a:t>Only good physical working conditions are not enough to increase productivity.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IN"/>
              <a:t>Contd..,</a:t>
            </a:r>
            <a:endParaRPr/>
          </a:p>
        </p:txBody>
      </p:sp>
      <p:sp>
        <p:nvSpPr>
          <p:cNvPr id="146" name="Google Shape;146;p9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8229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rPr lang="en-IN"/>
              <a:t>2. The </a:t>
            </a:r>
            <a:r>
              <a:rPr b="1" lang="en-IN"/>
              <a:t>informal relations</a:t>
            </a:r>
            <a:r>
              <a:rPr lang="en-IN"/>
              <a:t> among workers influence the workers' behaviour and performance more than the formal relations in the organisation. </a:t>
            </a:r>
            <a:endParaRPr/>
          </a:p>
          <a:p>
            <a:pPr indent="-120903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rPr lang="en-IN"/>
              <a:t>3. Employees will perform better if they are allowed to </a:t>
            </a:r>
            <a:r>
              <a:rPr b="1" lang="en-IN"/>
              <a:t>participate in decision-making </a:t>
            </a:r>
            <a:r>
              <a:rPr lang="en-IN"/>
              <a:t>affecting their interests.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IN"/>
              <a:t>Contd..,</a:t>
            </a:r>
            <a:endParaRPr/>
          </a:p>
        </p:txBody>
      </p:sp>
      <p:sp>
        <p:nvSpPr>
          <p:cNvPr id="152" name="Google Shape;152;p10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8229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rPr lang="en-IN"/>
              <a:t>4. Employees will also work more efficiently, when they believe that the </a:t>
            </a:r>
            <a:r>
              <a:rPr b="1" lang="en-IN"/>
              <a:t>management is interested in their welfare</a:t>
            </a:r>
            <a:r>
              <a:rPr lang="en-IN"/>
              <a:t>. </a:t>
            </a:r>
            <a:endParaRPr/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rPr lang="en-IN"/>
              <a:t>5. When employees are </a:t>
            </a:r>
            <a:r>
              <a:rPr b="1" lang="en-IN"/>
              <a:t>treated with respect and dignity,</a:t>
            </a:r>
            <a:r>
              <a:rPr lang="en-IN"/>
              <a:t> their performance will improve.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"/>
          <p:cNvSpPr txBox="1"/>
          <p:nvPr>
            <p:ph idx="1" type="body"/>
          </p:nvPr>
        </p:nvSpPr>
        <p:spPr>
          <a:xfrm>
            <a:off x="1435608" y="404664"/>
            <a:ext cx="7498080" cy="58437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8229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rPr lang="en-IN"/>
              <a:t>6. Financial incentives alone cannot increase the performance. </a:t>
            </a:r>
            <a:endParaRPr/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rPr b="1" lang="en-IN"/>
              <a:t>Social and Psychological needs must also be satisfied</a:t>
            </a:r>
            <a:r>
              <a:rPr lang="en-IN"/>
              <a:t> in order to increase productivity.</a:t>
            </a:r>
            <a:endParaRPr/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rPr lang="en-IN"/>
              <a:t>7.</a:t>
            </a:r>
            <a:r>
              <a:rPr b="1" lang="en-IN"/>
              <a:t>Good communication </a:t>
            </a:r>
            <a:r>
              <a:rPr lang="en-IN"/>
              <a:t>between the superiors and subordinates can improve the relations and the productivity of the subordinates.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/>
          <p:nvPr>
            <p:ph idx="1" type="body"/>
          </p:nvPr>
        </p:nvSpPr>
        <p:spPr>
          <a:xfrm>
            <a:off x="1435608" y="620688"/>
            <a:ext cx="7498080" cy="5627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8229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rPr lang="en-IN"/>
              <a:t>8</a:t>
            </a:r>
            <a:r>
              <a:rPr b="1" lang="en-IN"/>
              <a:t>.Special attention</a:t>
            </a:r>
            <a:r>
              <a:rPr lang="en-IN"/>
              <a:t> and freedom to express their views will improve the performance of the workers</a:t>
            </a:r>
            <a:endParaRPr/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3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100000"/>
              <a:buFont typeface="Gill Sans"/>
              <a:buNone/>
            </a:pPr>
            <a:r>
              <a:rPr lang="en-IN"/>
              <a:t>Criticism of Hawthorne Experiments</a:t>
            </a:r>
            <a:endParaRPr/>
          </a:p>
        </p:txBody>
      </p:sp>
      <p:sp>
        <p:nvSpPr>
          <p:cNvPr id="168" name="Google Shape;168;p13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Char char="⚫"/>
            </a:pPr>
            <a:r>
              <a:rPr lang="en-IN"/>
              <a:t>The Hawthorne Experiments are mainly criticised on the following grounds :- </a:t>
            </a:r>
            <a:endParaRPr/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  <a:p>
            <a:pPr indent="-514350" lvl="0" marL="59664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Font typeface="Gill Sans"/>
              <a:buAutoNum type="arabicPeriod"/>
            </a:pPr>
            <a:r>
              <a:rPr lang="en-IN"/>
              <a:t>More Importance to Human Aspects </a:t>
            </a:r>
            <a:endParaRPr/>
          </a:p>
          <a:p>
            <a:pPr indent="-514350" lvl="0" marL="59664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Font typeface="Gill Sans"/>
              <a:buAutoNum type="arabicPeriod"/>
            </a:pPr>
            <a:r>
              <a:rPr lang="en-IN"/>
              <a:t>More Emphasis on Group Decision-making </a:t>
            </a:r>
            <a:endParaRPr/>
          </a:p>
          <a:p>
            <a:pPr indent="-514350" lvl="0" marL="59664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Font typeface="Gill Sans"/>
              <a:buAutoNum type="arabicPeriod"/>
            </a:pPr>
            <a:r>
              <a:rPr lang="en-IN"/>
              <a:t> Over Importance to Freedom of Workers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8429" y="764704"/>
            <a:ext cx="7232692" cy="54836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olstice">
  <a:themeElements>
    <a:clrScheme name="Solstice">
      <a:dk1>
        <a:srgbClr val="000000"/>
      </a:dk1>
      <a:lt1>
        <a:srgbClr val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2023-07-18T15:59:25Z</dcterms:created>
  <dc:creator>Home</dc:creator>
</cp:coreProperties>
</file>