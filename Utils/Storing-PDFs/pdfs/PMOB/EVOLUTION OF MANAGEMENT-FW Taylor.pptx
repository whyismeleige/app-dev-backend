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459C3530-4947-4849-BA2B-E697AA370850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B0AD86C-C130-4E9D-91BC-148449E77051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59C3530-4947-4849-BA2B-E697AA370850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B0AD86C-C130-4E9D-91BC-148449E77051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459C3530-4947-4849-BA2B-E697AA370850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B0AD86C-C130-4E9D-91BC-148449E77051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3530-4947-4849-BA2B-E697AA370850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D86C-C130-4E9D-91BC-148449E77051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3530-4947-4849-BA2B-E697AA370850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D86C-C130-4E9D-91BC-148449E7705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59C3530-4947-4849-BA2B-E697AA370850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B0AD86C-C130-4E9D-91BC-148449E7705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3530-4947-4849-BA2B-E697AA370850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D86C-C130-4E9D-91BC-148449E7705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59C3530-4947-4849-BA2B-E697AA370850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B0AD86C-C130-4E9D-91BC-148449E77051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59C3530-4947-4849-BA2B-E697AA370850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B0AD86C-C130-4E9D-91BC-148449E77051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3530-4947-4849-BA2B-E697AA370850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D86C-C130-4E9D-91BC-148449E7705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C3530-4947-4849-BA2B-E697AA370850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AD86C-C130-4E9D-91BC-148449E7705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59C3530-4947-4849-BA2B-E697AA370850}" type="datetimeFigureOut">
              <a:rPr lang="en-IN" smtClean="0"/>
              <a:t>14-07-2023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B0AD86C-C130-4E9D-91BC-148449E7705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56793"/>
            <a:ext cx="7772400" cy="2043658"/>
          </a:xfrm>
        </p:spPr>
        <p:txBody>
          <a:bodyPr>
            <a:normAutofit/>
          </a:bodyPr>
          <a:lstStyle/>
          <a:p>
            <a:r>
              <a:rPr lang="en-US" dirty="0" smtClean="0"/>
              <a:t>    EVOLUTION </a:t>
            </a:r>
            <a:r>
              <a:rPr lang="en-US" dirty="0"/>
              <a:t>OF MANAGEMENT </a:t>
            </a:r>
            <a:r>
              <a:rPr lang="en-US" dirty="0" smtClean="0"/>
              <a:t>      			THOUGHT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5805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sz="quarter" idx="1"/>
          </p:nvPr>
        </p:nvSpPr>
        <p:spPr>
          <a:xfrm>
            <a:off x="1435608" y="548680"/>
            <a:ext cx="7498080" cy="5699720"/>
          </a:xfrm>
        </p:spPr>
        <p:txBody>
          <a:bodyPr>
            <a:normAutofit/>
          </a:bodyPr>
          <a:lstStyle/>
          <a:p>
            <a:r>
              <a:rPr lang="en-US" dirty="0"/>
              <a:t>Management in some form or the other has been practiced in the various parts of the world since the dawn of civilization. </a:t>
            </a:r>
            <a:endParaRPr lang="en-US" dirty="0" smtClean="0"/>
          </a:p>
          <a:p>
            <a:r>
              <a:rPr lang="en-US" dirty="0" smtClean="0"/>
              <a:t>With </a:t>
            </a:r>
            <a:r>
              <a:rPr lang="en-US" dirty="0"/>
              <a:t>the on set of Industrial Revolution, however, the position underwent a radical change.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structure of industry became extremely complex. At this stage, the development of a formal theory of management became absolutely necessary.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was against this background that the pioneers of modern management thought laid the foundations of modern management theory and practice.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8783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Stages of Management Thought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Evolution of management thought may be divided into four stages:</a:t>
            </a:r>
            <a:endParaRPr lang="en-IN" dirty="0"/>
          </a:p>
          <a:p>
            <a:pPr marL="0" indent="0" algn="just">
              <a:buNone/>
            </a:pPr>
            <a:r>
              <a:rPr lang="en-US" dirty="0" smtClean="0"/>
              <a:t>1</a:t>
            </a:r>
            <a:r>
              <a:rPr lang="en-US" dirty="0"/>
              <a:t>. Pre-scientific management period</a:t>
            </a:r>
            <a:r>
              <a:rPr lang="en-US" dirty="0" smtClean="0"/>
              <a:t>.</a:t>
            </a:r>
            <a:endParaRPr lang="en-IN" dirty="0"/>
          </a:p>
          <a:p>
            <a:pPr marL="0" indent="0" algn="just">
              <a:buNone/>
            </a:pPr>
            <a:r>
              <a:rPr lang="en-US" dirty="0"/>
              <a:t>2. Classical Theory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(a) Scientific Management of Taylor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(b) Administrative Management of </a:t>
            </a:r>
            <a:r>
              <a:rPr lang="en-US" dirty="0" err="1"/>
              <a:t>Fayol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(c) Bureaucratic Model of Max Weber</a:t>
            </a:r>
            <a:endParaRPr lang="en-IN" dirty="0"/>
          </a:p>
          <a:p>
            <a:pPr marL="0" indent="0" algn="just">
              <a:buNone/>
            </a:pPr>
            <a:endParaRPr lang="en-IN" dirty="0" smtClean="0"/>
          </a:p>
          <a:p>
            <a:pPr marL="0" indent="0" algn="just">
              <a:buNone/>
            </a:pPr>
            <a:r>
              <a:rPr lang="en-US" dirty="0" smtClean="0"/>
              <a:t>3</a:t>
            </a:r>
            <a:r>
              <a:rPr lang="en-US" dirty="0"/>
              <a:t>. Neo-classical Theory or </a:t>
            </a:r>
            <a:r>
              <a:rPr lang="en-US" dirty="0" err="1"/>
              <a:t>Behaviour</a:t>
            </a:r>
            <a:r>
              <a:rPr lang="en-US" dirty="0"/>
              <a:t> Approach</a:t>
            </a:r>
            <a:endParaRPr lang="en-IN" dirty="0"/>
          </a:p>
          <a:p>
            <a:pPr marL="0" indent="0" algn="just">
              <a:buNone/>
            </a:pPr>
            <a:r>
              <a:rPr lang="en-US" dirty="0"/>
              <a:t>4. Modern Theory or Systems Approach</a:t>
            </a:r>
            <a:endParaRPr lang="en-IN" dirty="0"/>
          </a:p>
          <a:p>
            <a:pPr algn="just"/>
            <a:endParaRPr lang="en-IN" dirty="0"/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1258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THEORY: 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Prof. Charles Babbage, James Watt Junior and Mathew Robinson </a:t>
            </a:r>
            <a:r>
              <a:rPr lang="en-US" dirty="0" err="1"/>
              <a:t>Boulton</a:t>
            </a:r>
            <a:r>
              <a:rPr lang="en-US" dirty="0"/>
              <a:t>, Robert Owen, Henry Robinson Towne and </a:t>
            </a:r>
            <a:r>
              <a:rPr lang="en-US" dirty="0" err="1"/>
              <a:t>Rowntree</a:t>
            </a:r>
            <a:r>
              <a:rPr lang="en-US" dirty="0"/>
              <a:t> were, no doubt, pioneers of management thought. </a:t>
            </a:r>
            <a:endParaRPr lang="en-US" dirty="0" smtClean="0"/>
          </a:p>
          <a:p>
            <a:r>
              <a:rPr lang="en-US" dirty="0" smtClean="0"/>
              <a:t>But</a:t>
            </a:r>
            <a:r>
              <a:rPr lang="en-US" dirty="0"/>
              <a:t>, the impact of their contributions on the industry as a whole was meager.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real beginning of the science of management did not occur until the last decade of the 19</a:t>
            </a:r>
            <a:r>
              <a:rPr lang="en-US" baseline="30000" dirty="0"/>
              <a:t>th</a:t>
            </a:r>
            <a:r>
              <a:rPr lang="en-US" dirty="0"/>
              <a:t> century.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8386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F.W. Taylor and 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Scientific Management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F.W. Taylor laid the </a:t>
            </a:r>
            <a:r>
              <a:rPr lang="en-IN" b="1" dirty="0"/>
              <a:t>foundation of management as a science</a:t>
            </a:r>
            <a:r>
              <a:rPr lang="en-IN" dirty="0"/>
              <a:t> consisting of fundamental principles</a:t>
            </a:r>
            <a:r>
              <a:rPr lang="en-IN" dirty="0" smtClean="0"/>
              <a:t>.</a:t>
            </a:r>
          </a:p>
          <a:p>
            <a:r>
              <a:rPr lang="en-IN" dirty="0" smtClean="0"/>
              <a:t> </a:t>
            </a:r>
            <a:r>
              <a:rPr lang="en-IN" dirty="0"/>
              <a:t>He was the one who suggested the use of scientific methods of measurement and study for solving managerial problems. </a:t>
            </a:r>
            <a:endParaRPr lang="en-IN" dirty="0" smtClean="0"/>
          </a:p>
          <a:p>
            <a:r>
              <a:rPr lang="en-IN" dirty="0" smtClean="0"/>
              <a:t>Therefore</a:t>
            </a:r>
            <a:r>
              <a:rPr lang="en-IN" dirty="0"/>
              <a:t>, F.W. Taylor is known as</a:t>
            </a:r>
            <a:r>
              <a:rPr lang="en-IN" i="1" dirty="0"/>
              <a:t> the father of scientific management.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6556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IN" b="1" dirty="0"/>
              <a:t>Definition of Scientific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i="1" dirty="0"/>
              <a:t>Scientific management is the art of knowing exactly what you want your men to do and then seeing that they do it in the best and cheapest way.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  <a:r>
              <a:rPr lang="en-IN" i="1" dirty="0" smtClean="0"/>
              <a:t>				 </a:t>
            </a:r>
            <a:r>
              <a:rPr lang="en-IN" i="1" dirty="0"/>
              <a:t>-F.W. Taylor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3183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/>
              <a:t/>
            </a:r>
            <a:br>
              <a:rPr lang="en-IN" b="1" dirty="0"/>
            </a:br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Principles </a:t>
            </a:r>
            <a:r>
              <a:rPr lang="en-IN" b="1" dirty="0"/>
              <a:t>of Scientific Management by Taylor</a:t>
            </a:r>
            <a:r>
              <a:rPr lang="en-IN" b="1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F.W. Taylor or Fredrick Winslow Taylor, also known as the ‘Father of scientific management’ proved with his practical theories that a scientific method can be implemented to management. </a:t>
            </a:r>
            <a:endParaRPr lang="en-IN" dirty="0" smtClean="0"/>
          </a:p>
          <a:p>
            <a:r>
              <a:rPr lang="en-IN" dirty="0" smtClean="0"/>
              <a:t>Taylor </a:t>
            </a:r>
            <a:r>
              <a:rPr lang="en-IN" dirty="0"/>
              <a:t>gave much </a:t>
            </a:r>
            <a:r>
              <a:rPr lang="en-IN" b="1" dirty="0"/>
              <a:t>concentration on the supervisory level of management </a:t>
            </a:r>
            <a:r>
              <a:rPr lang="en-IN" dirty="0"/>
              <a:t>and performance of managers and workers at an operational level.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2294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Let’s discuss in detail the </a:t>
            </a:r>
            <a:r>
              <a:rPr lang="en-IN" dirty="0" smtClean="0"/>
              <a:t>four </a:t>
            </a:r>
            <a:r>
              <a:rPr lang="en-IN" dirty="0"/>
              <a:t>principles of management by F.W Taylor.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</a:p>
          <a:p>
            <a:pPr marL="0" indent="0">
              <a:buNone/>
            </a:pPr>
            <a:r>
              <a:rPr lang="en-IN" b="1" dirty="0"/>
              <a:t>1. Science, not the Rule of </a:t>
            </a:r>
            <a:r>
              <a:rPr lang="en-IN" b="1" dirty="0" smtClean="0"/>
              <a:t>Thumb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2. Harmony, Not </a:t>
            </a:r>
            <a:r>
              <a:rPr lang="en-IN" b="1" dirty="0" smtClean="0"/>
              <a:t>Discord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3</a:t>
            </a:r>
            <a:r>
              <a:rPr lang="en-IN" b="1" dirty="0" smtClean="0"/>
              <a:t>. </a:t>
            </a:r>
            <a:r>
              <a:rPr lang="en-IN" b="1" dirty="0"/>
              <a:t>Cooperation, not </a:t>
            </a:r>
            <a:r>
              <a:rPr lang="en-IN" b="1" dirty="0" smtClean="0"/>
              <a:t>Individualism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4</a:t>
            </a:r>
            <a:r>
              <a:rPr lang="en-IN" b="1" dirty="0" smtClean="0"/>
              <a:t>. </a:t>
            </a:r>
            <a:r>
              <a:rPr lang="en-IN" b="1" dirty="0"/>
              <a:t>Development of Every Person to his Greatest </a:t>
            </a:r>
            <a:r>
              <a:rPr lang="en-IN" b="1" dirty="0" smtClean="0"/>
              <a:t>Efficiency</a:t>
            </a: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4055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Science, not the Rule of Thumb-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This rule focuses on increasing the efficiency of an organisation through scientific analysis of work and not with the ‘Rule of Thumb’ method. </a:t>
            </a:r>
            <a:endParaRPr lang="en-IN" dirty="0" smtClean="0"/>
          </a:p>
          <a:p>
            <a:r>
              <a:rPr lang="en-IN" dirty="0" smtClean="0"/>
              <a:t>Taylor </a:t>
            </a:r>
            <a:r>
              <a:rPr lang="en-IN" dirty="0"/>
              <a:t>believed that even a small activity like loading paper sheets into boxcars can be planned scientifically. </a:t>
            </a:r>
            <a:endParaRPr lang="en-IN" dirty="0" smtClean="0"/>
          </a:p>
          <a:p>
            <a:r>
              <a:rPr lang="en-IN" dirty="0" smtClean="0"/>
              <a:t>This </a:t>
            </a:r>
            <a:r>
              <a:rPr lang="en-IN" dirty="0"/>
              <a:t>will save time and also human energy. </a:t>
            </a:r>
            <a:endParaRPr lang="en-IN" dirty="0" smtClean="0"/>
          </a:p>
          <a:p>
            <a:r>
              <a:rPr lang="en-IN" dirty="0" smtClean="0"/>
              <a:t>This </a:t>
            </a:r>
            <a:r>
              <a:rPr lang="en-IN" dirty="0"/>
              <a:t>decision should be based on scientific analysis and cause and effect relationships rather than ‘Rule of Thumb’ where the decision is taken according to the manager’s personal judgement.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2442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Harmony, Not Discord-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Taylor indicated and believed that the relationship between the workers and management should be cordial and completely harmonious. </a:t>
            </a:r>
            <a:endParaRPr lang="en-IN" dirty="0" smtClean="0"/>
          </a:p>
          <a:p>
            <a:r>
              <a:rPr lang="en-IN" dirty="0" smtClean="0"/>
              <a:t>Difference </a:t>
            </a:r>
            <a:r>
              <a:rPr lang="en-IN" dirty="0"/>
              <a:t>between the two will never be beneficial to either side. </a:t>
            </a:r>
            <a:endParaRPr lang="en-IN" dirty="0" smtClean="0"/>
          </a:p>
          <a:p>
            <a:r>
              <a:rPr lang="en-IN" dirty="0" smtClean="0"/>
              <a:t>Management </a:t>
            </a:r>
            <a:r>
              <a:rPr lang="en-IN" dirty="0"/>
              <a:t>and workers should acknowledge and understand each other’s importance. Taylor also suggested the mental revolution for both management and workers to achieve total harmony.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663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</a:t>
            </a:r>
            <a:r>
              <a:rPr lang="en-IN" b="1" dirty="0" smtClean="0"/>
              <a:t>. </a:t>
            </a:r>
            <a:r>
              <a:rPr lang="en-IN" b="1" dirty="0"/>
              <a:t>Cooperation, not Individualism-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This Principle involves mutual </a:t>
            </a:r>
            <a:r>
              <a:rPr lang="en-IN" dirty="0"/>
              <a:t>collaboration between workers and the management. </a:t>
            </a:r>
            <a:endParaRPr lang="en-IN" dirty="0" smtClean="0"/>
          </a:p>
          <a:p>
            <a:r>
              <a:rPr lang="en-IN" dirty="0" smtClean="0"/>
              <a:t>Managers </a:t>
            </a:r>
            <a:r>
              <a:rPr lang="en-IN" dirty="0"/>
              <a:t>and workers should have mutual cooperation and confidence and a sense of goodwill. </a:t>
            </a:r>
            <a:endParaRPr lang="en-IN" dirty="0" smtClean="0"/>
          </a:p>
          <a:p>
            <a:r>
              <a:rPr lang="en-IN" dirty="0" smtClean="0"/>
              <a:t>The </a:t>
            </a:r>
            <a:r>
              <a:rPr lang="en-IN" dirty="0"/>
              <a:t>main purpose is to substitute internal competition with cooperation.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072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</a:t>
            </a:r>
            <a:r>
              <a:rPr lang="en-IN" b="1" dirty="0" smtClean="0"/>
              <a:t>. </a:t>
            </a:r>
            <a:r>
              <a:rPr lang="en-IN" b="1" dirty="0"/>
              <a:t>Development of Every Person to his Greatest Efficiency-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The effectiveness of a company also relies on the abilities and skills of its employees. </a:t>
            </a:r>
            <a:endParaRPr lang="en-IN" dirty="0" smtClean="0"/>
          </a:p>
          <a:p>
            <a:r>
              <a:rPr lang="en-IN" dirty="0" smtClean="0"/>
              <a:t>Thus</a:t>
            </a:r>
            <a:r>
              <a:rPr lang="en-IN" dirty="0"/>
              <a:t>, implementing training, learning best practices and technology, is the scientific approach to brush up the employee skill. </a:t>
            </a:r>
            <a:endParaRPr lang="en-IN" dirty="0" smtClean="0"/>
          </a:p>
          <a:p>
            <a:r>
              <a:rPr lang="en-IN" dirty="0" smtClean="0"/>
              <a:t>To </a:t>
            </a:r>
            <a:r>
              <a:rPr lang="en-IN" dirty="0"/>
              <a:t>assure that the training is given to the right employee, the right steps should be taken at the time of selection and recruiting candidates based on a scientific selection.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2820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Techniques of Scientific Management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cs typeface="Times New Roman" pitchFamily="18" charset="0"/>
              </a:rPr>
              <a:t>1. Functional </a:t>
            </a:r>
            <a:r>
              <a:rPr lang="en-IN" dirty="0" smtClean="0">
                <a:cs typeface="Times New Roman" pitchFamily="18" charset="0"/>
              </a:rPr>
              <a:t>Foremanship</a:t>
            </a:r>
            <a:endParaRPr lang="en-IN" dirty="0"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dirty="0">
                <a:cs typeface="Times New Roman" pitchFamily="18" charset="0"/>
              </a:rPr>
              <a:t>2. Standardization and Simplification of </a:t>
            </a:r>
            <a:r>
              <a:rPr lang="en-IN" dirty="0" smtClean="0">
                <a:cs typeface="Times New Roman" pitchFamily="18" charset="0"/>
              </a:rPr>
              <a:t>Work</a:t>
            </a:r>
            <a:endParaRPr lang="en-IN" dirty="0"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dirty="0">
                <a:cs typeface="Times New Roman" pitchFamily="18" charset="0"/>
              </a:rPr>
              <a:t>3. </a:t>
            </a:r>
            <a:r>
              <a:rPr lang="en-IN" dirty="0" smtClean="0">
                <a:cs typeface="Times New Roman" pitchFamily="18" charset="0"/>
              </a:rPr>
              <a:t>Work-study</a:t>
            </a:r>
            <a:endParaRPr lang="en-IN" dirty="0"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dirty="0">
                <a:cs typeface="Times New Roman" pitchFamily="18" charset="0"/>
              </a:rPr>
              <a:t>4. Differential Price Wage </a:t>
            </a:r>
            <a:r>
              <a:rPr lang="en-IN" dirty="0" smtClean="0">
                <a:cs typeface="Times New Roman" pitchFamily="18" charset="0"/>
              </a:rPr>
              <a:t>System</a:t>
            </a:r>
            <a:endParaRPr lang="en-IN" dirty="0">
              <a:cs typeface="Times New Roman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1913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Functional Foremanship: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 </a:t>
            </a:r>
            <a:r>
              <a:rPr lang="en-IN" dirty="0" smtClean="0"/>
              <a:t>The </a:t>
            </a:r>
            <a:r>
              <a:rPr lang="en-IN" b="1" dirty="0"/>
              <a:t>work of supervision is divided into several specialized foremen</a:t>
            </a:r>
            <a:r>
              <a:rPr lang="en-IN" dirty="0" smtClean="0"/>
              <a:t>.</a:t>
            </a:r>
          </a:p>
          <a:p>
            <a:r>
              <a:rPr lang="en-IN" dirty="0" smtClean="0"/>
              <a:t> </a:t>
            </a:r>
            <a:r>
              <a:rPr lang="en-IN" dirty="0"/>
              <a:t>Taylor believes that one foreman is not an expert in all aspects of work. Therefore, each worker should be supervised by several foremen. </a:t>
            </a:r>
            <a:endParaRPr lang="en-IN" dirty="0" smtClean="0"/>
          </a:p>
          <a:p>
            <a:r>
              <a:rPr lang="en-IN" dirty="0" smtClean="0"/>
              <a:t>This </a:t>
            </a:r>
            <a:r>
              <a:rPr lang="en-IN" dirty="0"/>
              <a:t>technique will improve the quality of supervision and will also improve the quality of work and efficiency of workers. </a:t>
            </a:r>
            <a:endParaRPr lang="en-IN" dirty="0" smtClean="0"/>
          </a:p>
          <a:p>
            <a:r>
              <a:rPr lang="en-IN" dirty="0" smtClean="0"/>
              <a:t>Taylor </a:t>
            </a:r>
            <a:r>
              <a:rPr lang="en-IN" dirty="0"/>
              <a:t>suggested that 8 specialists out of these 4 will be responsible for looking after the planning work, and the other four will be responsible to supervise and executing of work.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7636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20688"/>
            <a:ext cx="7467600" cy="5853264"/>
          </a:xfrm>
        </p:spPr>
        <p:txBody>
          <a:bodyPr/>
          <a:lstStyle/>
          <a:p>
            <a:r>
              <a:rPr lang="en-IN" b="1" dirty="0"/>
              <a:t>Planning </a:t>
            </a:r>
            <a:r>
              <a:rPr lang="en-IN" b="1" dirty="0" err="1"/>
              <a:t>Incharge</a:t>
            </a:r>
            <a:endParaRPr lang="en-IN" b="1" dirty="0"/>
          </a:p>
          <a:p>
            <a:pPr marL="457200" indent="-457200">
              <a:buFont typeface="+mj-lt"/>
              <a:buAutoNum type="alphaLcPeriod"/>
            </a:pPr>
            <a:r>
              <a:rPr lang="en-IN" sz="2000" dirty="0"/>
              <a:t>Route </a:t>
            </a:r>
            <a:r>
              <a:rPr lang="en-IN" sz="2000" dirty="0" smtClean="0"/>
              <a:t>clerk</a:t>
            </a:r>
          </a:p>
          <a:p>
            <a:pPr marL="457200" indent="-457200">
              <a:buFont typeface="+mj-lt"/>
              <a:buAutoNum type="alphaLcPeriod"/>
            </a:pPr>
            <a:r>
              <a:rPr lang="en-IN" sz="2000" dirty="0"/>
              <a:t>Instruction card </a:t>
            </a:r>
            <a:r>
              <a:rPr lang="en-IN" sz="2000" dirty="0" smtClean="0"/>
              <a:t>clerk</a:t>
            </a:r>
          </a:p>
          <a:p>
            <a:pPr marL="457200" indent="-457200">
              <a:buFont typeface="+mj-lt"/>
              <a:buAutoNum type="alphaLcPeriod"/>
            </a:pPr>
            <a:r>
              <a:rPr lang="en-IN" sz="2000" dirty="0"/>
              <a:t>Time and cost </a:t>
            </a:r>
            <a:r>
              <a:rPr lang="en-IN" sz="2000" dirty="0" smtClean="0"/>
              <a:t>clerk</a:t>
            </a:r>
          </a:p>
          <a:p>
            <a:pPr marL="457200" indent="-457200">
              <a:buFont typeface="+mj-lt"/>
              <a:buAutoNum type="alphaLcPeriod"/>
            </a:pPr>
            <a:r>
              <a:rPr lang="en-IN" sz="2000" dirty="0" smtClean="0"/>
              <a:t>Disciplinarian</a:t>
            </a:r>
          </a:p>
          <a:p>
            <a:pPr marL="457200" indent="-457200">
              <a:buFont typeface="+mj-lt"/>
              <a:buAutoNum type="alphaLcPeriod"/>
            </a:pPr>
            <a:endParaRPr lang="en-US" dirty="0"/>
          </a:p>
          <a:p>
            <a:pPr marL="0" indent="0">
              <a:buNone/>
            </a:pPr>
            <a:r>
              <a:rPr lang="en-IN" b="1" dirty="0" smtClean="0"/>
              <a:t> Production </a:t>
            </a:r>
            <a:r>
              <a:rPr lang="en-IN" b="1" dirty="0" err="1" smtClean="0"/>
              <a:t>Incharge</a:t>
            </a:r>
            <a:endParaRPr lang="en-IN" b="1" dirty="0" smtClean="0"/>
          </a:p>
          <a:p>
            <a:pPr marL="457200" indent="-457200">
              <a:buFont typeface="+mj-lt"/>
              <a:buAutoNum type="alphaLcPeriod"/>
            </a:pPr>
            <a:r>
              <a:rPr lang="en-IN" sz="2000" dirty="0"/>
              <a:t>Speed </a:t>
            </a:r>
            <a:r>
              <a:rPr lang="en-IN" sz="2000" dirty="0" smtClean="0"/>
              <a:t>boss</a:t>
            </a:r>
          </a:p>
          <a:p>
            <a:pPr marL="457200" indent="-457200">
              <a:buFont typeface="+mj-lt"/>
              <a:buAutoNum type="alphaLcPeriod"/>
            </a:pPr>
            <a:r>
              <a:rPr lang="en-IN" sz="2000" dirty="0"/>
              <a:t>Gang </a:t>
            </a:r>
            <a:r>
              <a:rPr lang="en-IN" sz="2000" dirty="0" smtClean="0"/>
              <a:t>boss</a:t>
            </a:r>
          </a:p>
          <a:p>
            <a:pPr marL="457200" indent="-457200">
              <a:buFont typeface="+mj-lt"/>
              <a:buAutoNum type="alphaLcPeriod"/>
            </a:pPr>
            <a:r>
              <a:rPr lang="en-IN" sz="2000" dirty="0"/>
              <a:t>Repair </a:t>
            </a:r>
            <a:r>
              <a:rPr lang="en-IN" sz="2000" dirty="0" smtClean="0"/>
              <a:t>boss</a:t>
            </a:r>
          </a:p>
          <a:p>
            <a:pPr marL="457200" indent="-457200">
              <a:buFont typeface="+mj-lt"/>
              <a:buAutoNum type="alphaLcPeriod"/>
            </a:pPr>
            <a:r>
              <a:rPr lang="en-IN" sz="2000" dirty="0"/>
              <a:t>Inspector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075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2</a:t>
            </a:r>
            <a:r>
              <a:rPr lang="en-IN" b="1" dirty="0"/>
              <a:t>. Standardization and Simplification of Work</a:t>
            </a:r>
            <a:r>
              <a:rPr lang="en-IN" b="1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 smtClean="0"/>
              <a:t>Standardization </a:t>
            </a:r>
            <a:r>
              <a:rPr lang="en-IN" dirty="0" smtClean="0"/>
              <a:t>means </a:t>
            </a:r>
            <a:r>
              <a:rPr lang="en-IN" dirty="0"/>
              <a:t>fixing standards for </a:t>
            </a:r>
            <a:r>
              <a:rPr lang="en-IN" dirty="0" smtClean="0"/>
              <a:t>everything</a:t>
            </a:r>
          </a:p>
          <a:p>
            <a:r>
              <a:rPr lang="en-IN" dirty="0"/>
              <a:t>Standard of work means standard set for material, machine method, and condition of work</a:t>
            </a:r>
            <a:r>
              <a:rPr lang="en-IN" dirty="0" smtClean="0"/>
              <a:t>.</a:t>
            </a:r>
          </a:p>
          <a:p>
            <a:endParaRPr lang="en-US" dirty="0"/>
          </a:p>
          <a:p>
            <a:r>
              <a:rPr lang="en-IN" b="1" dirty="0"/>
              <a:t>Simplification</a:t>
            </a:r>
            <a:r>
              <a:rPr lang="en-IN" dirty="0"/>
              <a:t> refers to eliminating unnecessary varieties, sizes, and grades of the product. </a:t>
            </a:r>
            <a:endParaRPr lang="en-IN" dirty="0" smtClean="0"/>
          </a:p>
          <a:p>
            <a:r>
              <a:rPr lang="en-IN" dirty="0" smtClean="0"/>
              <a:t>It </a:t>
            </a:r>
            <a:r>
              <a:rPr lang="en-IN" dirty="0"/>
              <a:t>results in saving the cost of labour, cost of machines, and tools.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5361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3. Work-study</a:t>
            </a:r>
            <a:r>
              <a:rPr lang="en-IN" b="1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IN" dirty="0"/>
              <a:t> The main objective of the work-study is to </a:t>
            </a:r>
            <a:r>
              <a:rPr lang="en-IN" b="1" dirty="0"/>
              <a:t>improve efficiency </a:t>
            </a:r>
            <a:r>
              <a:rPr lang="en-IN" dirty="0"/>
              <a:t>by making optimum utilization of resources. </a:t>
            </a:r>
            <a:endParaRPr lang="en-IN" dirty="0" smtClean="0"/>
          </a:p>
          <a:p>
            <a:pPr algn="just"/>
            <a:r>
              <a:rPr lang="en-IN" dirty="0"/>
              <a:t> He has divided his work-study into four parts</a:t>
            </a:r>
            <a:r>
              <a:rPr lang="en-IN" dirty="0" smtClean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/>
              <a:t>Method </a:t>
            </a:r>
            <a:r>
              <a:rPr lang="en-IN" sz="2000" dirty="0" smtClean="0"/>
              <a:t>Study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/>
              <a:t>Motion </a:t>
            </a:r>
            <a:r>
              <a:rPr lang="en-IN" sz="2000" dirty="0" smtClean="0"/>
              <a:t>Study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/>
              <a:t>Time </a:t>
            </a:r>
            <a:r>
              <a:rPr lang="en-IN" sz="2000" dirty="0" smtClean="0"/>
              <a:t>Study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/>
              <a:t>Fatigue Study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00606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4. Differential Price Wage System</a:t>
            </a:r>
            <a:r>
              <a:rPr lang="en-IN" b="1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This is a system in which efficient and inefficient workers are paid at different rates</a:t>
            </a:r>
            <a:r>
              <a:rPr lang="en-IN" dirty="0" smtClean="0"/>
              <a:t>.</a:t>
            </a:r>
          </a:p>
          <a:p>
            <a:r>
              <a:rPr lang="en-IN" dirty="0"/>
              <a:t>Higher rates for those workers who produce more than the standard, and a low rate for those workers who do not produce above or equal to the standard.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646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ome\Desktop\pictures\Thank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20688"/>
            <a:ext cx="7070179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8035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49</TotalTime>
  <Words>847</Words>
  <Application>Microsoft Office PowerPoint</Application>
  <PresentationFormat>On-screen Show (4:3)</PresentationFormat>
  <Paragraphs>88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Oriel</vt:lpstr>
      <vt:lpstr>    EVOLUTION OF MANAGEMENT          THOUGHT </vt:lpstr>
      <vt:lpstr>PowerPoint Presentation</vt:lpstr>
      <vt:lpstr>Stages of Management Thought</vt:lpstr>
      <vt:lpstr>CLASSICAL THEORY:  </vt:lpstr>
      <vt:lpstr>F.W. Taylor and  Scientific Management</vt:lpstr>
      <vt:lpstr>Definition of Scientific Management</vt:lpstr>
      <vt:lpstr>   Principles of Scientific Management by Taylor:</vt:lpstr>
      <vt:lpstr>PowerPoint Presentation</vt:lpstr>
      <vt:lpstr>1. Science, not the Rule of Thumb- </vt:lpstr>
      <vt:lpstr>2. Harmony, Not Discord- </vt:lpstr>
      <vt:lpstr>3. Cooperation, not Individualism- </vt:lpstr>
      <vt:lpstr>4. Development of Every Person to his Greatest Efficiency-</vt:lpstr>
      <vt:lpstr>Techniques of Scientific Management </vt:lpstr>
      <vt:lpstr>1. Functional Foremanship: </vt:lpstr>
      <vt:lpstr>PowerPoint Presentation</vt:lpstr>
      <vt:lpstr> 2. Standardization and Simplification of Work:</vt:lpstr>
      <vt:lpstr>3. Work-study:</vt:lpstr>
      <vt:lpstr>4. Differential Price Wage System: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 OF MANAGEMENT          THOUGHT</dc:title>
  <dc:creator>Home</dc:creator>
  <cp:lastModifiedBy>Home</cp:lastModifiedBy>
  <cp:revision>5</cp:revision>
  <dcterms:created xsi:type="dcterms:W3CDTF">2023-07-14T15:53:35Z</dcterms:created>
  <dcterms:modified xsi:type="dcterms:W3CDTF">2023-07-14T16:42:57Z</dcterms:modified>
</cp:coreProperties>
</file>