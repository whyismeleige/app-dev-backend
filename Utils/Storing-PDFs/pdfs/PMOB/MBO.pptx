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63" r:id="rId4"/>
    <p:sldId id="258" r:id="rId5"/>
    <p:sldId id="259" r:id="rId6"/>
    <p:sldId id="260" r:id="rId7"/>
    <p:sldId id="261" r:id="rId8"/>
    <p:sldId id="262"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C12D071A-38CC-4B6D-8AC0-6F69E87F02D3}"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50C87-9D0B-4824-BD8A-07823B008F28}" type="slidenum">
              <a:rPr lang="en-IN" smtClean="0"/>
              <a:t>‹#›</a:t>
            </a:fld>
            <a:endParaRPr lang="en-IN"/>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12D071A-38CC-4B6D-8AC0-6F69E87F02D3}"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50C87-9D0B-4824-BD8A-07823B008F28}" type="slidenum">
              <a:rPr lang="en-IN" smtClean="0"/>
              <a:t>‹#›</a:t>
            </a:fld>
            <a:endParaRPr lang="en-IN"/>
          </a:p>
        </p:txBody>
      </p:sp>
      <p:sp>
        <p:nvSpPr>
          <p:cNvPr id="8" name="Title 7"/>
          <p:cNvSpPr>
            <a:spLocks noGrp="1"/>
          </p:cNvSpPr>
          <p:nvPr>
            <p:ph type="title"/>
          </p:nvPr>
        </p:nvSpPr>
        <p:spPr/>
        <p:txBody>
          <a:bodyPr/>
          <a:lstStyle/>
          <a:p>
            <a:r>
              <a:rPr lang="en-US" smtClean="0"/>
              <a:t>Click to edit Master title style</a:t>
            </a:r>
            <a:endParaRPr lang="en-US"/>
          </a:p>
        </p:txBody>
      </p:sp>
      <p:sp>
        <p:nvSpPr>
          <p:cNvPr id="10" name="Content Placeholder 9"/>
          <p:cNvSpPr>
            <a:spLocks noGrp="1"/>
          </p:cNvSpPr>
          <p:nvPr>
            <p:ph sz="quarter" idx="13"/>
          </p:nvPr>
        </p:nvSpPr>
        <p:spPr>
          <a:xfrm>
            <a:off x="1143000" y="731520"/>
            <a:ext cx="6400800"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smtClean="0"/>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12D071A-38CC-4B6D-8AC0-6F69E87F02D3}"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50C87-9D0B-4824-BD8A-07823B008F28}" type="slidenum">
              <a:rPr lang="en-IN" smtClean="0"/>
              <a:t>‹#›</a:t>
            </a:fld>
            <a:endParaRPr lang="en-IN"/>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12D071A-38CC-4B6D-8AC0-6F69E87F02D3}" type="datetimeFigureOut">
              <a:rPr lang="en-IN" smtClean="0"/>
              <a:t>28-07-2023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550C87-9D0B-4824-BD8A-07823B008F28}" type="slidenum">
              <a:rPr lang="en-IN" smtClean="0"/>
              <a:t>‹#›</a:t>
            </a:fld>
            <a:endParaRPr lang="en-IN"/>
          </a:p>
        </p:txBody>
      </p:sp>
      <p:sp>
        <p:nvSpPr>
          <p:cNvPr id="8" name="Title 7"/>
          <p:cNvSpPr>
            <a:spLocks noGrp="1"/>
          </p:cNvSpPr>
          <p:nvPr>
            <p:ph type="title"/>
          </p:nvPr>
        </p:nvSpPr>
        <p:spPr/>
        <p:txBody>
          <a:bodyPr/>
          <a:lstStyle/>
          <a:p>
            <a:r>
              <a:rPr lang="en-US" smtClean="0"/>
              <a:t>Click to edit Master title style</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en-US" smtClean="0"/>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C12D071A-38CC-4B6D-8AC0-6F69E87F02D3}" type="datetimeFigureOut">
              <a:rPr lang="en-IN" smtClean="0"/>
              <a:t>28-07-2023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550C87-9D0B-4824-BD8A-07823B008F28}" type="slidenum">
              <a:rPr lang="en-IN" smtClean="0"/>
              <a:t>‹#›</a:t>
            </a:fld>
            <a:endParaRPr lang="en-IN"/>
          </a:p>
        </p:txBody>
      </p:sp>
      <p:sp>
        <p:nvSpPr>
          <p:cNvPr id="10" name="Title 9"/>
          <p:cNvSpPr>
            <a:spLocks noGrp="1"/>
          </p:cNvSpPr>
          <p:nvPr>
            <p:ph type="title"/>
          </p:nvPr>
        </p:nvSpPr>
        <p:spPr/>
        <p:txBody>
          <a:body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12D071A-38CC-4B6D-8AC0-6F69E87F02D3}" type="datetimeFigureOut">
              <a:rPr lang="en-IN" smtClean="0"/>
              <a:t>28-07-2023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550C87-9D0B-4824-BD8A-07823B008F28}" type="slidenum">
              <a:rPr lang="en-IN" smtClean="0"/>
              <a:t>‹#›</a:t>
            </a:fld>
            <a:endParaRPr lang="en-IN"/>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2D071A-38CC-4B6D-8AC0-6F69E87F02D3}" type="datetimeFigureOut">
              <a:rPr lang="en-IN" smtClean="0"/>
              <a:t>28-07-2023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550C87-9D0B-4824-BD8A-07823B008F28}" type="slidenum">
              <a:rPr lang="en-IN" smtClean="0"/>
              <a:t>‹#›</a:t>
            </a:fld>
            <a:endParaRPr lang="en-IN"/>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2D071A-38CC-4B6D-8AC0-6F69E87F02D3}" type="datetimeFigureOut">
              <a:rPr lang="en-IN" smtClean="0"/>
              <a:t>28-07-2023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550C87-9D0B-4824-BD8A-07823B008F28}" type="slidenum">
              <a:rPr lang="en-IN" smtClean="0"/>
              <a:t>‹#›</a:t>
            </a:fld>
            <a:endParaRPr lang="en-IN"/>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12D071A-38CC-4B6D-8AC0-6F69E87F02D3}" type="datetimeFigureOut">
              <a:rPr lang="en-IN" smtClean="0"/>
              <a:t>28-07-2023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550C87-9D0B-4824-BD8A-07823B008F28}" type="slidenum">
              <a:rPr lang="en-IN" smtClean="0"/>
              <a:t>‹#›</a:t>
            </a:fld>
            <a:endParaRPr lang="en-IN"/>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smtClean="0"/>
              <a:t>Click to edit Master title style</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12D071A-38CC-4B6D-8AC0-6F69E87F02D3}"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50C87-9D0B-4824-BD8A-07823B008F28}" type="slidenum">
              <a:rPr lang="en-IN" smtClean="0"/>
              <a:t>‹#›</a:t>
            </a:fld>
            <a:endParaRPr lang="en-IN"/>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smtClean="0"/>
              <a:t>Click to edit Master title style</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12D071A-38CC-4B6D-8AC0-6F69E87F02D3}" type="datetimeFigureOut">
              <a:rPr lang="en-IN" smtClean="0"/>
              <a:t>28-07-2023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550C87-9D0B-4824-BD8A-07823B008F28}" type="slidenum">
              <a:rPr lang="en-IN" smtClean="0"/>
              <a:t>‹#›</a:t>
            </a:fld>
            <a:endParaRPr lang="en-IN"/>
          </a:p>
        </p:txBody>
      </p:sp>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C12D071A-38CC-4B6D-8AC0-6F69E87F02D3}" type="datetimeFigureOut">
              <a:rPr lang="en-IN" smtClean="0"/>
              <a:t>28-07-2023</a:t>
            </a:fld>
            <a:endParaRPr lang="en-IN"/>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IN"/>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B2550C87-9D0B-4824-BD8A-07823B008F28}"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par>
    </p:tnLst>
  </p:timing>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endParaRPr lang="en-IN"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548680"/>
            <a:ext cx="7776864" cy="5976663"/>
          </a:xfrm>
          <a:prstGeom prst="rect">
            <a:avLst/>
          </a:prstGeom>
        </p:spPr>
      </p:pic>
    </p:spTree>
    <p:extLst>
      <p:ext uri="{BB962C8B-B14F-4D97-AF65-F5344CB8AC3E}">
        <p14:creationId xmlns:p14="http://schemas.microsoft.com/office/powerpoint/2010/main" val="443625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MBO</a:t>
            </a:r>
            <a:endParaRPr lang="en-IN" dirty="0"/>
          </a:p>
        </p:txBody>
      </p:sp>
      <p:sp>
        <p:nvSpPr>
          <p:cNvPr id="3" name="Content Placeholder 2"/>
          <p:cNvSpPr>
            <a:spLocks noGrp="1"/>
          </p:cNvSpPr>
          <p:nvPr>
            <p:ph sz="quarter" idx="13"/>
          </p:nvPr>
        </p:nvSpPr>
        <p:spPr/>
        <p:txBody>
          <a:bodyPr>
            <a:normAutofit/>
          </a:bodyPr>
          <a:lstStyle/>
          <a:p>
            <a:r>
              <a:rPr lang="en-US" dirty="0"/>
              <a:t>Management guru Peter </a:t>
            </a:r>
            <a:r>
              <a:rPr lang="en-US" dirty="0" err="1"/>
              <a:t>Drucker</a:t>
            </a:r>
            <a:r>
              <a:rPr lang="en-US" dirty="0"/>
              <a:t> </a:t>
            </a:r>
            <a:r>
              <a:rPr lang="en-US" dirty="0" smtClean="0"/>
              <a:t>-</a:t>
            </a:r>
            <a:r>
              <a:rPr lang="en-US" dirty="0"/>
              <a:t>first to introduce Management by Objectives (MBO</a:t>
            </a:r>
            <a:r>
              <a:rPr lang="en-US" dirty="0" smtClean="0"/>
              <a:t>).</a:t>
            </a:r>
          </a:p>
          <a:p>
            <a:r>
              <a:rPr lang="en-US" dirty="0" smtClean="0"/>
              <a:t>An </a:t>
            </a:r>
            <a:r>
              <a:rPr lang="en-US" dirty="0"/>
              <a:t>approach for increasing organizational </a:t>
            </a:r>
            <a:r>
              <a:rPr lang="en-US" dirty="0" smtClean="0"/>
              <a:t>effectiveness.</a:t>
            </a:r>
          </a:p>
          <a:p>
            <a:r>
              <a:rPr lang="en-US" dirty="0" smtClean="0"/>
              <a:t>He observes </a:t>
            </a:r>
            <a:r>
              <a:rPr lang="en-US" dirty="0"/>
              <a:t>that every manager, from the highest to the lowest levels in the </a:t>
            </a:r>
            <a:r>
              <a:rPr lang="en-US" dirty="0" err="1"/>
              <a:t>organisation</a:t>
            </a:r>
            <a:r>
              <a:rPr lang="en-US" dirty="0"/>
              <a:t>, should have clear objectives to pursue. </a:t>
            </a:r>
            <a:endParaRPr lang="en-US" dirty="0" smtClean="0"/>
          </a:p>
        </p:txBody>
      </p:sp>
    </p:spTree>
    <p:extLst>
      <p:ext uri="{BB962C8B-B14F-4D97-AF65-F5344CB8AC3E}">
        <p14:creationId xmlns:p14="http://schemas.microsoft.com/office/powerpoint/2010/main" val="38106895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536" y="404664"/>
            <a:ext cx="8568444" cy="5712296"/>
          </a:xfrm>
          <a:prstGeom prst="rect">
            <a:avLst/>
          </a:prstGeom>
        </p:spPr>
      </p:pic>
    </p:spTree>
    <p:extLst>
      <p:ext uri="{BB962C8B-B14F-4D97-AF65-F5344CB8AC3E}">
        <p14:creationId xmlns:p14="http://schemas.microsoft.com/office/powerpoint/2010/main" val="26377995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p:txBody>
          <a:bodyPr/>
          <a:lstStyle/>
          <a:p>
            <a:r>
              <a:rPr lang="en-US" dirty="0"/>
              <a:t>According to him, </a:t>
            </a:r>
            <a:r>
              <a:rPr lang="en-US" dirty="0" smtClean="0"/>
              <a:t>such a process would enable each manager to have a clear understanding of what the </a:t>
            </a:r>
            <a:r>
              <a:rPr lang="en-US" dirty="0" err="1" smtClean="0"/>
              <a:t>organisation</a:t>
            </a:r>
            <a:r>
              <a:rPr lang="en-US" dirty="0" smtClean="0"/>
              <a:t> expects of him or her and how their individual objectives are integrated with the overall organizational objectives.</a:t>
            </a:r>
            <a:endParaRPr lang="en-IN" dirty="0" smtClean="0"/>
          </a:p>
          <a:p>
            <a:endParaRPr lang="en-IN" dirty="0"/>
          </a:p>
        </p:txBody>
      </p:sp>
    </p:spTree>
    <p:extLst>
      <p:ext uri="{BB962C8B-B14F-4D97-AF65-F5344CB8AC3E}">
        <p14:creationId xmlns:p14="http://schemas.microsoft.com/office/powerpoint/2010/main" val="1658549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836712"/>
            <a:ext cx="8229600" cy="5289451"/>
          </a:xfrm>
        </p:spPr>
        <p:txBody>
          <a:bodyPr/>
          <a:lstStyle/>
          <a:p>
            <a:r>
              <a:rPr lang="en-US" dirty="0"/>
              <a:t>“MBO is a process whereby the superior and subordinate managers of an </a:t>
            </a:r>
            <a:r>
              <a:rPr lang="en-US" dirty="0" err="1"/>
              <a:t>organisation</a:t>
            </a:r>
            <a:r>
              <a:rPr lang="en-US" dirty="0"/>
              <a:t> jointly identify the common goals, define each individual’s major areas of responsibility in terms of the results expected of him, and use these resources as guides for operating the unit and assessing the contribution of each of its members”. </a:t>
            </a:r>
            <a:endParaRPr lang="en-IN" dirty="0"/>
          </a:p>
          <a:p>
            <a:pPr marL="3657600" lvl="8" indent="0">
              <a:buNone/>
            </a:pPr>
            <a:r>
              <a:rPr lang="en-US" sz="3200" b="1" dirty="0" smtClean="0"/>
              <a:t>-George </a:t>
            </a:r>
            <a:r>
              <a:rPr lang="en-US" sz="3200" b="1" dirty="0" err="1"/>
              <a:t>Odiorne</a:t>
            </a:r>
            <a:endParaRPr lang="en-IN" sz="3200" b="1" dirty="0"/>
          </a:p>
        </p:txBody>
      </p:sp>
    </p:spTree>
    <p:extLst>
      <p:ext uri="{BB962C8B-B14F-4D97-AF65-F5344CB8AC3E}">
        <p14:creationId xmlns:p14="http://schemas.microsoft.com/office/powerpoint/2010/main" val="1721101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620688"/>
            <a:ext cx="8229600" cy="5505475"/>
          </a:xfrm>
        </p:spPr>
        <p:txBody>
          <a:bodyPr>
            <a:normAutofit/>
          </a:bodyPr>
          <a:lstStyle/>
          <a:p>
            <a:pPr marL="0" indent="0">
              <a:buNone/>
            </a:pPr>
            <a:r>
              <a:rPr lang="en-US" dirty="0"/>
              <a:t> Different goals are sought to be achieved by the introduction of MBO in organizations. </a:t>
            </a:r>
            <a:endParaRPr lang="en-US" dirty="0" smtClean="0"/>
          </a:p>
          <a:p>
            <a:pPr marL="0" indent="0">
              <a:buNone/>
            </a:pPr>
            <a:r>
              <a:rPr lang="en-US" dirty="0" smtClean="0"/>
              <a:t>MBO</a:t>
            </a:r>
            <a:r>
              <a:rPr lang="en-US" dirty="0"/>
              <a:t>, as a management tool, thus, is so versatile that it is used; </a:t>
            </a:r>
            <a:endParaRPr lang="en-US" dirty="0" smtClean="0"/>
          </a:p>
          <a:p>
            <a:pPr marL="0" indent="0">
              <a:buNone/>
            </a:pPr>
            <a:r>
              <a:rPr lang="en-US" dirty="0" smtClean="0"/>
              <a:t>a</a:t>
            </a:r>
            <a:r>
              <a:rPr lang="en-US" dirty="0"/>
              <a:t>) to integrate the organizational goals with the individual goals;  </a:t>
            </a:r>
            <a:endParaRPr lang="en-US" dirty="0" smtClean="0"/>
          </a:p>
          <a:p>
            <a:pPr marL="0" indent="0">
              <a:buNone/>
            </a:pPr>
            <a:r>
              <a:rPr lang="en-US" dirty="0" smtClean="0"/>
              <a:t>b</a:t>
            </a:r>
            <a:r>
              <a:rPr lang="en-US" dirty="0"/>
              <a:t>) as a motivational technique wherein individuals are driven towards the achievement of goals;  </a:t>
            </a:r>
            <a:endParaRPr lang="en-US" dirty="0" smtClean="0"/>
          </a:p>
          <a:p>
            <a:pPr marL="0" indent="0">
              <a:buNone/>
            </a:pPr>
            <a:r>
              <a:rPr lang="en-US" dirty="0" smtClean="0"/>
              <a:t>c</a:t>
            </a:r>
            <a:r>
              <a:rPr lang="en-US" dirty="0"/>
              <a:t>) to appraise the performance of managers; and  </a:t>
            </a:r>
            <a:endParaRPr lang="en-US" dirty="0" smtClean="0"/>
          </a:p>
          <a:p>
            <a:pPr marL="0" indent="0">
              <a:buNone/>
            </a:pPr>
            <a:r>
              <a:rPr lang="en-US" dirty="0" smtClean="0"/>
              <a:t>d</a:t>
            </a:r>
            <a:r>
              <a:rPr lang="en-US" dirty="0"/>
              <a:t>) to control the activities as they are performed. </a:t>
            </a:r>
            <a:endParaRPr lang="en-IN" dirty="0"/>
          </a:p>
          <a:p>
            <a:endParaRPr lang="en-IN" dirty="0"/>
          </a:p>
        </p:txBody>
      </p:sp>
    </p:spTree>
    <p:extLst>
      <p:ext uri="{BB962C8B-B14F-4D97-AF65-F5344CB8AC3E}">
        <p14:creationId xmlns:p14="http://schemas.microsoft.com/office/powerpoint/2010/main" val="1328454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476672"/>
            <a:ext cx="8229600" cy="5649491"/>
          </a:xfrm>
        </p:spPr>
        <p:txBody>
          <a:bodyPr>
            <a:normAutofit/>
          </a:bodyPr>
          <a:lstStyle/>
          <a:p>
            <a:r>
              <a:rPr lang="en-US" dirty="0" err="1"/>
              <a:t>Drucker</a:t>
            </a:r>
            <a:r>
              <a:rPr lang="en-US" dirty="0"/>
              <a:t> suggests that objectives are to be specified in the key result areas of business (KRAs). </a:t>
            </a:r>
            <a:endParaRPr lang="en-US" dirty="0" smtClean="0"/>
          </a:p>
          <a:p>
            <a:r>
              <a:rPr lang="en-US" dirty="0" smtClean="0"/>
              <a:t>A </a:t>
            </a:r>
            <a:r>
              <a:rPr lang="en-US" dirty="0"/>
              <a:t>key result area may be understood as one the performance of which, directly and vitally affect the success and survival of the business. </a:t>
            </a:r>
            <a:endParaRPr lang="en-US" dirty="0" smtClean="0"/>
          </a:p>
          <a:p>
            <a:r>
              <a:rPr lang="en-US" dirty="0" smtClean="0"/>
              <a:t>Accordingly</a:t>
            </a:r>
            <a:r>
              <a:rPr lang="en-US" dirty="0"/>
              <a:t>, for a manufacturing firm production, productivity, profitability, market share, social responsibilities, employer and employee relations, manager and worker development, development of physical resources, constitute the important key result areas. </a:t>
            </a:r>
            <a:endParaRPr lang="en-IN" dirty="0"/>
          </a:p>
        </p:txBody>
      </p:sp>
    </p:spTree>
    <p:extLst>
      <p:ext uri="{BB962C8B-B14F-4D97-AF65-F5344CB8AC3E}">
        <p14:creationId xmlns:p14="http://schemas.microsoft.com/office/powerpoint/2010/main" val="1929626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457200" y="404664"/>
            <a:ext cx="8229600" cy="5721499"/>
          </a:xfrm>
        </p:spPr>
        <p:txBody>
          <a:bodyPr/>
          <a:lstStyle/>
          <a:p>
            <a:r>
              <a:rPr lang="en-US" dirty="0" smtClean="0"/>
              <a:t>It may be understood that the KRAs vary from business to business. </a:t>
            </a:r>
          </a:p>
          <a:p>
            <a:r>
              <a:rPr lang="en-US" dirty="0" smtClean="0"/>
              <a:t>Since MBO involves a systematic effort towards the achievement of objectives, utmost care has to be exercised in setting the objectives for all the key result areas.</a:t>
            </a:r>
            <a:endParaRPr lang="en-IN" dirty="0" smtClean="0"/>
          </a:p>
          <a:p>
            <a:endParaRPr lang="en-IN" dirty="0" smtClean="0"/>
          </a:p>
          <a:p>
            <a:endParaRPr lang="en-IN" dirty="0"/>
          </a:p>
        </p:txBody>
      </p:sp>
    </p:spTree>
    <p:extLst>
      <p:ext uri="{BB962C8B-B14F-4D97-AF65-F5344CB8AC3E}">
        <p14:creationId xmlns:p14="http://schemas.microsoft.com/office/powerpoint/2010/main" val="1691727189"/>
      </p:ext>
    </p:extLst>
  </p:cSld>
  <p:clrMapOvr>
    <a:masterClrMapping/>
  </p:clrMapOvr>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12</TotalTime>
  <Words>351</Words>
  <Application>Microsoft Office PowerPoint</Application>
  <PresentationFormat>On-screen Show (4:3)</PresentationFormat>
  <Paragraphs>18</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Slipstream</vt:lpstr>
      <vt:lpstr>PowerPoint Presentation</vt:lpstr>
      <vt:lpstr>MBO</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MANAGEMENT BY OBJECTIVES</dc:title>
  <dc:creator>Home</dc:creator>
  <cp:lastModifiedBy>Home</cp:lastModifiedBy>
  <cp:revision>2</cp:revision>
  <dcterms:created xsi:type="dcterms:W3CDTF">2023-07-28T05:38:01Z</dcterms:created>
  <dcterms:modified xsi:type="dcterms:W3CDTF">2023-07-28T05:50:25Z</dcterms:modified>
</cp:coreProperties>
</file>