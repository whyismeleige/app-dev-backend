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 id="269" r:id="rId14"/>
    <p:sldId id="270" r:id="rId15"/>
    <p:sldId id="272" r:id="rId16"/>
    <p:sldId id="275" r:id="rId17"/>
    <p:sldId id="278" r:id="rId18"/>
    <p:sldId id="279" r:id="rId19"/>
    <p:sldId id="277" r:id="rId20"/>
    <p:sldId id="276" r:id="rId21"/>
    <p:sldId id="274" r:id="rId22"/>
    <p:sldId id="280" r:id="rId23"/>
    <p:sldId id="281" r:id="rId24"/>
    <p:sldId id="282" r:id="rId25"/>
    <p:sldId id="283" r:id="rId26"/>
    <p:sldId id="284" r:id="rId27"/>
    <p:sldId id="285" r:id="rId28"/>
    <p:sldId id="286" r:id="rId29"/>
    <p:sldId id="287" r:id="rId30"/>
    <p:sldId id="288" r:id="rId31"/>
    <p:sldId id="289"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94B37383-F65E-45BB-B791-06DAAD5D7DC7}" type="datetimeFigureOut">
              <a:rPr lang="en-IN" smtClean="0"/>
              <a:t>20-07-2023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563D0A-4B41-42E2-A4AE-017F0BA03A25}"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4B37383-F65E-45BB-B791-06DAAD5D7DC7}" type="datetimeFigureOut">
              <a:rPr lang="en-IN" smtClean="0"/>
              <a:t>20-07-2023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563D0A-4B41-42E2-A4AE-017F0BA03A25}"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4B37383-F65E-45BB-B791-06DAAD5D7DC7}" type="datetimeFigureOut">
              <a:rPr lang="en-IN" smtClean="0"/>
              <a:t>20-07-2023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563D0A-4B41-42E2-A4AE-017F0BA03A25}"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4B37383-F65E-45BB-B791-06DAAD5D7DC7}" type="datetimeFigureOut">
              <a:rPr lang="en-IN" smtClean="0"/>
              <a:t>20-07-2023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2563D0A-4B41-42E2-A4AE-017F0BA03A25}"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4B37383-F65E-45BB-B791-06DAAD5D7DC7}" type="datetimeFigureOut">
              <a:rPr lang="en-IN" smtClean="0"/>
              <a:t>20-07-2023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2563D0A-4B41-42E2-A4AE-017F0BA03A25}"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4B37383-F65E-45BB-B791-06DAAD5D7DC7}" type="datetimeFigureOut">
              <a:rPr lang="en-IN" smtClean="0"/>
              <a:t>20-07-2023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2563D0A-4B41-42E2-A4AE-017F0BA03A25}"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B37383-F65E-45BB-B791-06DAAD5D7DC7}" type="datetimeFigureOut">
              <a:rPr lang="en-IN" smtClean="0"/>
              <a:t>20-07-2023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2563D0A-4B41-42E2-A4AE-017F0BA03A25}"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smtClean="0"/>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4B37383-F65E-45BB-B791-06DAAD5D7DC7}" type="datetimeFigureOut">
              <a:rPr lang="en-IN" smtClean="0"/>
              <a:t>20-07-2023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2563D0A-4B41-42E2-A4AE-017F0BA03A25}" type="slidenum">
              <a:rPr lang="en-IN" smtClean="0"/>
              <a:t>‹#›</a:t>
            </a:fld>
            <a:endParaRPr lang="en-IN"/>
          </a:p>
        </p:txBody>
      </p:sp>
      <p:sp>
        <p:nvSpPr>
          <p:cNvPr id="9" name="Content Placeholder 8"/>
          <p:cNvSpPr>
            <a:spLocks noGrp="1"/>
          </p:cNvSpPr>
          <p:nvPr>
            <p:ph sz="quarter" idx="13"/>
          </p:nvPr>
        </p:nvSpPr>
        <p:spPr>
          <a:xfrm>
            <a:off x="304800" y="381000"/>
            <a:ext cx="7772400" cy="494284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smtClean="0"/>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7"/>
          <p:cNvSpPr>
            <a:spLocks noGrp="1"/>
          </p:cNvSpPr>
          <p:nvPr>
            <p:ph type="dt" sz="half" idx="10"/>
          </p:nvPr>
        </p:nvSpPr>
        <p:spPr/>
        <p:txBody>
          <a:bodyPr/>
          <a:lstStyle/>
          <a:p>
            <a:fld id="{94B37383-F65E-45BB-B791-06DAAD5D7DC7}" type="datetimeFigureOut">
              <a:rPr lang="en-IN" smtClean="0"/>
              <a:t>20-07-2023</a:t>
            </a:fld>
            <a:endParaRPr lang="en-IN"/>
          </a:p>
        </p:txBody>
      </p:sp>
      <p:sp>
        <p:nvSpPr>
          <p:cNvPr id="9" name="Slide Number Placeholder 8"/>
          <p:cNvSpPr>
            <a:spLocks noGrp="1"/>
          </p:cNvSpPr>
          <p:nvPr>
            <p:ph type="sldNum" sz="quarter" idx="11"/>
          </p:nvPr>
        </p:nvSpPr>
        <p:spPr/>
        <p:txBody>
          <a:bodyPr/>
          <a:lstStyle/>
          <a:p>
            <a:fld id="{52563D0A-4B41-42E2-A4AE-017F0BA03A25}" type="slidenum">
              <a:rPr lang="en-IN" smtClean="0"/>
              <a:t>‹#›</a:t>
            </a:fld>
            <a:endParaRPr lang="en-IN"/>
          </a:p>
        </p:txBody>
      </p:sp>
      <p:sp>
        <p:nvSpPr>
          <p:cNvPr id="10" name="Footer Placeholder 9"/>
          <p:cNvSpPr>
            <a:spLocks noGrp="1"/>
          </p:cNvSpPr>
          <p:nvPr>
            <p:ph type="ftr" sz="quarter" idx="12"/>
          </p:nvPr>
        </p:nvSpPr>
        <p:spPr/>
        <p:txBody>
          <a:bodyPr/>
          <a:lstStyle/>
          <a:p>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4B37383-F65E-45BB-B791-06DAAD5D7DC7}" type="datetimeFigureOut">
              <a:rPr lang="en-IN" smtClean="0"/>
              <a:t>20-07-2023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563D0A-4B41-42E2-A4AE-017F0BA03A25}"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4B37383-F65E-45BB-B791-06DAAD5D7DC7}" type="datetimeFigureOut">
              <a:rPr lang="en-IN" smtClean="0"/>
              <a:t>20-07-2023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563D0A-4B41-42E2-A4AE-017F0BA03A25}"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52563D0A-4B41-42E2-A4AE-017F0BA03A25}" type="slidenum">
              <a:rPr lang="en-IN" smtClean="0"/>
              <a:t>‹#›</a:t>
            </a:fld>
            <a:endParaRPr lang="en-IN"/>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n-IN"/>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94B37383-F65E-45BB-B791-06DAAD5D7DC7}" type="datetimeFigureOut">
              <a:rPr lang="en-IN" smtClean="0"/>
              <a:t>20-07-2023</a:t>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CONTEMPORARY/</a:t>
            </a:r>
            <a:br>
              <a:rPr lang="en-IN" dirty="0" smtClean="0"/>
            </a:br>
            <a:r>
              <a:rPr lang="en-US" dirty="0" smtClean="0"/>
              <a:t>MODERN </a:t>
            </a:r>
            <a:r>
              <a:rPr lang="en-US" dirty="0"/>
              <a:t>MANAGEMENT</a:t>
            </a:r>
            <a:endParaRPr lang="en-IN" dirty="0"/>
          </a:p>
        </p:txBody>
      </p:sp>
    </p:spTree>
    <p:extLst>
      <p:ext uri="{BB962C8B-B14F-4D97-AF65-F5344CB8AC3E}">
        <p14:creationId xmlns:p14="http://schemas.microsoft.com/office/powerpoint/2010/main" val="38380244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a:t>
            </a:r>
            <a:r>
              <a:rPr lang="en-US" dirty="0" smtClean="0"/>
              <a:t>NTRODUCTION</a:t>
            </a:r>
            <a:endParaRPr lang="en-IN" dirty="0"/>
          </a:p>
        </p:txBody>
      </p:sp>
      <p:sp>
        <p:nvSpPr>
          <p:cNvPr id="3" name="Content Placeholder 2"/>
          <p:cNvSpPr>
            <a:spLocks noGrp="1"/>
          </p:cNvSpPr>
          <p:nvPr>
            <p:ph idx="1"/>
          </p:nvPr>
        </p:nvSpPr>
        <p:spPr/>
        <p:txBody>
          <a:bodyPr>
            <a:normAutofit/>
          </a:bodyPr>
          <a:lstStyle/>
          <a:p>
            <a:r>
              <a:rPr lang="en-IN" dirty="0"/>
              <a:t>Contemporary or Modern Management Theory began with the work of Peter </a:t>
            </a:r>
            <a:r>
              <a:rPr lang="en-IN" dirty="0" err="1"/>
              <a:t>Drucker</a:t>
            </a:r>
            <a:r>
              <a:rPr lang="en-IN" dirty="0"/>
              <a:t>. </a:t>
            </a:r>
            <a:endParaRPr lang="en-IN" dirty="0" smtClean="0"/>
          </a:p>
          <a:p>
            <a:r>
              <a:rPr lang="en-IN" dirty="0" smtClean="0"/>
              <a:t>He </a:t>
            </a:r>
            <a:r>
              <a:rPr lang="en-IN" dirty="0"/>
              <a:t>proposed the concept of Management by Objective</a:t>
            </a:r>
            <a:r>
              <a:rPr lang="en-IN" dirty="0" smtClean="0"/>
              <a:t>.</a:t>
            </a:r>
          </a:p>
          <a:p>
            <a:r>
              <a:rPr lang="en-IN" dirty="0" smtClean="0"/>
              <a:t> </a:t>
            </a:r>
            <a:r>
              <a:rPr lang="en-IN" dirty="0"/>
              <a:t>His work was a departure from the classical and </a:t>
            </a:r>
            <a:r>
              <a:rPr lang="en-IN" dirty="0" smtClean="0"/>
              <a:t>behavioural</a:t>
            </a:r>
            <a:r>
              <a:rPr lang="en-IN" dirty="0"/>
              <a:t> or human relations approaches of the past. </a:t>
            </a:r>
            <a:endParaRPr lang="en-IN" dirty="0" smtClean="0"/>
          </a:p>
          <a:p>
            <a:endParaRPr lang="en-US" dirty="0" smtClean="0"/>
          </a:p>
          <a:p>
            <a:pPr marL="0" indent="0">
              <a:buNone/>
            </a:pPr>
            <a:endParaRPr lang="en-IN" dirty="0"/>
          </a:p>
        </p:txBody>
      </p:sp>
    </p:spTree>
    <p:extLst>
      <p:ext uri="{BB962C8B-B14F-4D97-AF65-F5344CB8AC3E}">
        <p14:creationId xmlns:p14="http://schemas.microsoft.com/office/powerpoint/2010/main" val="30916286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6712"/>
            <a:ext cx="8229600" cy="5289451"/>
          </a:xfrm>
        </p:spPr>
        <p:txBody>
          <a:bodyPr/>
          <a:lstStyle/>
          <a:p>
            <a:r>
              <a:rPr lang="en-US" dirty="0" smtClean="0"/>
              <a:t>Based on recent trends, such as globalization, McKinsey’s 7-s Approach, excellence models,</a:t>
            </a:r>
            <a:r>
              <a:rPr lang="en-IN" dirty="0" smtClean="0"/>
              <a:t>  productivity  and quality issues.</a:t>
            </a:r>
            <a:endParaRPr lang="en-US" dirty="0" smtClean="0"/>
          </a:p>
        </p:txBody>
      </p:sp>
    </p:spTree>
    <p:extLst>
      <p:ext uri="{BB962C8B-B14F-4D97-AF65-F5344CB8AC3E}">
        <p14:creationId xmlns:p14="http://schemas.microsoft.com/office/powerpoint/2010/main" val="2026092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Types of modern </a:t>
            </a:r>
            <a:r>
              <a:rPr lang="en-IN" dirty="0" smtClean="0"/>
              <a:t>management theories</a:t>
            </a:r>
            <a:endParaRPr lang="en-IN" dirty="0"/>
          </a:p>
        </p:txBody>
      </p:sp>
      <p:sp>
        <p:nvSpPr>
          <p:cNvPr id="3" name="Content Placeholder 2"/>
          <p:cNvSpPr>
            <a:spLocks noGrp="1"/>
          </p:cNvSpPr>
          <p:nvPr>
            <p:ph idx="1"/>
          </p:nvPr>
        </p:nvSpPr>
        <p:spPr/>
        <p:txBody>
          <a:bodyPr/>
          <a:lstStyle/>
          <a:p>
            <a:pPr marL="514350" indent="-514350">
              <a:buFont typeface="+mj-lt"/>
              <a:buAutoNum type="arabicPeriod"/>
            </a:pPr>
            <a:r>
              <a:rPr lang="en-IN" dirty="0"/>
              <a:t>Quantitative approach</a:t>
            </a:r>
          </a:p>
          <a:p>
            <a:pPr marL="514350" indent="-514350">
              <a:buFont typeface="+mj-lt"/>
              <a:buAutoNum type="arabicPeriod"/>
            </a:pPr>
            <a:r>
              <a:rPr lang="en-IN" dirty="0" smtClean="0"/>
              <a:t>Systems approach</a:t>
            </a:r>
          </a:p>
          <a:p>
            <a:pPr marL="514350" indent="-514350">
              <a:buFont typeface="+mj-lt"/>
              <a:buAutoNum type="arabicPeriod"/>
            </a:pPr>
            <a:r>
              <a:rPr lang="en-IN" dirty="0" smtClean="0"/>
              <a:t>Contingency approach</a:t>
            </a:r>
            <a:endParaRPr lang="en-IN" dirty="0"/>
          </a:p>
          <a:p>
            <a:pPr marL="514350" indent="-514350">
              <a:buFont typeface="+mj-lt"/>
              <a:buAutoNum type="arabicPeriod"/>
            </a:pPr>
            <a:endParaRPr lang="en-IN" dirty="0"/>
          </a:p>
        </p:txBody>
      </p:sp>
    </p:spTree>
    <p:extLst>
      <p:ext uri="{BB962C8B-B14F-4D97-AF65-F5344CB8AC3E}">
        <p14:creationId xmlns:p14="http://schemas.microsoft.com/office/powerpoint/2010/main" val="12037053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1.Systems </a:t>
            </a:r>
            <a:r>
              <a:rPr lang="en-IN" dirty="0" smtClean="0"/>
              <a:t>approach</a:t>
            </a:r>
            <a:endParaRPr lang="en-IN" dirty="0"/>
          </a:p>
        </p:txBody>
      </p:sp>
      <p:sp>
        <p:nvSpPr>
          <p:cNvPr id="3" name="Content Placeholder 2"/>
          <p:cNvSpPr>
            <a:spLocks noGrp="1"/>
          </p:cNvSpPr>
          <p:nvPr>
            <p:ph idx="1"/>
          </p:nvPr>
        </p:nvSpPr>
        <p:spPr/>
        <p:txBody>
          <a:bodyPr/>
          <a:lstStyle/>
          <a:p>
            <a:r>
              <a:rPr lang="en-US" b="1" i="1" dirty="0"/>
              <a:t>Meaning of "System": </a:t>
            </a:r>
            <a:r>
              <a:rPr lang="en-US" dirty="0"/>
              <a:t>The word system is derived from the Greek word meaning to </a:t>
            </a:r>
            <a:r>
              <a:rPr lang="en-US" b="1" dirty="0"/>
              <a:t>bring together or to combine</a:t>
            </a:r>
            <a:r>
              <a:rPr lang="en-US" dirty="0"/>
              <a:t>. </a:t>
            </a:r>
            <a:endParaRPr lang="en-US" dirty="0" smtClean="0"/>
          </a:p>
          <a:p>
            <a:r>
              <a:rPr lang="en-US" dirty="0" smtClean="0"/>
              <a:t>A </a:t>
            </a:r>
            <a:r>
              <a:rPr lang="en-US" dirty="0"/>
              <a:t>system is a set of interconnected </a:t>
            </a:r>
            <a:r>
              <a:rPr lang="en-US" b="1" dirty="0"/>
              <a:t>and inter-related elements</a:t>
            </a:r>
            <a:r>
              <a:rPr lang="en-US" dirty="0"/>
              <a:t> or component parts to achieve certain goals.</a:t>
            </a:r>
            <a:endParaRPr lang="en-IN" dirty="0"/>
          </a:p>
        </p:txBody>
      </p:sp>
    </p:spTree>
    <p:extLst>
      <p:ext uri="{BB962C8B-B14F-4D97-AF65-F5344CB8AC3E}">
        <p14:creationId xmlns:p14="http://schemas.microsoft.com/office/powerpoint/2010/main" val="10925534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92696"/>
            <a:ext cx="8229600" cy="5433467"/>
          </a:xfrm>
        </p:spPr>
        <p:txBody>
          <a:bodyPr>
            <a:normAutofit/>
          </a:bodyPr>
          <a:lstStyle/>
          <a:p>
            <a:r>
              <a:rPr lang="en-IN" dirty="0"/>
              <a:t> An organization is also a system with parts such as employees, assets, products, resources, and information that form a complex system. </a:t>
            </a:r>
            <a:endParaRPr lang="en-IN" dirty="0" smtClean="0"/>
          </a:p>
          <a:p>
            <a:r>
              <a:rPr lang="en-IN" dirty="0" smtClean="0"/>
              <a:t>Systems </a:t>
            </a:r>
            <a:r>
              <a:rPr lang="en-IN" dirty="0"/>
              <a:t>can be </a:t>
            </a:r>
            <a:r>
              <a:rPr lang="en-IN" b="1" dirty="0"/>
              <a:t>open or closed</a:t>
            </a:r>
            <a:r>
              <a:rPr lang="en-IN" dirty="0"/>
              <a:t>. </a:t>
            </a:r>
            <a:endParaRPr lang="en-IN" dirty="0" smtClean="0"/>
          </a:p>
        </p:txBody>
      </p:sp>
    </p:spTree>
    <p:extLst>
      <p:ext uri="{BB962C8B-B14F-4D97-AF65-F5344CB8AC3E}">
        <p14:creationId xmlns:p14="http://schemas.microsoft.com/office/powerpoint/2010/main" val="28710793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IN" dirty="0"/>
          </a:p>
        </p:txBody>
      </p:sp>
      <p:sp>
        <p:nvSpPr>
          <p:cNvPr id="3" name="Content Placeholder 2"/>
          <p:cNvSpPr>
            <a:spLocks noGrp="1"/>
          </p:cNvSpPr>
          <p:nvPr>
            <p:ph idx="1"/>
          </p:nvPr>
        </p:nvSpPr>
        <p:spPr/>
        <p:txBody>
          <a:bodyPr>
            <a:normAutofit/>
          </a:bodyPr>
          <a:lstStyle/>
          <a:p>
            <a:r>
              <a:rPr lang="en-IN" dirty="0" smtClean="0"/>
              <a:t>A closed system is not affected by its environment.</a:t>
            </a:r>
          </a:p>
          <a:p>
            <a:pPr marL="0" indent="0">
              <a:buNone/>
            </a:pPr>
            <a:r>
              <a:rPr lang="en-US" dirty="0" smtClean="0"/>
              <a:t>	-</a:t>
            </a:r>
            <a:r>
              <a:rPr lang="en-IN" dirty="0" smtClean="0"/>
              <a:t>For example, a chuck of iron ore is not substantially affected by its environment.</a:t>
            </a:r>
          </a:p>
          <a:p>
            <a:endParaRPr lang="en-IN" dirty="0" smtClean="0"/>
          </a:p>
          <a:p>
            <a:r>
              <a:rPr lang="en-IN" dirty="0" smtClean="0"/>
              <a:t>An </a:t>
            </a:r>
            <a:r>
              <a:rPr lang="en-IN" dirty="0"/>
              <a:t>open system is a system that is affected by its environment</a:t>
            </a:r>
            <a:r>
              <a:rPr lang="en-IN" dirty="0" smtClean="0"/>
              <a:t>.</a:t>
            </a:r>
          </a:p>
          <a:p>
            <a:pPr marL="0" indent="0">
              <a:buNone/>
            </a:pPr>
            <a:r>
              <a:rPr lang="en-IN" dirty="0" smtClean="0"/>
              <a:t>	- </a:t>
            </a:r>
            <a:r>
              <a:rPr lang="en-IN" dirty="0"/>
              <a:t>A simple example is a living organism, such as an animal.</a:t>
            </a:r>
          </a:p>
        </p:txBody>
      </p:sp>
    </p:spTree>
    <p:extLst>
      <p:ext uri="{BB962C8B-B14F-4D97-AF65-F5344CB8AC3E}">
        <p14:creationId xmlns:p14="http://schemas.microsoft.com/office/powerpoint/2010/main" val="6112170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Organization as Open System</a:t>
            </a:r>
            <a:endParaRPr lang="en-IN" dirty="0"/>
          </a:p>
        </p:txBody>
      </p:sp>
      <p:sp>
        <p:nvSpPr>
          <p:cNvPr id="3" name="Content Placeholder 2"/>
          <p:cNvSpPr>
            <a:spLocks noGrp="1"/>
          </p:cNvSpPr>
          <p:nvPr>
            <p:ph idx="1"/>
          </p:nvPr>
        </p:nvSpPr>
        <p:spPr/>
        <p:txBody>
          <a:bodyPr/>
          <a:lstStyle/>
          <a:p>
            <a:r>
              <a:rPr lang="en-IN" dirty="0"/>
              <a:t>Most theorists treat an organization as an open system</a:t>
            </a:r>
            <a:r>
              <a:rPr lang="en-IN" dirty="0" smtClean="0"/>
              <a:t>.</a:t>
            </a:r>
          </a:p>
          <a:p>
            <a:r>
              <a:rPr lang="en-IN" dirty="0" smtClean="0"/>
              <a:t> </a:t>
            </a:r>
            <a:r>
              <a:rPr lang="en-IN" dirty="0"/>
              <a:t>An open system consists of three essential elements</a:t>
            </a:r>
            <a:r>
              <a:rPr lang="en-IN" dirty="0" smtClean="0"/>
              <a:t>.</a:t>
            </a:r>
          </a:p>
          <a:p>
            <a:pPr marL="514350" indent="-514350">
              <a:buFont typeface="+mj-lt"/>
              <a:buAutoNum type="arabicPeriod"/>
            </a:pPr>
            <a:r>
              <a:rPr lang="en-US" dirty="0" smtClean="0"/>
              <a:t>Inputs</a:t>
            </a:r>
          </a:p>
          <a:p>
            <a:pPr marL="514350" indent="-514350">
              <a:buFont typeface="+mj-lt"/>
              <a:buAutoNum type="arabicPeriod"/>
            </a:pPr>
            <a:r>
              <a:rPr lang="en-US" dirty="0" smtClean="0"/>
              <a:t>Mediator</a:t>
            </a:r>
          </a:p>
          <a:p>
            <a:pPr marL="514350" indent="-514350">
              <a:buFont typeface="+mj-lt"/>
              <a:buAutoNum type="arabicPeriod"/>
            </a:pPr>
            <a:r>
              <a:rPr lang="en-US" dirty="0" smtClean="0"/>
              <a:t>Outputs</a:t>
            </a:r>
            <a:endParaRPr lang="en-IN" dirty="0"/>
          </a:p>
        </p:txBody>
      </p:sp>
    </p:spTree>
    <p:extLst>
      <p:ext uri="{BB962C8B-B14F-4D97-AF65-F5344CB8AC3E}">
        <p14:creationId xmlns:p14="http://schemas.microsoft.com/office/powerpoint/2010/main" val="30646099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92696"/>
            <a:ext cx="8229600" cy="5433467"/>
          </a:xfrm>
        </p:spPr>
        <p:txBody>
          <a:bodyPr/>
          <a:lstStyle/>
          <a:p>
            <a:r>
              <a:rPr lang="en-IN" dirty="0"/>
              <a:t>An organization receives resources such as equipment, natural resources, and the work of employees referred to as inputs. </a:t>
            </a:r>
            <a:endParaRPr lang="en-IN" dirty="0" smtClean="0"/>
          </a:p>
          <a:p>
            <a:r>
              <a:rPr lang="en-IN" dirty="0" smtClean="0"/>
              <a:t>The </a:t>
            </a:r>
            <a:r>
              <a:rPr lang="en-IN" dirty="0"/>
              <a:t>inputs are transformed, called throughputs, and then yield products or services called outputs</a:t>
            </a:r>
            <a:r>
              <a:rPr lang="en-IN" dirty="0" smtClean="0"/>
              <a:t>.</a:t>
            </a:r>
          </a:p>
          <a:p>
            <a:r>
              <a:rPr lang="en-IN" dirty="0" smtClean="0"/>
              <a:t>Outputs </a:t>
            </a:r>
            <a:r>
              <a:rPr lang="en-IN" dirty="0"/>
              <a:t>are released into the environment.</a:t>
            </a:r>
          </a:p>
        </p:txBody>
      </p:sp>
    </p:spTree>
    <p:extLst>
      <p:ext uri="{BB962C8B-B14F-4D97-AF65-F5344CB8AC3E}">
        <p14:creationId xmlns:p14="http://schemas.microsoft.com/office/powerpoint/2010/main" val="11514073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46646"/>
            <a:ext cx="8229600" cy="1143000"/>
          </a:xfrm>
        </p:spPr>
        <p:txBody>
          <a:bodyPr>
            <a:normAutofit/>
          </a:bodyPr>
          <a:lstStyle/>
          <a:p>
            <a:r>
              <a:rPr lang="en-IN" b="1" dirty="0"/>
              <a:t>Features of System </a:t>
            </a:r>
            <a:r>
              <a:rPr lang="en-IN" b="1" dirty="0" smtClean="0"/>
              <a:t>Approach</a:t>
            </a:r>
            <a:endParaRPr lang="en-IN" dirty="0"/>
          </a:p>
        </p:txBody>
      </p:sp>
      <p:sp>
        <p:nvSpPr>
          <p:cNvPr id="3" name="Content Placeholder 2"/>
          <p:cNvSpPr>
            <a:spLocks noGrp="1"/>
          </p:cNvSpPr>
          <p:nvPr>
            <p:ph idx="1"/>
          </p:nvPr>
        </p:nvSpPr>
        <p:spPr>
          <a:xfrm>
            <a:off x="457200" y="1672208"/>
            <a:ext cx="8229600" cy="4853136"/>
          </a:xfrm>
        </p:spPr>
        <p:txBody>
          <a:bodyPr>
            <a:normAutofit/>
          </a:bodyPr>
          <a:lstStyle/>
          <a:p>
            <a:pPr algn="just" fontAlgn="base"/>
            <a:r>
              <a:rPr lang="en-IN" dirty="0"/>
              <a:t>These are the features of system approach which are explained below:</a:t>
            </a:r>
          </a:p>
          <a:p>
            <a:pPr marL="571500" indent="-571500" algn="just" fontAlgn="base">
              <a:buFont typeface="+mj-lt"/>
              <a:buAutoNum type="romanLcPeriod"/>
            </a:pPr>
            <a:r>
              <a:rPr lang="en-IN" dirty="0"/>
              <a:t>Open or Closed </a:t>
            </a:r>
            <a:r>
              <a:rPr lang="en-IN" dirty="0" smtClean="0"/>
              <a:t>Systems</a:t>
            </a:r>
          </a:p>
          <a:p>
            <a:pPr marL="571500" indent="-571500" algn="just" fontAlgn="base">
              <a:buFont typeface="+mj-lt"/>
              <a:buAutoNum type="romanLcPeriod"/>
            </a:pPr>
            <a:r>
              <a:rPr lang="en-IN" dirty="0" smtClean="0"/>
              <a:t>Subsystem</a:t>
            </a:r>
          </a:p>
          <a:p>
            <a:pPr marL="571500" indent="-571500" algn="just" fontAlgn="base">
              <a:buFont typeface="+mj-lt"/>
              <a:buAutoNum type="romanLcPeriod"/>
            </a:pPr>
            <a:r>
              <a:rPr lang="en-IN" dirty="0" smtClean="0"/>
              <a:t>Synergy</a:t>
            </a:r>
          </a:p>
          <a:p>
            <a:pPr marL="571500" indent="-571500" algn="just" fontAlgn="base">
              <a:buFont typeface="+mj-lt"/>
              <a:buAutoNum type="romanLcPeriod"/>
            </a:pPr>
            <a:r>
              <a:rPr lang="en-IN" dirty="0" smtClean="0"/>
              <a:t>Defined Boundaries</a:t>
            </a:r>
          </a:p>
          <a:p>
            <a:pPr marL="571500" indent="-571500" algn="just" fontAlgn="base">
              <a:buFont typeface="+mj-lt"/>
              <a:buAutoNum type="romanLcPeriod"/>
            </a:pPr>
            <a:r>
              <a:rPr lang="en-IN" dirty="0" smtClean="0"/>
              <a:t>Feedback Mechanism</a:t>
            </a:r>
          </a:p>
          <a:p>
            <a:pPr marL="571500" indent="-571500" algn="just" fontAlgn="base">
              <a:buFont typeface="+mj-lt"/>
              <a:buAutoNum type="romanLcPeriod"/>
            </a:pPr>
            <a:r>
              <a:rPr lang="en-IN" dirty="0" smtClean="0"/>
              <a:t>Multidisciplinary</a:t>
            </a:r>
          </a:p>
          <a:p>
            <a:pPr marL="571500" indent="-571500" algn="just" fontAlgn="base">
              <a:buFont typeface="+mj-lt"/>
              <a:buAutoNum type="romanLcPeriod"/>
            </a:pPr>
            <a:r>
              <a:rPr lang="en-IN" dirty="0" smtClean="0"/>
              <a:t>Consideration </a:t>
            </a:r>
            <a:r>
              <a:rPr lang="en-IN" dirty="0"/>
              <a:t>of Whole </a:t>
            </a:r>
            <a:r>
              <a:rPr lang="en-IN" dirty="0" smtClean="0"/>
              <a:t>System</a:t>
            </a:r>
          </a:p>
          <a:p>
            <a:pPr marL="571500" indent="-571500" algn="just" fontAlgn="base">
              <a:buFont typeface="+mj-lt"/>
              <a:buAutoNum type="romanLcPeriod"/>
            </a:pPr>
            <a:r>
              <a:rPr lang="en-IN" dirty="0" smtClean="0"/>
              <a:t>Input-Output </a:t>
            </a:r>
            <a:r>
              <a:rPr lang="en-IN" dirty="0"/>
              <a:t>System</a:t>
            </a:r>
          </a:p>
          <a:p>
            <a:pPr algn="just"/>
            <a:endParaRPr lang="en-IN" dirty="0"/>
          </a:p>
        </p:txBody>
      </p:sp>
    </p:spTree>
    <p:extLst>
      <p:ext uri="{BB962C8B-B14F-4D97-AF65-F5344CB8AC3E}">
        <p14:creationId xmlns:p14="http://schemas.microsoft.com/office/powerpoint/2010/main" val="33130381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457200" y="549275"/>
            <a:ext cx="8229600" cy="5576888"/>
          </a:xfrm>
        </p:spPr>
        <p:txBody>
          <a:bodyPr>
            <a:normAutofit/>
          </a:bodyPr>
          <a:lstStyle/>
          <a:p>
            <a:pPr marL="514350" indent="-514350" fontAlgn="base">
              <a:buFont typeface="+mj-lt"/>
              <a:buAutoNum type="arabicPeriod"/>
            </a:pPr>
            <a:r>
              <a:rPr lang="en-IN" b="1" dirty="0"/>
              <a:t>Open or Closed </a:t>
            </a:r>
            <a:r>
              <a:rPr lang="en-IN" b="1" dirty="0" smtClean="0"/>
              <a:t>Systems-</a:t>
            </a:r>
            <a:r>
              <a:rPr lang="en-IN" dirty="0"/>
              <a:t>Systems may be either open or closed: </a:t>
            </a:r>
            <a:endParaRPr lang="en-IN" dirty="0" smtClean="0"/>
          </a:p>
          <a:p>
            <a:pPr fontAlgn="base"/>
            <a:r>
              <a:rPr lang="en-IN" dirty="0" smtClean="0"/>
              <a:t>An </a:t>
            </a:r>
            <a:r>
              <a:rPr lang="en-IN" dirty="0"/>
              <a:t>open system is one, which depends on the outside environment for survival. </a:t>
            </a:r>
            <a:endParaRPr lang="en-IN" dirty="0" smtClean="0"/>
          </a:p>
          <a:p>
            <a:pPr fontAlgn="base"/>
            <a:r>
              <a:rPr lang="en-IN" dirty="0" smtClean="0"/>
              <a:t>A </a:t>
            </a:r>
            <a:r>
              <a:rPr lang="en-IN" dirty="0"/>
              <a:t>closed system does not interact with the environment</a:t>
            </a:r>
            <a:r>
              <a:rPr lang="en-IN" dirty="0" smtClean="0"/>
              <a:t>.</a:t>
            </a:r>
            <a:endParaRPr lang="en-IN" b="1" dirty="0" smtClean="0"/>
          </a:p>
          <a:p>
            <a:pPr marL="0" indent="0" fontAlgn="base">
              <a:buNone/>
            </a:pPr>
            <a:endParaRPr lang="en-IN" b="1" dirty="0" smtClean="0"/>
          </a:p>
          <a:p>
            <a:pPr marL="0" indent="0" fontAlgn="base">
              <a:buNone/>
            </a:pPr>
            <a:r>
              <a:rPr lang="en-IN" dirty="0"/>
              <a:t/>
            </a:r>
            <a:br>
              <a:rPr lang="en-IN" dirty="0"/>
            </a:br>
            <a:endParaRPr lang="en-IN" dirty="0"/>
          </a:p>
        </p:txBody>
      </p:sp>
    </p:spTree>
    <p:extLst>
      <p:ext uri="{BB962C8B-B14F-4D97-AF65-F5344CB8AC3E}">
        <p14:creationId xmlns:p14="http://schemas.microsoft.com/office/powerpoint/2010/main" val="8291929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80728"/>
            <a:ext cx="8229600" cy="5145435"/>
          </a:xfrm>
        </p:spPr>
        <p:txBody>
          <a:bodyPr>
            <a:normAutofit/>
          </a:bodyPr>
          <a:lstStyle/>
          <a:p>
            <a:pPr marL="0" indent="0" fontAlgn="base">
              <a:buNone/>
            </a:pPr>
            <a:r>
              <a:rPr lang="en-IN" b="1" dirty="0" smtClean="0"/>
              <a:t>2. Subsystem -</a:t>
            </a:r>
            <a:r>
              <a:rPr lang="en-IN" dirty="0" smtClean="0"/>
              <a:t>The full system is made up of many parts. Each of these parts is called a subsystem. A system may be a subsystem of a larger system. </a:t>
            </a:r>
          </a:p>
          <a:p>
            <a:pPr fontAlgn="base"/>
            <a:r>
              <a:rPr lang="en-IN" dirty="0" smtClean="0"/>
              <a:t>For example. a department is a subsystem of a plant. A plant is a subsystem of a company.</a:t>
            </a:r>
          </a:p>
          <a:p>
            <a:pPr fontAlgn="base"/>
            <a:r>
              <a:rPr lang="en-IN" dirty="0" smtClean="0"/>
              <a:t>Continuous and effective interaction of sub-systems helps to attain the goals of the larger system</a:t>
            </a:r>
            <a:r>
              <a:rPr lang="en-IN" dirty="0" smtClean="0"/>
              <a:t>.</a:t>
            </a:r>
          </a:p>
          <a:p>
            <a:pPr fontAlgn="base"/>
            <a:endParaRPr lang="en-US" dirty="0"/>
          </a:p>
          <a:p>
            <a:pPr marL="0" indent="0" fontAlgn="base">
              <a:buNone/>
            </a:pPr>
            <a:r>
              <a:rPr lang="en-IN" b="1" dirty="0"/>
              <a:t>3.Synergy</a:t>
            </a:r>
          </a:p>
          <a:p>
            <a:pPr fontAlgn="base"/>
            <a:r>
              <a:rPr lang="en-IN" dirty="0"/>
              <a:t>Synergy means that the whole is greater than the sum of its parts. </a:t>
            </a:r>
          </a:p>
          <a:p>
            <a:pPr fontAlgn="base"/>
            <a:r>
              <a:rPr lang="en-IN" dirty="0"/>
              <a:t>In an organization, when different departments cooperate and interact, they become more productive. </a:t>
            </a:r>
          </a:p>
          <a:p>
            <a:pPr fontAlgn="base"/>
            <a:r>
              <a:rPr lang="en-IN" dirty="0"/>
              <a:t>This is called synergy.</a:t>
            </a:r>
          </a:p>
          <a:p>
            <a:pPr marL="114300" indent="0" fontAlgn="base">
              <a:buNone/>
            </a:pPr>
            <a:endParaRPr lang="en-IN" dirty="0" smtClean="0"/>
          </a:p>
          <a:p>
            <a:endParaRPr lang="en-IN" dirty="0"/>
          </a:p>
        </p:txBody>
      </p:sp>
    </p:spTree>
    <p:extLst>
      <p:ext uri="{BB962C8B-B14F-4D97-AF65-F5344CB8AC3E}">
        <p14:creationId xmlns:p14="http://schemas.microsoft.com/office/powerpoint/2010/main" val="41112560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normAutofit/>
          </a:bodyPr>
          <a:lstStyle/>
          <a:p>
            <a:pPr marL="0" indent="0">
              <a:buNone/>
            </a:pPr>
            <a:r>
              <a:rPr lang="en-US" b="1" dirty="0" smtClean="0"/>
              <a:t>4.</a:t>
            </a:r>
            <a:r>
              <a:rPr lang="en-IN" b="1" dirty="0"/>
              <a:t> Defined </a:t>
            </a:r>
            <a:r>
              <a:rPr lang="en-IN" b="1" dirty="0" smtClean="0"/>
              <a:t>Boundaries-</a:t>
            </a:r>
            <a:r>
              <a:rPr lang="en-IN" dirty="0"/>
              <a:t>Each system has a boundary that separates it from its environment. </a:t>
            </a:r>
            <a:endParaRPr lang="en-IN" dirty="0" smtClean="0"/>
          </a:p>
          <a:p>
            <a:pPr marL="0" indent="0">
              <a:buNone/>
            </a:pPr>
            <a:r>
              <a:rPr lang="en-IN" dirty="0" smtClean="0"/>
              <a:t>In </a:t>
            </a:r>
            <a:r>
              <a:rPr lang="en-IN" dirty="0"/>
              <a:t>the case of a closed system, the system boundary is rigid. </a:t>
            </a:r>
            <a:endParaRPr lang="en-IN" dirty="0" smtClean="0"/>
          </a:p>
          <a:p>
            <a:pPr marL="0" indent="0">
              <a:buNone/>
            </a:pPr>
            <a:r>
              <a:rPr lang="en-IN" dirty="0" smtClean="0"/>
              <a:t>However</a:t>
            </a:r>
            <a:r>
              <a:rPr lang="en-IN" dirty="0"/>
              <a:t>, in an open system, the boundary is flexible. </a:t>
            </a:r>
            <a:endParaRPr lang="en-IN" dirty="0" smtClean="0"/>
          </a:p>
          <a:p>
            <a:pPr marL="0" indent="0">
              <a:buNone/>
            </a:pPr>
            <a:r>
              <a:rPr lang="en-IN" dirty="0" smtClean="0"/>
              <a:t>A </a:t>
            </a:r>
            <a:r>
              <a:rPr lang="en-IN" dirty="0"/>
              <a:t>business organization has boundaries with many external systems like creditors, suppliers, customers, government agencies, etc. </a:t>
            </a:r>
            <a:endParaRPr lang="en-IN" dirty="0" smtClean="0"/>
          </a:p>
          <a:p>
            <a:pPr marL="0" indent="0">
              <a:buNone/>
            </a:pPr>
            <a:r>
              <a:rPr lang="en-IN" dirty="0" smtClean="0"/>
              <a:t>The </a:t>
            </a:r>
            <a:r>
              <a:rPr lang="en-IN" dirty="0"/>
              <a:t>system is inside the boundary, the environment is outside the boundary.</a:t>
            </a:r>
            <a:endParaRPr lang="en-IN" b="1" dirty="0"/>
          </a:p>
          <a:p>
            <a:endParaRPr lang="en-IN" dirty="0"/>
          </a:p>
        </p:txBody>
      </p:sp>
    </p:spTree>
    <p:extLst>
      <p:ext uri="{BB962C8B-B14F-4D97-AF65-F5344CB8AC3E}">
        <p14:creationId xmlns:p14="http://schemas.microsoft.com/office/powerpoint/2010/main" val="26214805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04664"/>
            <a:ext cx="8229600" cy="5721499"/>
          </a:xfrm>
        </p:spPr>
        <p:txBody>
          <a:bodyPr/>
          <a:lstStyle/>
          <a:p>
            <a:pPr marL="0" indent="0" fontAlgn="base">
              <a:buNone/>
            </a:pPr>
            <a:r>
              <a:rPr lang="en-IN" b="1" dirty="0" smtClean="0"/>
              <a:t>5.Feedback </a:t>
            </a:r>
            <a:r>
              <a:rPr lang="en-IN" b="1" dirty="0"/>
              <a:t>Mechanism</a:t>
            </a:r>
          </a:p>
          <a:p>
            <a:pPr fontAlgn="base"/>
            <a:r>
              <a:rPr lang="en-IN" dirty="0"/>
              <a:t>A system can adjust itself to the changing environment through the feedback mechanism. </a:t>
            </a:r>
            <a:endParaRPr lang="en-IN" dirty="0" smtClean="0"/>
          </a:p>
          <a:p>
            <a:pPr fontAlgn="base"/>
            <a:r>
              <a:rPr lang="en-IN" dirty="0" smtClean="0"/>
              <a:t>Feedback </a:t>
            </a:r>
            <a:r>
              <a:rPr lang="en-IN" dirty="0"/>
              <a:t>helps the system to find out and correct its mistakes</a:t>
            </a:r>
            <a:r>
              <a:rPr lang="en-IN" dirty="0" smtClean="0"/>
              <a:t>.</a:t>
            </a:r>
          </a:p>
          <a:p>
            <a:pPr fontAlgn="base"/>
            <a:endParaRPr lang="en-US" dirty="0"/>
          </a:p>
          <a:p>
            <a:pPr marL="114300" indent="0" fontAlgn="base">
              <a:buNone/>
            </a:pPr>
            <a:r>
              <a:rPr lang="en-US" b="1" dirty="0"/>
              <a:t>6</a:t>
            </a:r>
            <a:r>
              <a:rPr lang="en-US" dirty="0"/>
              <a:t>.</a:t>
            </a:r>
            <a:r>
              <a:rPr lang="en-IN" b="1" dirty="0"/>
              <a:t> Multidisciplinary</a:t>
            </a:r>
          </a:p>
          <a:p>
            <a:pPr fontAlgn="base"/>
            <a:r>
              <a:rPr lang="en-IN" dirty="0"/>
              <a:t>Management system uses information from many disciplines such as psychology, sociology, ecology, economics, mathematics, statistics, operations research, systems analysis, etc. Therefore, it is multidisciplinary in nature.</a:t>
            </a:r>
          </a:p>
          <a:p>
            <a:pPr fontAlgn="base"/>
            <a:endParaRPr lang="en-IN" dirty="0"/>
          </a:p>
          <a:p>
            <a:endParaRPr lang="en-IN" dirty="0"/>
          </a:p>
        </p:txBody>
      </p:sp>
    </p:spTree>
    <p:extLst>
      <p:ext uri="{BB962C8B-B14F-4D97-AF65-F5344CB8AC3E}">
        <p14:creationId xmlns:p14="http://schemas.microsoft.com/office/powerpoint/2010/main" val="11941442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normAutofit/>
          </a:bodyPr>
          <a:lstStyle/>
          <a:p>
            <a:pPr marL="0" indent="0">
              <a:buNone/>
            </a:pPr>
            <a:r>
              <a:rPr lang="en-IN" b="1" dirty="0" smtClean="0"/>
              <a:t>7.Consideration </a:t>
            </a:r>
            <a:r>
              <a:rPr lang="en-IN" b="1" dirty="0"/>
              <a:t>of Whole </a:t>
            </a:r>
            <a:r>
              <a:rPr lang="en-IN" b="1" dirty="0" smtClean="0"/>
              <a:t>System-</a:t>
            </a:r>
            <a:r>
              <a:rPr lang="en-IN" dirty="0" smtClean="0"/>
              <a:t>Instead </a:t>
            </a:r>
            <a:r>
              <a:rPr lang="en-IN" dirty="0"/>
              <a:t>of dealing separately with different parts of one organization, the manager must study the entire organization as a whole</a:t>
            </a:r>
            <a:r>
              <a:rPr lang="en-IN" dirty="0" smtClean="0"/>
              <a:t>.</a:t>
            </a:r>
          </a:p>
          <a:p>
            <a:pPr marL="0" indent="0">
              <a:buNone/>
            </a:pPr>
            <a:r>
              <a:rPr lang="en-IN" dirty="0" smtClean="0"/>
              <a:t>For </a:t>
            </a:r>
            <a:r>
              <a:rPr lang="en-IN" dirty="0"/>
              <a:t>example, in order to understand the working of the finance, production or marketing department, he/she must understand the company as a whole</a:t>
            </a:r>
            <a:r>
              <a:rPr lang="en-IN" dirty="0" smtClean="0"/>
              <a:t>.</a:t>
            </a:r>
          </a:p>
          <a:p>
            <a:pPr marL="0" indent="0">
              <a:buNone/>
            </a:pPr>
            <a:r>
              <a:rPr lang="en-IN" dirty="0" smtClean="0"/>
              <a:t> </a:t>
            </a:r>
            <a:r>
              <a:rPr lang="en-IN" dirty="0"/>
              <a:t>It is because the activity of any one part of the company affects the activity of every other part</a:t>
            </a:r>
            <a:r>
              <a:rPr lang="en-IN" dirty="0" smtClean="0"/>
              <a:t>.</a:t>
            </a:r>
          </a:p>
          <a:p>
            <a:pPr marL="0" indent="0">
              <a:buNone/>
            </a:pPr>
            <a:endParaRPr lang="en-US" b="1" dirty="0"/>
          </a:p>
          <a:p>
            <a:pPr marL="0" indent="0">
              <a:buNone/>
            </a:pPr>
            <a:r>
              <a:rPr lang="en-US" b="1" dirty="0"/>
              <a:t>8</a:t>
            </a:r>
            <a:r>
              <a:rPr lang="en-US" dirty="0"/>
              <a:t>.</a:t>
            </a:r>
            <a:r>
              <a:rPr lang="en-IN" b="1" dirty="0"/>
              <a:t> Input-Output System</a:t>
            </a:r>
          </a:p>
          <a:p>
            <a:pPr marL="0" indent="0">
              <a:buNone/>
            </a:pPr>
            <a:r>
              <a:rPr lang="en-IN" dirty="0"/>
              <a:t>A business organization is an input-output system. Inputs consist of human, physical and financial resources obtained from the environment. </a:t>
            </a:r>
          </a:p>
          <a:p>
            <a:pPr marL="0" indent="0">
              <a:buNone/>
            </a:pPr>
            <a:r>
              <a:rPr lang="en-IN" dirty="0"/>
              <a:t>These resources are converted into outputs of products and services.</a:t>
            </a:r>
          </a:p>
          <a:p>
            <a:pPr marL="0" indent="0">
              <a:buNone/>
            </a:pPr>
            <a:endParaRPr lang="en-IN" b="1" dirty="0"/>
          </a:p>
          <a:p>
            <a:endParaRPr lang="en-IN" dirty="0"/>
          </a:p>
        </p:txBody>
      </p:sp>
    </p:spTree>
    <p:extLst>
      <p:ext uri="{BB962C8B-B14F-4D97-AF65-F5344CB8AC3E}">
        <p14:creationId xmlns:p14="http://schemas.microsoft.com/office/powerpoint/2010/main" val="1819851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smtClean="0"/>
              <a:t>Features of Management as a System</a:t>
            </a:r>
            <a:endParaRPr lang="en-IN" sz="3600" dirty="0"/>
          </a:p>
        </p:txBody>
      </p:sp>
      <p:sp>
        <p:nvSpPr>
          <p:cNvPr id="3" name="Content Placeholder 2"/>
          <p:cNvSpPr>
            <a:spLocks noGrp="1"/>
          </p:cNvSpPr>
          <p:nvPr>
            <p:ph idx="1"/>
          </p:nvPr>
        </p:nvSpPr>
        <p:spPr/>
        <p:txBody>
          <a:bodyPr/>
          <a:lstStyle/>
          <a:p>
            <a:pPr marL="114300" indent="0">
              <a:buNone/>
            </a:pPr>
            <a:r>
              <a:rPr lang="en-US" dirty="0"/>
              <a:t>1.</a:t>
            </a:r>
            <a:r>
              <a:rPr lang="en-US" b="1" i="1" dirty="0"/>
              <a:t>: </a:t>
            </a:r>
            <a:r>
              <a:rPr lang="en-US" dirty="0"/>
              <a:t>An organization as a system has five basic parts -</a:t>
            </a:r>
            <a:endParaRPr lang="en-IN" dirty="0"/>
          </a:p>
          <a:p>
            <a:pPr marL="114300" indent="0">
              <a:buNone/>
            </a:pPr>
            <a:r>
              <a:rPr lang="en-US" dirty="0"/>
              <a:t>(1) Input</a:t>
            </a:r>
            <a:endParaRPr lang="en-IN" dirty="0"/>
          </a:p>
          <a:p>
            <a:pPr marL="114300" indent="0">
              <a:buNone/>
            </a:pPr>
            <a:r>
              <a:rPr lang="en-US" dirty="0"/>
              <a:t>(2) Process</a:t>
            </a:r>
            <a:endParaRPr lang="en-IN" dirty="0"/>
          </a:p>
          <a:p>
            <a:pPr marL="114300" indent="0">
              <a:buNone/>
            </a:pPr>
            <a:r>
              <a:rPr lang="en-US" dirty="0"/>
              <a:t>(3) Output</a:t>
            </a:r>
            <a:endParaRPr lang="en-IN" dirty="0"/>
          </a:p>
          <a:p>
            <a:pPr marL="114300" indent="0">
              <a:buNone/>
            </a:pPr>
            <a:r>
              <a:rPr lang="en-US" dirty="0"/>
              <a:t>(4) Feedback and</a:t>
            </a:r>
            <a:endParaRPr lang="en-IN" dirty="0"/>
          </a:p>
          <a:p>
            <a:pPr marL="114300" indent="0">
              <a:buNone/>
            </a:pPr>
            <a:r>
              <a:rPr lang="en-US" dirty="0"/>
              <a:t>(5) Environment</a:t>
            </a:r>
            <a:r>
              <a:rPr lang="en-US" dirty="0" smtClean="0"/>
              <a:t>.</a:t>
            </a:r>
          </a:p>
          <a:p>
            <a:pPr marL="114300" indent="0">
              <a:buNone/>
            </a:pPr>
            <a:endParaRPr lang="en-IN" dirty="0"/>
          </a:p>
          <a:p>
            <a:pPr marL="114300" indent="0">
              <a:buNone/>
            </a:pPr>
            <a:r>
              <a:rPr lang="en-US" dirty="0"/>
              <a:t>It draws upon the environment for inputs to produce certain desirable outputs. The success of these outputs can be judged by means of feedback. If necessary, we have to modify out mix of inputs to produce as per changing demands.</a:t>
            </a:r>
            <a:endParaRPr lang="en-IN" dirty="0"/>
          </a:p>
          <a:p>
            <a:endParaRPr lang="en-IN" dirty="0"/>
          </a:p>
        </p:txBody>
      </p:sp>
    </p:spTree>
    <p:extLst>
      <p:ext uri="{BB962C8B-B14F-4D97-AF65-F5344CB8AC3E}">
        <p14:creationId xmlns:p14="http://schemas.microsoft.com/office/powerpoint/2010/main" val="3868831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Features of Management as a System</a:t>
            </a:r>
            <a:endParaRPr lang="en-IN" sz="3200" dirty="0"/>
          </a:p>
        </p:txBody>
      </p:sp>
      <p:sp>
        <p:nvSpPr>
          <p:cNvPr id="3" name="Content Placeholder 2"/>
          <p:cNvSpPr>
            <a:spLocks noGrp="1"/>
          </p:cNvSpPr>
          <p:nvPr>
            <p:ph idx="1"/>
          </p:nvPr>
        </p:nvSpPr>
        <p:spPr/>
        <p:txBody>
          <a:bodyPr>
            <a:normAutofit fontScale="92500" lnSpcReduction="20000"/>
          </a:bodyPr>
          <a:lstStyle/>
          <a:p>
            <a:pPr marL="114300" indent="0">
              <a:buNone/>
            </a:pPr>
            <a:r>
              <a:rPr lang="en-US" dirty="0"/>
              <a:t>2. </a:t>
            </a:r>
            <a:r>
              <a:rPr lang="en-US" b="1" i="1" dirty="0"/>
              <a:t>Dynamic: </a:t>
            </a:r>
            <a:r>
              <a:rPr lang="en-US" dirty="0"/>
              <a:t>We have a dynamic process of interaction occurring within the structure of an organization. The equilibrium of an organization and its structure is itself dynamic or changing</a:t>
            </a:r>
            <a:r>
              <a:rPr lang="en-US" dirty="0" smtClean="0"/>
              <a:t>.</a:t>
            </a:r>
          </a:p>
          <a:p>
            <a:endParaRPr lang="en-IN" dirty="0"/>
          </a:p>
          <a:p>
            <a:pPr marL="114300" indent="0">
              <a:buNone/>
            </a:pPr>
            <a:r>
              <a:rPr lang="en-US" dirty="0"/>
              <a:t>3. </a:t>
            </a:r>
            <a:r>
              <a:rPr lang="en-US" b="1" i="1" dirty="0"/>
              <a:t>Multilevel and Multidimensional: </a:t>
            </a:r>
            <a:r>
              <a:rPr lang="en-US" dirty="0"/>
              <a:t>Systems approach points out complex multilevel and multidimensional character. We have both a micro and macro approach. A company is micro within a business system. It is macro with respect to its own internal units. Within a company as a system we have:-</a:t>
            </a:r>
            <a:endParaRPr lang="en-IN" dirty="0"/>
          </a:p>
          <a:p>
            <a:pPr marL="114300" indent="0">
              <a:buNone/>
            </a:pPr>
            <a:r>
              <a:rPr lang="en-US" dirty="0"/>
              <a:t>(1) Production subsystem</a:t>
            </a:r>
            <a:endParaRPr lang="en-IN" dirty="0"/>
          </a:p>
          <a:p>
            <a:pPr marL="114300" indent="0">
              <a:buNone/>
            </a:pPr>
            <a:r>
              <a:rPr lang="en-US" dirty="0"/>
              <a:t>(2) Finance subsystem</a:t>
            </a:r>
            <a:endParaRPr lang="en-IN" dirty="0"/>
          </a:p>
          <a:p>
            <a:pPr marL="114300" indent="0">
              <a:buNone/>
            </a:pPr>
            <a:r>
              <a:rPr lang="en-US" dirty="0"/>
              <a:t>(3) Marketing subsystem</a:t>
            </a:r>
            <a:endParaRPr lang="en-IN" dirty="0"/>
          </a:p>
          <a:p>
            <a:pPr marL="114300" indent="0">
              <a:buNone/>
            </a:pPr>
            <a:r>
              <a:rPr lang="en-US" dirty="0"/>
              <a:t>(4) Personnel subsystem.</a:t>
            </a:r>
            <a:endParaRPr lang="en-IN" dirty="0"/>
          </a:p>
          <a:p>
            <a:pPr marL="114300" indent="0">
              <a:buNone/>
            </a:pPr>
            <a:r>
              <a:rPr lang="en-US" dirty="0"/>
              <a:t>All parts or components are interrelated. Both parts as well as the whole are equally important. At all levels, organizations interact in many ways.</a:t>
            </a:r>
            <a:endParaRPr lang="en-IN" dirty="0"/>
          </a:p>
          <a:p>
            <a:endParaRPr lang="en-IN" dirty="0"/>
          </a:p>
        </p:txBody>
      </p:sp>
    </p:spTree>
    <p:extLst>
      <p:ext uri="{BB962C8B-B14F-4D97-AF65-F5344CB8AC3E}">
        <p14:creationId xmlns:p14="http://schemas.microsoft.com/office/powerpoint/2010/main" val="41233832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Features of Management as a System</a:t>
            </a:r>
            <a:endParaRPr lang="en-IN" sz="3200" dirty="0"/>
          </a:p>
        </p:txBody>
      </p:sp>
      <p:sp>
        <p:nvSpPr>
          <p:cNvPr id="3" name="Content Placeholder 2"/>
          <p:cNvSpPr>
            <a:spLocks noGrp="1"/>
          </p:cNvSpPr>
          <p:nvPr>
            <p:ph idx="1"/>
          </p:nvPr>
        </p:nvSpPr>
        <p:spPr/>
        <p:txBody>
          <a:bodyPr/>
          <a:lstStyle/>
          <a:p>
            <a:pPr marL="114300" indent="0">
              <a:buNone/>
            </a:pPr>
            <a:r>
              <a:rPr lang="en-US" dirty="0"/>
              <a:t>4. </a:t>
            </a:r>
            <a:r>
              <a:rPr lang="en-US" b="1" i="1" dirty="0" err="1"/>
              <a:t>Multimotivated</a:t>
            </a:r>
            <a:r>
              <a:rPr lang="en-US" b="1" i="1" dirty="0"/>
              <a:t>: </a:t>
            </a:r>
            <a:r>
              <a:rPr lang="en-US" dirty="0"/>
              <a:t>Classical theory assumed a single objective, for instance, profit Systems approach recognizes that there may be several motivations behind our actions and </a:t>
            </a:r>
            <a:r>
              <a:rPr lang="en-US" dirty="0" err="1"/>
              <a:t>behaviour</a:t>
            </a:r>
            <a:r>
              <a:rPr lang="en-US" dirty="0"/>
              <a:t>. Management has to compromise these multiple objectives</a:t>
            </a:r>
            <a:endParaRPr lang="en-IN" dirty="0"/>
          </a:p>
          <a:p>
            <a:r>
              <a:rPr lang="en-US" dirty="0" err="1"/>
              <a:t>eg</a:t>
            </a:r>
            <a:r>
              <a:rPr lang="en-US" dirty="0"/>
              <a:t>: - economic objectives and social objectives</a:t>
            </a:r>
            <a:r>
              <a:rPr lang="en-US" dirty="0" smtClean="0"/>
              <a:t>.</a:t>
            </a:r>
          </a:p>
          <a:p>
            <a:endParaRPr lang="en-IN" dirty="0"/>
          </a:p>
          <a:p>
            <a:pPr marL="114300" indent="0">
              <a:buNone/>
            </a:pPr>
            <a:r>
              <a:rPr lang="en-US" dirty="0"/>
              <a:t>5. </a:t>
            </a:r>
            <a:r>
              <a:rPr lang="en-US" b="1" i="1" dirty="0"/>
              <a:t>Multidisciplinary: </a:t>
            </a:r>
            <a:r>
              <a:rPr lang="en-US" dirty="0"/>
              <a:t>Systems approach integrates and uses with profit ideas emerging from different schools of thought. Management freely draws concepts and techniques from many fields of study such as psychology, social psychology, sociology, ecology, economics, mathematics, etc.</a:t>
            </a:r>
            <a:endParaRPr lang="en-IN" dirty="0"/>
          </a:p>
          <a:p>
            <a:endParaRPr lang="en-IN" dirty="0"/>
          </a:p>
        </p:txBody>
      </p:sp>
    </p:spTree>
    <p:extLst>
      <p:ext uri="{BB962C8B-B14F-4D97-AF65-F5344CB8AC3E}">
        <p14:creationId xmlns:p14="http://schemas.microsoft.com/office/powerpoint/2010/main" val="32289095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Features of Management as a System</a:t>
            </a:r>
            <a:endParaRPr lang="en-IN" sz="3200" dirty="0"/>
          </a:p>
        </p:txBody>
      </p:sp>
      <p:sp>
        <p:nvSpPr>
          <p:cNvPr id="3" name="Content Placeholder 2"/>
          <p:cNvSpPr>
            <a:spLocks noGrp="1"/>
          </p:cNvSpPr>
          <p:nvPr>
            <p:ph idx="1"/>
          </p:nvPr>
        </p:nvSpPr>
        <p:spPr/>
        <p:txBody>
          <a:bodyPr>
            <a:normAutofit/>
          </a:bodyPr>
          <a:lstStyle/>
          <a:p>
            <a:r>
              <a:rPr lang="en-US" dirty="0"/>
              <a:t>6. </a:t>
            </a:r>
            <a:r>
              <a:rPr lang="en-US" b="1" i="1" dirty="0"/>
              <a:t>Multivariable: </a:t>
            </a:r>
            <a:r>
              <a:rPr lang="en-US" dirty="0"/>
              <a:t>It is assumed that there is no simple cause-effect phenomenon. An event may be the result of so many factors which themselves are interrelated and interdependent. Some factors are controllable, some uncontrollable. Intelligent planning and control are necessary to face these variable factors.</a:t>
            </a:r>
            <a:endParaRPr lang="en-IN" dirty="0"/>
          </a:p>
          <a:p>
            <a:r>
              <a:rPr lang="en-US" dirty="0"/>
              <a:t>7. </a:t>
            </a:r>
            <a:r>
              <a:rPr lang="en-US" b="1" i="1" dirty="0"/>
              <a:t>Adaptive: </a:t>
            </a:r>
            <a:r>
              <a:rPr lang="en-US" dirty="0"/>
              <a:t>The survival and growth of an organization in a dynamic environment demands an adaptive system which can continuously adjust to changing conditions. An organization is an open system adapting itself through the process of feedback.</a:t>
            </a:r>
            <a:endParaRPr lang="en-IN" dirty="0"/>
          </a:p>
          <a:p>
            <a:endParaRPr lang="en-IN" dirty="0"/>
          </a:p>
        </p:txBody>
      </p:sp>
    </p:spTree>
    <p:extLst>
      <p:ext uri="{BB962C8B-B14F-4D97-AF65-F5344CB8AC3E}">
        <p14:creationId xmlns:p14="http://schemas.microsoft.com/office/powerpoint/2010/main" val="29873561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Features of Management as a System</a:t>
            </a:r>
            <a:endParaRPr lang="en-IN" sz="3200" dirty="0"/>
          </a:p>
        </p:txBody>
      </p:sp>
      <p:sp>
        <p:nvSpPr>
          <p:cNvPr id="3" name="Content Placeholder 2"/>
          <p:cNvSpPr>
            <a:spLocks noGrp="1"/>
          </p:cNvSpPr>
          <p:nvPr>
            <p:ph idx="1"/>
          </p:nvPr>
        </p:nvSpPr>
        <p:spPr/>
        <p:txBody>
          <a:bodyPr/>
          <a:lstStyle/>
          <a:p>
            <a:pPr marL="114300" indent="0">
              <a:buNone/>
            </a:pPr>
            <a:r>
              <a:rPr lang="en-US" dirty="0"/>
              <a:t>8. </a:t>
            </a:r>
            <a:r>
              <a:rPr lang="en-US" b="1" i="1" dirty="0"/>
              <a:t>Probabilistic: </a:t>
            </a:r>
            <a:r>
              <a:rPr lang="en-US" dirty="0"/>
              <a:t>Management principles point out only probability and never the certainty of performance and the consequent results. </a:t>
            </a:r>
            <a:endParaRPr lang="en-US" dirty="0" smtClean="0"/>
          </a:p>
          <a:p>
            <a:pPr marL="114300" indent="0">
              <a:buNone/>
            </a:pPr>
            <a:r>
              <a:rPr lang="en-US" dirty="0" smtClean="0"/>
              <a:t>We </a:t>
            </a:r>
            <a:r>
              <a:rPr lang="en-US" dirty="0"/>
              <a:t>have to face so many variables simultaneously. </a:t>
            </a:r>
            <a:endParaRPr lang="en-US" dirty="0" smtClean="0"/>
          </a:p>
          <a:p>
            <a:pPr marL="114300" indent="0">
              <a:buNone/>
            </a:pPr>
            <a:r>
              <a:rPr lang="en-US" dirty="0" smtClean="0"/>
              <a:t>Our </a:t>
            </a:r>
            <a:r>
              <a:rPr lang="en-US" dirty="0"/>
              <a:t>forecasts are mere tendencies. </a:t>
            </a:r>
            <a:endParaRPr lang="en-US" dirty="0" smtClean="0"/>
          </a:p>
          <a:p>
            <a:pPr marL="114300" indent="0">
              <a:buNone/>
            </a:pPr>
            <a:r>
              <a:rPr lang="en-US" dirty="0" smtClean="0"/>
              <a:t>Therefore</a:t>
            </a:r>
            <a:r>
              <a:rPr lang="en-US" dirty="0"/>
              <a:t>, intelligent forecasting and planning can reduce the degree of uncertainty to a considerable extent.</a:t>
            </a:r>
            <a:endParaRPr lang="en-IN" dirty="0"/>
          </a:p>
          <a:p>
            <a:endParaRPr lang="en-IN" dirty="0"/>
          </a:p>
        </p:txBody>
      </p:sp>
    </p:spTree>
    <p:extLst>
      <p:ext uri="{BB962C8B-B14F-4D97-AF65-F5344CB8AC3E}">
        <p14:creationId xmlns:p14="http://schemas.microsoft.com/office/powerpoint/2010/main" val="2052136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2.Contingency </a:t>
            </a:r>
            <a:r>
              <a:rPr lang="en-IN" dirty="0"/>
              <a:t>approach</a:t>
            </a:r>
          </a:p>
        </p:txBody>
      </p:sp>
      <p:sp>
        <p:nvSpPr>
          <p:cNvPr id="3" name="Content Placeholder 2"/>
          <p:cNvSpPr>
            <a:spLocks noGrp="1"/>
          </p:cNvSpPr>
          <p:nvPr>
            <p:ph idx="1"/>
          </p:nvPr>
        </p:nvSpPr>
        <p:spPr/>
        <p:txBody>
          <a:bodyPr/>
          <a:lstStyle/>
          <a:p>
            <a:r>
              <a:rPr lang="en-IN" dirty="0"/>
              <a:t>The contingency approach, </a:t>
            </a:r>
            <a:r>
              <a:rPr lang="en-IN" b="1" dirty="0"/>
              <a:t>also known as the situational </a:t>
            </a:r>
            <a:r>
              <a:rPr lang="en-IN" b="1" dirty="0" smtClean="0"/>
              <a:t>approach</a:t>
            </a:r>
            <a:r>
              <a:rPr lang="en-IN" dirty="0" smtClean="0"/>
              <a:t>.</a:t>
            </a:r>
          </a:p>
          <a:p>
            <a:r>
              <a:rPr lang="en-US" dirty="0" smtClean="0"/>
              <a:t>In one way, this is an </a:t>
            </a:r>
            <a:r>
              <a:rPr lang="en-US" b="1" dirty="0" smtClean="0"/>
              <a:t>extension of System Approach</a:t>
            </a:r>
            <a:r>
              <a:rPr lang="en-US" dirty="0" smtClean="0"/>
              <a:t>.</a:t>
            </a:r>
          </a:p>
          <a:p>
            <a:r>
              <a:rPr lang="en-IN" dirty="0"/>
              <a:t>The basic idea of this approach is that </a:t>
            </a:r>
            <a:r>
              <a:rPr lang="en-IN" b="1" dirty="0" smtClean="0"/>
              <a:t>there cannot be a particular management action which will be suitable for all situations</a:t>
            </a:r>
            <a:r>
              <a:rPr lang="en-IN" dirty="0" smtClean="0"/>
              <a:t>.</a:t>
            </a:r>
          </a:p>
          <a:p>
            <a:r>
              <a:rPr lang="en-US" dirty="0" smtClean="0"/>
              <a:t>Rather, an appropriate action is one which is designed  on the basis of external environment &amp; internal states and needs.</a:t>
            </a:r>
            <a:endParaRPr lang="en-IN" dirty="0" smtClean="0"/>
          </a:p>
        </p:txBody>
      </p:sp>
    </p:spTree>
    <p:extLst>
      <p:ext uri="{BB962C8B-B14F-4D97-AF65-F5344CB8AC3E}">
        <p14:creationId xmlns:p14="http://schemas.microsoft.com/office/powerpoint/2010/main" val="30928487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20688"/>
            <a:ext cx="7620000" cy="5780112"/>
          </a:xfrm>
        </p:spPr>
        <p:txBody>
          <a:bodyPr/>
          <a:lstStyle/>
          <a:p>
            <a:r>
              <a:rPr lang="en-IN" dirty="0"/>
              <a:t>Certainty and predictability permit the use of policies, rules, and procedures to guide decision-making for routine tasks and problems</a:t>
            </a:r>
            <a:r>
              <a:rPr lang="en-IN" dirty="0" smtClean="0"/>
              <a:t>.</a:t>
            </a:r>
          </a:p>
          <a:p>
            <a:endParaRPr lang="en-US" dirty="0"/>
          </a:p>
          <a:p>
            <a:r>
              <a:rPr lang="en-IN" dirty="0"/>
              <a:t>Uncertainty and unpredictability require general problem-solving methods for non-routine tasks and problems. </a:t>
            </a:r>
            <a:endParaRPr lang="en-IN" dirty="0" smtClean="0"/>
          </a:p>
          <a:p>
            <a:pPr marL="114300" indent="0">
              <a:buNone/>
            </a:pPr>
            <a:endParaRPr lang="en-US" dirty="0" smtClean="0"/>
          </a:p>
          <a:p>
            <a:pPr marL="114300" indent="0">
              <a:buNone/>
            </a:pPr>
            <a:r>
              <a:rPr lang="en-US" dirty="0" smtClean="0"/>
              <a:t>-</a:t>
            </a:r>
            <a:r>
              <a:rPr lang="en-IN" dirty="0"/>
              <a:t>Paul Lawrence and Jay </a:t>
            </a:r>
            <a:r>
              <a:rPr lang="en-IN" dirty="0" err="1"/>
              <a:t>Lorsch</a:t>
            </a:r>
            <a:r>
              <a:rPr lang="en-IN" dirty="0"/>
              <a:t> suggest that organizational units operating in differing environments develop different internal unit characteristics and that the greater the internal differences, the greater the need for coordination between units.</a:t>
            </a:r>
            <a:endParaRPr lang="en-IN" dirty="0"/>
          </a:p>
        </p:txBody>
      </p:sp>
    </p:spTree>
    <p:extLst>
      <p:ext uri="{BB962C8B-B14F-4D97-AF65-F5344CB8AC3E}">
        <p14:creationId xmlns:p14="http://schemas.microsoft.com/office/powerpoint/2010/main" val="9269993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92696"/>
            <a:ext cx="7620000" cy="5708104"/>
          </a:xfrm>
        </p:spPr>
        <p:txBody>
          <a:bodyPr/>
          <a:lstStyle/>
          <a:p>
            <a:pPr algn="just"/>
            <a:r>
              <a:rPr lang="en-IN" dirty="0"/>
              <a:t>A contingency approach to management advocates that managerial actions and organizational design must be </a:t>
            </a:r>
            <a:r>
              <a:rPr lang="en-IN" dirty="0" smtClean="0"/>
              <a:t>appropriate(suitable) </a:t>
            </a:r>
            <a:r>
              <a:rPr lang="en-IN" dirty="0"/>
              <a:t>to the given situation and that a particular action is valid only under certain conditions. </a:t>
            </a:r>
            <a:endParaRPr lang="en-IN" dirty="0" smtClean="0"/>
          </a:p>
          <a:p>
            <a:pPr algn="just"/>
            <a:r>
              <a:rPr lang="en-IN" dirty="0" smtClean="0"/>
              <a:t>There </a:t>
            </a:r>
            <a:r>
              <a:rPr lang="en-IN" dirty="0"/>
              <a:t>is no one best approach to management and it all depends on the situation</a:t>
            </a:r>
            <a:r>
              <a:rPr lang="en-IN" dirty="0" smtClean="0"/>
              <a:t>.</a:t>
            </a:r>
          </a:p>
          <a:p>
            <a:pPr algn="just"/>
            <a:r>
              <a:rPr lang="en-IN" dirty="0"/>
              <a:t>In other words, managerial action is contingent upon the external environment. </a:t>
            </a:r>
            <a:endParaRPr lang="en-IN" dirty="0" smtClean="0"/>
          </a:p>
          <a:p>
            <a:pPr algn="just"/>
            <a:r>
              <a:rPr lang="en-IN" dirty="0" smtClean="0"/>
              <a:t>There </a:t>
            </a:r>
            <a:r>
              <a:rPr lang="en-IN" dirty="0"/>
              <a:t>is no one best approach for all situations. What a manager does depends upon a given situation and there is an active inter-relationship between the variables in a situation and the managerial action.</a:t>
            </a:r>
            <a:endParaRPr lang="en-IN" dirty="0"/>
          </a:p>
        </p:txBody>
      </p:sp>
    </p:spTree>
    <p:extLst>
      <p:ext uri="{BB962C8B-B14F-4D97-AF65-F5344CB8AC3E}">
        <p14:creationId xmlns:p14="http://schemas.microsoft.com/office/powerpoint/2010/main" val="23245416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20000" cy="634082"/>
          </a:xfrm>
        </p:spPr>
        <p:txBody>
          <a:bodyPr/>
          <a:lstStyle/>
          <a:p>
            <a:r>
              <a:rPr lang="en-IN" sz="3200" b="1" dirty="0"/>
              <a:t>Features of Contingency </a:t>
            </a:r>
            <a:r>
              <a:rPr lang="en-IN" sz="3200" b="1" dirty="0" smtClean="0"/>
              <a:t>Approach</a:t>
            </a:r>
            <a:endParaRPr lang="en-IN" dirty="0"/>
          </a:p>
        </p:txBody>
      </p:sp>
      <p:sp>
        <p:nvSpPr>
          <p:cNvPr id="3" name="Content Placeholder 2"/>
          <p:cNvSpPr>
            <a:spLocks noGrp="1"/>
          </p:cNvSpPr>
          <p:nvPr>
            <p:ph idx="1"/>
          </p:nvPr>
        </p:nvSpPr>
        <p:spPr>
          <a:xfrm>
            <a:off x="457200" y="1196752"/>
            <a:ext cx="7620000" cy="5204048"/>
          </a:xfrm>
        </p:spPr>
        <p:txBody>
          <a:bodyPr/>
          <a:lstStyle/>
          <a:p>
            <a:pPr marL="114300" indent="0" fontAlgn="base">
              <a:buNone/>
            </a:pPr>
            <a:r>
              <a:rPr lang="en-US" b="1" dirty="0" smtClean="0"/>
              <a:t>1.</a:t>
            </a:r>
            <a:r>
              <a:rPr lang="en-IN" b="1" dirty="0"/>
              <a:t> Management is situational in nature. </a:t>
            </a:r>
            <a:endParaRPr lang="en-IN" b="1" dirty="0" smtClean="0"/>
          </a:p>
          <a:p>
            <a:pPr fontAlgn="base"/>
            <a:r>
              <a:rPr lang="en-IN" dirty="0" smtClean="0"/>
              <a:t>The </a:t>
            </a:r>
            <a:r>
              <a:rPr lang="en-IN" dirty="0"/>
              <a:t>technique of management depends on the complexity of the </a:t>
            </a:r>
            <a:r>
              <a:rPr lang="en-IN" dirty="0" smtClean="0"/>
              <a:t>situation.</a:t>
            </a:r>
          </a:p>
          <a:p>
            <a:pPr fontAlgn="base"/>
            <a:endParaRPr lang="en-US" dirty="0"/>
          </a:p>
          <a:p>
            <a:pPr marL="114300" indent="0" fontAlgn="base">
              <a:buNone/>
            </a:pPr>
            <a:r>
              <a:rPr lang="en-IN" b="1" dirty="0" smtClean="0"/>
              <a:t>2. It </a:t>
            </a:r>
            <a:r>
              <a:rPr lang="en-IN" b="1" dirty="0"/>
              <a:t>is the ‘if and ‘then ‘approach</a:t>
            </a:r>
            <a:r>
              <a:rPr lang="en-IN" dirty="0"/>
              <a:t> to management, ‘If’ represents the independent variable and ‘then’ represents the dependent management variable or the technique to be adopted in that situation. </a:t>
            </a:r>
            <a:endParaRPr lang="en-IN" dirty="0" smtClean="0"/>
          </a:p>
          <a:p>
            <a:pPr marL="114300" indent="0" fontAlgn="base">
              <a:buNone/>
            </a:pPr>
            <a:r>
              <a:rPr lang="en-IN" dirty="0" smtClean="0"/>
              <a:t>‘</a:t>
            </a:r>
            <a:r>
              <a:rPr lang="en-IN" dirty="0"/>
              <a:t>If’ workers have strong physiological needs, ‘then’ financial motivators should be adopted and ‘If’ they have strong higher-order needs, ‘then’ non-financial motivators should be adopted.</a:t>
            </a:r>
          </a:p>
          <a:p>
            <a:endParaRPr lang="en-IN" dirty="0"/>
          </a:p>
        </p:txBody>
      </p:sp>
    </p:spTree>
    <p:extLst>
      <p:ext uri="{BB962C8B-B14F-4D97-AF65-F5344CB8AC3E}">
        <p14:creationId xmlns:p14="http://schemas.microsoft.com/office/powerpoint/2010/main" val="19675168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20688"/>
            <a:ext cx="7620000" cy="5780112"/>
          </a:xfrm>
        </p:spPr>
        <p:txBody>
          <a:bodyPr/>
          <a:lstStyle/>
          <a:p>
            <a:pPr marL="114300" indent="0">
              <a:buNone/>
            </a:pPr>
            <a:r>
              <a:rPr lang="en-US" b="1" dirty="0" smtClean="0"/>
              <a:t>3. </a:t>
            </a:r>
            <a:r>
              <a:rPr lang="en-IN" b="1" dirty="0"/>
              <a:t>Management principles are not universal in nature </a:t>
            </a:r>
            <a:r>
              <a:rPr lang="en-IN" dirty="0"/>
              <a:t>as there is no best style of management. </a:t>
            </a:r>
            <a:endParaRPr lang="en-IN" dirty="0" smtClean="0"/>
          </a:p>
          <a:p>
            <a:pPr marL="114300" indent="0">
              <a:buNone/>
            </a:pPr>
            <a:r>
              <a:rPr lang="en-IN" dirty="0" smtClean="0"/>
              <a:t>Management </a:t>
            </a:r>
            <a:r>
              <a:rPr lang="en-IN" dirty="0"/>
              <a:t>is situational and managerial actions depend upon the environmental circumstances.</a:t>
            </a:r>
            <a:br>
              <a:rPr lang="en-IN" dirty="0"/>
            </a:br>
            <a:endParaRPr lang="en-IN" dirty="0"/>
          </a:p>
          <a:p>
            <a:pPr marL="114300" indent="0">
              <a:buNone/>
            </a:pPr>
            <a:r>
              <a:rPr lang="en-US" b="1" dirty="0" smtClean="0"/>
              <a:t>4.</a:t>
            </a:r>
            <a:r>
              <a:rPr lang="en-IN" b="1" dirty="0"/>
              <a:t> </a:t>
            </a:r>
            <a:r>
              <a:rPr lang="en-IN" dirty="0"/>
              <a:t>It </a:t>
            </a:r>
            <a:r>
              <a:rPr lang="en-IN" b="1" dirty="0"/>
              <a:t>helps in understanding complex organizations</a:t>
            </a:r>
            <a:r>
              <a:rPr lang="en-IN" dirty="0"/>
              <a:t> as it focuses on the multivariate nature of organizations. It helps an organization to operate under different environmental conditions. </a:t>
            </a:r>
            <a:endParaRPr lang="en-IN" dirty="0" smtClean="0"/>
          </a:p>
          <a:p>
            <a:pPr marL="114300" indent="0">
              <a:buNone/>
            </a:pPr>
            <a:r>
              <a:rPr lang="en-IN" dirty="0" smtClean="0"/>
              <a:t>Rather </a:t>
            </a:r>
            <a:r>
              <a:rPr lang="en-IN" dirty="0"/>
              <a:t>than having a specific solution to solve problems, it provides a framework where every answer depends upon environmental conditions. </a:t>
            </a:r>
            <a:endParaRPr lang="en-IN" dirty="0" smtClean="0"/>
          </a:p>
          <a:p>
            <a:pPr marL="114300" indent="0">
              <a:buNone/>
            </a:pPr>
            <a:r>
              <a:rPr lang="en-IN" dirty="0" smtClean="0"/>
              <a:t>The </a:t>
            </a:r>
            <a:r>
              <a:rPr lang="en-IN" dirty="0"/>
              <a:t>same problem can have different solutions at different points in time and different problems can have the same solution at the same point in time</a:t>
            </a:r>
            <a:endParaRPr lang="en-IN" dirty="0"/>
          </a:p>
        </p:txBody>
      </p:sp>
    </p:spTree>
    <p:extLst>
      <p:ext uri="{BB962C8B-B14F-4D97-AF65-F5344CB8AC3E}">
        <p14:creationId xmlns:p14="http://schemas.microsoft.com/office/powerpoint/2010/main" val="7268392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114300" indent="0">
              <a:buNone/>
            </a:pPr>
            <a:r>
              <a:rPr lang="en-IN" dirty="0" smtClean="0"/>
              <a:t>5. It </a:t>
            </a:r>
            <a:r>
              <a:rPr lang="en-IN" b="1" dirty="0"/>
              <a:t>provides insight </a:t>
            </a:r>
            <a:r>
              <a:rPr lang="en-IN" dirty="0"/>
              <a:t>into an organization’s adaptability to internal and external environments. </a:t>
            </a:r>
            <a:endParaRPr lang="en-IN" dirty="0" smtClean="0"/>
          </a:p>
          <a:p>
            <a:pPr marL="114300" indent="0">
              <a:buNone/>
            </a:pPr>
            <a:r>
              <a:rPr lang="en-IN" dirty="0" smtClean="0"/>
              <a:t>It </a:t>
            </a:r>
            <a:r>
              <a:rPr lang="en-IN" dirty="0"/>
              <a:t>is a matter of fitting the inner climate to its external environment.</a:t>
            </a:r>
          </a:p>
          <a:p>
            <a:endParaRPr lang="en-IN" dirty="0"/>
          </a:p>
        </p:txBody>
      </p:sp>
    </p:spTree>
    <p:extLst>
      <p:ext uri="{BB962C8B-B14F-4D97-AF65-F5344CB8AC3E}">
        <p14:creationId xmlns:p14="http://schemas.microsoft.com/office/powerpoint/2010/main" val="38532246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20000" cy="634082"/>
          </a:xfrm>
        </p:spPr>
        <p:txBody>
          <a:bodyPr/>
          <a:lstStyle/>
          <a:p>
            <a:r>
              <a:rPr lang="en-IN" sz="3200" b="1" dirty="0"/>
              <a:t>Implications of Contingency </a:t>
            </a:r>
            <a:r>
              <a:rPr lang="en-IN" sz="3200" b="1" dirty="0" smtClean="0"/>
              <a:t>Approach</a:t>
            </a:r>
            <a:endParaRPr lang="en-IN" b="1" dirty="0"/>
          </a:p>
        </p:txBody>
      </p:sp>
      <p:sp>
        <p:nvSpPr>
          <p:cNvPr id="3" name="Content Placeholder 2"/>
          <p:cNvSpPr>
            <a:spLocks noGrp="1"/>
          </p:cNvSpPr>
          <p:nvPr>
            <p:ph idx="1"/>
          </p:nvPr>
        </p:nvSpPr>
        <p:spPr>
          <a:xfrm>
            <a:off x="457200" y="1268760"/>
            <a:ext cx="7620000" cy="5132040"/>
          </a:xfrm>
        </p:spPr>
        <p:txBody>
          <a:bodyPr>
            <a:normAutofit/>
          </a:bodyPr>
          <a:lstStyle/>
          <a:p>
            <a:pPr marL="571500" indent="-457200">
              <a:buAutoNum type="arabicPeriod"/>
            </a:pPr>
            <a:r>
              <a:rPr lang="en-IN" dirty="0" smtClean="0"/>
              <a:t>Management </a:t>
            </a:r>
            <a:r>
              <a:rPr lang="en-IN" dirty="0"/>
              <a:t>is </a:t>
            </a:r>
            <a:r>
              <a:rPr lang="en-IN" b="1" dirty="0"/>
              <a:t>entirely situational </a:t>
            </a:r>
            <a:r>
              <a:rPr lang="en-IN" dirty="0"/>
              <a:t>and there is nothing like universal principles of management or one best way of doing a particular thing. </a:t>
            </a:r>
            <a:endParaRPr lang="en-IN" dirty="0" smtClean="0"/>
          </a:p>
          <a:p>
            <a:pPr marL="114300" indent="0">
              <a:buNone/>
            </a:pPr>
            <a:r>
              <a:rPr lang="en-IN" dirty="0" smtClean="0"/>
              <a:t>What </a:t>
            </a:r>
            <a:r>
              <a:rPr lang="en-IN" dirty="0"/>
              <a:t>managers do depends on the circumstances and </a:t>
            </a:r>
            <a:r>
              <a:rPr lang="en-IN" dirty="0" smtClean="0"/>
              <a:t>environment.</a:t>
            </a:r>
          </a:p>
          <a:p>
            <a:pPr marL="114300" indent="0">
              <a:buNone/>
            </a:pPr>
            <a:endParaRPr lang="en-US" dirty="0" smtClean="0"/>
          </a:p>
        </p:txBody>
      </p:sp>
    </p:spTree>
    <p:extLst>
      <p:ext uri="{BB962C8B-B14F-4D97-AF65-F5344CB8AC3E}">
        <p14:creationId xmlns:p14="http://schemas.microsoft.com/office/powerpoint/2010/main" val="2890946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b="1" dirty="0"/>
              <a:t>Implications of Contingency Approach</a:t>
            </a:r>
            <a:endParaRPr lang="en-IN" sz="3200" dirty="0"/>
          </a:p>
        </p:txBody>
      </p:sp>
      <p:sp>
        <p:nvSpPr>
          <p:cNvPr id="3" name="Content Placeholder 2"/>
          <p:cNvSpPr>
            <a:spLocks noGrp="1"/>
          </p:cNvSpPr>
          <p:nvPr>
            <p:ph idx="1"/>
          </p:nvPr>
        </p:nvSpPr>
        <p:spPr/>
        <p:txBody>
          <a:bodyPr/>
          <a:lstStyle/>
          <a:p>
            <a:pPr marL="114300" indent="0">
              <a:buNone/>
            </a:pPr>
            <a:r>
              <a:rPr lang="en-US" dirty="0"/>
              <a:t>2.</a:t>
            </a:r>
            <a:r>
              <a:rPr lang="en-IN" dirty="0"/>
              <a:t> The approach </a:t>
            </a:r>
            <a:r>
              <a:rPr lang="en-IN" b="1" dirty="0"/>
              <a:t>suggests suitable alternatives</a:t>
            </a:r>
            <a:r>
              <a:rPr lang="en-IN" dirty="0"/>
              <a:t> for those managerial actions which are generally contingent upon the external and internal environments such as organisational design, strategy formulation, decision systems, influence systems, leadership, and organisational improvement. </a:t>
            </a:r>
          </a:p>
          <a:p>
            <a:pPr marL="114300" indent="0">
              <a:buNone/>
            </a:pPr>
            <a:r>
              <a:rPr lang="en-IN" dirty="0"/>
              <a:t>In all these cases, action alternatives cannot be arranged in advance but have to be identified and adjusted according to the situations in which decisions in respect of these have to be made.</a:t>
            </a:r>
          </a:p>
          <a:p>
            <a:endParaRPr lang="en-IN" dirty="0"/>
          </a:p>
        </p:txBody>
      </p:sp>
    </p:spTree>
    <p:extLst>
      <p:ext uri="{BB962C8B-B14F-4D97-AF65-F5344CB8AC3E}">
        <p14:creationId xmlns:p14="http://schemas.microsoft.com/office/powerpoint/2010/main" val="4636537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b="1" dirty="0"/>
              <a:t>Implications of Contingency Approach</a:t>
            </a:r>
            <a:endParaRPr lang="en-IN" sz="3200" dirty="0"/>
          </a:p>
        </p:txBody>
      </p:sp>
      <p:sp>
        <p:nvSpPr>
          <p:cNvPr id="3" name="Content Placeholder 2"/>
          <p:cNvSpPr>
            <a:spLocks noGrp="1"/>
          </p:cNvSpPr>
          <p:nvPr>
            <p:ph idx="1"/>
          </p:nvPr>
        </p:nvSpPr>
        <p:spPr/>
        <p:txBody>
          <a:bodyPr/>
          <a:lstStyle/>
          <a:p>
            <a:pPr marL="114300" indent="0">
              <a:buNone/>
            </a:pPr>
            <a:r>
              <a:rPr lang="en-US" dirty="0" smtClean="0"/>
              <a:t>3.</a:t>
            </a:r>
            <a:r>
              <a:rPr lang="en-IN" dirty="0"/>
              <a:t> The contingency approach suggests that since the organisation interacts with its environment, </a:t>
            </a:r>
            <a:r>
              <a:rPr lang="en-IN" b="1" dirty="0"/>
              <a:t>neither the organisation nor any of its subsystems are free to take absolute action</a:t>
            </a:r>
            <a:r>
              <a:rPr lang="en-IN" dirty="0"/>
              <a:t>. </a:t>
            </a:r>
            <a:endParaRPr lang="en-IN" dirty="0" smtClean="0"/>
          </a:p>
          <a:p>
            <a:r>
              <a:rPr lang="en-IN" dirty="0" smtClean="0"/>
              <a:t>Rather</a:t>
            </a:r>
            <a:r>
              <a:rPr lang="en-IN" dirty="0"/>
              <a:t>, it has to modify and adjust the actions subject to various forces like social, political, technical, and economic.</a:t>
            </a:r>
            <a:r>
              <a:rPr lang="en-IN" dirty="0"/>
              <a:t/>
            </a:r>
            <a:br>
              <a:rPr lang="en-IN" dirty="0"/>
            </a:br>
            <a:endParaRPr lang="en-IN" dirty="0"/>
          </a:p>
        </p:txBody>
      </p:sp>
    </p:spTree>
    <p:extLst>
      <p:ext uri="{BB962C8B-B14F-4D97-AF65-F5344CB8AC3E}">
        <p14:creationId xmlns:p14="http://schemas.microsoft.com/office/powerpoint/2010/main" val="42503027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b="1" dirty="0"/>
              <a:t>Limitations of Contingency </a:t>
            </a:r>
            <a:r>
              <a:rPr lang="en-IN" sz="3200" b="1" dirty="0" smtClean="0"/>
              <a:t>Approach</a:t>
            </a:r>
            <a:endParaRPr lang="en-IN" dirty="0"/>
          </a:p>
        </p:txBody>
      </p:sp>
      <p:sp>
        <p:nvSpPr>
          <p:cNvPr id="3" name="Content Placeholder 2"/>
          <p:cNvSpPr>
            <a:spLocks noGrp="1"/>
          </p:cNvSpPr>
          <p:nvPr>
            <p:ph idx="1"/>
          </p:nvPr>
        </p:nvSpPr>
        <p:spPr/>
        <p:txBody>
          <a:bodyPr/>
          <a:lstStyle/>
          <a:p>
            <a:pPr fontAlgn="base"/>
            <a:r>
              <a:rPr lang="en-IN" dirty="0"/>
              <a:t>These are the limitations of contingency approach briefly explained below:</a:t>
            </a:r>
          </a:p>
          <a:p>
            <a:pPr marL="571500" indent="-457200" fontAlgn="base">
              <a:buFont typeface="+mj-lt"/>
              <a:buAutoNum type="arabicParenR"/>
            </a:pPr>
            <a:r>
              <a:rPr lang="en-IN" dirty="0"/>
              <a:t>Inadequate </a:t>
            </a:r>
            <a:r>
              <a:rPr lang="en-IN" dirty="0" smtClean="0"/>
              <a:t>Literature</a:t>
            </a:r>
          </a:p>
          <a:p>
            <a:pPr marL="571500" indent="-457200" fontAlgn="base">
              <a:buFont typeface="+mj-lt"/>
              <a:buAutoNum type="arabicParenR"/>
            </a:pPr>
            <a:r>
              <a:rPr lang="en-IN" dirty="0" smtClean="0"/>
              <a:t>Complex</a:t>
            </a:r>
            <a:endParaRPr lang="en-IN" dirty="0"/>
          </a:p>
          <a:p>
            <a:pPr marL="571500" indent="-457200" fontAlgn="base">
              <a:buFont typeface="+mj-lt"/>
              <a:buAutoNum type="arabicParenR"/>
            </a:pPr>
            <a:r>
              <a:rPr lang="en-IN" dirty="0" smtClean="0"/>
              <a:t>Difficult </a:t>
            </a:r>
            <a:r>
              <a:rPr lang="en-IN" dirty="0"/>
              <a:t>Empirical </a:t>
            </a:r>
            <a:r>
              <a:rPr lang="en-IN" dirty="0" smtClean="0"/>
              <a:t>Testing</a:t>
            </a:r>
          </a:p>
          <a:p>
            <a:pPr marL="571500" indent="-457200" fontAlgn="base">
              <a:buFont typeface="+mj-lt"/>
              <a:buAutoNum type="arabicParenR"/>
            </a:pPr>
            <a:r>
              <a:rPr lang="en-IN" dirty="0" smtClean="0"/>
              <a:t>Reactive </a:t>
            </a:r>
            <a:r>
              <a:rPr lang="en-IN" dirty="0"/>
              <a:t>Not Proactive</a:t>
            </a:r>
          </a:p>
          <a:p>
            <a:pPr marL="114300" indent="0">
              <a:buNone/>
            </a:pPr>
            <a:r>
              <a:rPr lang="en-IN" dirty="0"/>
              <a:t/>
            </a:r>
            <a:br>
              <a:rPr lang="en-IN" dirty="0"/>
            </a:br>
            <a:endParaRPr lang="en-IN" dirty="0"/>
          </a:p>
        </p:txBody>
      </p:sp>
    </p:spTree>
    <p:extLst>
      <p:ext uri="{BB962C8B-B14F-4D97-AF65-F5344CB8AC3E}">
        <p14:creationId xmlns:p14="http://schemas.microsoft.com/office/powerpoint/2010/main" val="39702280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536" y="1124744"/>
            <a:ext cx="7811199" cy="5184576"/>
          </a:xfrm>
          <a:prstGeom prst="rect">
            <a:avLst/>
          </a:prstGeom>
        </p:spPr>
      </p:pic>
    </p:spTree>
    <p:extLst>
      <p:ext uri="{BB962C8B-B14F-4D97-AF65-F5344CB8AC3E}">
        <p14:creationId xmlns:p14="http://schemas.microsoft.com/office/powerpoint/2010/main" val="110448666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230</TotalTime>
  <Words>1424</Words>
  <Application>Microsoft Office PowerPoint</Application>
  <PresentationFormat>On-screen Show (4:3)</PresentationFormat>
  <Paragraphs>145</Paragraphs>
  <Slides>31</Slides>
  <Notes>0</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Adjacency</vt:lpstr>
      <vt:lpstr>CONTEMPORARY/ MODERN MANAGEMENT</vt:lpstr>
      <vt:lpstr>INTRODUCTION</vt:lpstr>
      <vt:lpstr>PowerPoint Presentation</vt:lpstr>
      <vt:lpstr>Types of modern management theories</vt:lpstr>
      <vt:lpstr>1.Systems approach</vt:lpstr>
      <vt:lpstr>PowerPoint Presentation</vt:lpstr>
      <vt:lpstr>Contd..,</vt:lpstr>
      <vt:lpstr>Organization as Open System</vt:lpstr>
      <vt:lpstr>PowerPoint Presentation</vt:lpstr>
      <vt:lpstr>Features of System Approach</vt:lpstr>
      <vt:lpstr>PowerPoint Presentation</vt:lpstr>
      <vt:lpstr>PowerPoint Presentation</vt:lpstr>
      <vt:lpstr>PowerPoint Presentation</vt:lpstr>
      <vt:lpstr>PowerPoint Presentation</vt:lpstr>
      <vt:lpstr>PowerPoint Presentation</vt:lpstr>
      <vt:lpstr>Features of Management as a System</vt:lpstr>
      <vt:lpstr>Features of Management as a System</vt:lpstr>
      <vt:lpstr>Features of Management as a System</vt:lpstr>
      <vt:lpstr>Features of Management as a System</vt:lpstr>
      <vt:lpstr>Features of Management as a System</vt:lpstr>
      <vt:lpstr>2.Contingency approach</vt:lpstr>
      <vt:lpstr>PowerPoint Presentation</vt:lpstr>
      <vt:lpstr>PowerPoint Presentation</vt:lpstr>
      <vt:lpstr>Features of Contingency Approach</vt:lpstr>
      <vt:lpstr>PowerPoint Presentation</vt:lpstr>
      <vt:lpstr>PowerPoint Presentation</vt:lpstr>
      <vt:lpstr>Implications of Contingency Approach</vt:lpstr>
      <vt:lpstr>Implications of Contingency Approach</vt:lpstr>
      <vt:lpstr>Implications of Contingency Approach</vt:lpstr>
      <vt:lpstr>Limitations of Contingency Approach</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CONTEMPORARY/ MODERN MANAGEMENT</dc:title>
  <dc:creator>Home</dc:creator>
  <cp:lastModifiedBy>Home</cp:lastModifiedBy>
  <cp:revision>10</cp:revision>
  <dcterms:created xsi:type="dcterms:W3CDTF">2023-07-19T13:58:54Z</dcterms:created>
  <dcterms:modified xsi:type="dcterms:W3CDTF">2023-07-20T14:27:53Z</dcterms:modified>
</cp:coreProperties>
</file>