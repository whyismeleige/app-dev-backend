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71" autoAdjust="0"/>
  </p:normalViewPr>
  <p:slideViewPr>
    <p:cSldViewPr>
      <p:cViewPr varScale="1">
        <p:scale>
          <a:sx n="70" d="100"/>
          <a:sy n="70" d="100"/>
        </p:scale>
        <p:origin x="-138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1748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C3313-3ADE-4E7E-B50B-A4410D86B3F4}" type="datetimeFigureOut">
              <a:rPr lang="en-IN" smtClean="0"/>
              <a:t>25-07-2023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08B9AB8-F774-4602-909B-ACAFD33BF87E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C3313-3ADE-4E7E-B50B-A4410D86B3F4}" type="datetimeFigureOut">
              <a:rPr lang="en-IN" smtClean="0"/>
              <a:t>25-07-2023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E08B9AB8-F774-4602-909B-ACAFD33BF87E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C3313-3ADE-4E7E-B50B-A4410D86B3F4}" type="datetimeFigureOut">
              <a:rPr lang="en-IN" smtClean="0"/>
              <a:t>25-07-2023</a:t>
            </a:fld>
            <a:endParaRPr lang="en-IN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08B9AB8-F774-4602-909B-ACAFD33BF87E}" type="slidenum">
              <a:rPr lang="en-IN" smtClean="0"/>
              <a:t>‹#›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19AC3313-3ADE-4E7E-B50B-A4410D86B3F4}" type="datetimeFigureOut">
              <a:rPr lang="en-IN" smtClean="0"/>
              <a:t>25-07-2023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B9AB8-F774-4602-909B-ACAFD33BF87E}" type="slidenum">
              <a:rPr lang="en-IN" smtClean="0"/>
              <a:t>‹#›</a:t>
            </a:fld>
            <a:endParaRPr lang="en-IN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C3313-3ADE-4E7E-B50B-A4410D86B3F4}" type="datetimeFigureOut">
              <a:rPr lang="en-IN" smtClean="0"/>
              <a:t>25-07-2023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E08B9AB8-F774-4602-909B-ACAFD33BF87E}" type="slidenum">
              <a:rPr lang="en-IN" smtClean="0"/>
              <a:t>‹#›</a:t>
            </a:fld>
            <a:endParaRPr lang="en-IN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C3313-3ADE-4E7E-B50B-A4410D86B3F4}" type="datetimeFigureOut">
              <a:rPr lang="en-IN" smtClean="0"/>
              <a:t>25-07-2023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E08B9AB8-F774-4602-909B-ACAFD33BF87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C3313-3ADE-4E7E-B50B-A4410D86B3F4}" type="datetimeFigureOut">
              <a:rPr lang="en-IN" smtClean="0"/>
              <a:t>25-07-2023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08B9AB8-F774-4602-909B-ACAFD33BF87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08B9AB8-F774-4602-909B-ACAFD33BF87E}" type="slidenum">
              <a:rPr lang="en-IN" smtClean="0"/>
              <a:t>‹#›</a:t>
            </a:fld>
            <a:endParaRPr lang="en-IN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C3313-3ADE-4E7E-B50B-A4410D86B3F4}" type="datetimeFigureOut">
              <a:rPr lang="en-IN" smtClean="0"/>
              <a:t>25-07-2023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E08B9AB8-F774-4602-909B-ACAFD33BF87E}" type="slidenum">
              <a:rPr lang="en-IN" smtClean="0"/>
              <a:t>‹#›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19AC3313-3ADE-4E7E-B50B-A4410D86B3F4}" type="datetimeFigureOut">
              <a:rPr lang="en-IN" smtClean="0"/>
              <a:t>25-07-2023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C3313-3ADE-4E7E-B50B-A4410D86B3F4}" type="datetimeFigureOut">
              <a:rPr lang="en-IN" smtClean="0"/>
              <a:t>25-07-2023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B9AB8-F774-4602-909B-ACAFD33BF87E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E08B9AB8-F774-4602-909B-ACAFD33BF87E}" type="slidenum">
              <a:rPr lang="en-IN" smtClean="0"/>
              <a:t>‹#›</a:t>
            </a:fld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C3313-3ADE-4E7E-B50B-A4410D86B3F4}" type="datetimeFigureOut">
              <a:rPr lang="en-IN" smtClean="0"/>
              <a:t>25-07-2023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19AC3313-3ADE-4E7E-B50B-A4410D86B3F4}" type="datetimeFigureOut">
              <a:rPr lang="en-IN" smtClean="0"/>
              <a:t>25-07-2023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08B9AB8-F774-4602-909B-ACAFD33BF87E}" type="slidenum">
              <a:rPr lang="en-IN" smtClean="0"/>
              <a:t>‹#›</a:t>
            </a:fld>
            <a:endParaRPr lang="en-IN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lh4.googleusercontent.com/-pe0zcEGr0-k/TjRoHI8_yuI/AAAAAAAAFC4/pczqZlwG_QM/Steps-in-Organising-Process-Organisation-as-a-Process.png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b="0" dirty="0">
                <a:latin typeface="Calibri" pitchFamily="34" charset="0"/>
                <a:cs typeface="Calibri" pitchFamily="34" charset="0"/>
              </a:rPr>
              <a:t>PLANNING AND ORGANISING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endParaRPr lang="en-IN" sz="24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400" b="0" dirty="0">
                <a:latin typeface="Calibri" pitchFamily="34" charset="0"/>
                <a:cs typeface="Calibri" pitchFamily="34" charset="0"/>
              </a:rPr>
              <a:t>UNIT-II</a:t>
            </a:r>
            <a:r>
              <a:rPr lang="en-IN" sz="2400" b="0" dirty="0">
                <a:latin typeface="Calibri" pitchFamily="34" charset="0"/>
                <a:cs typeface="Calibri" pitchFamily="34" charset="0"/>
              </a:rPr>
              <a:t/>
            </a:r>
            <a:br>
              <a:rPr lang="en-IN" sz="2400" b="0" dirty="0">
                <a:latin typeface="Calibri" pitchFamily="34" charset="0"/>
                <a:cs typeface="Calibri" pitchFamily="34" charset="0"/>
              </a:rPr>
            </a:br>
            <a:endParaRPr lang="en-IN" sz="2400" b="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1437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0" dirty="0">
                <a:latin typeface="Calibri" pitchFamily="34" charset="0"/>
                <a:cs typeface="Calibri" pitchFamily="34" charset="0"/>
              </a:rPr>
              <a:t>FUNCTIONS OF MANAGEMENT</a:t>
            </a: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: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b="0" dirty="0">
                <a:latin typeface="Calibri" pitchFamily="34" charset="0"/>
                <a:cs typeface="Calibri" pitchFamily="34" charset="0"/>
              </a:rPr>
              <a:t>According to KOONTZ and O’DONNELL they can be classified under basic heads, namely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US" sz="2400" b="0" dirty="0">
                <a:latin typeface="Calibri" pitchFamily="34" charset="0"/>
                <a:cs typeface="Calibri" pitchFamily="34" charset="0"/>
              </a:rPr>
              <a:t>Planning 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Organizing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Staffing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Directing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Controlling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endParaRPr lang="en-IN" sz="2400" b="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7330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0" cap="all" dirty="0" smtClean="0">
                <a:latin typeface="Calibri" pitchFamily="34" charset="0"/>
                <a:cs typeface="Calibri" pitchFamily="34" charset="0"/>
              </a:rPr>
              <a:t>Planning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998296"/>
          </a:xfrm>
        </p:spPr>
        <p:txBody>
          <a:bodyPr>
            <a:normAutofit/>
          </a:bodyPr>
          <a:lstStyle/>
          <a:p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Pre-determined course of action.</a:t>
            </a:r>
          </a:p>
          <a:p>
            <a:r>
              <a:rPr lang="en-US" sz="2400" b="0" dirty="0">
                <a:latin typeface="Calibri" pitchFamily="34" charset="0"/>
                <a:cs typeface="Calibri" pitchFamily="34" charset="0"/>
              </a:rPr>
              <a:t>“Preparing a sketch or an outline of any proposed plan of actions”. 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r>
              <a:rPr lang="en-US" sz="2400" b="0" dirty="0">
                <a:latin typeface="Calibri" pitchFamily="34" charset="0"/>
                <a:cs typeface="Calibri" pitchFamily="34" charset="0"/>
              </a:rPr>
              <a:t>The process of planning thus involves the following activities: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en-US" sz="2400" b="0" dirty="0">
                <a:latin typeface="Calibri" pitchFamily="34" charset="0"/>
                <a:cs typeface="Calibri" pitchFamily="34" charset="0"/>
              </a:rPr>
              <a:t>Laying down </a:t>
            </a: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objectives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Developing </a:t>
            </a:r>
            <a:r>
              <a:rPr lang="en-US" sz="2400" b="0" dirty="0">
                <a:latin typeface="Calibri" pitchFamily="34" charset="0"/>
                <a:cs typeface="Calibri" pitchFamily="34" charset="0"/>
              </a:rPr>
              <a:t>planning </a:t>
            </a: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premises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Searching </a:t>
            </a:r>
            <a:r>
              <a:rPr lang="en-US" sz="2400" b="0" dirty="0">
                <a:latin typeface="Calibri" pitchFamily="34" charset="0"/>
                <a:cs typeface="Calibri" pitchFamily="34" charset="0"/>
              </a:rPr>
              <a:t>alternative courses of </a:t>
            </a: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action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Evaluation </a:t>
            </a:r>
            <a:r>
              <a:rPr lang="en-US" sz="2400" b="0" dirty="0">
                <a:latin typeface="Calibri" pitchFamily="34" charset="0"/>
                <a:cs typeface="Calibri" pitchFamily="34" charset="0"/>
              </a:rPr>
              <a:t>of various alternatives and formulation of a </a:t>
            </a: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plan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Formulating </a:t>
            </a:r>
            <a:r>
              <a:rPr lang="en-US" sz="2400" b="0" dirty="0">
                <a:latin typeface="Calibri" pitchFamily="34" charset="0"/>
                <a:cs typeface="Calibri" pitchFamily="34" charset="0"/>
              </a:rPr>
              <a:t>policies and </a:t>
            </a: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procedures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Preparing </a:t>
            </a:r>
            <a:r>
              <a:rPr lang="en-US" sz="2400" b="0" dirty="0">
                <a:latin typeface="Calibri" pitchFamily="34" charset="0"/>
                <a:cs typeface="Calibri" pitchFamily="34" charset="0"/>
              </a:rPr>
              <a:t>schedules, </a:t>
            </a:r>
            <a:r>
              <a:rPr lang="en-US" sz="2400" b="0" dirty="0" err="1">
                <a:latin typeface="Calibri" pitchFamily="34" charset="0"/>
                <a:cs typeface="Calibri" pitchFamily="34" charset="0"/>
              </a:rPr>
              <a:t>programmes</a:t>
            </a:r>
            <a:r>
              <a:rPr lang="en-US" sz="2400" b="0" dirty="0">
                <a:latin typeface="Calibri" pitchFamily="34" charset="0"/>
                <a:cs typeface="Calibri" pitchFamily="34" charset="0"/>
              </a:rPr>
              <a:t> and budgets.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endParaRPr lang="en-IN" sz="2400" b="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5548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0" cap="all" dirty="0" err="1" smtClean="0">
                <a:latin typeface="Calibri" pitchFamily="34" charset="0"/>
                <a:cs typeface="Calibri" pitchFamily="34" charset="0"/>
              </a:rPr>
              <a:t>OrganisING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b="0" dirty="0">
                <a:latin typeface="Calibri" pitchFamily="34" charset="0"/>
                <a:cs typeface="Calibri" pitchFamily="34" charset="0"/>
              </a:rPr>
              <a:t>To organize means to put into working order and arrange in a system. </a:t>
            </a:r>
            <a:endParaRPr lang="en-US" sz="2400" b="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Process of arranging human resources  &amp; other resources to work together in order to attain organizational goals.</a:t>
            </a:r>
          </a:p>
        </p:txBody>
      </p:sp>
      <p:pic>
        <p:nvPicPr>
          <p:cNvPr id="1026" name="Picture 1" descr="Description: steps in organising process">
            <a:hlinkClick r:id="rId2" tooltip="&quot;Steps in Organising Process - Organisation as a Process&quot;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140968"/>
            <a:ext cx="7416824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94178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0" cap="all" dirty="0">
                <a:latin typeface="Calibri" pitchFamily="34" charset="0"/>
                <a:cs typeface="Calibri" pitchFamily="34" charset="0"/>
              </a:rPr>
              <a:t>Staffing 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5070304"/>
          </a:xfrm>
        </p:spPr>
        <p:txBody>
          <a:bodyPr>
            <a:normAutofit/>
          </a:bodyPr>
          <a:lstStyle/>
          <a:p>
            <a:r>
              <a:rPr lang="en-US" sz="2400" b="0" dirty="0">
                <a:latin typeface="Calibri" pitchFamily="34" charset="0"/>
                <a:cs typeface="Calibri" pitchFamily="34" charset="0"/>
              </a:rPr>
              <a:t>D</a:t>
            </a: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efined </a:t>
            </a:r>
            <a:r>
              <a:rPr lang="en-US" sz="2400" b="0" dirty="0">
                <a:latin typeface="Calibri" pitchFamily="34" charset="0"/>
                <a:cs typeface="Calibri" pitchFamily="34" charset="0"/>
              </a:rPr>
              <a:t>as manning and keeping manned the positions provided by the organization structure. </a:t>
            </a:r>
            <a:endParaRPr lang="en-US" sz="2400" b="0" dirty="0" smtClean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endParaRPr lang="en-US" sz="2400" b="0" dirty="0" smtClean="0">
              <a:latin typeface="Calibri" pitchFamily="34" charset="0"/>
              <a:cs typeface="Calibri" pitchFamily="34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en-US" sz="2400" b="0" dirty="0">
                <a:latin typeface="Calibri" pitchFamily="34" charset="0"/>
                <a:cs typeface="Calibri" pitchFamily="34" charset="0"/>
              </a:rPr>
              <a:t>Man power planning i.e. determining the number and the kind of personnel </a:t>
            </a: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required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Recruitment </a:t>
            </a:r>
            <a:r>
              <a:rPr lang="en-US" sz="2400" b="0" dirty="0">
                <a:latin typeface="Calibri" pitchFamily="34" charset="0"/>
                <a:cs typeface="Calibri" pitchFamily="34" charset="0"/>
              </a:rPr>
              <a:t>of </a:t>
            </a: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personnel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Selection </a:t>
            </a:r>
            <a:r>
              <a:rPr lang="en-US" sz="2400" b="0" dirty="0">
                <a:latin typeface="Calibri" pitchFamily="34" charset="0"/>
                <a:cs typeface="Calibri" pitchFamily="34" charset="0"/>
              </a:rPr>
              <a:t>of the more suitable </a:t>
            </a: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person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Placement </a:t>
            </a:r>
            <a:r>
              <a:rPr lang="en-US" sz="2400" b="0" dirty="0">
                <a:latin typeface="Calibri" pitchFamily="34" charset="0"/>
                <a:cs typeface="Calibri" pitchFamily="34" charset="0"/>
              </a:rPr>
              <a:t>and orientation of </a:t>
            </a: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employees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Training </a:t>
            </a:r>
            <a:r>
              <a:rPr lang="en-US" sz="2400" b="0" dirty="0">
                <a:latin typeface="Calibri" pitchFamily="34" charset="0"/>
                <a:cs typeface="Calibri" pitchFamily="34" charset="0"/>
              </a:rPr>
              <a:t>and development of </a:t>
            </a: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employees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Proper </a:t>
            </a:r>
            <a:r>
              <a:rPr lang="en-US" sz="2400" b="0" dirty="0">
                <a:latin typeface="Calibri" pitchFamily="34" charset="0"/>
                <a:cs typeface="Calibri" pitchFamily="34" charset="0"/>
              </a:rPr>
              <a:t>evaluation of </a:t>
            </a: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employees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Transfer</a:t>
            </a:r>
            <a:r>
              <a:rPr lang="en-US" sz="2400" b="0" dirty="0">
                <a:latin typeface="Calibri" pitchFamily="34" charset="0"/>
                <a:cs typeface="Calibri" pitchFamily="34" charset="0"/>
              </a:rPr>
              <a:t>, promotion, termination and layoff of employees.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pPr>
              <a:buFont typeface="Wingdings" pitchFamily="2" charset="2"/>
              <a:buChar char="Ø"/>
            </a:pPr>
            <a:endParaRPr lang="en-IN" sz="2400" b="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3263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0" cap="all" dirty="0" smtClean="0">
                <a:latin typeface="Calibri" pitchFamily="34" charset="0"/>
                <a:cs typeface="Calibri" pitchFamily="34" charset="0"/>
              </a:rPr>
              <a:t>Directing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b="0" dirty="0">
                <a:latin typeface="Calibri" pitchFamily="34" charset="0"/>
                <a:cs typeface="Calibri" pitchFamily="34" charset="0"/>
              </a:rPr>
              <a:t>To direct means to guide and supervise any action or conduct</a:t>
            </a: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.</a:t>
            </a:r>
          </a:p>
          <a:p>
            <a:r>
              <a:rPr lang="en-US" sz="2400" b="0" dirty="0">
                <a:latin typeface="Calibri" pitchFamily="34" charset="0"/>
                <a:cs typeface="Calibri" pitchFamily="34" charset="0"/>
              </a:rPr>
              <a:t>It implies guidance or instructions about what to do and how to do it. </a:t>
            </a:r>
            <a:endParaRPr lang="en-US" sz="2400" b="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400" b="0" dirty="0">
                <a:latin typeface="Calibri" pitchFamily="34" charset="0"/>
                <a:cs typeface="Calibri" pitchFamily="34" charset="0"/>
              </a:rPr>
              <a:t>Direction function involves: 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en-US" sz="2400" b="0" dirty="0">
                <a:latin typeface="Calibri" pitchFamily="34" charset="0"/>
                <a:cs typeface="Calibri" pitchFamily="34" charset="0"/>
              </a:rPr>
              <a:t>Issuing orders and instructions to subordinates. 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Guiding</a:t>
            </a:r>
            <a:r>
              <a:rPr lang="en-US" sz="2400" b="0" dirty="0">
                <a:latin typeface="Calibri" pitchFamily="34" charset="0"/>
                <a:cs typeface="Calibri" pitchFamily="34" charset="0"/>
              </a:rPr>
              <a:t>, training, energizing and leading the subordinates to perform the work </a:t>
            </a: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methodically.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Exercising </a:t>
            </a:r>
            <a:r>
              <a:rPr lang="en-US" sz="2400" b="0" dirty="0">
                <a:latin typeface="Calibri" pitchFamily="34" charset="0"/>
                <a:cs typeface="Calibri" pitchFamily="34" charset="0"/>
              </a:rPr>
              <a:t>supervision over the work done by subordinates to ensure </a:t>
            </a: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that </a:t>
            </a:r>
            <a:r>
              <a:rPr lang="en-US" sz="2400" b="0" dirty="0">
                <a:latin typeface="Calibri" pitchFamily="34" charset="0"/>
                <a:cs typeface="Calibri" pitchFamily="34" charset="0"/>
              </a:rPr>
              <a:t>it is </a:t>
            </a: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in </a:t>
            </a:r>
            <a:r>
              <a:rPr lang="en-US" sz="2400" b="0" dirty="0">
                <a:latin typeface="Calibri" pitchFamily="34" charset="0"/>
                <a:cs typeface="Calibri" pitchFamily="34" charset="0"/>
              </a:rPr>
              <a:t>conformity with aims and objectives of the enterprise.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endParaRPr lang="en-IN" sz="2400" b="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885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0" cap="all" dirty="0" smtClean="0">
                <a:latin typeface="Calibri" pitchFamily="34" charset="0"/>
                <a:cs typeface="Calibri" pitchFamily="34" charset="0"/>
              </a:rPr>
              <a:t>Controlling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Controlling </a:t>
            </a:r>
            <a:r>
              <a:rPr lang="en-US" sz="2400" b="0" dirty="0">
                <a:latin typeface="Calibri" pitchFamily="34" charset="0"/>
                <a:cs typeface="Calibri" pitchFamily="34" charset="0"/>
              </a:rPr>
              <a:t>can be defined as “comparing results with plans and taking corrective action when results deviate from plans.”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r>
              <a:rPr lang="en-US" sz="2400" b="0" dirty="0">
                <a:latin typeface="Calibri" pitchFamily="34" charset="0"/>
                <a:cs typeface="Calibri" pitchFamily="34" charset="0"/>
              </a:rPr>
              <a:t>process of controlling thus involves the following;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en-US" sz="2400" b="0" dirty="0">
                <a:latin typeface="Calibri" pitchFamily="34" charset="0"/>
                <a:cs typeface="Calibri" pitchFamily="34" charset="0"/>
              </a:rPr>
              <a:t>Determination of standards for measuring work </a:t>
            </a: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performance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Measurement </a:t>
            </a:r>
            <a:r>
              <a:rPr lang="en-US" sz="2400" b="0" dirty="0">
                <a:latin typeface="Calibri" pitchFamily="34" charset="0"/>
                <a:cs typeface="Calibri" pitchFamily="34" charset="0"/>
              </a:rPr>
              <a:t>of actual </a:t>
            </a: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performance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Comparing </a:t>
            </a:r>
            <a:r>
              <a:rPr lang="en-US" sz="2400" b="0" dirty="0">
                <a:latin typeface="Calibri" pitchFamily="34" charset="0"/>
                <a:cs typeface="Calibri" pitchFamily="34" charset="0"/>
              </a:rPr>
              <a:t>actual performance with the </a:t>
            </a: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standard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Finding </a:t>
            </a:r>
            <a:r>
              <a:rPr lang="en-US" sz="2400" b="0" dirty="0">
                <a:latin typeface="Calibri" pitchFamily="34" charset="0"/>
                <a:cs typeface="Calibri" pitchFamily="34" charset="0"/>
              </a:rPr>
              <a:t>variance between the actual and the standards and the reasons for the </a:t>
            </a: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same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Taking </a:t>
            </a:r>
            <a:r>
              <a:rPr lang="en-US" sz="2400" b="0" dirty="0">
                <a:latin typeface="Calibri" pitchFamily="34" charset="0"/>
                <a:cs typeface="Calibri" pitchFamily="34" charset="0"/>
              </a:rPr>
              <a:t>corrective action to ensure attainment of objectives</a:t>
            </a: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.</a:t>
            </a:r>
          </a:p>
          <a:p>
            <a:pPr marL="0" lvl="0" indent="0">
              <a:buNone/>
            </a:pPr>
            <a:r>
              <a:rPr lang="en-US" sz="2400" b="0" dirty="0">
                <a:latin typeface="Calibri" pitchFamily="34" charset="0"/>
                <a:cs typeface="Calibri" pitchFamily="34" charset="0"/>
              </a:rPr>
              <a:t>	</a:t>
            </a: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For </a:t>
            </a:r>
            <a:r>
              <a:rPr lang="en-US" sz="2400" b="0" dirty="0">
                <a:latin typeface="Calibri" pitchFamily="34" charset="0"/>
                <a:cs typeface="Calibri" pitchFamily="34" charset="0"/>
              </a:rPr>
              <a:t>control to be effective and fruitful, it must be based on a plan.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endParaRPr lang="en-IN" sz="2400" b="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358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0" dirty="0">
                <a:latin typeface="Calibri" pitchFamily="34" charset="0"/>
                <a:cs typeface="Calibri" pitchFamily="34" charset="0"/>
              </a:rPr>
              <a:t>POSDCORB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	POSDCORB </a:t>
            </a:r>
            <a:r>
              <a:rPr lang="en-US" sz="2400" b="0" dirty="0">
                <a:latin typeface="Calibri" pitchFamily="34" charset="0"/>
                <a:cs typeface="Calibri" pitchFamily="34" charset="0"/>
              </a:rPr>
              <a:t>is an acronym which </a:t>
            </a: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means</a:t>
            </a:r>
          </a:p>
          <a:p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0" dirty="0">
                <a:latin typeface="Calibri" pitchFamily="34" charset="0"/>
                <a:cs typeface="Calibri" pitchFamily="34" charset="0"/>
              </a:rPr>
              <a:t>Planning, </a:t>
            </a:r>
            <a:endParaRPr lang="en-US" sz="2400" b="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Organizing</a:t>
            </a:r>
            <a:r>
              <a:rPr lang="en-US" sz="2400" b="0" dirty="0">
                <a:latin typeface="Calibri" pitchFamily="34" charset="0"/>
                <a:cs typeface="Calibri" pitchFamily="34" charset="0"/>
              </a:rPr>
              <a:t>, </a:t>
            </a:r>
            <a:endParaRPr lang="en-US" sz="2400" b="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Staffing</a:t>
            </a:r>
            <a:r>
              <a:rPr lang="en-US" sz="2400" b="0" dirty="0">
                <a:latin typeface="Calibri" pitchFamily="34" charset="0"/>
                <a:cs typeface="Calibri" pitchFamily="34" charset="0"/>
              </a:rPr>
              <a:t>, </a:t>
            </a:r>
            <a:endParaRPr lang="en-US" sz="2400" b="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Directing</a:t>
            </a:r>
            <a:r>
              <a:rPr lang="en-US" sz="2400" b="0" dirty="0">
                <a:latin typeface="Calibri" pitchFamily="34" charset="0"/>
                <a:cs typeface="Calibri" pitchFamily="34" charset="0"/>
              </a:rPr>
              <a:t>, </a:t>
            </a:r>
            <a:endParaRPr lang="en-US" sz="2400" b="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Coordinating</a:t>
            </a:r>
            <a:r>
              <a:rPr lang="en-US" sz="2400" b="0" dirty="0">
                <a:latin typeface="Calibri" pitchFamily="34" charset="0"/>
                <a:cs typeface="Calibri" pitchFamily="34" charset="0"/>
              </a:rPr>
              <a:t>, </a:t>
            </a:r>
            <a:endParaRPr lang="en-US" sz="2400" b="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Reporting </a:t>
            </a:r>
            <a:r>
              <a:rPr lang="en-US" sz="2400" b="0" dirty="0">
                <a:latin typeface="Calibri" pitchFamily="34" charset="0"/>
                <a:cs typeface="Calibri" pitchFamily="34" charset="0"/>
              </a:rPr>
              <a:t>and </a:t>
            </a:r>
            <a:endParaRPr lang="en-US" sz="2400" b="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Budgeting </a:t>
            </a:r>
          </a:p>
          <a:p>
            <a:pPr marL="0" indent="0">
              <a:buNone/>
            </a:pPr>
            <a:r>
              <a:rPr lang="en-US" sz="2400" b="0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  which </a:t>
            </a:r>
            <a:r>
              <a:rPr lang="en-US" sz="2400" b="0" dirty="0">
                <a:latin typeface="Calibri" pitchFamily="34" charset="0"/>
                <a:cs typeface="Calibri" pitchFamily="34" charset="0"/>
              </a:rPr>
              <a:t>was first coined in a paper on administrative management that was written for the Brownlow Committee by Luther </a:t>
            </a:r>
            <a:r>
              <a:rPr lang="en-US" sz="2400" b="0" dirty="0" err="1">
                <a:latin typeface="Calibri" pitchFamily="34" charset="0"/>
                <a:cs typeface="Calibri" pitchFamily="34" charset="0"/>
              </a:rPr>
              <a:t>Gulick</a:t>
            </a:r>
            <a:r>
              <a:rPr lang="en-US" sz="2400" b="0" dirty="0">
                <a:latin typeface="Calibri" pitchFamily="34" charset="0"/>
                <a:cs typeface="Calibri" pitchFamily="34" charset="0"/>
              </a:rPr>
              <a:t> and </a:t>
            </a:r>
            <a:r>
              <a:rPr lang="en-US" sz="2400" b="0" dirty="0" err="1">
                <a:latin typeface="Calibri" pitchFamily="34" charset="0"/>
                <a:cs typeface="Calibri" pitchFamily="34" charset="0"/>
              </a:rPr>
              <a:t>Lyndall</a:t>
            </a:r>
            <a:r>
              <a:rPr lang="en-US" sz="2400" b="0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0" dirty="0" err="1">
                <a:latin typeface="Calibri" pitchFamily="34" charset="0"/>
                <a:cs typeface="Calibri" pitchFamily="34" charset="0"/>
              </a:rPr>
              <a:t>Urwick</a:t>
            </a:r>
            <a:r>
              <a:rPr lang="en-US" sz="2400" b="0" dirty="0">
                <a:latin typeface="Calibri" pitchFamily="34" charset="0"/>
                <a:cs typeface="Calibri" pitchFamily="34" charset="0"/>
              </a:rPr>
              <a:t>.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658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0" dirty="0">
                <a:latin typeface="Calibri" pitchFamily="34" charset="0"/>
                <a:cs typeface="Calibri" pitchFamily="34" charset="0"/>
              </a:rPr>
              <a:t>Steps of </a:t>
            </a: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POSDCORB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POSDCORB </a:t>
            </a:r>
            <a:r>
              <a:rPr lang="en-US" sz="2400" b="0" dirty="0">
                <a:latin typeface="Calibri" pitchFamily="34" charset="0"/>
                <a:cs typeface="Calibri" pitchFamily="34" charset="0"/>
              </a:rPr>
              <a:t>is a series of steps for </a:t>
            </a: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management</a:t>
            </a:r>
          </a:p>
          <a:p>
            <a:r>
              <a:rPr lang="en-US" sz="2400" b="0" dirty="0">
                <a:latin typeface="Calibri" pitchFamily="34" charset="0"/>
                <a:cs typeface="Calibri" pitchFamily="34" charset="0"/>
              </a:rPr>
              <a:t>1.Planning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r>
              <a:rPr lang="en-US" sz="2400" b="0" dirty="0">
                <a:latin typeface="Calibri" pitchFamily="34" charset="0"/>
                <a:cs typeface="Calibri" pitchFamily="34" charset="0"/>
              </a:rPr>
              <a:t>This essentially refers to establishing a broad sketch of the work to be completed and the procedures incorporated to implement them.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r>
              <a:rPr lang="en-US" sz="2400" b="0" dirty="0">
                <a:latin typeface="Calibri" pitchFamily="34" charset="0"/>
                <a:cs typeface="Calibri" pitchFamily="34" charset="0"/>
              </a:rPr>
              <a:t>Planning is the first and most important step in POSDCORB as it sets the overall structure of the process with activities and timelines.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endParaRPr lang="en-US" sz="2400" b="0" dirty="0" smtClean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15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2.Organizing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b="0" dirty="0">
                <a:latin typeface="Calibri" pitchFamily="34" charset="0"/>
                <a:cs typeface="Calibri" pitchFamily="34" charset="0"/>
              </a:rPr>
              <a:t>Organizing involves formally classifying, defining and synchronizing the various sub-processes or subdivisions of the work to be done. 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r>
              <a:rPr lang="en-US" sz="2400" b="0" dirty="0">
                <a:latin typeface="Calibri" pitchFamily="34" charset="0"/>
                <a:cs typeface="Calibri" pitchFamily="34" charset="0"/>
              </a:rPr>
              <a:t>It makes sure that the activities and timelines in the first step of planning are refined and organized further so that right people can be staffed to execute these tasks.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endParaRPr lang="en-IN" sz="2400" b="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528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3.Staffing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b="0" dirty="0">
                <a:latin typeface="Calibri" pitchFamily="34" charset="0"/>
                <a:cs typeface="Calibri" pitchFamily="34" charset="0"/>
              </a:rPr>
              <a:t>This involves recruiting and selecting the right candidates for the job and facilitating their orientation and training while maintaining a favorable work environment.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r>
              <a:rPr lang="en-US" sz="2400" b="0" dirty="0">
                <a:latin typeface="Calibri" pitchFamily="34" charset="0"/>
                <a:cs typeface="Calibri" pitchFamily="34" charset="0"/>
              </a:rPr>
              <a:t>4.Directing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r>
              <a:rPr lang="en-US" sz="2400" b="0" dirty="0">
                <a:latin typeface="Calibri" pitchFamily="34" charset="0"/>
                <a:cs typeface="Calibri" pitchFamily="34" charset="0"/>
              </a:rPr>
              <a:t>This entails decision making and delegating structured instructions and orders to execute them.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r>
              <a:rPr lang="en-US" sz="2400" b="0" dirty="0">
                <a:latin typeface="Calibri" pitchFamily="34" charset="0"/>
                <a:cs typeface="Calibri" pitchFamily="34" charset="0"/>
              </a:rPr>
              <a:t>Directing is an important step in the POSDCORB cycle as it makes thing happen by giving clear objectives to teams and individuals.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endParaRPr lang="en-IN" sz="2400" b="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5591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5.Coordinating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b="0" dirty="0">
                <a:latin typeface="Calibri" pitchFamily="34" charset="0"/>
                <a:cs typeface="Calibri" pitchFamily="34" charset="0"/>
              </a:rPr>
              <a:t>This basically refers to orchestrating and interlinking the various components of the work.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r>
              <a:rPr lang="en-US" sz="2400" b="0" dirty="0">
                <a:latin typeface="Calibri" pitchFamily="34" charset="0"/>
                <a:cs typeface="Calibri" pitchFamily="34" charset="0"/>
              </a:rPr>
              <a:t>6.Reporting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r>
              <a:rPr lang="en-US" sz="2400" b="0" dirty="0">
                <a:latin typeface="Calibri" pitchFamily="34" charset="0"/>
                <a:cs typeface="Calibri" pitchFamily="34" charset="0"/>
              </a:rPr>
              <a:t>Reporting involves regularly updating the superior about the progress or the work related activities. The information dissemination can be through records or inspection.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r>
              <a:rPr lang="en-US" sz="2400" b="0" dirty="0">
                <a:latin typeface="Calibri" pitchFamily="34" charset="0"/>
                <a:cs typeface="Calibri" pitchFamily="34" charset="0"/>
              </a:rPr>
              <a:t>7.Budgeting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r>
              <a:rPr lang="en-US" sz="2400" b="0" dirty="0">
                <a:latin typeface="Calibri" pitchFamily="34" charset="0"/>
                <a:cs typeface="Calibri" pitchFamily="34" charset="0"/>
              </a:rPr>
              <a:t>Budgeting involves all the activities that under Auditing, Accounting, Fiscal Planning and Control.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endParaRPr lang="en-IN" sz="2400" b="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3120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548680"/>
            <a:ext cx="6552728" cy="5832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51728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0" dirty="0">
                <a:latin typeface="Calibri" pitchFamily="34" charset="0"/>
                <a:cs typeface="Calibri" pitchFamily="34" charset="0"/>
              </a:rPr>
              <a:t>Importance of </a:t>
            </a: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POSDCORB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0" dirty="0">
                <a:latin typeface="Calibri" pitchFamily="34" charset="0"/>
                <a:cs typeface="Calibri" pitchFamily="34" charset="0"/>
              </a:rPr>
              <a:t>Every business needs to have systematic framework in ensuring there is maximum output, minimum wastage and higher margins. </a:t>
            </a:r>
            <a:endParaRPr lang="en-US" sz="2400" b="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POSDCORB </a:t>
            </a:r>
            <a:r>
              <a:rPr lang="en-US" sz="2400" b="0" dirty="0">
                <a:latin typeface="Calibri" pitchFamily="34" charset="0"/>
                <a:cs typeface="Calibri" pitchFamily="34" charset="0"/>
              </a:rPr>
              <a:t>is one such method in management where workforce and employees can be managed in a way which would be beneficial for a company.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r>
              <a:rPr lang="en-US" sz="2400" b="0" dirty="0">
                <a:latin typeface="Calibri" pitchFamily="34" charset="0"/>
                <a:cs typeface="Calibri" pitchFamily="34" charset="0"/>
              </a:rPr>
              <a:t>This concept helps organizations to break down the work into multiple processes and help in getting maximum value out to each employee</a:t>
            </a: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.</a:t>
            </a:r>
          </a:p>
          <a:p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0" dirty="0">
                <a:latin typeface="Calibri" pitchFamily="34" charset="0"/>
                <a:cs typeface="Calibri" pitchFamily="34" charset="0"/>
              </a:rPr>
              <a:t>These steps and stages of POSDCORB help the HR team to deliver to the needs of a company.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r>
              <a:rPr lang="en-US" sz="2400" b="0" dirty="0">
                <a:latin typeface="Calibri" pitchFamily="34" charset="0"/>
                <a:cs typeface="Calibri" pitchFamily="34" charset="0"/>
              </a:rPr>
              <a:t> 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endParaRPr lang="en-IN" sz="2400" b="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5507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0" dirty="0">
                <a:latin typeface="Calibri" pitchFamily="34" charset="0"/>
                <a:cs typeface="Calibri" pitchFamily="34" charset="0"/>
              </a:rPr>
              <a:t>SKILLS OF MANAGER</a:t>
            </a: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: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b="0" dirty="0">
                <a:latin typeface="Calibri" pitchFamily="34" charset="0"/>
                <a:cs typeface="Calibri" pitchFamily="34" charset="0"/>
              </a:rPr>
              <a:t>5 Managerial Skills are;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r>
              <a:rPr lang="en-US" sz="2400" b="0" dirty="0">
                <a:latin typeface="Calibri" pitchFamily="34" charset="0"/>
                <a:cs typeface="Calibri" pitchFamily="34" charset="0"/>
              </a:rPr>
              <a:t>1. Technical Skill: Technical skill is knowledge of and proficiency in activities involving methods, processes, and procedures.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r>
              <a:rPr lang="en-US" sz="2400" b="0" dirty="0">
                <a:latin typeface="Calibri" pitchFamily="34" charset="0"/>
                <a:cs typeface="Calibri" pitchFamily="34" charset="0"/>
              </a:rPr>
              <a:t>Thus it involves working with tools and specific techniques. </a:t>
            </a:r>
            <a:endParaRPr lang="en-US" sz="2400" b="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Technical </a:t>
            </a:r>
            <a:r>
              <a:rPr lang="en-US" sz="2400" b="0" dirty="0">
                <a:latin typeface="Calibri" pitchFamily="34" charset="0"/>
                <a:cs typeface="Calibri" pitchFamily="34" charset="0"/>
              </a:rPr>
              <a:t>skill is the ability to use the specialized knowledge, procedures, and techniques of a field of activities.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endParaRPr lang="en-IN" sz="2400" b="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41181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1412776"/>
            <a:ext cx="8503920" cy="4686272"/>
          </a:xfrm>
        </p:spPr>
        <p:txBody>
          <a:bodyPr>
            <a:normAutofit/>
          </a:bodyPr>
          <a:lstStyle/>
          <a:p>
            <a:r>
              <a:rPr lang="en-US" sz="2400" b="0" dirty="0">
                <a:latin typeface="Calibri" pitchFamily="34" charset="0"/>
                <a:cs typeface="Calibri" pitchFamily="34" charset="0"/>
              </a:rPr>
              <a:t>Most managers, especially at the lower and middle levels, need technical skills for effective task performance. </a:t>
            </a:r>
            <a:endParaRPr lang="en-US" sz="2400" b="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For </a:t>
            </a:r>
            <a:r>
              <a:rPr lang="en-US" sz="2400" b="0" dirty="0">
                <a:latin typeface="Calibri" pitchFamily="34" charset="0"/>
                <a:cs typeface="Calibri" pitchFamily="34" charset="0"/>
              </a:rPr>
              <a:t>example, mechanics work with tools, and their supervisors should have the ability to teach them how to use these tools.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r>
              <a:rPr lang="en-US" sz="2400" b="0" dirty="0">
                <a:latin typeface="Calibri" pitchFamily="34" charset="0"/>
                <a:cs typeface="Calibri" pitchFamily="34" charset="0"/>
              </a:rPr>
              <a:t>Similarly, accountants apply specific techniques in doing their job. </a:t>
            </a:r>
            <a:endParaRPr lang="en-US" sz="2400" b="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This </a:t>
            </a:r>
            <a:r>
              <a:rPr lang="en-US" sz="2400" b="0" dirty="0">
                <a:latin typeface="Calibri" pitchFamily="34" charset="0"/>
                <a:cs typeface="Calibri" pitchFamily="34" charset="0"/>
              </a:rPr>
              <a:t>skill is most necessary and valuable at a supervisory level or first-level/first-level management.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endParaRPr lang="en-IN" sz="2400" b="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33036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0" dirty="0">
                <a:latin typeface="Calibri" pitchFamily="34" charset="0"/>
                <a:cs typeface="Calibri" pitchFamily="34" charset="0"/>
              </a:rPr>
              <a:t>2. Conceptual Skill: 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Conceptual </a:t>
            </a:r>
            <a:r>
              <a:rPr lang="en-US" sz="2400" b="0" dirty="0">
                <a:latin typeface="Calibri" pitchFamily="34" charset="0"/>
                <a:cs typeface="Calibri" pitchFamily="34" charset="0"/>
              </a:rPr>
              <a:t>skill is the ability to see the “big picture,” to recognize significant elements in a situation and to understand the relationships among the elements</a:t>
            </a: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.</a:t>
            </a:r>
          </a:p>
          <a:p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It requires having the ability to visualize the enterprise as a whole, to envision all the functions involved in a given situation or circumstance, to understand how its parts depend on one another and anticipate how a change in any of its parts will affect the whole.</a:t>
            </a:r>
            <a:endParaRPr lang="en-IN" sz="2400" b="0" dirty="0" smtClean="0">
              <a:latin typeface="Calibri" pitchFamily="34" charset="0"/>
              <a:cs typeface="Calibri" pitchFamily="34" charset="0"/>
            </a:endParaRPr>
          </a:p>
          <a:p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endParaRPr lang="en-IN" sz="2400" b="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418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0" dirty="0">
                <a:latin typeface="Calibri" pitchFamily="34" charset="0"/>
                <a:cs typeface="Calibri" pitchFamily="34" charset="0"/>
              </a:rPr>
              <a:t>3. Interpersonal and Communication Skills: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b="0" dirty="0">
                <a:latin typeface="Calibri" pitchFamily="34" charset="0"/>
                <a:cs typeface="Calibri" pitchFamily="34" charset="0"/>
              </a:rPr>
              <a:t>Communication skill for a manager is a must.  The manager must be able to convey ideas and information to others and receive information and ideas from others effectively.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r>
              <a:rPr lang="en-US" sz="2400" b="0" dirty="0">
                <a:latin typeface="Calibri" pitchFamily="34" charset="0"/>
                <a:cs typeface="Calibri" pitchFamily="34" charset="0"/>
              </a:rPr>
              <a:t>Communication skill enables a manager to perform them properly. Most of his time, a manager’s job is to interact with people inside and outside of the organization.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r>
              <a:rPr lang="en-US" sz="2400" b="0" dirty="0">
                <a:latin typeface="Calibri" pitchFamily="34" charset="0"/>
                <a:cs typeface="Calibri" pitchFamily="34" charset="0"/>
              </a:rPr>
              <a:t>A manager requires having an effective Interpersonal and communication skill to keep the responsibilities given to him.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endParaRPr lang="en-IN" sz="2400" b="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4344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0" dirty="0">
                <a:latin typeface="Calibri" pitchFamily="34" charset="0"/>
                <a:cs typeface="Calibri" pitchFamily="34" charset="0"/>
              </a:rPr>
              <a:t>4. Decision-Making Skill: 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b="0" dirty="0">
                <a:latin typeface="Calibri" pitchFamily="34" charset="0"/>
                <a:cs typeface="Calibri" pitchFamily="34" charset="0"/>
              </a:rPr>
              <a:t>A</a:t>
            </a: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0" dirty="0">
                <a:latin typeface="Calibri" pitchFamily="34" charset="0"/>
                <a:cs typeface="Calibri" pitchFamily="34" charset="0"/>
              </a:rPr>
              <a:t>manager’s job is to make decisions that will lead the organization to the attainment of is goals</a:t>
            </a:r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.</a:t>
            </a:r>
          </a:p>
          <a:p>
            <a:r>
              <a:rPr lang="en-US" sz="2400" b="0" dirty="0" smtClean="0">
                <a:latin typeface="Calibri" pitchFamily="34" charset="0"/>
                <a:cs typeface="Calibri" pitchFamily="34" charset="0"/>
              </a:rPr>
              <a:t>The skill that makes a manager able to recognize opportunities and threat and then select an appropriate course of action to tackle them efficiently so that the organization can benefit them.</a:t>
            </a:r>
          </a:p>
          <a:p>
            <a:pPr marL="0" indent="0">
              <a:buNone/>
            </a:pP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r>
              <a:rPr lang="en-US" sz="2400" b="0" dirty="0">
                <a:latin typeface="Calibri" pitchFamily="34" charset="0"/>
                <a:cs typeface="Calibri" pitchFamily="34" charset="0"/>
              </a:rPr>
              <a:t>Training or educating is also a good method to develop the Decision making the skill of a manager.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endParaRPr lang="en-IN" sz="2400" b="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4783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0" dirty="0">
                <a:latin typeface="Calibri" pitchFamily="34" charset="0"/>
                <a:cs typeface="Calibri" pitchFamily="34" charset="0"/>
              </a:rPr>
              <a:t>5. Diagnostic and Analytical Skills:</a:t>
            </a:r>
            <a:endParaRPr lang="en-IN" sz="24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Diagnostic skill refers to the ability to visualize the best response to a situation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.</a:t>
            </a: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Analytical skill means, the ability to identify the key variables in a 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situation.</a:t>
            </a: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After that is also helps a manager to visualize the result or outcomes of these approaches. This skill sounds similar to the decision making skill, but it is the skill required to make the decision.</a:t>
            </a:r>
            <a:endParaRPr lang="en-IN" sz="2400" dirty="0">
              <a:latin typeface="Calibri" pitchFamily="34" charset="0"/>
              <a:cs typeface="Calibri" pitchFamily="34" charset="0"/>
            </a:endParaRPr>
          </a:p>
          <a:p>
            <a:endParaRPr lang="en-IN" sz="2400" b="0" dirty="0">
              <a:latin typeface="Calibri" pitchFamily="34" charset="0"/>
              <a:cs typeface="Calibri" pitchFamily="34" charset="0"/>
            </a:endParaRPr>
          </a:p>
          <a:p>
            <a:endParaRPr lang="en-IN" sz="2400" b="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4325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32</TotalTime>
  <Words>1001</Words>
  <Application>Microsoft Office PowerPoint</Application>
  <PresentationFormat>On-screen Show (4:3)</PresentationFormat>
  <Paragraphs>108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Civic</vt:lpstr>
      <vt:lpstr>UNIT-II </vt:lpstr>
      <vt:lpstr>FUNCTIONS OF MANAGEMENT:</vt:lpstr>
      <vt:lpstr>Planning</vt:lpstr>
      <vt:lpstr>OrganisING</vt:lpstr>
      <vt:lpstr>Staffing </vt:lpstr>
      <vt:lpstr>Directing</vt:lpstr>
      <vt:lpstr>Controlling</vt:lpstr>
      <vt:lpstr>POSDCORB</vt:lpstr>
      <vt:lpstr>Steps of POSDCORB</vt:lpstr>
      <vt:lpstr>2.Organizing</vt:lpstr>
      <vt:lpstr>3.Staffing</vt:lpstr>
      <vt:lpstr>5.Coordinating</vt:lpstr>
      <vt:lpstr>PowerPoint Presentation</vt:lpstr>
      <vt:lpstr>Importance of POSDCORB</vt:lpstr>
      <vt:lpstr>SKILLS OF MANAGER:</vt:lpstr>
      <vt:lpstr>PowerPoint Presentation</vt:lpstr>
      <vt:lpstr>2. Conceptual Skill: </vt:lpstr>
      <vt:lpstr>3. Interpersonal and Communication Skills:</vt:lpstr>
      <vt:lpstr>4. Decision-Making Skill: </vt:lpstr>
      <vt:lpstr>5. Diagnostic and Analytical Skills: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UNIT-II</dc:title>
  <dc:creator>Home</dc:creator>
  <cp:lastModifiedBy>Home</cp:lastModifiedBy>
  <cp:revision>4</cp:revision>
  <dcterms:created xsi:type="dcterms:W3CDTF">2023-07-25T13:44:43Z</dcterms:created>
  <dcterms:modified xsi:type="dcterms:W3CDTF">2023-07-25T14:17:27Z</dcterms:modified>
</cp:coreProperties>
</file>