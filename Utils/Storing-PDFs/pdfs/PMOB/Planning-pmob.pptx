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9" r:id="rId8"/>
    <p:sldId id="270" r:id="rId9"/>
    <p:sldId id="268" r:id="rId10"/>
    <p:sldId id="271" r:id="rId11"/>
    <p:sldId id="26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varScale="1">
        <p:scale>
          <a:sx n="70" d="100"/>
          <a:sy n="70" d="100"/>
        </p:scale>
        <p:origin x="-1386" y="-90"/>
      </p:cViewPr>
      <p:guideLst>
        <p:guide orient="horz" pos="2160"/>
        <p:guide pos="2880"/>
      </p:guideLst>
    </p:cSldViewPr>
  </p:slideViewPr>
  <p:outlineViewPr>
    <p:cViewPr>
      <p:scale>
        <a:sx n="33" d="100"/>
        <a:sy n="33" d="100"/>
      </p:scale>
      <p:origin x="0" y="56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1A236B6-D8FA-496C-908B-03FF4DA5EFD1}" type="datetimeFigureOut">
              <a:rPr lang="en-IN" smtClean="0"/>
              <a:t>26-07-2023</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EB3D97FB-A374-429D-A005-20B1FCB1A43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EB3D97FB-A374-429D-A005-20B1FCB1A436}"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EB3D97FB-A374-429D-A005-20B1FCB1A436}"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EB3D97FB-A374-429D-A005-20B1FCB1A436}"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EB3D97FB-A374-429D-A005-20B1FCB1A43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EB3D97FB-A374-429D-A005-20B1FCB1A436}"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EB3D97FB-A374-429D-A005-20B1FCB1A43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1A236B6-D8FA-496C-908B-03FF4DA5EFD1}" type="datetimeFigureOut">
              <a:rPr lang="en-IN" smtClean="0"/>
              <a:t>26-07-2023</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EB3D97FB-A374-429D-A005-20B1FCB1A43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1A236B6-D8FA-496C-908B-03FF4DA5EFD1}" type="datetimeFigureOut">
              <a:rPr lang="en-IN" smtClean="0"/>
              <a:t>26-07-2023</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EB3D97FB-A374-429D-A005-20B1FCB1A436}"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EB3D97FB-A374-429D-A005-20B1FCB1A43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1A236B6-D8FA-496C-908B-03FF4DA5EFD1}" type="datetimeFigureOut">
              <a:rPr lang="en-IN" smtClean="0"/>
              <a:t>26-07-2023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EB3D97FB-A374-429D-A005-20B1FCB1A43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1A236B6-D8FA-496C-908B-03FF4DA5EFD1}" type="datetimeFigureOut">
              <a:rPr lang="en-IN" smtClean="0"/>
              <a:t>26-07-2023</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EB3D97FB-A374-429D-A005-20B1FCB1A43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2400" b="0" dirty="0">
                <a:latin typeface="Calibri" pitchFamily="34" charset="0"/>
                <a:cs typeface="Calibri" pitchFamily="34" charset="0"/>
              </a:rPr>
              <a:t>Planning</a:t>
            </a:r>
            <a:r>
              <a:rPr lang="en-IN" sz="2400" b="0" dirty="0">
                <a:latin typeface="Calibri" pitchFamily="34" charset="0"/>
                <a:cs typeface="Calibri" pitchFamily="34" charset="0"/>
              </a:rPr>
              <a:t/>
            </a:r>
            <a:br>
              <a:rPr lang="en-IN" sz="2400" b="0" dirty="0">
                <a:latin typeface="Calibri" pitchFamily="34" charset="0"/>
                <a:cs typeface="Calibri" pitchFamily="34" charset="0"/>
              </a:rPr>
            </a:br>
            <a:endParaRPr lang="en-IN" sz="2400" b="0" dirty="0">
              <a:latin typeface="Calibri" pitchFamily="34" charset="0"/>
              <a:cs typeface="Calibri" pitchFamily="34" charset="0"/>
            </a:endParaRPr>
          </a:p>
        </p:txBody>
      </p:sp>
      <p:sp>
        <p:nvSpPr>
          <p:cNvPr id="3" name="Subtitle 2"/>
          <p:cNvSpPr>
            <a:spLocks noGrp="1"/>
          </p:cNvSpPr>
          <p:nvPr>
            <p:ph type="subTitle" idx="1"/>
          </p:nvPr>
        </p:nvSpPr>
        <p:spPr/>
        <p:txBody>
          <a:bodyPr/>
          <a:lstStyle/>
          <a:p>
            <a:r>
              <a:rPr lang="en-US" sz="2400" b="0" dirty="0">
                <a:latin typeface="Calibri" pitchFamily="34" charset="0"/>
                <a:cs typeface="Calibri" pitchFamily="34" charset="0"/>
              </a:rPr>
              <a:t>Introduction, Concept, Meaning &amp; Definition</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18726069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b="0" dirty="0">
                <a:latin typeface="Calibri" pitchFamily="34" charset="0"/>
                <a:cs typeface="Calibri" pitchFamily="34" charset="0"/>
              </a:rPr>
              <a:t>Planning is the primary function of management</a:t>
            </a:r>
            <a:r>
              <a:rPr lang="en-US" sz="2400" b="0" dirty="0" smtClean="0">
                <a:latin typeface="Calibri" pitchFamily="34" charset="0"/>
                <a:cs typeface="Calibri" pitchFamily="34" charset="0"/>
              </a:rPr>
              <a:t>.</a:t>
            </a:r>
          </a:p>
          <a:p>
            <a:r>
              <a:rPr lang="en-US" sz="2400" b="0" dirty="0" smtClean="0">
                <a:latin typeface="Calibri" pitchFamily="34" charset="0"/>
                <a:cs typeface="Calibri" pitchFamily="34" charset="0"/>
              </a:rPr>
              <a:t> </a:t>
            </a:r>
            <a:r>
              <a:rPr lang="en-US" sz="2400" b="0" dirty="0">
                <a:latin typeface="Calibri" pitchFamily="34" charset="0"/>
                <a:cs typeface="Calibri" pitchFamily="34" charset="0"/>
              </a:rPr>
              <a:t>It is the important process of deciding business objectives and charting out the method to accomplish these goals. </a:t>
            </a:r>
            <a:endParaRPr lang="en-US" sz="2400" b="0" dirty="0" smtClean="0">
              <a:latin typeface="Calibri" pitchFamily="34" charset="0"/>
              <a:cs typeface="Calibri" pitchFamily="34" charset="0"/>
            </a:endParaRPr>
          </a:p>
          <a:p>
            <a:r>
              <a:rPr lang="en-US" sz="2400" b="0" dirty="0">
                <a:latin typeface="Calibri" pitchFamily="34" charset="0"/>
                <a:cs typeface="Calibri" pitchFamily="34" charset="0"/>
              </a:rPr>
              <a:t>This includes decision of what type of activity is to be done, where to be done and how the results to be analyzed.</a:t>
            </a:r>
            <a:endParaRPr lang="en-IN" sz="2400" b="0" dirty="0">
              <a:latin typeface="Calibri" pitchFamily="34" charset="0"/>
              <a:cs typeface="Calibri" pitchFamily="34" charset="0"/>
            </a:endParaRPr>
          </a:p>
          <a:p>
            <a:endParaRPr lang="en-IN" sz="2400" b="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2400" b="0" dirty="0">
                <a:latin typeface="Calibri" pitchFamily="34" charset="0"/>
                <a:cs typeface="Calibri" pitchFamily="34" charset="0"/>
              </a:rPr>
              <a:t>Introduction</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15419601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b="0" dirty="0">
                <a:latin typeface="Calibri" pitchFamily="34" charset="0"/>
                <a:cs typeface="Calibri" pitchFamily="34" charset="0"/>
              </a:rPr>
              <a:t>"Planning is deciding in advance what to do, how to do it, when to do it and who is to do it. It bridges the gap from where we are and to where we want to go. It is an essence of the exercise of foresight</a:t>
            </a:r>
            <a:r>
              <a:rPr lang="en-US" sz="2400" b="0" dirty="0" smtClean="0">
                <a:latin typeface="Calibri" pitchFamily="34" charset="0"/>
                <a:cs typeface="Calibri" pitchFamily="34" charset="0"/>
              </a:rPr>
              <a:t>.”</a:t>
            </a:r>
          </a:p>
          <a:p>
            <a:pPr marL="0" indent="0">
              <a:buNone/>
            </a:pPr>
            <a:r>
              <a:rPr lang="en-US" sz="2400" b="0" dirty="0">
                <a:latin typeface="Calibri" pitchFamily="34" charset="0"/>
                <a:cs typeface="Calibri" pitchFamily="34" charset="0"/>
              </a:rPr>
              <a:t> </a:t>
            </a:r>
            <a:r>
              <a:rPr lang="en-US" sz="2400" b="0" dirty="0" smtClean="0">
                <a:latin typeface="Calibri" pitchFamily="34" charset="0"/>
                <a:cs typeface="Calibri" pitchFamily="34" charset="0"/>
              </a:rPr>
              <a:t>                                          </a:t>
            </a:r>
            <a:r>
              <a:rPr lang="en-US" sz="2400" b="0" dirty="0">
                <a:latin typeface="Calibri" pitchFamily="34" charset="0"/>
                <a:cs typeface="Calibri" pitchFamily="34" charset="0"/>
              </a:rPr>
              <a:t>Koontz and </a:t>
            </a:r>
            <a:r>
              <a:rPr lang="en-US" sz="2400" b="0" dirty="0" err="1">
                <a:latin typeface="Calibri" pitchFamily="34" charset="0"/>
                <a:cs typeface="Calibri" pitchFamily="34" charset="0"/>
              </a:rPr>
              <a:t>O'Donnel</a:t>
            </a:r>
            <a:r>
              <a:rPr lang="en-US" sz="2400" b="0" dirty="0">
                <a:latin typeface="Calibri" pitchFamily="34" charset="0"/>
                <a:cs typeface="Calibri" pitchFamily="34" charset="0"/>
              </a:rPr>
              <a:t> </a:t>
            </a:r>
            <a:endParaRPr lang="en-IN" sz="2400" b="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2400" b="0" dirty="0" smtClean="0">
                <a:latin typeface="Calibri" pitchFamily="34" charset="0"/>
                <a:cs typeface="Calibri" pitchFamily="34" charset="0"/>
              </a:rPr>
              <a:t>Definition-1</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13565169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b="0" dirty="0">
                <a:latin typeface="Calibri" pitchFamily="34" charset="0"/>
                <a:cs typeface="Calibri" pitchFamily="34" charset="0"/>
              </a:rPr>
              <a:t>"Planning is deciding in advance what is to be </a:t>
            </a:r>
            <a:r>
              <a:rPr lang="en-US" sz="2400" b="0" dirty="0" smtClean="0">
                <a:latin typeface="Calibri" pitchFamily="34" charset="0"/>
                <a:cs typeface="Calibri" pitchFamily="34" charset="0"/>
              </a:rPr>
              <a:t>done”</a:t>
            </a:r>
          </a:p>
          <a:p>
            <a:pPr marL="0" indent="0">
              <a:buNone/>
            </a:pPr>
            <a:r>
              <a:rPr lang="en-US" sz="2400" b="0" dirty="0">
                <a:latin typeface="Calibri" pitchFamily="34" charset="0"/>
                <a:cs typeface="Calibri" pitchFamily="34" charset="0"/>
              </a:rPr>
              <a:t>	</a:t>
            </a:r>
            <a:r>
              <a:rPr lang="en-US" sz="2400" b="0" dirty="0" smtClean="0">
                <a:latin typeface="Calibri" pitchFamily="34" charset="0"/>
                <a:cs typeface="Calibri" pitchFamily="34" charset="0"/>
              </a:rPr>
              <a:t>					M.S</a:t>
            </a:r>
            <a:r>
              <a:rPr lang="en-US" sz="2400" b="0" dirty="0">
                <a:latin typeface="Calibri" pitchFamily="34" charset="0"/>
                <a:cs typeface="Calibri" pitchFamily="34" charset="0"/>
              </a:rPr>
              <a:t>. </a:t>
            </a:r>
            <a:r>
              <a:rPr lang="en-US" sz="2400" b="0" dirty="0" smtClean="0">
                <a:latin typeface="Calibri" pitchFamily="34" charset="0"/>
                <a:cs typeface="Calibri" pitchFamily="34" charset="0"/>
              </a:rPr>
              <a:t>Hardly</a:t>
            </a:r>
          </a:p>
          <a:p>
            <a:pPr marL="0" indent="0">
              <a:buNone/>
            </a:pPr>
            <a:endParaRPr lang="en-US" sz="2400" b="0" dirty="0">
              <a:latin typeface="Calibri" pitchFamily="34" charset="0"/>
              <a:cs typeface="Calibri" pitchFamily="34" charset="0"/>
            </a:endParaRPr>
          </a:p>
          <a:p>
            <a:pPr marL="0" indent="0">
              <a:buNone/>
            </a:pPr>
            <a:r>
              <a:rPr lang="en-US" sz="2400" b="0" dirty="0">
                <a:latin typeface="Calibri" pitchFamily="34" charset="0"/>
                <a:cs typeface="Calibri" pitchFamily="34" charset="0"/>
              </a:rPr>
              <a:t>"It can be said that planning is first function of the manager in which he has to decide in advance action that is to be done." </a:t>
            </a:r>
            <a:endParaRPr lang="en-US" sz="2400" b="0" dirty="0" smtClean="0">
              <a:latin typeface="Calibri" pitchFamily="34" charset="0"/>
              <a:cs typeface="Calibri" pitchFamily="34" charset="0"/>
            </a:endParaRPr>
          </a:p>
          <a:p>
            <a:pPr marL="0" indent="0">
              <a:buNone/>
            </a:pPr>
            <a:r>
              <a:rPr lang="en-US" sz="2400" b="0" dirty="0">
                <a:latin typeface="Calibri" pitchFamily="34" charset="0"/>
                <a:cs typeface="Calibri" pitchFamily="34" charset="0"/>
              </a:rPr>
              <a:t>	</a:t>
            </a:r>
            <a:r>
              <a:rPr lang="en-US" sz="2400" b="0" dirty="0" smtClean="0">
                <a:latin typeface="Calibri" pitchFamily="34" charset="0"/>
                <a:cs typeface="Calibri" pitchFamily="34" charset="0"/>
              </a:rPr>
              <a:t>				</a:t>
            </a:r>
            <a:r>
              <a:rPr lang="en-US" sz="2400" b="0" dirty="0" err="1">
                <a:latin typeface="Calibri" pitchFamily="34" charset="0"/>
                <a:cs typeface="Calibri" pitchFamily="34" charset="0"/>
              </a:rPr>
              <a:t>Heying</a:t>
            </a:r>
            <a:r>
              <a:rPr lang="en-US" sz="2400" b="0" dirty="0">
                <a:latin typeface="Calibri" pitchFamily="34" charset="0"/>
                <a:cs typeface="Calibri" pitchFamily="34" charset="0"/>
              </a:rPr>
              <a:t> and Massie </a:t>
            </a:r>
            <a:r>
              <a:rPr lang="en-US" sz="2400" b="0" dirty="0" smtClean="0">
                <a:latin typeface="Calibri" pitchFamily="34" charset="0"/>
                <a:cs typeface="Calibri" pitchFamily="34" charset="0"/>
              </a:rPr>
              <a:t>								                                                      </a:t>
            </a:r>
            <a:endParaRPr lang="en-IN" sz="2400" b="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2400" b="0" dirty="0" smtClean="0">
                <a:latin typeface="Calibri" pitchFamily="34" charset="0"/>
                <a:cs typeface="Calibri" pitchFamily="34" charset="0"/>
              </a:rPr>
              <a:t>Definitions</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2508413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b="0" dirty="0">
                <a:latin typeface="Calibri" pitchFamily="34" charset="0"/>
                <a:cs typeface="Calibri" pitchFamily="34" charset="0"/>
              </a:rPr>
              <a:t>Plans have numerous benefits. </a:t>
            </a:r>
            <a:endParaRPr lang="en-US" sz="2400" b="0" dirty="0" smtClean="0">
              <a:latin typeface="Calibri" pitchFamily="34" charset="0"/>
              <a:cs typeface="Calibri" pitchFamily="34" charset="0"/>
            </a:endParaRPr>
          </a:p>
          <a:p>
            <a:r>
              <a:rPr lang="en-US" sz="2400" b="0" dirty="0" smtClean="0">
                <a:latin typeface="Calibri" pitchFamily="34" charset="0"/>
                <a:cs typeface="Calibri" pitchFamily="34" charset="0"/>
              </a:rPr>
              <a:t>Planning </a:t>
            </a:r>
            <a:r>
              <a:rPr lang="en-US" sz="2400" b="0" dirty="0">
                <a:latin typeface="Calibri" pitchFamily="34" charset="0"/>
                <a:cs typeface="Calibri" pitchFamily="34" charset="0"/>
              </a:rPr>
              <a:t>enables managers to think ahead. It leads to development of performance standards</a:t>
            </a:r>
            <a:r>
              <a:rPr lang="en-US" sz="2400" b="0" dirty="0" smtClean="0">
                <a:latin typeface="Calibri" pitchFamily="34" charset="0"/>
                <a:cs typeface="Calibri" pitchFamily="34" charset="0"/>
              </a:rPr>
              <a:t>.</a:t>
            </a:r>
          </a:p>
          <a:p>
            <a:r>
              <a:rPr lang="en-US" sz="2400" b="0" dirty="0" smtClean="0">
                <a:latin typeface="Calibri" pitchFamily="34" charset="0"/>
                <a:cs typeface="Calibri" pitchFamily="34" charset="0"/>
              </a:rPr>
              <a:t> </a:t>
            </a:r>
            <a:r>
              <a:rPr lang="en-US" sz="2400" b="0" dirty="0">
                <a:latin typeface="Calibri" pitchFamily="34" charset="0"/>
                <a:cs typeface="Calibri" pitchFamily="34" charset="0"/>
              </a:rPr>
              <a:t>Plan forces management to articulate clear objectives. </a:t>
            </a:r>
            <a:endParaRPr lang="en-US" sz="2400" b="0" dirty="0" smtClean="0">
              <a:latin typeface="Calibri" pitchFamily="34" charset="0"/>
              <a:cs typeface="Calibri" pitchFamily="34" charset="0"/>
            </a:endParaRPr>
          </a:p>
          <a:p>
            <a:r>
              <a:rPr lang="en-US" sz="2400" b="0" dirty="0" smtClean="0">
                <a:latin typeface="Calibri" pitchFamily="34" charset="0"/>
                <a:cs typeface="Calibri" pitchFamily="34" charset="0"/>
              </a:rPr>
              <a:t>Planning </a:t>
            </a:r>
            <a:r>
              <a:rPr lang="en-US" sz="2400" b="0" dirty="0">
                <a:latin typeface="Calibri" pitchFamily="34" charset="0"/>
                <a:cs typeface="Calibri" pitchFamily="34" charset="0"/>
              </a:rPr>
              <a:t>makes organization to get ready for unexpected developments.</a:t>
            </a:r>
            <a:endParaRPr lang="en-IN" sz="2400" b="0" dirty="0">
              <a:latin typeface="Calibri" pitchFamily="34" charset="0"/>
              <a:cs typeface="Calibri" pitchFamily="34" charset="0"/>
            </a:endParaRPr>
          </a:p>
          <a:p>
            <a:endParaRPr lang="en-IN" sz="2400" b="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2400" b="0" dirty="0">
                <a:latin typeface="Calibri" pitchFamily="34" charset="0"/>
                <a:cs typeface="Calibri" pitchFamily="34" charset="0"/>
              </a:rPr>
              <a:t>B</a:t>
            </a:r>
            <a:r>
              <a:rPr lang="en-US" sz="2400" b="0" dirty="0" smtClean="0">
                <a:latin typeface="Calibri" pitchFamily="34" charset="0"/>
                <a:cs typeface="Calibri" pitchFamily="34" charset="0"/>
              </a:rPr>
              <a:t>enefits</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12263183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b="0" dirty="0" smtClean="0">
                <a:latin typeface="Calibri" pitchFamily="34" charset="0"/>
                <a:cs typeface="Calibri" pitchFamily="34" charset="0"/>
              </a:rPr>
              <a:t>Planning includes various features such as Planning is mainly concerned with looking into future. </a:t>
            </a:r>
          </a:p>
          <a:p>
            <a:r>
              <a:rPr lang="en-US" sz="2400" b="0" dirty="0" smtClean="0">
                <a:latin typeface="Calibri" pitchFamily="34" charset="0"/>
                <a:cs typeface="Calibri" pitchFamily="34" charset="0"/>
              </a:rPr>
              <a:t>In planning process, management team has to select suitable course of action under particular business environment. </a:t>
            </a:r>
          </a:p>
          <a:p>
            <a:r>
              <a:rPr lang="en-US" sz="2400" b="0" dirty="0" smtClean="0">
                <a:latin typeface="Calibri" pitchFamily="34" charset="0"/>
                <a:cs typeface="Calibri" pitchFamily="34" charset="0"/>
              </a:rPr>
              <a:t>Planning is done at all levels of the organization because managers at all levels are concerned with determination of future course of action.</a:t>
            </a:r>
          </a:p>
          <a:p>
            <a:r>
              <a:rPr lang="en-US" sz="2400" b="0" dirty="0" smtClean="0">
                <a:latin typeface="Calibri" pitchFamily="34" charset="0"/>
                <a:cs typeface="Calibri" pitchFamily="34" charset="0"/>
              </a:rPr>
              <a:t>Planning is persistent and constant managerial function.</a:t>
            </a:r>
            <a:endParaRPr lang="en-IN" sz="2400" b="0" dirty="0" smtClean="0">
              <a:latin typeface="Calibri" pitchFamily="34" charset="0"/>
              <a:cs typeface="Calibri" pitchFamily="34" charset="0"/>
            </a:endParaRPr>
          </a:p>
          <a:p>
            <a:endParaRPr lang="en-IN" sz="2400" b="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2400" b="0" dirty="0" smtClean="0">
                <a:latin typeface="Calibri" pitchFamily="34" charset="0"/>
                <a:cs typeface="Calibri" pitchFamily="34" charset="0"/>
              </a:rPr>
              <a:t>Contd..,</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20049829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0" dirty="0">
                <a:latin typeface="Calibri" pitchFamily="34" charset="0"/>
                <a:cs typeface="Calibri" pitchFamily="34" charset="0"/>
              </a:rPr>
              <a:t>1. Achievement of </a:t>
            </a:r>
            <a:r>
              <a:rPr lang="en-US" sz="2400" b="0" dirty="0" err="1">
                <a:latin typeface="Calibri" pitchFamily="34" charset="0"/>
                <a:cs typeface="Calibri" pitchFamily="34" charset="0"/>
              </a:rPr>
              <a:t>organisational</a:t>
            </a:r>
            <a:r>
              <a:rPr lang="en-US" sz="2400" b="0" dirty="0">
                <a:latin typeface="Calibri" pitchFamily="34" charset="0"/>
                <a:cs typeface="Calibri" pitchFamily="34" charset="0"/>
              </a:rPr>
              <a:t> objectives</a:t>
            </a:r>
            <a:r>
              <a:rPr lang="en-US" sz="2400" b="0" dirty="0" smtClean="0">
                <a:latin typeface="Calibri" pitchFamily="34" charset="0"/>
                <a:cs typeface="Calibri" pitchFamily="34" charset="0"/>
              </a:rPr>
              <a:t>:</a:t>
            </a:r>
          </a:p>
          <a:p>
            <a:r>
              <a:rPr lang="en-US" sz="2400" b="0" i="1" dirty="0">
                <a:latin typeface="Calibri" pitchFamily="34" charset="0"/>
                <a:cs typeface="Calibri" pitchFamily="34" charset="0"/>
              </a:rPr>
              <a:t>2. Fulfillment of </a:t>
            </a:r>
            <a:r>
              <a:rPr lang="en-US" sz="2400" b="0" i="1" dirty="0" err="1">
                <a:latin typeface="Calibri" pitchFamily="34" charset="0"/>
                <a:cs typeface="Calibri" pitchFamily="34" charset="0"/>
              </a:rPr>
              <a:t>organisational</a:t>
            </a:r>
            <a:r>
              <a:rPr lang="en-US" sz="2400" b="0" i="1" dirty="0">
                <a:latin typeface="Calibri" pitchFamily="34" charset="0"/>
                <a:cs typeface="Calibri" pitchFamily="34" charset="0"/>
              </a:rPr>
              <a:t> commitments:</a:t>
            </a:r>
            <a:endParaRPr lang="en-IN" sz="2400" b="0" i="1" dirty="0">
              <a:latin typeface="Calibri" pitchFamily="34" charset="0"/>
              <a:cs typeface="Calibri" pitchFamily="34" charset="0"/>
            </a:endParaRPr>
          </a:p>
          <a:p>
            <a:r>
              <a:rPr lang="en-US" sz="2400" b="0" i="1" dirty="0">
                <a:latin typeface="Calibri" pitchFamily="34" charset="0"/>
                <a:cs typeface="Calibri" pitchFamily="34" charset="0"/>
              </a:rPr>
              <a:t>3. It facilitates decision making:</a:t>
            </a:r>
            <a:endParaRPr lang="en-IN" sz="2400" b="0" i="1" dirty="0">
              <a:latin typeface="Calibri" pitchFamily="34" charset="0"/>
              <a:cs typeface="Calibri" pitchFamily="34" charset="0"/>
            </a:endParaRPr>
          </a:p>
          <a:p>
            <a:r>
              <a:rPr lang="en-US" sz="2400" b="0" i="1" dirty="0">
                <a:latin typeface="Calibri" pitchFamily="34" charset="0"/>
                <a:cs typeface="Calibri" pitchFamily="34" charset="0"/>
              </a:rPr>
              <a:t>4. It provides stability to </a:t>
            </a:r>
            <a:r>
              <a:rPr lang="en-US" sz="2400" b="0" i="1" dirty="0" err="1">
                <a:latin typeface="Calibri" pitchFamily="34" charset="0"/>
                <a:cs typeface="Calibri" pitchFamily="34" charset="0"/>
              </a:rPr>
              <a:t>organisations</a:t>
            </a:r>
            <a:r>
              <a:rPr lang="en-US" sz="2400" b="0" i="1" dirty="0">
                <a:latin typeface="Calibri" pitchFamily="34" charset="0"/>
                <a:cs typeface="Calibri" pitchFamily="34" charset="0"/>
              </a:rPr>
              <a:t>:</a:t>
            </a:r>
            <a:endParaRPr lang="en-IN" sz="2400" b="0" i="1" dirty="0">
              <a:latin typeface="Calibri" pitchFamily="34" charset="0"/>
              <a:cs typeface="Calibri" pitchFamily="34" charset="0"/>
            </a:endParaRPr>
          </a:p>
          <a:p>
            <a:r>
              <a:rPr lang="en-US" sz="2400" b="0" i="1" dirty="0">
                <a:latin typeface="Calibri" pitchFamily="34" charset="0"/>
                <a:cs typeface="Calibri" pitchFamily="34" charset="0"/>
              </a:rPr>
              <a:t>5. Overall view of the </a:t>
            </a:r>
            <a:r>
              <a:rPr lang="en-US" sz="2400" b="0" i="1" dirty="0" err="1">
                <a:latin typeface="Calibri" pitchFamily="34" charset="0"/>
                <a:cs typeface="Calibri" pitchFamily="34" charset="0"/>
              </a:rPr>
              <a:t>organisation</a:t>
            </a:r>
            <a:r>
              <a:rPr lang="en-US" sz="2400" b="0" i="1" dirty="0">
                <a:latin typeface="Calibri" pitchFamily="34" charset="0"/>
                <a:cs typeface="Calibri" pitchFamily="34" charset="0"/>
              </a:rPr>
              <a:t>/coordination:</a:t>
            </a:r>
            <a:endParaRPr lang="en-IN" sz="2400" b="0" i="1" dirty="0">
              <a:latin typeface="Calibri" pitchFamily="34" charset="0"/>
              <a:cs typeface="Calibri" pitchFamily="34" charset="0"/>
            </a:endParaRPr>
          </a:p>
          <a:p>
            <a:r>
              <a:rPr lang="en-US" sz="2400" b="0" i="1" dirty="0">
                <a:latin typeface="Calibri" pitchFamily="34" charset="0"/>
                <a:cs typeface="Calibri" pitchFamily="34" charset="0"/>
              </a:rPr>
              <a:t>6. Optimum </a:t>
            </a:r>
            <a:r>
              <a:rPr lang="en-US" sz="2400" b="0" i="1" dirty="0" err="1">
                <a:latin typeface="Calibri" pitchFamily="34" charset="0"/>
                <a:cs typeface="Calibri" pitchFamily="34" charset="0"/>
              </a:rPr>
              <a:t>utilisation</a:t>
            </a:r>
            <a:r>
              <a:rPr lang="en-US" sz="2400" b="0" i="1" dirty="0">
                <a:latin typeface="Calibri" pitchFamily="34" charset="0"/>
                <a:cs typeface="Calibri" pitchFamily="34" charset="0"/>
              </a:rPr>
              <a:t> of resources / efficiency of operations:</a:t>
            </a:r>
            <a:endParaRPr lang="en-IN" sz="2400" b="0" i="1" dirty="0">
              <a:latin typeface="Calibri" pitchFamily="34" charset="0"/>
              <a:cs typeface="Calibri" pitchFamily="34" charset="0"/>
            </a:endParaRPr>
          </a:p>
          <a:p>
            <a:endParaRPr lang="en-US" sz="2400" b="0" i="1" dirty="0" smtClean="0">
              <a:latin typeface="Calibri" pitchFamily="34" charset="0"/>
              <a:cs typeface="Calibri" pitchFamily="34" charset="0"/>
            </a:endParaRPr>
          </a:p>
          <a:p>
            <a:endParaRPr lang="en-IN" sz="2400" b="0" i="1" dirty="0">
              <a:latin typeface="Calibri" pitchFamily="34" charset="0"/>
              <a:cs typeface="Calibri" pitchFamily="34" charset="0"/>
            </a:endParaRPr>
          </a:p>
          <a:p>
            <a:endParaRPr lang="en-IN" sz="2400" b="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US" sz="2400" b="0" dirty="0">
                <a:effectLst/>
                <a:latin typeface="Calibri" pitchFamily="34" charset="0"/>
                <a:cs typeface="Calibri" pitchFamily="34" charset="0"/>
              </a:rPr>
              <a:t>Importance/Objectives of Planning</a:t>
            </a:r>
            <a:r>
              <a:rPr lang="en-US" sz="2400" b="0" dirty="0" smtClean="0">
                <a:effectLst/>
                <a:latin typeface="Calibri" pitchFamily="34" charset="0"/>
                <a:cs typeface="Calibri" pitchFamily="34" charset="0"/>
              </a:rPr>
              <a:t>:</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14462551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b="0" i="1" dirty="0">
                <a:latin typeface="Calibri" pitchFamily="34" charset="0"/>
                <a:cs typeface="Calibri" pitchFamily="34" charset="0"/>
              </a:rPr>
              <a:t>7. Development of </a:t>
            </a:r>
            <a:r>
              <a:rPr lang="en-US" sz="2400" b="0" i="1" dirty="0" smtClean="0">
                <a:latin typeface="Calibri" pitchFamily="34" charset="0"/>
                <a:cs typeface="Calibri" pitchFamily="34" charset="0"/>
              </a:rPr>
              <a:t>managers</a:t>
            </a:r>
            <a:endParaRPr lang="en-US" sz="2400" b="0" i="1" dirty="0">
              <a:latin typeface="Calibri" pitchFamily="34" charset="0"/>
              <a:cs typeface="Calibri" pitchFamily="34" charset="0"/>
            </a:endParaRPr>
          </a:p>
          <a:p>
            <a:r>
              <a:rPr lang="en-US" sz="2400" b="0" dirty="0">
                <a:latin typeface="Calibri" pitchFamily="34" charset="0"/>
                <a:cs typeface="Calibri" pitchFamily="34" charset="0"/>
              </a:rPr>
              <a:t>8. Promotes innovation / </a:t>
            </a:r>
            <a:r>
              <a:rPr lang="en-US" sz="2400" b="0" dirty="0" smtClean="0">
                <a:latin typeface="Calibri" pitchFamily="34" charset="0"/>
                <a:cs typeface="Calibri" pitchFamily="34" charset="0"/>
              </a:rPr>
              <a:t>creativity</a:t>
            </a:r>
            <a:endParaRPr lang="en-US" sz="2400" b="0" dirty="0">
              <a:latin typeface="Calibri" pitchFamily="34" charset="0"/>
              <a:cs typeface="Calibri" pitchFamily="34" charset="0"/>
            </a:endParaRPr>
          </a:p>
          <a:p>
            <a:r>
              <a:rPr lang="en-US" sz="2400" b="0" i="1" dirty="0">
                <a:latin typeface="Calibri" pitchFamily="34" charset="0"/>
                <a:cs typeface="Calibri" pitchFamily="34" charset="0"/>
              </a:rPr>
              <a:t>9. Basis for </a:t>
            </a:r>
            <a:r>
              <a:rPr lang="en-US" sz="2400" b="0" i="1" dirty="0" smtClean="0">
                <a:latin typeface="Calibri" pitchFamily="34" charset="0"/>
                <a:cs typeface="Calibri" pitchFamily="34" charset="0"/>
              </a:rPr>
              <a:t>control</a:t>
            </a:r>
            <a:endParaRPr lang="en-IN" sz="2400" b="0" i="1" dirty="0">
              <a:latin typeface="Calibri" pitchFamily="34" charset="0"/>
              <a:cs typeface="Calibri" pitchFamily="34" charset="0"/>
            </a:endParaRPr>
          </a:p>
          <a:p>
            <a:r>
              <a:rPr lang="en-US" sz="2400" b="0" i="1" dirty="0">
                <a:latin typeface="Calibri" pitchFamily="34" charset="0"/>
                <a:cs typeface="Calibri" pitchFamily="34" charset="0"/>
              </a:rPr>
              <a:t>10. Reduction of </a:t>
            </a:r>
            <a:r>
              <a:rPr lang="en-US" sz="2400" b="0" i="1" dirty="0" smtClean="0">
                <a:latin typeface="Calibri" pitchFamily="34" charset="0"/>
                <a:cs typeface="Calibri" pitchFamily="34" charset="0"/>
              </a:rPr>
              <a:t>risk</a:t>
            </a:r>
            <a:endParaRPr lang="en-IN" sz="2400" b="0" i="1" dirty="0">
              <a:latin typeface="Calibri" pitchFamily="34" charset="0"/>
              <a:cs typeface="Calibri" pitchFamily="34" charset="0"/>
            </a:endParaRPr>
          </a:p>
          <a:p>
            <a:r>
              <a:rPr lang="en-US" sz="2400" b="0" dirty="0">
                <a:latin typeface="Calibri" pitchFamily="34" charset="0"/>
                <a:cs typeface="Calibri" pitchFamily="34" charset="0"/>
              </a:rPr>
              <a:t>11. Morale boost </a:t>
            </a:r>
            <a:r>
              <a:rPr lang="en-US" sz="2400" b="0" dirty="0" smtClean="0">
                <a:latin typeface="Calibri" pitchFamily="34" charset="0"/>
                <a:cs typeface="Calibri" pitchFamily="34" charset="0"/>
              </a:rPr>
              <a:t>up</a:t>
            </a:r>
            <a:endParaRPr lang="en-IN" sz="2400" b="0" dirty="0">
              <a:latin typeface="Calibri" pitchFamily="34" charset="0"/>
              <a:cs typeface="Calibri" pitchFamily="34" charset="0"/>
            </a:endParaRPr>
          </a:p>
          <a:p>
            <a:r>
              <a:rPr lang="en-US" sz="2400" b="0" dirty="0">
                <a:latin typeface="Calibri" pitchFamily="34" charset="0"/>
                <a:cs typeface="Calibri" pitchFamily="34" charset="0"/>
              </a:rPr>
              <a:t>12. Facilitates </a:t>
            </a:r>
            <a:r>
              <a:rPr lang="en-US" sz="2400" b="0" dirty="0" smtClean="0">
                <a:latin typeface="Calibri" pitchFamily="34" charset="0"/>
                <a:cs typeface="Calibri" pitchFamily="34" charset="0"/>
              </a:rPr>
              <a:t>delegation</a:t>
            </a:r>
            <a:endParaRPr lang="en-IN" sz="2400" b="0" dirty="0">
              <a:latin typeface="Calibri" pitchFamily="34" charset="0"/>
              <a:cs typeface="Calibri" pitchFamily="34" charset="0"/>
            </a:endParaRPr>
          </a:p>
          <a:p>
            <a:endParaRPr lang="en-IN" sz="2400" b="0" dirty="0">
              <a:latin typeface="Calibri" pitchFamily="34" charset="0"/>
              <a:cs typeface="Calibri" pitchFamily="34" charset="0"/>
            </a:endParaRPr>
          </a:p>
        </p:txBody>
      </p:sp>
      <p:sp>
        <p:nvSpPr>
          <p:cNvPr id="3" name="Title 2"/>
          <p:cNvSpPr>
            <a:spLocks noGrp="1"/>
          </p:cNvSpPr>
          <p:nvPr>
            <p:ph type="title"/>
          </p:nvPr>
        </p:nvSpPr>
        <p:spPr/>
        <p:txBody>
          <a:bodyPr/>
          <a:lstStyle/>
          <a:p>
            <a:endParaRPr lang="en-IN" sz="2400" b="0">
              <a:latin typeface="Calibri" pitchFamily="34" charset="0"/>
              <a:cs typeface="Calibri" pitchFamily="34" charset="0"/>
            </a:endParaRPr>
          </a:p>
        </p:txBody>
      </p:sp>
    </p:spTree>
    <p:extLst>
      <p:ext uri="{BB962C8B-B14F-4D97-AF65-F5344CB8AC3E}">
        <p14:creationId xmlns:p14="http://schemas.microsoft.com/office/powerpoint/2010/main" val="10999388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24078" indent="-514350">
              <a:buFont typeface="+mj-lt"/>
              <a:buAutoNum type="arabicPeriod"/>
            </a:pPr>
            <a:r>
              <a:rPr lang="en-US" sz="2400" b="0" dirty="0">
                <a:latin typeface="Calibri" pitchFamily="34" charset="0"/>
                <a:cs typeface="Calibri" pitchFamily="34" charset="0"/>
              </a:rPr>
              <a:t>Establishing goals or </a:t>
            </a:r>
            <a:r>
              <a:rPr lang="en-US" sz="2400" b="0" dirty="0" smtClean="0">
                <a:latin typeface="Calibri" pitchFamily="34" charset="0"/>
                <a:cs typeface="Calibri" pitchFamily="34" charset="0"/>
              </a:rPr>
              <a:t>objectives</a:t>
            </a:r>
          </a:p>
          <a:p>
            <a:pPr marL="624078" indent="-514350">
              <a:buFont typeface="+mj-lt"/>
              <a:buAutoNum type="arabicPeriod"/>
            </a:pPr>
            <a:r>
              <a:rPr lang="en-US" sz="2400" b="0" dirty="0">
                <a:latin typeface="Calibri" pitchFamily="34" charset="0"/>
                <a:cs typeface="Calibri" pitchFamily="34" charset="0"/>
              </a:rPr>
              <a:t>Establishing planning </a:t>
            </a:r>
            <a:r>
              <a:rPr lang="en-US" sz="2400" b="0" dirty="0" smtClean="0">
                <a:latin typeface="Calibri" pitchFamily="34" charset="0"/>
                <a:cs typeface="Calibri" pitchFamily="34" charset="0"/>
              </a:rPr>
              <a:t>premises</a:t>
            </a:r>
          </a:p>
          <a:p>
            <a:pPr marL="624078" indent="-514350">
              <a:buFont typeface="+mj-lt"/>
              <a:buAutoNum type="arabicPeriod"/>
            </a:pPr>
            <a:r>
              <a:rPr lang="en-US" sz="2400" b="0" dirty="0">
                <a:latin typeface="Calibri" pitchFamily="34" charset="0"/>
                <a:cs typeface="Calibri" pitchFamily="34" charset="0"/>
              </a:rPr>
              <a:t>Deciding the planning </a:t>
            </a:r>
            <a:r>
              <a:rPr lang="en-US" sz="2400" b="0" dirty="0" smtClean="0">
                <a:latin typeface="Calibri" pitchFamily="34" charset="0"/>
                <a:cs typeface="Calibri" pitchFamily="34" charset="0"/>
              </a:rPr>
              <a:t>period</a:t>
            </a:r>
          </a:p>
          <a:p>
            <a:pPr marL="624078" indent="-514350">
              <a:buFont typeface="+mj-lt"/>
              <a:buAutoNum type="arabicPeriod"/>
            </a:pPr>
            <a:r>
              <a:rPr lang="en-US" sz="2400" b="0" dirty="0">
                <a:latin typeface="Calibri" pitchFamily="34" charset="0"/>
                <a:cs typeface="Calibri" pitchFamily="34" charset="0"/>
              </a:rPr>
              <a:t>Developing derivative/supportive </a:t>
            </a:r>
            <a:r>
              <a:rPr lang="en-US" sz="2400" b="0" dirty="0" smtClean="0">
                <a:latin typeface="Calibri" pitchFamily="34" charset="0"/>
                <a:cs typeface="Calibri" pitchFamily="34" charset="0"/>
              </a:rPr>
              <a:t>plans</a:t>
            </a:r>
          </a:p>
          <a:p>
            <a:pPr marL="624078" indent="-514350">
              <a:buFont typeface="+mj-lt"/>
              <a:buAutoNum type="arabicPeriod"/>
            </a:pPr>
            <a:r>
              <a:rPr lang="en-US" sz="2400" b="0" dirty="0">
                <a:latin typeface="Calibri" pitchFamily="34" charset="0"/>
                <a:cs typeface="Calibri" pitchFamily="34" charset="0"/>
              </a:rPr>
              <a:t>Measuring and controlling the </a:t>
            </a:r>
            <a:r>
              <a:rPr lang="en-US" sz="2400" b="0" dirty="0" smtClean="0">
                <a:latin typeface="Calibri" pitchFamily="34" charset="0"/>
                <a:cs typeface="Calibri" pitchFamily="34" charset="0"/>
              </a:rPr>
              <a:t>process</a:t>
            </a:r>
            <a:endParaRPr lang="en-IN" sz="2400" b="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US" sz="2400" b="0" dirty="0">
                <a:effectLst/>
                <a:latin typeface="Calibri" pitchFamily="34" charset="0"/>
                <a:cs typeface="Calibri" pitchFamily="34" charset="0"/>
              </a:rPr>
              <a:t>Major Steps in Planning </a:t>
            </a:r>
            <a:r>
              <a:rPr lang="en-US" sz="2400" b="0" dirty="0" smtClean="0">
                <a:effectLst/>
                <a:latin typeface="Calibri" pitchFamily="34" charset="0"/>
                <a:cs typeface="Calibri" pitchFamily="34" charset="0"/>
              </a:rPr>
              <a:t>Process</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20773822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24078" indent="-514350">
              <a:buFont typeface="+mj-lt"/>
              <a:buAutoNum type="arabicPeriod"/>
            </a:pPr>
            <a:r>
              <a:rPr lang="en-US" sz="2400" b="0" dirty="0">
                <a:latin typeface="Calibri" pitchFamily="34" charset="0"/>
                <a:cs typeface="Calibri" pitchFamily="34" charset="0"/>
              </a:rPr>
              <a:t>Operational Plans</a:t>
            </a:r>
            <a:endParaRPr lang="en-IN" sz="2400" b="0" dirty="0">
              <a:latin typeface="Calibri" pitchFamily="34" charset="0"/>
              <a:cs typeface="Calibri" pitchFamily="34" charset="0"/>
            </a:endParaRPr>
          </a:p>
          <a:p>
            <a:pPr marL="624078" indent="-514350">
              <a:buFont typeface="+mj-lt"/>
              <a:buAutoNum type="arabicPeriod"/>
            </a:pPr>
            <a:r>
              <a:rPr lang="en-US" sz="2400" b="0" dirty="0">
                <a:latin typeface="Calibri" pitchFamily="34" charset="0"/>
                <a:cs typeface="Calibri" pitchFamily="34" charset="0"/>
              </a:rPr>
              <a:t>Strategic </a:t>
            </a:r>
            <a:r>
              <a:rPr lang="en-US" sz="2400" b="0" dirty="0" smtClean="0">
                <a:latin typeface="Calibri" pitchFamily="34" charset="0"/>
                <a:cs typeface="Calibri" pitchFamily="34" charset="0"/>
              </a:rPr>
              <a:t>Plans</a:t>
            </a:r>
          </a:p>
          <a:p>
            <a:pPr marL="624078" indent="-514350">
              <a:buFont typeface="+mj-lt"/>
              <a:buAutoNum type="arabicPeriod"/>
            </a:pPr>
            <a:r>
              <a:rPr lang="en-US" sz="2400" b="0" dirty="0">
                <a:latin typeface="Calibri" pitchFamily="34" charset="0"/>
                <a:cs typeface="Calibri" pitchFamily="34" charset="0"/>
              </a:rPr>
              <a:t>Tactical Plans</a:t>
            </a:r>
            <a:endParaRPr lang="en-IN" sz="2400" b="0" dirty="0">
              <a:latin typeface="Calibri" pitchFamily="34" charset="0"/>
              <a:cs typeface="Calibri" pitchFamily="34" charset="0"/>
            </a:endParaRPr>
          </a:p>
          <a:p>
            <a:pPr marL="624078" indent="-514350">
              <a:buFont typeface="+mj-lt"/>
              <a:buAutoNum type="arabicPeriod"/>
            </a:pPr>
            <a:r>
              <a:rPr lang="en-US" sz="2400" b="0" dirty="0">
                <a:latin typeface="Calibri" pitchFamily="34" charset="0"/>
                <a:cs typeface="Calibri" pitchFamily="34" charset="0"/>
              </a:rPr>
              <a:t>Contingency Plans</a:t>
            </a:r>
            <a:br>
              <a:rPr lang="en-US" sz="2400" b="0" dirty="0">
                <a:latin typeface="Calibri" pitchFamily="34" charset="0"/>
                <a:cs typeface="Calibri" pitchFamily="34" charset="0"/>
              </a:rPr>
            </a:br>
            <a:r>
              <a:rPr lang="en-US" sz="2400" b="0" dirty="0">
                <a:latin typeface="Calibri" pitchFamily="34" charset="0"/>
                <a:cs typeface="Calibri" pitchFamily="34" charset="0"/>
              </a:rPr>
              <a:t/>
            </a:r>
            <a:br>
              <a:rPr lang="en-US" sz="2400" b="0" dirty="0">
                <a:latin typeface="Calibri" pitchFamily="34" charset="0"/>
                <a:cs typeface="Calibri" pitchFamily="34" charset="0"/>
              </a:rPr>
            </a:br>
            <a:endParaRPr lang="en-IN" sz="2400" b="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US" sz="2400" b="0" dirty="0">
                <a:effectLst/>
                <a:latin typeface="Calibri" pitchFamily="34" charset="0"/>
                <a:cs typeface="Calibri" pitchFamily="34" charset="0"/>
              </a:rPr>
              <a:t>TYPES OF </a:t>
            </a:r>
            <a:r>
              <a:rPr lang="en-US" sz="2400" b="0" dirty="0" smtClean="0">
                <a:effectLst/>
                <a:latin typeface="Calibri" pitchFamily="34" charset="0"/>
                <a:cs typeface="Calibri" pitchFamily="34" charset="0"/>
              </a:rPr>
              <a:t>PLANNING</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36151675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US" sz="2400" b="0" dirty="0" smtClean="0">
              <a:latin typeface="Calibri" pitchFamily="34" charset="0"/>
              <a:cs typeface="Calibri" pitchFamily="34" charset="0"/>
            </a:endParaRPr>
          </a:p>
          <a:p>
            <a:endParaRPr lang="en-US" sz="2400" b="0" dirty="0">
              <a:latin typeface="Calibri" pitchFamily="34" charset="0"/>
              <a:cs typeface="Calibri" pitchFamily="34" charset="0"/>
            </a:endParaRPr>
          </a:p>
          <a:p>
            <a:endParaRPr lang="en-US" sz="2400" b="0" dirty="0" smtClean="0">
              <a:latin typeface="Calibri" pitchFamily="34" charset="0"/>
              <a:cs typeface="Calibri" pitchFamily="34" charset="0"/>
            </a:endParaRPr>
          </a:p>
          <a:p>
            <a:endParaRPr lang="en-US" sz="2400" b="0" dirty="0">
              <a:latin typeface="Calibri" pitchFamily="34" charset="0"/>
              <a:cs typeface="Calibri" pitchFamily="34" charset="0"/>
            </a:endParaRPr>
          </a:p>
          <a:p>
            <a:pPr marL="109728" indent="0">
              <a:buNone/>
            </a:pPr>
            <a:r>
              <a:rPr lang="en-US" sz="2400" b="0" dirty="0" smtClean="0">
                <a:latin typeface="Calibri" pitchFamily="34" charset="0"/>
                <a:cs typeface="Calibri" pitchFamily="34" charset="0"/>
              </a:rPr>
              <a:t>			THANK YOU</a:t>
            </a:r>
            <a:endParaRPr lang="en-IN" sz="2400" b="0" dirty="0">
              <a:latin typeface="Calibri" pitchFamily="34" charset="0"/>
              <a:cs typeface="Calibri" pitchFamily="34" charset="0"/>
            </a:endParaRPr>
          </a:p>
        </p:txBody>
      </p:sp>
    </p:spTree>
    <p:extLst>
      <p:ext uri="{BB962C8B-B14F-4D97-AF65-F5344CB8AC3E}">
        <p14:creationId xmlns:p14="http://schemas.microsoft.com/office/powerpoint/2010/main" val="6234102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1686</TotalTime>
  <Words>289</Words>
  <Application>Microsoft Office PowerPoint</Application>
  <PresentationFormat>On-screen Show (4:3)</PresentationFormat>
  <Paragraphs>55</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Concourse</vt:lpstr>
      <vt:lpstr>Planning </vt:lpstr>
      <vt:lpstr>Introduction</vt:lpstr>
      <vt:lpstr>Definition-1</vt:lpstr>
      <vt:lpstr>Definitions</vt:lpstr>
      <vt:lpstr>Benefits</vt:lpstr>
      <vt:lpstr>Contd..,</vt:lpstr>
      <vt:lpstr>Importance/Objectives of Planning:</vt:lpstr>
      <vt:lpstr>PowerPoint Presentation</vt:lpstr>
      <vt:lpstr>Major Steps in Planning Process</vt:lpstr>
      <vt:lpstr>TYPES OF PLANNING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dc:title>
  <dc:creator>Home</dc:creator>
  <cp:lastModifiedBy>Home</cp:lastModifiedBy>
  <cp:revision>6</cp:revision>
  <dcterms:created xsi:type="dcterms:W3CDTF">2023-07-26T03:25:29Z</dcterms:created>
  <dcterms:modified xsi:type="dcterms:W3CDTF">2023-07-27T07:31:43Z</dcterms:modified>
</cp:coreProperties>
</file>